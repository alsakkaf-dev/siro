
<file path=[Content_Types].xml><?xml version="1.0" encoding="utf-8"?>
<Types xmlns="http://schemas.openxmlformats.org/package/2006/content-types">
  <Default Extension="png" ContentType="image/pn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6" r:id="rId2"/>
    <p:sldId id="257" r:id="rId3"/>
    <p:sldId id="405" r:id="rId4"/>
    <p:sldId id="406" r:id="rId5"/>
    <p:sldId id="407" r:id="rId6"/>
    <p:sldId id="408" r:id="rId7"/>
    <p:sldId id="409" r:id="rId8"/>
    <p:sldId id="410" r:id="rId9"/>
    <p:sldId id="412" r:id="rId10"/>
    <p:sldId id="427" r:id="rId11"/>
    <p:sldId id="429" r:id="rId12"/>
    <p:sldId id="411" r:id="rId13"/>
    <p:sldId id="430" r:id="rId14"/>
    <p:sldId id="413" r:id="rId15"/>
    <p:sldId id="414" r:id="rId16"/>
    <p:sldId id="415" r:id="rId17"/>
    <p:sldId id="416" r:id="rId18"/>
    <p:sldId id="417" r:id="rId19"/>
    <p:sldId id="418" r:id="rId20"/>
    <p:sldId id="419" r:id="rId21"/>
    <p:sldId id="420" r:id="rId22"/>
    <p:sldId id="421" r:id="rId23"/>
    <p:sldId id="422" r:id="rId24"/>
    <p:sldId id="424" r:id="rId25"/>
    <p:sldId id="432" r:id="rId26"/>
    <p:sldId id="425" r:id="rId27"/>
    <p:sldId id="431" r:id="rId28"/>
    <p:sldId id="426" r:id="rId29"/>
    <p:sldId id="336" r:id="rId30"/>
    <p:sldId id="404" r:id="rId3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3B5"/>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296" y="110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73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3/27/2019</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extLst>
      <p:ext uri="{BB962C8B-B14F-4D97-AF65-F5344CB8AC3E}">
        <p14:creationId xmlns:p14="http://schemas.microsoft.com/office/powerpoint/2010/main" val="871041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3/27/2019</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3/27/2019</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3/27/2019</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3/27/2019</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3/27/2019</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3/27/2019</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3/27/2019</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3/27/2019</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3/27/2019</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3/27/2019</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3/27/2019</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3/27/2019</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emf"/><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8.emf"/><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9.emf"/><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emf"/><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37.emf"/></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6: Creational Design Patterns</a:t>
            </a:r>
            <a:endParaRPr lang="en-US" dirty="0"/>
          </a:p>
        </p:txBody>
      </p:sp>
      <p:sp>
        <p:nvSpPr>
          <p:cNvPr id="3" name="Subtitle 2"/>
          <p:cNvSpPr>
            <a:spLocks noGrp="1"/>
          </p:cNvSpPr>
          <p:nvPr>
            <p:ph type="subTitle" idx="1"/>
          </p:nvPr>
        </p:nvSpPr>
        <p:spPr>
          <a:xfrm>
            <a:off x="0" y="1752598"/>
            <a:ext cx="9144000" cy="838202"/>
          </a:xfrm>
        </p:spPr>
        <p:txBody>
          <a:bodyPr>
            <a:normAutofit/>
          </a:bodyPr>
          <a:lstStyle/>
          <a:p>
            <a:r>
              <a:rPr lang="en-US" dirty="0" smtClean="0"/>
              <a:t>Session I: Overview of Design Patterns,</a:t>
            </a:r>
          </a:p>
          <a:p>
            <a:r>
              <a:rPr lang="en-US" dirty="0" smtClean="0"/>
              <a:t>Abstract Factory</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3/27/2019</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648199"/>
          </a:xfrm>
        </p:spPr>
        <p:txBody>
          <a:bodyPr>
            <a:normAutofit lnSpcReduction="10000"/>
          </a:bodyPr>
          <a:lstStyle/>
          <a:p>
            <a:pPr lvl="2"/>
            <a:endParaRPr lang="en-US" dirty="0" smtClean="0"/>
          </a:p>
          <a:p>
            <a:r>
              <a:rPr lang="en-US" dirty="0" smtClean="0"/>
              <a:t>Patterns in Detailed Design</a:t>
            </a:r>
          </a:p>
          <a:p>
            <a:pPr lvl="1"/>
            <a:r>
              <a:rPr lang="en-US" dirty="0" smtClean="0"/>
              <a:t>Again, Architectural vs. Design Patterns.</a:t>
            </a:r>
          </a:p>
          <a:p>
            <a:pPr lvl="2"/>
            <a:endParaRPr lang="en-US" dirty="0" smtClean="0"/>
          </a:p>
          <a:p>
            <a:r>
              <a:rPr lang="en-US" dirty="0" smtClean="0"/>
              <a:t>Classification of Design Patterns</a:t>
            </a:r>
          </a:p>
          <a:p>
            <a:pPr lvl="1"/>
            <a:r>
              <a:rPr lang="en-US" dirty="0" smtClean="0"/>
              <a:t>Purpose</a:t>
            </a:r>
          </a:p>
          <a:p>
            <a:pPr lvl="1"/>
            <a:r>
              <a:rPr lang="en-US" dirty="0" smtClean="0"/>
              <a:t>Scope</a:t>
            </a:r>
          </a:p>
          <a:p>
            <a:pPr lvl="1"/>
            <a:endParaRPr lang="en-US" dirty="0" smtClean="0"/>
          </a:p>
          <a:p>
            <a:r>
              <a:rPr lang="en-US" dirty="0" smtClean="0"/>
              <a:t>Documenting Design Patterns</a:t>
            </a:r>
          </a:p>
          <a:p>
            <a:pPr lvl="2"/>
            <a:endParaRPr lang="en-US" dirty="0" smtClean="0"/>
          </a:p>
          <a:p>
            <a:r>
              <a:rPr lang="en-US" dirty="0" smtClean="0"/>
              <a:t>Creational Design Patterns</a:t>
            </a:r>
          </a:p>
          <a:p>
            <a:pPr lvl="1"/>
            <a:r>
              <a:rPr lang="en-US" dirty="0" smtClean="0"/>
              <a:t>Abstract Factory</a:t>
            </a:r>
          </a:p>
          <a:p>
            <a:pPr lvl="1"/>
            <a:r>
              <a:rPr lang="en-US" dirty="0" smtClean="0"/>
              <a:t>Computer Store Example</a:t>
            </a:r>
          </a:p>
          <a:p>
            <a:pPr lvl="1"/>
            <a:endParaRPr lang="en-US" dirty="0" smtClean="0"/>
          </a:p>
          <a:p>
            <a:r>
              <a:rPr lang="en-US" dirty="0" smtClean="0"/>
              <a:t>What’s next…</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3/27/2019</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Patterns in Detailed Design</a:t>
            </a:r>
            <a:endParaRPr lang="en-US" dirty="0"/>
          </a:p>
        </p:txBody>
      </p:sp>
      <p:sp>
        <p:nvSpPr>
          <p:cNvPr id="3" name="Content Placeholder 2"/>
          <p:cNvSpPr>
            <a:spLocks noGrp="1"/>
          </p:cNvSpPr>
          <p:nvPr>
            <p:ph idx="1"/>
          </p:nvPr>
        </p:nvSpPr>
        <p:spPr>
          <a:xfrm>
            <a:off x="457200" y="1371601"/>
            <a:ext cx="8229600" cy="5181599"/>
          </a:xfrm>
        </p:spPr>
        <p:txBody>
          <a:bodyPr>
            <a:normAutofit fontScale="92500" lnSpcReduction="10000"/>
          </a:bodyPr>
          <a:lstStyle/>
          <a:p>
            <a:r>
              <a:rPr lang="en-US" dirty="0" smtClean="0"/>
              <a:t>In the previous sessions, the concept of patterns was introduced with an emphasis on software architecture.</a:t>
            </a:r>
          </a:p>
          <a:p>
            <a:pPr lvl="1"/>
            <a:r>
              <a:rPr lang="en-US" dirty="0" smtClean="0"/>
              <a:t>During detailed design, a wide variety of design patterns exist for providing solutions to recurring problems; these are documented by the </a:t>
            </a:r>
            <a:r>
              <a:rPr lang="en-US" dirty="0" err="1" smtClean="0"/>
              <a:t>GoF</a:t>
            </a:r>
            <a:r>
              <a:rPr lang="en-US" dirty="0" smtClean="0"/>
              <a:t>.</a:t>
            </a:r>
          </a:p>
          <a:p>
            <a:endParaRPr lang="en-US" dirty="0" smtClean="0"/>
          </a:p>
          <a:p>
            <a:r>
              <a:rPr lang="en-US" dirty="0" smtClean="0"/>
              <a:t>Remember, in 1994, Gamma, Helm, Johnson, and </a:t>
            </a:r>
            <a:r>
              <a:rPr lang="en-US" dirty="0" err="1" smtClean="0"/>
              <a:t>Vlissides</a:t>
            </a:r>
            <a:r>
              <a:rPr lang="en-US" dirty="0" smtClean="0"/>
              <a:t>—better known as the Gang of Four (</a:t>
            </a:r>
            <a:r>
              <a:rPr lang="en-US" dirty="0" err="1" smtClean="0"/>
              <a:t>GoF</a:t>
            </a:r>
            <a:r>
              <a:rPr lang="en-US" dirty="0" smtClean="0"/>
              <a:t>)—published their influential work that focused on a finer-grained set of object-oriented detailed design solutions that could be used in different problems “a million times over, without ever doing it the same way twice.” </a:t>
            </a:r>
          </a:p>
          <a:p>
            <a:pPr lvl="1"/>
            <a:r>
              <a:rPr lang="en-US" dirty="0" smtClean="0"/>
              <a:t>Influenced by Alexander’s work on architectural patterns, they called these </a:t>
            </a:r>
            <a:r>
              <a:rPr lang="en-US" b="1" dirty="0" smtClean="0"/>
              <a:t>Design Patterns</a:t>
            </a:r>
            <a:r>
              <a:rPr lang="en-US" dirty="0" smtClean="0"/>
              <a:t>.</a:t>
            </a:r>
          </a:p>
          <a:p>
            <a:pPr lvl="1"/>
            <a:r>
              <a:rPr lang="en-US" dirty="0" smtClean="0"/>
              <a:t>Their work resulted in the creation of a catalogue of 23 (detailed design) patterns.</a:t>
            </a:r>
          </a:p>
          <a:p>
            <a:pPr lvl="1"/>
            <a:r>
              <a:rPr lang="en-US" dirty="0" smtClean="0"/>
              <a:t>Each pattern was described in detail, using a specific pattern specification format.</a:t>
            </a:r>
          </a:p>
          <a:p>
            <a:pPr lvl="1"/>
            <a:endParaRPr lang="en-US" dirty="0" smtClean="0"/>
          </a:p>
          <a:p>
            <a:r>
              <a:rPr lang="en-US" dirty="0" smtClean="0"/>
              <a:t>Design patterns are recurring solutions to object-oriented design problems in a particular context.</a:t>
            </a:r>
          </a:p>
          <a:p>
            <a:pPr lvl="1"/>
            <a:r>
              <a:rPr lang="en-US" dirty="0" smtClean="0"/>
              <a:t>They are different than architectural patterns!</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Patterns in Detailed Design</a:t>
            </a:r>
            <a:endParaRPr lang="en-US" dirty="0"/>
          </a:p>
        </p:txBody>
      </p:sp>
      <p:sp>
        <p:nvSpPr>
          <p:cNvPr id="3" name="Content Placeholder 2"/>
          <p:cNvSpPr>
            <a:spLocks noGrp="1"/>
          </p:cNvSpPr>
          <p:nvPr>
            <p:ph idx="1"/>
          </p:nvPr>
        </p:nvSpPr>
        <p:spPr/>
        <p:txBody>
          <a:bodyPr/>
          <a:lstStyle/>
          <a:p>
            <a:r>
              <a:rPr lang="en-US" dirty="0" smtClean="0"/>
              <a:t>Architectural vs. Design Patterns</a:t>
            </a:r>
          </a:p>
          <a:p>
            <a:pPr lvl="1"/>
            <a:r>
              <a:rPr lang="en-US" dirty="0" smtClean="0"/>
              <a:t>Architectural patterns take place during the architecture activity of the software design phase; therefore, they serve best to identify the major components and interfaces of the system.</a:t>
            </a:r>
          </a:p>
          <a:p>
            <a:pPr lvl="2"/>
            <a:r>
              <a:rPr lang="en-US" dirty="0" smtClean="0"/>
              <a:t>Design Patterns take place during detailed design; therefore</a:t>
            </a:r>
            <a:r>
              <a:rPr lang="en-US" smtClean="0"/>
              <a:t>, they </a:t>
            </a:r>
            <a:r>
              <a:rPr lang="en-US" dirty="0" smtClean="0"/>
              <a:t>serve best to identify the inner structure of components identified during the architecture activity.</a:t>
            </a:r>
          </a:p>
          <a:p>
            <a:pPr lvl="1"/>
            <a:r>
              <a:rPr lang="en-US" dirty="0" smtClean="0"/>
              <a:t>Architectural patterns are too abstract to be translated directly to working code.  Although they provide the general structure of the system, they do not fill the gaps required to create working code directly from the model.</a:t>
            </a:r>
          </a:p>
          <a:p>
            <a:pPr lvl="2"/>
            <a:r>
              <a:rPr lang="en-US" dirty="0" smtClean="0"/>
              <a:t>Design Patterns provided the details necessary for creating working code.</a:t>
            </a:r>
          </a:p>
          <a:p>
            <a:pPr lvl="2"/>
            <a:endParaRPr lang="en-US" dirty="0" smtClean="0"/>
          </a:p>
          <a:p>
            <a:pPr lvl="1"/>
            <a:r>
              <a:rPr lang="en-US" dirty="0" smtClean="0"/>
              <a:t>Architectural patterns have a direct effect on the architecture of software and are associated with specific system types (e.g., interactive systems)</a:t>
            </a:r>
          </a:p>
          <a:p>
            <a:pPr lvl="2"/>
            <a:r>
              <a:rPr lang="en-US" dirty="0" smtClean="0"/>
              <a:t>Design Patterns have no direct effect on the architecture of systems and are independent of the type of systems.  That is, a specific design pattern, e.g., the observer, can be used within every component specified by all architectural patterns.</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 of Design Patterns</a:t>
            </a:r>
            <a:endParaRPr lang="en-US" dirty="0"/>
          </a:p>
        </p:txBody>
      </p:sp>
      <p:sp>
        <p:nvSpPr>
          <p:cNvPr id="3" name="Content Placeholder 2"/>
          <p:cNvSpPr>
            <a:spLocks noGrp="1"/>
          </p:cNvSpPr>
          <p:nvPr>
            <p:ph idx="1"/>
          </p:nvPr>
        </p:nvSpPr>
        <p:spPr>
          <a:xfrm>
            <a:off x="457200" y="1371601"/>
            <a:ext cx="8229600" cy="5029199"/>
          </a:xfrm>
        </p:spPr>
        <p:txBody>
          <a:bodyPr>
            <a:normAutofit fontScale="85000" lnSpcReduction="10000"/>
          </a:bodyPr>
          <a:lstStyle/>
          <a:p>
            <a:r>
              <a:rPr lang="en-US" dirty="0" smtClean="0"/>
              <a:t>Design patterns can be classified based on:</a:t>
            </a:r>
          </a:p>
          <a:p>
            <a:pPr lvl="1"/>
            <a:r>
              <a:rPr lang="en-US" dirty="0" smtClean="0"/>
              <a:t>Purpose</a:t>
            </a:r>
          </a:p>
          <a:p>
            <a:pPr lvl="1"/>
            <a:r>
              <a:rPr lang="en-US" dirty="0" smtClean="0"/>
              <a:t>Scope</a:t>
            </a:r>
          </a:p>
          <a:p>
            <a:pPr lvl="1"/>
            <a:endParaRPr lang="en-US" dirty="0" smtClean="0"/>
          </a:p>
          <a:p>
            <a:r>
              <a:rPr lang="en-US" dirty="0" smtClean="0"/>
              <a:t>The purpose of a design pattern identifies the essence of the pattern; therefore, it serves as fundamental differentiation criterion between design patterns.  The three types of purposes used for classification are:</a:t>
            </a:r>
          </a:p>
          <a:p>
            <a:pPr lvl="1"/>
            <a:r>
              <a:rPr lang="en-US" dirty="0" smtClean="0"/>
              <a:t>Creational</a:t>
            </a:r>
          </a:p>
          <a:p>
            <a:pPr lvl="2"/>
            <a:r>
              <a:rPr lang="en-US" dirty="0" smtClean="0"/>
              <a:t>Patterns that deal with creation of objects.</a:t>
            </a:r>
          </a:p>
          <a:p>
            <a:pPr lvl="1"/>
            <a:r>
              <a:rPr lang="en-US" dirty="0" smtClean="0"/>
              <a:t>Structural</a:t>
            </a:r>
          </a:p>
          <a:p>
            <a:pPr lvl="2"/>
            <a:r>
              <a:rPr lang="en-US" dirty="0" smtClean="0"/>
              <a:t>Patterns that deal with creation of structures form existing ones.</a:t>
            </a:r>
          </a:p>
          <a:p>
            <a:pPr lvl="1"/>
            <a:r>
              <a:rPr lang="en-US" dirty="0" smtClean="0"/>
              <a:t>Behavioral</a:t>
            </a:r>
          </a:p>
          <a:p>
            <a:pPr lvl="2"/>
            <a:r>
              <a:rPr lang="en-US" dirty="0" smtClean="0"/>
              <a:t>Patterns that deal with how classes interact, the variation of behavior, and the assignment of responsibility between objects.</a:t>
            </a:r>
          </a:p>
          <a:p>
            <a:pPr lvl="2"/>
            <a:endParaRPr lang="en-US" dirty="0" smtClean="0"/>
          </a:p>
          <a:p>
            <a:r>
              <a:rPr lang="en-US" dirty="0" smtClean="0"/>
              <a:t>The scope criterion captures whether a design pattern primarily applies to classes (during design time) or objects (during run-time).</a:t>
            </a:r>
          </a:p>
          <a:p>
            <a:pPr lvl="1"/>
            <a:r>
              <a:rPr lang="en-US" dirty="0" smtClean="0"/>
              <a:t>Although we will use the scope criterion when discussing specific design patterns, scope is not used much in practice.  The dominant criterion for classifying (and talking about) pattern is the </a:t>
            </a:r>
            <a:r>
              <a:rPr lang="en-US" i="1" dirty="0" smtClean="0"/>
              <a:t>purpose</a:t>
            </a:r>
            <a:r>
              <a:rPr lang="en-US" dirty="0" smtClean="0"/>
              <a:t> criterion (i.e., creational, structural, and behavioral).</a:t>
            </a:r>
          </a:p>
          <a:p>
            <a:pPr lvl="1"/>
            <a:endParaRPr lang="en-US" dirty="0" smtClean="0"/>
          </a:p>
          <a:p>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Documenting Design Patterns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3581400" y="1295400"/>
            <a:ext cx="4599023" cy="5089083"/>
          </a:xfrm>
          <a:prstGeom prst="rect">
            <a:avLst/>
          </a:prstGeom>
          <a:noFill/>
          <a:ln w="9525">
            <a:noFill/>
            <a:miter lim="800000"/>
            <a:headEnd/>
            <a:tailEnd/>
          </a:ln>
        </p:spPr>
      </p:pic>
      <p:sp>
        <p:nvSpPr>
          <p:cNvPr id="8" name="TextBox 7"/>
          <p:cNvSpPr txBox="1"/>
          <p:nvPr/>
        </p:nvSpPr>
        <p:spPr>
          <a:xfrm>
            <a:off x="533400" y="2209800"/>
            <a:ext cx="2819400" cy="1384995"/>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Note</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The </a:t>
            </a:r>
            <a:r>
              <a:rPr lang="en-US" sz="1200" b="1" dirty="0" err="1" smtClean="0">
                <a:solidFill>
                  <a:srgbClr val="C00000"/>
                </a:solidFill>
                <a:latin typeface="Bradley Hand ITC" pitchFamily="66" charset="0"/>
              </a:rPr>
              <a:t>GoF</a:t>
            </a:r>
            <a:r>
              <a:rPr lang="en-US" sz="1200" b="1" dirty="0" smtClean="0">
                <a:solidFill>
                  <a:srgbClr val="C00000"/>
                </a:solidFill>
                <a:latin typeface="Bradley Hand ITC" pitchFamily="66" charset="0"/>
              </a:rPr>
              <a:t>  identified 13 categories for documenting design patterns.  Together, these categories provide detailed information of existing design patterns and provide direction for documenting future patterns.</a:t>
            </a:r>
            <a:endParaRPr lang="en-US" sz="1200" b="1" dirty="0">
              <a:solidFill>
                <a:srgbClr val="C00000"/>
              </a:solidFill>
              <a:latin typeface="Bradley Hand ITC" pitchFamily="66" charset="0"/>
            </a:endParaRPr>
          </a:p>
        </p:txBody>
      </p:sp>
      <p:sp>
        <p:nvSpPr>
          <p:cNvPr id="9" name="TextBox 8"/>
          <p:cNvSpPr txBox="1"/>
          <p:nvPr/>
        </p:nvSpPr>
        <p:spPr>
          <a:xfrm>
            <a:off x="533400" y="3886200"/>
            <a:ext cx="2819400" cy="1015663"/>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In this course, we’re not concerned with presenting this extensive documentation for each pattern, so you won’t see this in future presentations of design patterns!</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Creational Design Patterns</a:t>
            </a:r>
            <a:endParaRPr lang="en-US" dirty="0"/>
          </a:p>
        </p:txBody>
      </p:sp>
      <p:sp>
        <p:nvSpPr>
          <p:cNvPr id="3" name="Content Placeholder 2"/>
          <p:cNvSpPr>
            <a:spLocks noGrp="1"/>
          </p:cNvSpPr>
          <p:nvPr>
            <p:ph idx="1"/>
          </p:nvPr>
        </p:nvSpPr>
        <p:spPr>
          <a:xfrm>
            <a:off x="457200" y="1371601"/>
            <a:ext cx="8229600" cy="5181599"/>
          </a:xfrm>
        </p:spPr>
        <p:txBody>
          <a:bodyPr/>
          <a:lstStyle/>
          <a:p>
            <a:r>
              <a:rPr lang="en-US" dirty="0" smtClean="0"/>
              <a:t>Creational design patterns abstract and control the way objects are created in software applications.</a:t>
            </a:r>
          </a:p>
          <a:p>
            <a:pPr lvl="1"/>
            <a:r>
              <a:rPr lang="en-US" dirty="0" smtClean="0"/>
              <a:t>They do so by specifying a common creational interface.  </a:t>
            </a:r>
          </a:p>
          <a:p>
            <a:endParaRPr lang="en-US" dirty="0" smtClean="0"/>
          </a:p>
          <a:p>
            <a:r>
              <a:rPr lang="en-US" dirty="0" smtClean="0"/>
              <a:t>By controlling the creational process with a common interface, enforcing creational policies become easier, therefore giving systems the ability to create objects that share a common interface but vary widely in structure and behavior.</a:t>
            </a:r>
          </a:p>
          <a:p>
            <a:endParaRPr lang="en-US" dirty="0" smtClean="0"/>
          </a:p>
          <a:p>
            <a:r>
              <a:rPr lang="en-US" dirty="0" smtClean="0"/>
              <a:t>Examples of creational patterns include:</a:t>
            </a:r>
          </a:p>
          <a:p>
            <a:pPr lvl="1"/>
            <a:r>
              <a:rPr lang="en-US" dirty="0" smtClean="0"/>
              <a:t>The Abstract Factory</a:t>
            </a:r>
          </a:p>
          <a:p>
            <a:pPr lvl="1"/>
            <a:r>
              <a:rPr lang="en-US" dirty="0" smtClean="0"/>
              <a:t>The Factory Method</a:t>
            </a:r>
          </a:p>
          <a:p>
            <a:pPr lvl="1"/>
            <a:r>
              <a:rPr lang="en-US" dirty="0" smtClean="0"/>
              <a:t>The Builder </a:t>
            </a:r>
          </a:p>
          <a:p>
            <a:pPr lvl="1"/>
            <a:r>
              <a:rPr lang="en-US" dirty="0" smtClean="0"/>
              <a:t>The Prototype</a:t>
            </a:r>
          </a:p>
          <a:p>
            <a:pPr lvl="1"/>
            <a:r>
              <a:rPr lang="en-US" dirty="0" smtClean="0"/>
              <a:t>The Singleton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Abstract Factory</a:t>
            </a:r>
            <a:endParaRPr lang="en-US" dirty="0"/>
          </a:p>
        </p:txBody>
      </p:sp>
      <p:sp>
        <p:nvSpPr>
          <p:cNvPr id="3" name="Content Placeholder 2"/>
          <p:cNvSpPr>
            <a:spLocks noGrp="1"/>
          </p:cNvSpPr>
          <p:nvPr>
            <p:ph idx="1"/>
          </p:nvPr>
        </p:nvSpPr>
        <p:spPr/>
        <p:txBody>
          <a:bodyPr>
            <a:normAutofit lnSpcReduction="10000"/>
          </a:bodyPr>
          <a:lstStyle/>
          <a:p>
            <a:r>
              <a:rPr lang="en-US" dirty="0" smtClean="0"/>
              <a:t>The Abstract Factory is an object-creational design pattern intended to manage and encapsulate the creation of a set of objects that conceptually belong together and that represent a specific family of products.</a:t>
            </a:r>
          </a:p>
          <a:p>
            <a:endParaRPr lang="en-US" dirty="0" smtClean="0"/>
          </a:p>
          <a:p>
            <a:r>
              <a:rPr lang="en-US" dirty="0" smtClean="0"/>
              <a:t>According to the </a:t>
            </a:r>
            <a:r>
              <a:rPr lang="en-US" dirty="0" err="1" smtClean="0"/>
              <a:t>GoF</a:t>
            </a:r>
            <a:r>
              <a:rPr lang="en-US" dirty="0" smtClean="0"/>
              <a:t> [1], the intent of the Abstract Factory is to</a:t>
            </a:r>
          </a:p>
          <a:p>
            <a:pPr lvl="1"/>
            <a:r>
              <a:rPr lang="en-US" dirty="0" smtClean="0"/>
              <a:t> Provide an interface for creating families of related or dependent objects without specifying their concrete classes.</a:t>
            </a:r>
          </a:p>
          <a:p>
            <a:pPr lvl="1"/>
            <a:endParaRPr lang="en-US" dirty="0" smtClean="0"/>
          </a:p>
          <a:p>
            <a:r>
              <a:rPr lang="en-US" dirty="0" smtClean="0"/>
              <a:t>Like all creational patterns, Abstract Factory is composed of </a:t>
            </a:r>
            <a:r>
              <a:rPr lang="en-US" i="1" dirty="0" smtClean="0"/>
              <a:t>creator</a:t>
            </a:r>
            <a:r>
              <a:rPr lang="en-US" dirty="0" smtClean="0"/>
              <a:t> classes and </a:t>
            </a:r>
            <a:r>
              <a:rPr lang="en-US" i="1" dirty="0" smtClean="0"/>
              <a:t>product</a:t>
            </a:r>
            <a:r>
              <a:rPr lang="en-US" dirty="0" smtClean="0"/>
              <a:t> classes.</a:t>
            </a:r>
          </a:p>
          <a:p>
            <a:pPr lvl="1"/>
            <a:r>
              <a:rPr lang="en-US" dirty="0" smtClean="0"/>
              <a:t>As it will be seen, some creational patterns fuse the creator and product into one class.</a:t>
            </a:r>
          </a:p>
          <a:p>
            <a:pPr lvl="1"/>
            <a:r>
              <a:rPr lang="en-US" dirty="0" smtClean="0"/>
              <a:t>At first, the Abstract Factory may seem confusing because of the number of classes required, however, when you take a closer look at the pattern, you’ll see that the structural relationships required are modeled over and over the same way as new products are added to the design.</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Abstract Factory Design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48" name="TextBox 47"/>
          <p:cNvSpPr txBox="1"/>
          <p:nvPr/>
        </p:nvSpPr>
        <p:spPr>
          <a:xfrm>
            <a:off x="1295400" y="5265003"/>
            <a:ext cx="2971800" cy="83099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 Notice the Pattern!</a:t>
            </a:r>
          </a:p>
          <a:p>
            <a:r>
              <a:rPr lang="en-US" sz="1200" b="1" dirty="0" smtClean="0">
                <a:solidFill>
                  <a:srgbClr val="C00000"/>
                </a:solidFill>
                <a:latin typeface="Bradley Hand ITC" pitchFamily="66" charset="0"/>
              </a:rPr>
              <a:t>Adding other products for existing families requires adding another  AbstractProduct interface and concrete product classes!</a:t>
            </a:r>
            <a:endParaRPr lang="en-US" sz="1200" b="1" dirty="0">
              <a:solidFill>
                <a:srgbClr val="C00000"/>
              </a:solidFill>
              <a:latin typeface="Bradley Hand ITC" pitchFamily="66" charset="0"/>
            </a:endParaRPr>
          </a:p>
        </p:txBody>
      </p:sp>
      <p:grpSp>
        <p:nvGrpSpPr>
          <p:cNvPr id="52" name="Group 51"/>
          <p:cNvGrpSpPr/>
          <p:nvPr/>
        </p:nvGrpSpPr>
        <p:grpSpPr>
          <a:xfrm>
            <a:off x="609600" y="1371600"/>
            <a:ext cx="7772400" cy="3524250"/>
            <a:chOff x="381000" y="1371600"/>
            <a:chExt cx="7772400" cy="3524250"/>
          </a:xfrm>
        </p:grpSpPr>
        <p:pic>
          <p:nvPicPr>
            <p:cNvPr id="2050" name="Picture 2"/>
            <p:cNvPicPr>
              <a:picLocks noChangeAspect="1" noChangeArrowheads="1"/>
            </p:cNvPicPr>
            <p:nvPr/>
          </p:nvPicPr>
          <p:blipFill>
            <a:blip r:embed="rId2" cstate="print"/>
            <a:srcRect/>
            <a:stretch>
              <a:fillRect/>
            </a:stretch>
          </p:blipFill>
          <p:spPr bwMode="auto">
            <a:xfrm>
              <a:off x="2514600" y="2057400"/>
              <a:ext cx="3848100" cy="2838450"/>
            </a:xfrm>
            <a:prstGeom prst="rect">
              <a:avLst/>
            </a:prstGeom>
            <a:noFill/>
            <a:ln w="9525">
              <a:noFill/>
              <a:miter lim="800000"/>
              <a:headEnd/>
              <a:tailEnd/>
            </a:ln>
          </p:spPr>
        </p:pic>
        <p:sp>
          <p:nvSpPr>
            <p:cNvPr id="8" name="TextBox 7"/>
            <p:cNvSpPr txBox="1"/>
            <p:nvPr/>
          </p:nvSpPr>
          <p:spPr>
            <a:xfrm>
              <a:off x="6553200" y="3429000"/>
              <a:ext cx="762000" cy="461665"/>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Product</a:t>
              </a:r>
            </a:p>
            <a:p>
              <a:pPr algn="ctr"/>
              <a:r>
                <a:rPr lang="en-US" sz="1200" b="1" dirty="0" smtClean="0">
                  <a:solidFill>
                    <a:srgbClr val="C00000"/>
                  </a:solidFill>
                  <a:latin typeface="Bradley Hand ITC" pitchFamily="66" charset="0"/>
                </a:rPr>
                <a:t> Classes</a:t>
              </a:r>
              <a:endParaRPr lang="en-US" sz="1200" b="1" dirty="0">
                <a:solidFill>
                  <a:srgbClr val="C00000"/>
                </a:solidFill>
                <a:latin typeface="Bradley Hand ITC" pitchFamily="66" charset="0"/>
              </a:endParaRPr>
            </a:p>
          </p:txBody>
        </p:sp>
        <p:sp>
          <p:nvSpPr>
            <p:cNvPr id="9" name="Right Brace 8"/>
            <p:cNvSpPr/>
            <p:nvPr/>
          </p:nvSpPr>
          <p:spPr>
            <a:xfrm>
              <a:off x="6400800" y="2514600"/>
              <a:ext cx="228600" cy="21336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Left Brace 40"/>
            <p:cNvSpPr/>
            <p:nvPr/>
          </p:nvSpPr>
          <p:spPr>
            <a:xfrm>
              <a:off x="2362200" y="2438400"/>
              <a:ext cx="152400" cy="24384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TextBox 41"/>
            <p:cNvSpPr txBox="1"/>
            <p:nvPr/>
          </p:nvSpPr>
          <p:spPr>
            <a:xfrm>
              <a:off x="1600200" y="3505200"/>
              <a:ext cx="685800" cy="461665"/>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Creator</a:t>
              </a:r>
            </a:p>
            <a:p>
              <a:pPr algn="ctr"/>
              <a:r>
                <a:rPr lang="en-US" sz="1200" b="1" dirty="0" smtClean="0">
                  <a:solidFill>
                    <a:srgbClr val="C00000"/>
                  </a:solidFill>
                  <a:latin typeface="Bradley Hand ITC" pitchFamily="66" charset="0"/>
                </a:rPr>
                <a:t>Classes</a:t>
              </a:r>
              <a:endParaRPr lang="en-US" sz="1200" b="1" dirty="0">
                <a:solidFill>
                  <a:srgbClr val="C00000"/>
                </a:solidFill>
                <a:latin typeface="Bradley Hand ITC" pitchFamily="66" charset="0"/>
              </a:endParaRPr>
            </a:p>
          </p:txBody>
        </p:sp>
        <p:sp>
          <p:nvSpPr>
            <p:cNvPr id="43" name="TextBox 42"/>
            <p:cNvSpPr txBox="1"/>
            <p:nvPr/>
          </p:nvSpPr>
          <p:spPr>
            <a:xfrm>
              <a:off x="6324600" y="14478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Products need to obey the Product interface!</a:t>
              </a:r>
              <a:endParaRPr lang="en-US" sz="1200" b="1" dirty="0">
                <a:solidFill>
                  <a:srgbClr val="C00000"/>
                </a:solidFill>
                <a:latin typeface="Bradley Hand ITC" pitchFamily="66" charset="0"/>
              </a:endParaRPr>
            </a:p>
          </p:txBody>
        </p:sp>
        <p:sp>
          <p:nvSpPr>
            <p:cNvPr id="44" name="Freeform 43"/>
            <p:cNvSpPr/>
            <p:nvPr/>
          </p:nvSpPr>
          <p:spPr>
            <a:xfrm>
              <a:off x="5867400" y="1762125"/>
              <a:ext cx="695325" cy="752475"/>
            </a:xfrm>
            <a:custGeom>
              <a:avLst/>
              <a:gdLst>
                <a:gd name="connsiteX0" fmla="*/ 695325 w 695325"/>
                <a:gd name="connsiteY0" fmla="*/ 0 h 762000"/>
                <a:gd name="connsiteX1" fmla="*/ 371475 w 695325"/>
                <a:gd name="connsiteY1" fmla="*/ 161925 h 762000"/>
                <a:gd name="connsiteX2" fmla="*/ 295275 w 695325"/>
                <a:gd name="connsiteY2" fmla="*/ 514350 h 762000"/>
                <a:gd name="connsiteX3" fmla="*/ 0 w 695325"/>
                <a:gd name="connsiteY3" fmla="*/ 762000 h 762000"/>
              </a:gdLst>
              <a:ahLst/>
              <a:cxnLst>
                <a:cxn ang="0">
                  <a:pos x="connsiteX0" y="connsiteY0"/>
                </a:cxn>
                <a:cxn ang="0">
                  <a:pos x="connsiteX1" y="connsiteY1"/>
                </a:cxn>
                <a:cxn ang="0">
                  <a:pos x="connsiteX2" y="connsiteY2"/>
                </a:cxn>
                <a:cxn ang="0">
                  <a:pos x="connsiteX3" y="connsiteY3"/>
                </a:cxn>
              </a:cxnLst>
              <a:rect l="l" t="t" r="r" b="b"/>
              <a:pathLst>
                <a:path w="695325" h="762000">
                  <a:moveTo>
                    <a:pt x="695325" y="0"/>
                  </a:moveTo>
                  <a:cubicBezTo>
                    <a:pt x="566737" y="38100"/>
                    <a:pt x="438150" y="76200"/>
                    <a:pt x="371475" y="161925"/>
                  </a:cubicBezTo>
                  <a:cubicBezTo>
                    <a:pt x="304800" y="247650"/>
                    <a:pt x="357188" y="414337"/>
                    <a:pt x="295275" y="514350"/>
                  </a:cubicBezTo>
                  <a:cubicBezTo>
                    <a:pt x="233362" y="614363"/>
                    <a:pt x="116681" y="688181"/>
                    <a:pt x="0" y="762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TextBox 44"/>
            <p:cNvSpPr txBox="1"/>
            <p:nvPr/>
          </p:nvSpPr>
          <p:spPr>
            <a:xfrm>
              <a:off x="609600" y="1371600"/>
              <a:ext cx="3124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Clients only know about creator and product interfaces!  This allows us to vary behavior without changing client code!</a:t>
              </a:r>
              <a:endParaRPr lang="en-US" sz="1200" b="1" dirty="0">
                <a:solidFill>
                  <a:srgbClr val="C00000"/>
                </a:solidFill>
                <a:latin typeface="Bradley Hand ITC" pitchFamily="66" charset="0"/>
              </a:endParaRPr>
            </a:p>
          </p:txBody>
        </p:sp>
        <p:sp>
          <p:nvSpPr>
            <p:cNvPr id="47" name="Freeform 46"/>
            <p:cNvSpPr/>
            <p:nvPr/>
          </p:nvSpPr>
          <p:spPr>
            <a:xfrm>
              <a:off x="3333750" y="1819275"/>
              <a:ext cx="1200150" cy="295275"/>
            </a:xfrm>
            <a:custGeom>
              <a:avLst/>
              <a:gdLst>
                <a:gd name="connsiteX0" fmla="*/ 0 w 1200150"/>
                <a:gd name="connsiteY0" fmla="*/ 0 h 295275"/>
                <a:gd name="connsiteX1" fmla="*/ 171450 w 1200150"/>
                <a:gd name="connsiteY1" fmla="*/ 152400 h 295275"/>
                <a:gd name="connsiteX2" fmla="*/ 771525 w 1200150"/>
                <a:gd name="connsiteY2" fmla="*/ 190500 h 295275"/>
                <a:gd name="connsiteX3" fmla="*/ 1000125 w 1200150"/>
                <a:gd name="connsiteY3" fmla="*/ 276225 h 295275"/>
                <a:gd name="connsiteX4" fmla="*/ 1200150 w 1200150"/>
                <a:gd name="connsiteY4" fmla="*/ 295275 h 29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0150" h="295275">
                  <a:moveTo>
                    <a:pt x="0" y="0"/>
                  </a:moveTo>
                  <a:cubicBezTo>
                    <a:pt x="21431" y="60325"/>
                    <a:pt x="42862" y="120650"/>
                    <a:pt x="171450" y="152400"/>
                  </a:cubicBezTo>
                  <a:cubicBezTo>
                    <a:pt x="300038" y="184150"/>
                    <a:pt x="633413" y="169863"/>
                    <a:pt x="771525" y="190500"/>
                  </a:cubicBezTo>
                  <a:cubicBezTo>
                    <a:pt x="909637" y="211137"/>
                    <a:pt x="928688" y="258763"/>
                    <a:pt x="1000125" y="276225"/>
                  </a:cubicBezTo>
                  <a:cubicBezTo>
                    <a:pt x="1071562" y="293687"/>
                    <a:pt x="1200150" y="295275"/>
                    <a:pt x="1200150" y="2952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TextBox 48"/>
            <p:cNvSpPr txBox="1"/>
            <p:nvPr/>
          </p:nvSpPr>
          <p:spPr>
            <a:xfrm>
              <a:off x="381000" y="26670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Factories need to obey the Factory interface!</a:t>
              </a:r>
              <a:endParaRPr lang="en-US" sz="1200" b="1" dirty="0">
                <a:solidFill>
                  <a:srgbClr val="C00000"/>
                </a:solidFill>
                <a:latin typeface="Bradley Hand ITC" pitchFamily="66" charset="0"/>
              </a:endParaRPr>
            </a:p>
          </p:txBody>
        </p:sp>
        <p:sp>
          <p:nvSpPr>
            <p:cNvPr id="50" name="Freeform 49"/>
            <p:cNvSpPr/>
            <p:nvPr/>
          </p:nvSpPr>
          <p:spPr>
            <a:xfrm>
              <a:off x="1666875" y="2181225"/>
              <a:ext cx="1076325" cy="514350"/>
            </a:xfrm>
            <a:custGeom>
              <a:avLst/>
              <a:gdLst>
                <a:gd name="connsiteX0" fmla="*/ 0 w 1076325"/>
                <a:gd name="connsiteY0" fmla="*/ 495300 h 514350"/>
                <a:gd name="connsiteX1" fmla="*/ 476250 w 1076325"/>
                <a:gd name="connsiteY1" fmla="*/ 438150 h 514350"/>
                <a:gd name="connsiteX2" fmla="*/ 742950 w 1076325"/>
                <a:gd name="connsiteY2" fmla="*/ 38100 h 514350"/>
                <a:gd name="connsiteX3" fmla="*/ 1076325 w 1076325"/>
                <a:gd name="connsiteY3" fmla="*/ 209550 h 514350"/>
              </a:gdLst>
              <a:ahLst/>
              <a:cxnLst>
                <a:cxn ang="0">
                  <a:pos x="connsiteX0" y="connsiteY0"/>
                </a:cxn>
                <a:cxn ang="0">
                  <a:pos x="connsiteX1" y="connsiteY1"/>
                </a:cxn>
                <a:cxn ang="0">
                  <a:pos x="connsiteX2" y="connsiteY2"/>
                </a:cxn>
                <a:cxn ang="0">
                  <a:pos x="connsiteX3" y="connsiteY3"/>
                </a:cxn>
              </a:cxnLst>
              <a:rect l="l" t="t" r="r" b="b"/>
              <a:pathLst>
                <a:path w="1076325" h="514350">
                  <a:moveTo>
                    <a:pt x="0" y="495300"/>
                  </a:moveTo>
                  <a:cubicBezTo>
                    <a:pt x="176212" y="504825"/>
                    <a:pt x="352425" y="514350"/>
                    <a:pt x="476250" y="438150"/>
                  </a:cubicBezTo>
                  <a:cubicBezTo>
                    <a:pt x="600075" y="361950"/>
                    <a:pt x="642938" y="76200"/>
                    <a:pt x="742950" y="38100"/>
                  </a:cubicBezTo>
                  <a:cubicBezTo>
                    <a:pt x="842962" y="0"/>
                    <a:pt x="959643" y="104775"/>
                    <a:pt x="1076325" y="2095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51" name="TextBox 50"/>
          <p:cNvSpPr txBox="1"/>
          <p:nvPr/>
        </p:nvSpPr>
        <p:spPr>
          <a:xfrm>
            <a:off x="4800600" y="5265003"/>
            <a:ext cx="2971800" cy="83099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 Notice the Pattern!</a:t>
            </a:r>
          </a:p>
          <a:p>
            <a:r>
              <a:rPr lang="en-US" sz="1200" b="1" dirty="0" smtClean="0">
                <a:solidFill>
                  <a:srgbClr val="C00000"/>
                </a:solidFill>
                <a:latin typeface="Bradley Hand ITC" pitchFamily="66" charset="0"/>
              </a:rPr>
              <a:t>Adding  a new family of products requires adding another  Factory, AbstractProduct interface and concrete product classes!</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Abstract Factory Design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grpSp>
        <p:nvGrpSpPr>
          <p:cNvPr id="72" name="Group 71"/>
          <p:cNvGrpSpPr/>
          <p:nvPr/>
        </p:nvGrpSpPr>
        <p:grpSpPr>
          <a:xfrm>
            <a:off x="609600" y="2057400"/>
            <a:ext cx="6391275" cy="3886200"/>
            <a:chOff x="914400" y="1752600"/>
            <a:chExt cx="6391275" cy="3886200"/>
          </a:xfrm>
        </p:grpSpPr>
        <p:sp>
          <p:nvSpPr>
            <p:cNvPr id="55" name="Freeform 54"/>
            <p:cNvSpPr/>
            <p:nvPr/>
          </p:nvSpPr>
          <p:spPr>
            <a:xfrm>
              <a:off x="2667001" y="2428875"/>
              <a:ext cx="836612" cy="2524125"/>
            </a:xfrm>
            <a:custGeom>
              <a:avLst/>
              <a:gdLst>
                <a:gd name="connsiteX0" fmla="*/ 654050 w 681037"/>
                <a:gd name="connsiteY0" fmla="*/ 2447925 h 2447925"/>
                <a:gd name="connsiteX1" fmla="*/ 654050 w 681037"/>
                <a:gd name="connsiteY1" fmla="*/ 2381250 h 2447925"/>
                <a:gd name="connsiteX2" fmla="*/ 587375 w 681037"/>
                <a:gd name="connsiteY2" fmla="*/ 2295525 h 2447925"/>
                <a:gd name="connsiteX3" fmla="*/ 92075 w 681037"/>
                <a:gd name="connsiteY3" fmla="*/ 2276475 h 2447925"/>
                <a:gd name="connsiteX4" fmla="*/ 34925 w 681037"/>
                <a:gd name="connsiteY4" fmla="*/ 1866900 h 2447925"/>
                <a:gd name="connsiteX5" fmla="*/ 63500 w 681037"/>
                <a:gd name="connsiteY5" fmla="*/ 314325 h 2447925"/>
                <a:gd name="connsiteX6" fmla="*/ 330200 w 681037"/>
                <a:gd name="connsiteY6" fmla="*/ 0 h 2447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1037" h="2447925">
                  <a:moveTo>
                    <a:pt x="654050" y="2447925"/>
                  </a:moveTo>
                  <a:cubicBezTo>
                    <a:pt x="659606" y="2427287"/>
                    <a:pt x="665162" y="2406650"/>
                    <a:pt x="654050" y="2381250"/>
                  </a:cubicBezTo>
                  <a:cubicBezTo>
                    <a:pt x="642938" y="2355850"/>
                    <a:pt x="681037" y="2312987"/>
                    <a:pt x="587375" y="2295525"/>
                  </a:cubicBezTo>
                  <a:cubicBezTo>
                    <a:pt x="493713" y="2278063"/>
                    <a:pt x="184150" y="2347912"/>
                    <a:pt x="92075" y="2276475"/>
                  </a:cubicBezTo>
                  <a:cubicBezTo>
                    <a:pt x="0" y="2205038"/>
                    <a:pt x="39688" y="2193925"/>
                    <a:pt x="34925" y="1866900"/>
                  </a:cubicBezTo>
                  <a:cubicBezTo>
                    <a:pt x="30163" y="1539875"/>
                    <a:pt x="14288" y="625475"/>
                    <a:pt x="63500" y="314325"/>
                  </a:cubicBezTo>
                  <a:cubicBezTo>
                    <a:pt x="112712" y="3175"/>
                    <a:pt x="221456" y="1587"/>
                    <a:pt x="330200" y="0"/>
                  </a:cubicBezTo>
                </a:path>
              </a:pathLst>
            </a:custGeom>
            <a:ln w="635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050" name="Picture 2"/>
            <p:cNvPicPr>
              <a:picLocks noChangeAspect="1" noChangeArrowheads="1"/>
            </p:cNvPicPr>
            <p:nvPr/>
          </p:nvPicPr>
          <p:blipFill>
            <a:blip r:embed="rId2" cstate="print"/>
            <a:srcRect/>
            <a:stretch>
              <a:fillRect/>
            </a:stretch>
          </p:blipFill>
          <p:spPr bwMode="auto">
            <a:xfrm>
              <a:off x="3048000" y="1752600"/>
              <a:ext cx="3848100" cy="2838450"/>
            </a:xfrm>
            <a:prstGeom prst="rect">
              <a:avLst/>
            </a:prstGeom>
            <a:noFill/>
            <a:ln w="9525">
              <a:noFill/>
              <a:miter lim="800000"/>
              <a:headEnd/>
              <a:tailEnd/>
            </a:ln>
          </p:spPr>
        </p:pic>
        <p:grpSp>
          <p:nvGrpSpPr>
            <p:cNvPr id="7" name="Group 25"/>
            <p:cNvGrpSpPr/>
            <p:nvPr/>
          </p:nvGrpSpPr>
          <p:grpSpPr>
            <a:xfrm>
              <a:off x="4495800" y="4876800"/>
              <a:ext cx="1208985" cy="457200"/>
              <a:chOff x="6505575" y="3429000"/>
              <a:chExt cx="1208985" cy="457200"/>
            </a:xfrm>
          </p:grpSpPr>
          <p:sp>
            <p:nvSpPr>
              <p:cNvPr id="20" name="Rectangle 19"/>
              <p:cNvSpPr/>
              <p:nvPr/>
            </p:nvSpPr>
            <p:spPr>
              <a:xfrm>
                <a:off x="6556039" y="3429000"/>
                <a:ext cx="1066800" cy="4572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6505575" y="3438525"/>
                <a:ext cx="1208985" cy="246221"/>
              </a:xfrm>
              <a:prstGeom prst="rect">
                <a:avLst/>
              </a:prstGeom>
              <a:noFill/>
            </p:spPr>
            <p:txBody>
              <a:bodyPr wrap="none" rtlCol="0">
                <a:spAutoFit/>
              </a:bodyPr>
              <a:lstStyle/>
              <a:p>
                <a:r>
                  <a:rPr lang="en-US" sz="1000" dirty="0" smtClean="0"/>
                  <a:t>ConcreteProductA3</a:t>
                </a:r>
                <a:endParaRPr lang="en-US" sz="1000" dirty="0"/>
              </a:p>
            </p:txBody>
          </p:sp>
          <p:cxnSp>
            <p:nvCxnSpPr>
              <p:cNvPr id="23" name="Straight Connector 22"/>
              <p:cNvCxnSpPr/>
              <p:nvPr/>
            </p:nvCxnSpPr>
            <p:spPr>
              <a:xfrm>
                <a:off x="6563295" y="36671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566134" y="3749933"/>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7632364" y="36385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26"/>
            <p:cNvGrpSpPr/>
            <p:nvPr/>
          </p:nvGrpSpPr>
          <p:grpSpPr>
            <a:xfrm>
              <a:off x="5791200" y="4876800"/>
              <a:ext cx="1205779" cy="457200"/>
              <a:chOff x="6505575" y="3429000"/>
              <a:chExt cx="1205779" cy="457200"/>
            </a:xfrm>
          </p:grpSpPr>
          <p:sp>
            <p:nvSpPr>
              <p:cNvPr id="28" name="Rectangle 27"/>
              <p:cNvSpPr/>
              <p:nvPr/>
            </p:nvSpPr>
            <p:spPr>
              <a:xfrm>
                <a:off x="6556039" y="3429000"/>
                <a:ext cx="1066800" cy="4572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6505575" y="3438525"/>
                <a:ext cx="1205779" cy="246221"/>
              </a:xfrm>
              <a:prstGeom prst="rect">
                <a:avLst/>
              </a:prstGeom>
              <a:noFill/>
            </p:spPr>
            <p:txBody>
              <a:bodyPr wrap="none" rtlCol="0">
                <a:spAutoFit/>
              </a:bodyPr>
              <a:lstStyle/>
              <a:p>
                <a:r>
                  <a:rPr lang="en-US" sz="1000" dirty="0" smtClean="0"/>
                  <a:t>ConcreteProductB3</a:t>
                </a:r>
                <a:endParaRPr lang="en-US" sz="1000" dirty="0"/>
              </a:p>
            </p:txBody>
          </p:sp>
          <p:cxnSp>
            <p:nvCxnSpPr>
              <p:cNvPr id="30" name="Straight Connector 29"/>
              <p:cNvCxnSpPr/>
              <p:nvPr/>
            </p:nvCxnSpPr>
            <p:spPr>
              <a:xfrm>
                <a:off x="6563295" y="36671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6566134" y="3749933"/>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7632364" y="36385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65"/>
            <p:cNvGrpSpPr/>
            <p:nvPr/>
          </p:nvGrpSpPr>
          <p:grpSpPr>
            <a:xfrm>
              <a:off x="3124200" y="4953000"/>
              <a:ext cx="1202989" cy="685800"/>
              <a:chOff x="2590800" y="5181600"/>
              <a:chExt cx="1202989" cy="685800"/>
            </a:xfrm>
          </p:grpSpPr>
          <p:sp>
            <p:nvSpPr>
              <p:cNvPr id="36" name="Rectangle 35"/>
              <p:cNvSpPr/>
              <p:nvPr/>
            </p:nvSpPr>
            <p:spPr>
              <a:xfrm>
                <a:off x="2641264" y="5181600"/>
                <a:ext cx="1066800" cy="6858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2590800" y="5191125"/>
                <a:ext cx="1112805" cy="246221"/>
              </a:xfrm>
              <a:prstGeom prst="rect">
                <a:avLst/>
              </a:prstGeom>
              <a:noFill/>
            </p:spPr>
            <p:txBody>
              <a:bodyPr wrap="none" rtlCol="0">
                <a:spAutoFit/>
              </a:bodyPr>
              <a:lstStyle/>
              <a:p>
                <a:r>
                  <a:rPr lang="en-US" sz="1000" dirty="0" smtClean="0"/>
                  <a:t>ConcreteFactory3</a:t>
                </a:r>
                <a:endParaRPr lang="en-US" sz="1000" dirty="0"/>
              </a:p>
            </p:txBody>
          </p:sp>
          <p:cxnSp>
            <p:nvCxnSpPr>
              <p:cNvPr id="38" name="Straight Connector 37"/>
              <p:cNvCxnSpPr/>
              <p:nvPr/>
            </p:nvCxnSpPr>
            <p:spPr>
              <a:xfrm>
                <a:off x="2648520" y="54197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2651359" y="5502533"/>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717589" y="53911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p:cNvSpPr txBox="1"/>
              <p:nvPr/>
            </p:nvSpPr>
            <p:spPr>
              <a:xfrm>
                <a:off x="2590800" y="5613856"/>
                <a:ext cx="946093" cy="215444"/>
              </a:xfrm>
              <a:prstGeom prst="rect">
                <a:avLst/>
              </a:prstGeom>
              <a:noFill/>
            </p:spPr>
            <p:txBody>
              <a:bodyPr wrap="none" rtlCol="0">
                <a:spAutoFit/>
              </a:bodyPr>
              <a:lstStyle/>
              <a:p>
                <a:r>
                  <a:rPr lang="en-US" sz="800" dirty="0" smtClean="0"/>
                  <a:t>+createProductB()</a:t>
                </a:r>
                <a:endParaRPr lang="en-US" sz="800" dirty="0"/>
              </a:p>
            </p:txBody>
          </p:sp>
          <p:sp>
            <p:nvSpPr>
              <p:cNvPr id="49" name="TextBox 48"/>
              <p:cNvSpPr txBox="1"/>
              <p:nvPr/>
            </p:nvSpPr>
            <p:spPr>
              <a:xfrm>
                <a:off x="2598811" y="5499556"/>
                <a:ext cx="949299" cy="215444"/>
              </a:xfrm>
              <a:prstGeom prst="rect">
                <a:avLst/>
              </a:prstGeom>
              <a:noFill/>
            </p:spPr>
            <p:txBody>
              <a:bodyPr wrap="none" rtlCol="0">
                <a:spAutoFit/>
              </a:bodyPr>
              <a:lstStyle/>
              <a:p>
                <a:r>
                  <a:rPr lang="en-US" sz="800" dirty="0" smtClean="0"/>
                  <a:t>+createProductA()</a:t>
                </a:r>
                <a:endParaRPr lang="en-US" sz="800" dirty="0"/>
              </a:p>
            </p:txBody>
          </p:sp>
        </p:grpSp>
        <p:pic>
          <p:nvPicPr>
            <p:cNvPr id="1026" name="Picture 2"/>
            <p:cNvPicPr>
              <a:picLocks noChangeAspect="1" noChangeArrowheads="1"/>
            </p:cNvPicPr>
            <p:nvPr/>
          </p:nvPicPr>
          <p:blipFill>
            <a:blip r:embed="rId3" cstate="print"/>
            <a:srcRect/>
            <a:stretch>
              <a:fillRect/>
            </a:stretch>
          </p:blipFill>
          <p:spPr bwMode="auto">
            <a:xfrm rot="5400000">
              <a:off x="2910685" y="2359245"/>
              <a:ext cx="266700" cy="200025"/>
            </a:xfrm>
            <a:prstGeom prst="rect">
              <a:avLst/>
            </a:prstGeom>
            <a:noFill/>
            <a:ln w="9525">
              <a:noFill/>
              <a:miter lim="800000"/>
              <a:headEnd/>
              <a:tailEnd/>
            </a:ln>
          </p:spPr>
        </p:pic>
        <p:cxnSp>
          <p:nvCxnSpPr>
            <p:cNvPr id="63" name="Shape 62"/>
            <p:cNvCxnSpPr>
              <a:endCxn id="20" idx="2"/>
            </p:cNvCxnSpPr>
            <p:nvPr/>
          </p:nvCxnSpPr>
          <p:spPr>
            <a:xfrm flipV="1">
              <a:off x="4267200" y="5334000"/>
              <a:ext cx="812464" cy="152400"/>
            </a:xfrm>
            <a:prstGeom prst="bentConnector2">
              <a:avLst/>
            </a:prstGeom>
            <a:ln w="63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65" name="Shape 64"/>
            <p:cNvCxnSpPr/>
            <p:nvPr/>
          </p:nvCxnSpPr>
          <p:spPr>
            <a:xfrm flipV="1">
              <a:off x="4267200" y="5410200"/>
              <a:ext cx="2107864" cy="152400"/>
            </a:xfrm>
            <a:prstGeom prst="bentConnector2">
              <a:avLst/>
            </a:prstGeom>
            <a:ln w="63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8" name="Freeform 67"/>
            <p:cNvSpPr/>
            <p:nvPr/>
          </p:nvSpPr>
          <p:spPr>
            <a:xfrm>
              <a:off x="4227513" y="2895600"/>
              <a:ext cx="862012" cy="1981200"/>
            </a:xfrm>
            <a:custGeom>
              <a:avLst/>
              <a:gdLst>
                <a:gd name="connsiteX0" fmla="*/ 849312 w 862012"/>
                <a:gd name="connsiteY0" fmla="*/ 2085975 h 2085975"/>
                <a:gd name="connsiteX1" fmla="*/ 839787 w 862012"/>
                <a:gd name="connsiteY1" fmla="*/ 1962150 h 2085975"/>
                <a:gd name="connsiteX2" fmla="*/ 715962 w 862012"/>
                <a:gd name="connsiteY2" fmla="*/ 1905000 h 2085975"/>
                <a:gd name="connsiteX3" fmla="*/ 201612 w 862012"/>
                <a:gd name="connsiteY3" fmla="*/ 1905000 h 2085975"/>
                <a:gd name="connsiteX4" fmla="*/ 58737 w 862012"/>
                <a:gd name="connsiteY4" fmla="*/ 1504950 h 2085975"/>
                <a:gd name="connsiteX5" fmla="*/ 49212 w 862012"/>
                <a:gd name="connsiteY5" fmla="*/ 323850 h 2085975"/>
                <a:gd name="connsiteX6" fmla="*/ 354012 w 862012"/>
                <a:gd name="connsiteY6" fmla="*/ 152400 h 2085975"/>
                <a:gd name="connsiteX7" fmla="*/ 392112 w 862012"/>
                <a:gd name="connsiteY7" fmla="*/ 0 h 208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2012" h="2085975">
                  <a:moveTo>
                    <a:pt x="849312" y="2085975"/>
                  </a:moveTo>
                  <a:cubicBezTo>
                    <a:pt x="855662" y="2039143"/>
                    <a:pt x="862012" y="1992312"/>
                    <a:pt x="839787" y="1962150"/>
                  </a:cubicBezTo>
                  <a:cubicBezTo>
                    <a:pt x="817562" y="1931988"/>
                    <a:pt x="822324" y="1914525"/>
                    <a:pt x="715962" y="1905000"/>
                  </a:cubicBezTo>
                  <a:cubicBezTo>
                    <a:pt x="609600" y="1895475"/>
                    <a:pt x="311150" y="1971675"/>
                    <a:pt x="201612" y="1905000"/>
                  </a:cubicBezTo>
                  <a:cubicBezTo>
                    <a:pt x="92075" y="1838325"/>
                    <a:pt x="84137" y="1768475"/>
                    <a:pt x="58737" y="1504950"/>
                  </a:cubicBezTo>
                  <a:cubicBezTo>
                    <a:pt x="33337" y="1241425"/>
                    <a:pt x="0" y="549275"/>
                    <a:pt x="49212" y="323850"/>
                  </a:cubicBezTo>
                  <a:cubicBezTo>
                    <a:pt x="98425" y="98425"/>
                    <a:pt x="296862" y="206375"/>
                    <a:pt x="354012" y="152400"/>
                  </a:cubicBezTo>
                  <a:cubicBezTo>
                    <a:pt x="411162" y="98425"/>
                    <a:pt x="401637" y="49212"/>
                    <a:pt x="392112" y="0"/>
                  </a:cubicBezTo>
                </a:path>
              </a:pathLst>
            </a:custGeom>
            <a:ln w="6350">
              <a:solidFill>
                <a:srgbClr val="C0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4476750" y="2781300"/>
              <a:ext cx="266700" cy="200025"/>
            </a:xfrm>
            <a:prstGeom prst="rect">
              <a:avLst/>
            </a:prstGeom>
            <a:noFill/>
            <a:ln w="9525">
              <a:noFill/>
              <a:miter lim="800000"/>
              <a:headEnd/>
              <a:tailEnd/>
            </a:ln>
          </p:spPr>
        </p:pic>
        <p:sp>
          <p:nvSpPr>
            <p:cNvPr id="69" name="Freeform 68"/>
            <p:cNvSpPr/>
            <p:nvPr/>
          </p:nvSpPr>
          <p:spPr>
            <a:xfrm>
              <a:off x="6380163" y="2438400"/>
              <a:ext cx="925512" cy="2438400"/>
            </a:xfrm>
            <a:custGeom>
              <a:avLst/>
              <a:gdLst>
                <a:gd name="connsiteX0" fmla="*/ 11112 w 925512"/>
                <a:gd name="connsiteY0" fmla="*/ 2544762 h 2544762"/>
                <a:gd name="connsiteX1" fmla="*/ 20637 w 925512"/>
                <a:gd name="connsiteY1" fmla="*/ 2411412 h 2544762"/>
                <a:gd name="connsiteX2" fmla="*/ 134937 w 925512"/>
                <a:gd name="connsiteY2" fmla="*/ 2363787 h 2544762"/>
                <a:gd name="connsiteX3" fmla="*/ 754062 w 925512"/>
                <a:gd name="connsiteY3" fmla="*/ 2325687 h 2544762"/>
                <a:gd name="connsiteX4" fmla="*/ 830262 w 925512"/>
                <a:gd name="connsiteY4" fmla="*/ 1820862 h 2544762"/>
                <a:gd name="connsiteX5" fmla="*/ 858837 w 925512"/>
                <a:gd name="connsiteY5" fmla="*/ 296862 h 2544762"/>
                <a:gd name="connsiteX6" fmla="*/ 430212 w 925512"/>
                <a:gd name="connsiteY6" fmla="*/ 39687 h 254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5512" h="2544762">
                  <a:moveTo>
                    <a:pt x="11112" y="2544762"/>
                  </a:moveTo>
                  <a:cubicBezTo>
                    <a:pt x="5556" y="2493168"/>
                    <a:pt x="0" y="2441574"/>
                    <a:pt x="20637" y="2411412"/>
                  </a:cubicBezTo>
                  <a:cubicBezTo>
                    <a:pt x="41274" y="2381250"/>
                    <a:pt x="12700" y="2378075"/>
                    <a:pt x="134937" y="2363787"/>
                  </a:cubicBezTo>
                  <a:cubicBezTo>
                    <a:pt x="257175" y="2349500"/>
                    <a:pt x="638175" y="2416174"/>
                    <a:pt x="754062" y="2325687"/>
                  </a:cubicBezTo>
                  <a:cubicBezTo>
                    <a:pt x="869949" y="2235200"/>
                    <a:pt x="812800" y="2159000"/>
                    <a:pt x="830262" y="1820862"/>
                  </a:cubicBezTo>
                  <a:cubicBezTo>
                    <a:pt x="847725" y="1482725"/>
                    <a:pt x="925512" y="593724"/>
                    <a:pt x="858837" y="296862"/>
                  </a:cubicBezTo>
                  <a:cubicBezTo>
                    <a:pt x="792162" y="0"/>
                    <a:pt x="611187" y="19843"/>
                    <a:pt x="430212" y="39687"/>
                  </a:cubicBezTo>
                </a:path>
              </a:pathLst>
            </a:custGeom>
            <a:ln w="6350">
              <a:solidFill>
                <a:srgbClr val="C0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028" name="Picture 4"/>
            <p:cNvPicPr>
              <a:picLocks noChangeAspect="1" noChangeArrowheads="1"/>
            </p:cNvPicPr>
            <p:nvPr/>
          </p:nvPicPr>
          <p:blipFill>
            <a:blip r:embed="rId3" cstate="print"/>
            <a:srcRect/>
            <a:stretch>
              <a:fillRect/>
            </a:stretch>
          </p:blipFill>
          <p:spPr bwMode="auto">
            <a:xfrm rot="16200000">
              <a:off x="6596063" y="2395537"/>
              <a:ext cx="266700" cy="200025"/>
            </a:xfrm>
            <a:prstGeom prst="rect">
              <a:avLst/>
            </a:prstGeom>
            <a:noFill/>
            <a:ln w="9525">
              <a:noFill/>
              <a:miter lim="800000"/>
              <a:headEnd/>
              <a:tailEnd/>
            </a:ln>
          </p:spPr>
        </p:pic>
        <p:sp>
          <p:nvSpPr>
            <p:cNvPr id="70" name="TextBox 69"/>
            <p:cNvSpPr txBox="1"/>
            <p:nvPr/>
          </p:nvSpPr>
          <p:spPr>
            <a:xfrm>
              <a:off x="914400" y="5029200"/>
              <a:ext cx="1905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 New Family of Products has been added!</a:t>
              </a:r>
              <a:endParaRPr lang="en-US" sz="1200" b="1" dirty="0">
                <a:solidFill>
                  <a:srgbClr val="C00000"/>
                </a:solidFill>
                <a:latin typeface="Bradley Hand ITC" pitchFamily="66" charset="0"/>
              </a:endParaRPr>
            </a:p>
          </p:txBody>
        </p:sp>
        <p:sp>
          <p:nvSpPr>
            <p:cNvPr id="71" name="Freeform 70"/>
            <p:cNvSpPr/>
            <p:nvPr/>
          </p:nvSpPr>
          <p:spPr>
            <a:xfrm>
              <a:off x="2495550" y="5343525"/>
              <a:ext cx="628650" cy="238125"/>
            </a:xfrm>
            <a:custGeom>
              <a:avLst/>
              <a:gdLst>
                <a:gd name="connsiteX0" fmla="*/ 0 w 628650"/>
                <a:gd name="connsiteY0" fmla="*/ 0 h 238125"/>
                <a:gd name="connsiteX1" fmla="*/ 276225 w 628650"/>
                <a:gd name="connsiteY1" fmla="*/ 66675 h 238125"/>
                <a:gd name="connsiteX2" fmla="*/ 381000 w 628650"/>
                <a:gd name="connsiteY2" fmla="*/ 200025 h 238125"/>
                <a:gd name="connsiteX3" fmla="*/ 628650 w 62865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628650" h="238125">
                  <a:moveTo>
                    <a:pt x="0" y="0"/>
                  </a:moveTo>
                  <a:cubicBezTo>
                    <a:pt x="106362" y="16669"/>
                    <a:pt x="212725" y="33338"/>
                    <a:pt x="276225" y="66675"/>
                  </a:cubicBezTo>
                  <a:cubicBezTo>
                    <a:pt x="339725" y="100012"/>
                    <a:pt x="322263" y="171450"/>
                    <a:pt x="381000" y="200025"/>
                  </a:cubicBezTo>
                  <a:cubicBezTo>
                    <a:pt x="439737" y="228600"/>
                    <a:pt x="534193" y="233362"/>
                    <a:pt x="628650" y="2381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73" name="TextBox 72"/>
          <p:cNvSpPr txBox="1"/>
          <p:nvPr/>
        </p:nvSpPr>
        <p:spPr>
          <a:xfrm>
            <a:off x="990600" y="1524000"/>
            <a:ext cx="1447800" cy="646331"/>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 </a:t>
            </a:r>
          </a:p>
          <a:p>
            <a:r>
              <a:rPr lang="en-US" sz="1200" b="1" dirty="0" smtClean="0">
                <a:solidFill>
                  <a:srgbClr val="C00000"/>
                </a:solidFill>
                <a:latin typeface="Bradley Hand ITC" pitchFamily="66" charset="0"/>
              </a:rPr>
              <a:t>Adding a new family of products!</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9" name="Straight Arrow Connector 78"/>
          <p:cNvCxnSpPr/>
          <p:nvPr/>
        </p:nvCxnSpPr>
        <p:spPr>
          <a:xfrm flipH="1" flipV="1">
            <a:off x="7610475" y="3048000"/>
            <a:ext cx="6202" cy="390525"/>
          </a:xfrm>
          <a:prstGeom prst="straightConnector1">
            <a:avLst/>
          </a:prstGeom>
          <a:ln w="6350">
            <a:solidFill>
              <a:srgbClr val="C00000"/>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The Abstract Factory Design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55" name="Freeform 54"/>
          <p:cNvSpPr/>
          <p:nvPr/>
        </p:nvSpPr>
        <p:spPr>
          <a:xfrm>
            <a:off x="2362201" y="2733675"/>
            <a:ext cx="836612" cy="2524125"/>
          </a:xfrm>
          <a:custGeom>
            <a:avLst/>
            <a:gdLst>
              <a:gd name="connsiteX0" fmla="*/ 654050 w 681037"/>
              <a:gd name="connsiteY0" fmla="*/ 2447925 h 2447925"/>
              <a:gd name="connsiteX1" fmla="*/ 654050 w 681037"/>
              <a:gd name="connsiteY1" fmla="*/ 2381250 h 2447925"/>
              <a:gd name="connsiteX2" fmla="*/ 587375 w 681037"/>
              <a:gd name="connsiteY2" fmla="*/ 2295525 h 2447925"/>
              <a:gd name="connsiteX3" fmla="*/ 92075 w 681037"/>
              <a:gd name="connsiteY3" fmla="*/ 2276475 h 2447925"/>
              <a:gd name="connsiteX4" fmla="*/ 34925 w 681037"/>
              <a:gd name="connsiteY4" fmla="*/ 1866900 h 2447925"/>
              <a:gd name="connsiteX5" fmla="*/ 63500 w 681037"/>
              <a:gd name="connsiteY5" fmla="*/ 314325 h 2447925"/>
              <a:gd name="connsiteX6" fmla="*/ 330200 w 681037"/>
              <a:gd name="connsiteY6" fmla="*/ 0 h 2447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1037" h="2447925">
                <a:moveTo>
                  <a:pt x="654050" y="2447925"/>
                </a:moveTo>
                <a:cubicBezTo>
                  <a:pt x="659606" y="2427287"/>
                  <a:pt x="665162" y="2406650"/>
                  <a:pt x="654050" y="2381250"/>
                </a:cubicBezTo>
                <a:cubicBezTo>
                  <a:pt x="642938" y="2355850"/>
                  <a:pt x="681037" y="2312987"/>
                  <a:pt x="587375" y="2295525"/>
                </a:cubicBezTo>
                <a:cubicBezTo>
                  <a:pt x="493713" y="2278063"/>
                  <a:pt x="184150" y="2347912"/>
                  <a:pt x="92075" y="2276475"/>
                </a:cubicBezTo>
                <a:cubicBezTo>
                  <a:pt x="0" y="2205038"/>
                  <a:pt x="39688" y="2193925"/>
                  <a:pt x="34925" y="1866900"/>
                </a:cubicBezTo>
                <a:cubicBezTo>
                  <a:pt x="30163" y="1539875"/>
                  <a:pt x="14288" y="625475"/>
                  <a:pt x="63500" y="314325"/>
                </a:cubicBezTo>
                <a:cubicBezTo>
                  <a:pt x="112712" y="3175"/>
                  <a:pt x="221456" y="1587"/>
                  <a:pt x="330200" y="0"/>
                </a:cubicBezTo>
              </a:path>
            </a:pathLst>
          </a:cu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050" name="Picture 2"/>
          <p:cNvPicPr>
            <a:picLocks noChangeAspect="1" noChangeArrowheads="1"/>
          </p:cNvPicPr>
          <p:nvPr/>
        </p:nvPicPr>
        <p:blipFill>
          <a:blip r:embed="rId2" cstate="print"/>
          <a:srcRect/>
          <a:stretch>
            <a:fillRect/>
          </a:stretch>
        </p:blipFill>
        <p:spPr bwMode="auto">
          <a:xfrm>
            <a:off x="2743200" y="2057400"/>
            <a:ext cx="3848100" cy="2838450"/>
          </a:xfrm>
          <a:prstGeom prst="rect">
            <a:avLst/>
          </a:prstGeom>
          <a:noFill/>
          <a:ln w="9525">
            <a:noFill/>
            <a:miter lim="800000"/>
            <a:headEnd/>
            <a:tailEnd/>
          </a:ln>
        </p:spPr>
      </p:pic>
      <p:sp>
        <p:nvSpPr>
          <p:cNvPr id="20" name="Rectangle 19"/>
          <p:cNvSpPr/>
          <p:nvPr/>
        </p:nvSpPr>
        <p:spPr>
          <a:xfrm>
            <a:off x="4241464" y="5181600"/>
            <a:ext cx="10668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4191000" y="5191125"/>
            <a:ext cx="1208985" cy="246221"/>
          </a:xfrm>
          <a:prstGeom prst="rect">
            <a:avLst/>
          </a:prstGeom>
          <a:noFill/>
        </p:spPr>
        <p:txBody>
          <a:bodyPr wrap="none" rtlCol="0">
            <a:spAutoFit/>
          </a:bodyPr>
          <a:lstStyle/>
          <a:p>
            <a:r>
              <a:rPr lang="en-US" sz="1000" dirty="0" smtClean="0"/>
              <a:t>ConcreteProductA3</a:t>
            </a:r>
            <a:endParaRPr lang="en-US" sz="1000" dirty="0"/>
          </a:p>
        </p:txBody>
      </p:sp>
      <p:cxnSp>
        <p:nvCxnSpPr>
          <p:cNvPr id="23" name="Straight Connector 22"/>
          <p:cNvCxnSpPr/>
          <p:nvPr/>
        </p:nvCxnSpPr>
        <p:spPr>
          <a:xfrm>
            <a:off x="4248720" y="5419725"/>
            <a:ext cx="10919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251559" y="5502533"/>
            <a:ext cx="10919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5317789" y="53911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536864" y="5181600"/>
            <a:ext cx="10668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5486400" y="5191125"/>
            <a:ext cx="1205779" cy="246221"/>
          </a:xfrm>
          <a:prstGeom prst="rect">
            <a:avLst/>
          </a:prstGeom>
          <a:noFill/>
        </p:spPr>
        <p:txBody>
          <a:bodyPr wrap="none" rtlCol="0">
            <a:spAutoFit/>
          </a:bodyPr>
          <a:lstStyle/>
          <a:p>
            <a:r>
              <a:rPr lang="en-US" sz="1000" dirty="0" smtClean="0"/>
              <a:t>ConcreteProductB3</a:t>
            </a:r>
            <a:endParaRPr lang="en-US" sz="1000" dirty="0"/>
          </a:p>
        </p:txBody>
      </p:sp>
      <p:cxnSp>
        <p:nvCxnSpPr>
          <p:cNvPr id="30" name="Straight Connector 29"/>
          <p:cNvCxnSpPr/>
          <p:nvPr/>
        </p:nvCxnSpPr>
        <p:spPr>
          <a:xfrm>
            <a:off x="5544120" y="5419725"/>
            <a:ext cx="10919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5546959" y="5502533"/>
            <a:ext cx="10919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6613189" y="53911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65"/>
          <p:cNvGrpSpPr/>
          <p:nvPr/>
        </p:nvGrpSpPr>
        <p:grpSpPr>
          <a:xfrm>
            <a:off x="2819400" y="5257800"/>
            <a:ext cx="1202989" cy="685800"/>
            <a:chOff x="2590800" y="5181600"/>
            <a:chExt cx="1202989" cy="685800"/>
          </a:xfrm>
        </p:grpSpPr>
        <p:sp>
          <p:nvSpPr>
            <p:cNvPr id="36" name="Rectangle 35"/>
            <p:cNvSpPr/>
            <p:nvPr/>
          </p:nvSpPr>
          <p:spPr>
            <a:xfrm>
              <a:off x="2641264" y="5181600"/>
              <a:ext cx="1066800" cy="6858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2590800" y="5191125"/>
              <a:ext cx="1112805" cy="246221"/>
            </a:xfrm>
            <a:prstGeom prst="rect">
              <a:avLst/>
            </a:prstGeom>
            <a:noFill/>
          </p:spPr>
          <p:txBody>
            <a:bodyPr wrap="none" rtlCol="0">
              <a:spAutoFit/>
            </a:bodyPr>
            <a:lstStyle/>
            <a:p>
              <a:r>
                <a:rPr lang="en-US" sz="1000" dirty="0" smtClean="0"/>
                <a:t>ConcreteFactory3</a:t>
              </a:r>
              <a:endParaRPr lang="en-US" sz="1000" dirty="0"/>
            </a:p>
          </p:txBody>
        </p:sp>
        <p:cxnSp>
          <p:nvCxnSpPr>
            <p:cNvPr id="38" name="Straight Connector 37"/>
            <p:cNvCxnSpPr/>
            <p:nvPr/>
          </p:nvCxnSpPr>
          <p:spPr>
            <a:xfrm>
              <a:off x="2648520" y="54197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2651359" y="5502533"/>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717589" y="53911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p:cNvSpPr txBox="1"/>
            <p:nvPr/>
          </p:nvSpPr>
          <p:spPr>
            <a:xfrm>
              <a:off x="2590800" y="5613856"/>
              <a:ext cx="946093" cy="215444"/>
            </a:xfrm>
            <a:prstGeom prst="rect">
              <a:avLst/>
            </a:prstGeom>
            <a:noFill/>
          </p:spPr>
          <p:txBody>
            <a:bodyPr wrap="none" rtlCol="0">
              <a:spAutoFit/>
            </a:bodyPr>
            <a:lstStyle/>
            <a:p>
              <a:r>
                <a:rPr lang="en-US" sz="800" dirty="0" smtClean="0"/>
                <a:t>+createProductB()</a:t>
              </a:r>
              <a:endParaRPr lang="en-US" sz="800" dirty="0"/>
            </a:p>
          </p:txBody>
        </p:sp>
        <p:sp>
          <p:nvSpPr>
            <p:cNvPr id="49" name="TextBox 48"/>
            <p:cNvSpPr txBox="1"/>
            <p:nvPr/>
          </p:nvSpPr>
          <p:spPr>
            <a:xfrm>
              <a:off x="2598811" y="5499556"/>
              <a:ext cx="949299" cy="215444"/>
            </a:xfrm>
            <a:prstGeom prst="rect">
              <a:avLst/>
            </a:prstGeom>
            <a:noFill/>
          </p:spPr>
          <p:txBody>
            <a:bodyPr wrap="none" rtlCol="0">
              <a:spAutoFit/>
            </a:bodyPr>
            <a:lstStyle/>
            <a:p>
              <a:r>
                <a:rPr lang="en-US" sz="800" dirty="0" smtClean="0"/>
                <a:t>+createProductA()</a:t>
              </a:r>
              <a:endParaRPr lang="en-US" sz="800" dirty="0"/>
            </a:p>
          </p:txBody>
        </p:sp>
      </p:grpSp>
      <p:pic>
        <p:nvPicPr>
          <p:cNvPr id="1026" name="Picture 2"/>
          <p:cNvPicPr>
            <a:picLocks noChangeAspect="1" noChangeArrowheads="1"/>
          </p:cNvPicPr>
          <p:nvPr/>
        </p:nvPicPr>
        <p:blipFill>
          <a:blip r:embed="rId3" cstate="print"/>
          <a:srcRect/>
          <a:stretch>
            <a:fillRect/>
          </a:stretch>
        </p:blipFill>
        <p:spPr bwMode="auto">
          <a:xfrm rot="5400000">
            <a:off x="2605885" y="2664045"/>
            <a:ext cx="266700" cy="200025"/>
          </a:xfrm>
          <a:prstGeom prst="rect">
            <a:avLst/>
          </a:prstGeom>
          <a:noFill/>
          <a:ln w="9525">
            <a:noFill/>
            <a:miter lim="800000"/>
            <a:headEnd/>
            <a:tailEnd/>
          </a:ln>
        </p:spPr>
      </p:pic>
      <p:cxnSp>
        <p:nvCxnSpPr>
          <p:cNvPr id="63" name="Shape 62"/>
          <p:cNvCxnSpPr>
            <a:endCxn id="20" idx="2"/>
          </p:cNvCxnSpPr>
          <p:nvPr/>
        </p:nvCxnSpPr>
        <p:spPr>
          <a:xfrm flipV="1">
            <a:off x="3962400" y="5638800"/>
            <a:ext cx="812464" cy="152400"/>
          </a:xfrm>
          <a:prstGeom prst="bentConnector2">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Shape 64"/>
          <p:cNvCxnSpPr/>
          <p:nvPr/>
        </p:nvCxnSpPr>
        <p:spPr>
          <a:xfrm flipV="1">
            <a:off x="3962400" y="5715000"/>
            <a:ext cx="2107864" cy="152400"/>
          </a:xfrm>
          <a:prstGeom prst="bentConnector2">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8" name="Freeform 67"/>
          <p:cNvSpPr/>
          <p:nvPr/>
        </p:nvSpPr>
        <p:spPr>
          <a:xfrm>
            <a:off x="3922713" y="3200400"/>
            <a:ext cx="862012" cy="1981200"/>
          </a:xfrm>
          <a:custGeom>
            <a:avLst/>
            <a:gdLst>
              <a:gd name="connsiteX0" fmla="*/ 849312 w 862012"/>
              <a:gd name="connsiteY0" fmla="*/ 2085975 h 2085975"/>
              <a:gd name="connsiteX1" fmla="*/ 839787 w 862012"/>
              <a:gd name="connsiteY1" fmla="*/ 1962150 h 2085975"/>
              <a:gd name="connsiteX2" fmla="*/ 715962 w 862012"/>
              <a:gd name="connsiteY2" fmla="*/ 1905000 h 2085975"/>
              <a:gd name="connsiteX3" fmla="*/ 201612 w 862012"/>
              <a:gd name="connsiteY3" fmla="*/ 1905000 h 2085975"/>
              <a:gd name="connsiteX4" fmla="*/ 58737 w 862012"/>
              <a:gd name="connsiteY4" fmla="*/ 1504950 h 2085975"/>
              <a:gd name="connsiteX5" fmla="*/ 49212 w 862012"/>
              <a:gd name="connsiteY5" fmla="*/ 323850 h 2085975"/>
              <a:gd name="connsiteX6" fmla="*/ 354012 w 862012"/>
              <a:gd name="connsiteY6" fmla="*/ 152400 h 2085975"/>
              <a:gd name="connsiteX7" fmla="*/ 392112 w 862012"/>
              <a:gd name="connsiteY7" fmla="*/ 0 h 208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2012" h="2085975">
                <a:moveTo>
                  <a:pt x="849312" y="2085975"/>
                </a:moveTo>
                <a:cubicBezTo>
                  <a:pt x="855662" y="2039143"/>
                  <a:pt x="862012" y="1992312"/>
                  <a:pt x="839787" y="1962150"/>
                </a:cubicBezTo>
                <a:cubicBezTo>
                  <a:pt x="817562" y="1931988"/>
                  <a:pt x="822324" y="1914525"/>
                  <a:pt x="715962" y="1905000"/>
                </a:cubicBezTo>
                <a:cubicBezTo>
                  <a:pt x="609600" y="1895475"/>
                  <a:pt x="311150" y="1971675"/>
                  <a:pt x="201612" y="1905000"/>
                </a:cubicBezTo>
                <a:cubicBezTo>
                  <a:pt x="92075" y="1838325"/>
                  <a:pt x="84137" y="1768475"/>
                  <a:pt x="58737" y="1504950"/>
                </a:cubicBezTo>
                <a:cubicBezTo>
                  <a:pt x="33337" y="1241425"/>
                  <a:pt x="0" y="549275"/>
                  <a:pt x="49212" y="323850"/>
                </a:cubicBezTo>
                <a:cubicBezTo>
                  <a:pt x="98425" y="98425"/>
                  <a:pt x="296862" y="206375"/>
                  <a:pt x="354012" y="152400"/>
                </a:cubicBezTo>
                <a:cubicBezTo>
                  <a:pt x="411162" y="98425"/>
                  <a:pt x="401637" y="49212"/>
                  <a:pt x="392112" y="0"/>
                </a:cubicBezTo>
              </a:path>
            </a:pathLst>
          </a:cu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4171950" y="3086100"/>
            <a:ext cx="266700" cy="200025"/>
          </a:xfrm>
          <a:prstGeom prst="rect">
            <a:avLst/>
          </a:prstGeom>
          <a:noFill/>
          <a:ln w="9525">
            <a:noFill/>
            <a:miter lim="800000"/>
            <a:headEnd/>
            <a:tailEnd/>
          </a:ln>
        </p:spPr>
      </p:pic>
      <p:sp>
        <p:nvSpPr>
          <p:cNvPr id="69" name="Freeform 68"/>
          <p:cNvSpPr/>
          <p:nvPr/>
        </p:nvSpPr>
        <p:spPr>
          <a:xfrm>
            <a:off x="6075363" y="2743200"/>
            <a:ext cx="925512" cy="2438400"/>
          </a:xfrm>
          <a:custGeom>
            <a:avLst/>
            <a:gdLst>
              <a:gd name="connsiteX0" fmla="*/ 11112 w 925512"/>
              <a:gd name="connsiteY0" fmla="*/ 2544762 h 2544762"/>
              <a:gd name="connsiteX1" fmla="*/ 20637 w 925512"/>
              <a:gd name="connsiteY1" fmla="*/ 2411412 h 2544762"/>
              <a:gd name="connsiteX2" fmla="*/ 134937 w 925512"/>
              <a:gd name="connsiteY2" fmla="*/ 2363787 h 2544762"/>
              <a:gd name="connsiteX3" fmla="*/ 754062 w 925512"/>
              <a:gd name="connsiteY3" fmla="*/ 2325687 h 2544762"/>
              <a:gd name="connsiteX4" fmla="*/ 830262 w 925512"/>
              <a:gd name="connsiteY4" fmla="*/ 1820862 h 2544762"/>
              <a:gd name="connsiteX5" fmla="*/ 858837 w 925512"/>
              <a:gd name="connsiteY5" fmla="*/ 296862 h 2544762"/>
              <a:gd name="connsiteX6" fmla="*/ 430212 w 925512"/>
              <a:gd name="connsiteY6" fmla="*/ 39687 h 254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5512" h="2544762">
                <a:moveTo>
                  <a:pt x="11112" y="2544762"/>
                </a:moveTo>
                <a:cubicBezTo>
                  <a:pt x="5556" y="2493168"/>
                  <a:pt x="0" y="2441574"/>
                  <a:pt x="20637" y="2411412"/>
                </a:cubicBezTo>
                <a:cubicBezTo>
                  <a:pt x="41274" y="2381250"/>
                  <a:pt x="12700" y="2378075"/>
                  <a:pt x="134937" y="2363787"/>
                </a:cubicBezTo>
                <a:cubicBezTo>
                  <a:pt x="257175" y="2349500"/>
                  <a:pt x="638175" y="2416174"/>
                  <a:pt x="754062" y="2325687"/>
                </a:cubicBezTo>
                <a:cubicBezTo>
                  <a:pt x="869949" y="2235200"/>
                  <a:pt x="812800" y="2159000"/>
                  <a:pt x="830262" y="1820862"/>
                </a:cubicBezTo>
                <a:cubicBezTo>
                  <a:pt x="847725" y="1482725"/>
                  <a:pt x="925512" y="593724"/>
                  <a:pt x="858837" y="296862"/>
                </a:cubicBezTo>
                <a:cubicBezTo>
                  <a:pt x="792162" y="0"/>
                  <a:pt x="611187" y="19843"/>
                  <a:pt x="430212" y="39687"/>
                </a:cubicBezTo>
              </a:path>
            </a:pathLst>
          </a:cu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028" name="Picture 4"/>
          <p:cNvPicPr>
            <a:picLocks noChangeAspect="1" noChangeArrowheads="1"/>
          </p:cNvPicPr>
          <p:nvPr/>
        </p:nvPicPr>
        <p:blipFill>
          <a:blip r:embed="rId3" cstate="print"/>
          <a:srcRect/>
          <a:stretch>
            <a:fillRect/>
          </a:stretch>
        </p:blipFill>
        <p:spPr bwMode="auto">
          <a:xfrm rot="16200000">
            <a:off x="6291263" y="2700337"/>
            <a:ext cx="266700" cy="200025"/>
          </a:xfrm>
          <a:prstGeom prst="rect">
            <a:avLst/>
          </a:prstGeom>
          <a:noFill/>
          <a:ln w="9525">
            <a:noFill/>
            <a:miter lim="800000"/>
            <a:headEnd/>
            <a:tailEnd/>
          </a:ln>
        </p:spPr>
      </p:pic>
      <p:sp>
        <p:nvSpPr>
          <p:cNvPr id="70" name="TextBox 69"/>
          <p:cNvSpPr txBox="1"/>
          <p:nvPr/>
        </p:nvSpPr>
        <p:spPr>
          <a:xfrm>
            <a:off x="6781800" y="1447800"/>
            <a:ext cx="1905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 New Product has been added to existing families!</a:t>
            </a:r>
            <a:endParaRPr lang="en-US" sz="1200" b="1" dirty="0">
              <a:solidFill>
                <a:srgbClr val="C00000"/>
              </a:solidFill>
              <a:latin typeface="Bradley Hand ITC" pitchFamily="66" charset="0"/>
            </a:endParaRPr>
          </a:p>
        </p:txBody>
      </p:sp>
      <p:grpSp>
        <p:nvGrpSpPr>
          <p:cNvPr id="41" name="Group 17"/>
          <p:cNvGrpSpPr/>
          <p:nvPr/>
        </p:nvGrpSpPr>
        <p:grpSpPr>
          <a:xfrm>
            <a:off x="7150436" y="2514600"/>
            <a:ext cx="1155364" cy="533400"/>
            <a:chOff x="6550361" y="2514600"/>
            <a:chExt cx="1155364" cy="533400"/>
          </a:xfrm>
        </p:grpSpPr>
        <p:sp>
          <p:nvSpPr>
            <p:cNvPr id="42" name="Rectangle 41"/>
            <p:cNvSpPr/>
            <p:nvPr/>
          </p:nvSpPr>
          <p:spPr>
            <a:xfrm>
              <a:off x="6553200" y="2514600"/>
              <a:ext cx="1066800" cy="5334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6550361" y="2680156"/>
              <a:ext cx="1091966" cy="246221"/>
            </a:xfrm>
            <a:prstGeom prst="rect">
              <a:avLst/>
            </a:prstGeom>
            <a:noFill/>
          </p:spPr>
          <p:txBody>
            <a:bodyPr wrap="none" rtlCol="0">
              <a:spAutoFit/>
            </a:bodyPr>
            <a:lstStyle/>
            <a:p>
              <a:r>
                <a:rPr lang="en-US" sz="1000" i="1" dirty="0" smtClean="0"/>
                <a:t>AbstractProductC</a:t>
              </a:r>
              <a:endParaRPr lang="en-US" sz="1000" i="1" dirty="0"/>
            </a:p>
          </p:txBody>
        </p:sp>
        <p:sp>
          <p:nvSpPr>
            <p:cNvPr id="44" name="TextBox 43"/>
            <p:cNvSpPr txBox="1"/>
            <p:nvPr/>
          </p:nvSpPr>
          <p:spPr>
            <a:xfrm>
              <a:off x="6629400" y="2514600"/>
              <a:ext cx="901209" cy="246221"/>
            </a:xfrm>
            <a:prstGeom prst="rect">
              <a:avLst/>
            </a:prstGeom>
            <a:noFill/>
          </p:spPr>
          <p:txBody>
            <a:bodyPr wrap="none" rtlCol="0">
              <a:spAutoFit/>
            </a:bodyPr>
            <a:lstStyle/>
            <a:p>
              <a:r>
                <a:rPr lang="en-US" sz="1000" i="1" dirty="0" smtClean="0"/>
                <a:t>&lt;&lt;interface&gt;&gt;</a:t>
              </a:r>
              <a:endParaRPr lang="en-US" sz="1000" i="1" dirty="0"/>
            </a:p>
          </p:txBody>
        </p:sp>
        <p:cxnSp>
          <p:nvCxnSpPr>
            <p:cNvPr id="45" name="Straight Connector 44"/>
            <p:cNvCxnSpPr/>
            <p:nvPr/>
          </p:nvCxnSpPr>
          <p:spPr>
            <a:xfrm>
              <a:off x="6550361" y="2908042"/>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6553200" y="29813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7629525" y="2790825"/>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0" name="Shape 49"/>
          <p:cNvCxnSpPr/>
          <p:nvPr/>
        </p:nvCxnSpPr>
        <p:spPr>
          <a:xfrm>
            <a:off x="5534025" y="2209800"/>
            <a:ext cx="2117480" cy="304800"/>
          </a:xfrm>
          <a:prstGeom prst="bentConnector2">
            <a:avLst/>
          </a:prstGeom>
          <a:ln w="63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nvGrpSpPr>
          <p:cNvPr id="59" name="Group 26"/>
          <p:cNvGrpSpPr/>
          <p:nvPr/>
        </p:nvGrpSpPr>
        <p:grpSpPr>
          <a:xfrm>
            <a:off x="7102811" y="4229100"/>
            <a:ext cx="1204176" cy="457200"/>
            <a:chOff x="6505575" y="3429000"/>
            <a:chExt cx="1204176" cy="457200"/>
          </a:xfrm>
        </p:grpSpPr>
        <p:sp>
          <p:nvSpPr>
            <p:cNvPr id="60" name="Rectangle 59"/>
            <p:cNvSpPr/>
            <p:nvPr/>
          </p:nvSpPr>
          <p:spPr>
            <a:xfrm>
              <a:off x="6556039" y="3429000"/>
              <a:ext cx="1066800" cy="4572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p:cNvSpPr txBox="1"/>
            <p:nvPr/>
          </p:nvSpPr>
          <p:spPr>
            <a:xfrm>
              <a:off x="6505575" y="3438525"/>
              <a:ext cx="1204176" cy="246221"/>
            </a:xfrm>
            <a:prstGeom prst="rect">
              <a:avLst/>
            </a:prstGeom>
            <a:noFill/>
          </p:spPr>
          <p:txBody>
            <a:bodyPr wrap="none" rtlCol="0">
              <a:spAutoFit/>
            </a:bodyPr>
            <a:lstStyle/>
            <a:p>
              <a:r>
                <a:rPr lang="en-US" sz="1000" dirty="0" smtClean="0"/>
                <a:t>ConcreteProductC2</a:t>
              </a:r>
              <a:endParaRPr lang="en-US" sz="1000" dirty="0"/>
            </a:p>
          </p:txBody>
        </p:sp>
        <p:cxnSp>
          <p:nvCxnSpPr>
            <p:cNvPr id="62" name="Straight Connector 61"/>
            <p:cNvCxnSpPr/>
            <p:nvPr/>
          </p:nvCxnSpPr>
          <p:spPr>
            <a:xfrm>
              <a:off x="6563295" y="36671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6566134" y="3749933"/>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66" name="Rectangle 65"/>
            <p:cNvSpPr/>
            <p:nvPr/>
          </p:nvSpPr>
          <p:spPr>
            <a:xfrm>
              <a:off x="7632364" y="36385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26"/>
          <p:cNvGrpSpPr/>
          <p:nvPr/>
        </p:nvGrpSpPr>
        <p:grpSpPr>
          <a:xfrm>
            <a:off x="7102811" y="5181600"/>
            <a:ext cx="1204176" cy="457200"/>
            <a:chOff x="6505575" y="3429000"/>
            <a:chExt cx="1204176" cy="457200"/>
          </a:xfrm>
        </p:grpSpPr>
        <p:sp>
          <p:nvSpPr>
            <p:cNvPr id="72" name="Rectangle 71"/>
            <p:cNvSpPr/>
            <p:nvPr/>
          </p:nvSpPr>
          <p:spPr>
            <a:xfrm>
              <a:off x="6556039" y="3429000"/>
              <a:ext cx="1066800" cy="4572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a:off x="6505575" y="3438525"/>
              <a:ext cx="1204176" cy="246221"/>
            </a:xfrm>
            <a:prstGeom prst="rect">
              <a:avLst/>
            </a:prstGeom>
            <a:noFill/>
          </p:spPr>
          <p:txBody>
            <a:bodyPr wrap="none" rtlCol="0">
              <a:spAutoFit/>
            </a:bodyPr>
            <a:lstStyle/>
            <a:p>
              <a:r>
                <a:rPr lang="en-US" sz="1000" dirty="0" smtClean="0"/>
                <a:t>ConcreteProductC3</a:t>
              </a:r>
              <a:endParaRPr lang="en-US" sz="1000" dirty="0"/>
            </a:p>
          </p:txBody>
        </p:sp>
        <p:cxnSp>
          <p:nvCxnSpPr>
            <p:cNvPr id="75" name="Straight Connector 74"/>
            <p:cNvCxnSpPr/>
            <p:nvPr/>
          </p:nvCxnSpPr>
          <p:spPr>
            <a:xfrm>
              <a:off x="6563295" y="36671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566134" y="3749933"/>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77" name="Rectangle 76"/>
            <p:cNvSpPr/>
            <p:nvPr/>
          </p:nvSpPr>
          <p:spPr>
            <a:xfrm>
              <a:off x="7632364" y="36385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0" name="Picture 3"/>
          <p:cNvPicPr>
            <a:picLocks noChangeAspect="1" noChangeArrowheads="1"/>
          </p:cNvPicPr>
          <p:nvPr/>
        </p:nvPicPr>
        <p:blipFill>
          <a:blip r:embed="rId3" cstate="print"/>
          <a:srcRect/>
          <a:stretch>
            <a:fillRect/>
          </a:stretch>
        </p:blipFill>
        <p:spPr bwMode="auto">
          <a:xfrm>
            <a:off x="7477125" y="3076575"/>
            <a:ext cx="266700" cy="200025"/>
          </a:xfrm>
          <a:prstGeom prst="rect">
            <a:avLst/>
          </a:prstGeom>
          <a:noFill/>
          <a:ln w="9525">
            <a:noFill/>
            <a:miter lim="800000"/>
            <a:headEnd/>
            <a:tailEnd/>
          </a:ln>
        </p:spPr>
      </p:pic>
      <p:grpSp>
        <p:nvGrpSpPr>
          <p:cNvPr id="52" name="Group 25"/>
          <p:cNvGrpSpPr/>
          <p:nvPr/>
        </p:nvGrpSpPr>
        <p:grpSpPr>
          <a:xfrm>
            <a:off x="7102811" y="3429000"/>
            <a:ext cx="1204176" cy="457200"/>
            <a:chOff x="6505575" y="3429000"/>
            <a:chExt cx="1204176" cy="457200"/>
          </a:xfrm>
        </p:grpSpPr>
        <p:sp>
          <p:nvSpPr>
            <p:cNvPr id="53" name="Rectangle 52"/>
            <p:cNvSpPr/>
            <p:nvPr/>
          </p:nvSpPr>
          <p:spPr>
            <a:xfrm>
              <a:off x="6556039" y="3429000"/>
              <a:ext cx="1066800" cy="4572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p:cNvSpPr txBox="1"/>
            <p:nvPr/>
          </p:nvSpPr>
          <p:spPr>
            <a:xfrm>
              <a:off x="6505575" y="3438525"/>
              <a:ext cx="1204176" cy="246221"/>
            </a:xfrm>
            <a:prstGeom prst="rect">
              <a:avLst/>
            </a:prstGeom>
            <a:noFill/>
          </p:spPr>
          <p:txBody>
            <a:bodyPr wrap="none" rtlCol="0">
              <a:spAutoFit/>
            </a:bodyPr>
            <a:lstStyle/>
            <a:p>
              <a:r>
                <a:rPr lang="en-US" sz="1000" dirty="0" smtClean="0"/>
                <a:t>ConcreteProductC1</a:t>
              </a:r>
              <a:endParaRPr lang="en-US" sz="1000" dirty="0"/>
            </a:p>
          </p:txBody>
        </p:sp>
        <p:cxnSp>
          <p:nvCxnSpPr>
            <p:cNvPr id="56" name="Straight Connector 55"/>
            <p:cNvCxnSpPr/>
            <p:nvPr/>
          </p:nvCxnSpPr>
          <p:spPr>
            <a:xfrm>
              <a:off x="6563295" y="36671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6566134" y="3749933"/>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7632364" y="36385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1" name="Freeform 80"/>
          <p:cNvSpPr/>
          <p:nvPr/>
        </p:nvSpPr>
        <p:spPr>
          <a:xfrm>
            <a:off x="7620001" y="3095625"/>
            <a:ext cx="792162" cy="1095375"/>
          </a:xfrm>
          <a:custGeom>
            <a:avLst/>
            <a:gdLst>
              <a:gd name="connsiteX0" fmla="*/ 15875 w 731837"/>
              <a:gd name="connsiteY0" fmla="*/ 1162050 h 1162050"/>
              <a:gd name="connsiteX1" fmla="*/ 15875 w 731837"/>
              <a:gd name="connsiteY1" fmla="*/ 1095375 h 1162050"/>
              <a:gd name="connsiteX2" fmla="*/ 111125 w 731837"/>
              <a:gd name="connsiteY2" fmla="*/ 990600 h 1162050"/>
              <a:gd name="connsiteX3" fmla="*/ 577850 w 731837"/>
              <a:gd name="connsiteY3" fmla="*/ 962025 h 1162050"/>
              <a:gd name="connsiteX4" fmla="*/ 673100 w 731837"/>
              <a:gd name="connsiteY4" fmla="*/ 790575 h 1162050"/>
              <a:gd name="connsiteX5" fmla="*/ 663575 w 731837"/>
              <a:gd name="connsiteY5" fmla="*/ 333375 h 1162050"/>
              <a:gd name="connsiteX6" fmla="*/ 263525 w 731837"/>
              <a:gd name="connsiteY6" fmla="*/ 257175 h 1162050"/>
              <a:gd name="connsiteX7" fmla="*/ 215900 w 731837"/>
              <a:gd name="connsiteY7" fmla="*/ 171450 h 1162050"/>
              <a:gd name="connsiteX8" fmla="*/ 215900 w 731837"/>
              <a:gd name="connsiteY8" fmla="*/ 0 h 116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1837" h="1162050">
                <a:moveTo>
                  <a:pt x="15875" y="1162050"/>
                </a:moveTo>
                <a:cubicBezTo>
                  <a:pt x="7937" y="1143000"/>
                  <a:pt x="0" y="1123950"/>
                  <a:pt x="15875" y="1095375"/>
                </a:cubicBezTo>
                <a:cubicBezTo>
                  <a:pt x="31750" y="1066800"/>
                  <a:pt x="17463" y="1012825"/>
                  <a:pt x="111125" y="990600"/>
                </a:cubicBezTo>
                <a:cubicBezTo>
                  <a:pt x="204787" y="968375"/>
                  <a:pt x="484188" y="995362"/>
                  <a:pt x="577850" y="962025"/>
                </a:cubicBezTo>
                <a:cubicBezTo>
                  <a:pt x="671512" y="928688"/>
                  <a:pt x="658813" y="895350"/>
                  <a:pt x="673100" y="790575"/>
                </a:cubicBezTo>
                <a:cubicBezTo>
                  <a:pt x="687387" y="685800"/>
                  <a:pt x="731837" y="422275"/>
                  <a:pt x="663575" y="333375"/>
                </a:cubicBezTo>
                <a:cubicBezTo>
                  <a:pt x="595313" y="244475"/>
                  <a:pt x="338138" y="284163"/>
                  <a:pt x="263525" y="257175"/>
                </a:cubicBezTo>
                <a:cubicBezTo>
                  <a:pt x="188913" y="230188"/>
                  <a:pt x="223837" y="214312"/>
                  <a:pt x="215900" y="171450"/>
                </a:cubicBezTo>
                <a:cubicBezTo>
                  <a:pt x="207963" y="128588"/>
                  <a:pt x="211931" y="64294"/>
                  <a:pt x="215900" y="0"/>
                </a:cubicBezTo>
              </a:path>
            </a:pathLst>
          </a:custGeom>
          <a:ln w="6350">
            <a:solidFill>
              <a:srgbClr val="C0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82" name="Picture 3"/>
          <p:cNvPicPr>
            <a:picLocks noChangeAspect="1" noChangeArrowheads="1"/>
          </p:cNvPicPr>
          <p:nvPr/>
        </p:nvPicPr>
        <p:blipFill>
          <a:blip r:embed="rId3" cstate="print"/>
          <a:srcRect/>
          <a:stretch>
            <a:fillRect/>
          </a:stretch>
        </p:blipFill>
        <p:spPr bwMode="auto">
          <a:xfrm>
            <a:off x="7715250" y="3076575"/>
            <a:ext cx="266700" cy="200025"/>
          </a:xfrm>
          <a:prstGeom prst="rect">
            <a:avLst/>
          </a:prstGeom>
          <a:noFill/>
          <a:ln w="9525">
            <a:noFill/>
            <a:miter lim="800000"/>
            <a:headEnd/>
            <a:tailEnd/>
          </a:ln>
        </p:spPr>
      </p:pic>
      <p:sp>
        <p:nvSpPr>
          <p:cNvPr id="83" name="Freeform 82"/>
          <p:cNvSpPr/>
          <p:nvPr/>
        </p:nvSpPr>
        <p:spPr>
          <a:xfrm>
            <a:off x="7772400" y="3124200"/>
            <a:ext cx="846137" cy="2057400"/>
          </a:xfrm>
          <a:custGeom>
            <a:avLst/>
            <a:gdLst>
              <a:gd name="connsiteX0" fmla="*/ 3175 w 915987"/>
              <a:gd name="connsiteY0" fmla="*/ 2085975 h 2085975"/>
              <a:gd name="connsiteX1" fmla="*/ 22225 w 915987"/>
              <a:gd name="connsiteY1" fmla="*/ 2000250 h 2085975"/>
              <a:gd name="connsiteX2" fmla="*/ 136525 w 915987"/>
              <a:gd name="connsiteY2" fmla="*/ 1905000 h 2085975"/>
              <a:gd name="connsiteX3" fmla="*/ 708025 w 915987"/>
              <a:gd name="connsiteY3" fmla="*/ 1857375 h 2085975"/>
              <a:gd name="connsiteX4" fmla="*/ 850900 w 915987"/>
              <a:gd name="connsiteY4" fmla="*/ 1181100 h 2085975"/>
              <a:gd name="connsiteX5" fmla="*/ 841375 w 915987"/>
              <a:gd name="connsiteY5" fmla="*/ 285750 h 2085975"/>
              <a:gd name="connsiteX6" fmla="*/ 403225 w 915987"/>
              <a:gd name="connsiteY6" fmla="*/ 161925 h 2085975"/>
              <a:gd name="connsiteX7" fmla="*/ 317500 w 915987"/>
              <a:gd name="connsiteY7" fmla="*/ 0 h 208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987" h="2085975">
                <a:moveTo>
                  <a:pt x="3175" y="2085975"/>
                </a:moveTo>
                <a:cubicBezTo>
                  <a:pt x="1587" y="2058193"/>
                  <a:pt x="0" y="2030412"/>
                  <a:pt x="22225" y="2000250"/>
                </a:cubicBezTo>
                <a:cubicBezTo>
                  <a:pt x="44450" y="1970088"/>
                  <a:pt x="22225" y="1928812"/>
                  <a:pt x="136525" y="1905000"/>
                </a:cubicBezTo>
                <a:cubicBezTo>
                  <a:pt x="250825" y="1881188"/>
                  <a:pt x="588963" y="1978025"/>
                  <a:pt x="708025" y="1857375"/>
                </a:cubicBezTo>
                <a:cubicBezTo>
                  <a:pt x="827087" y="1736725"/>
                  <a:pt x="828675" y="1443037"/>
                  <a:pt x="850900" y="1181100"/>
                </a:cubicBezTo>
                <a:cubicBezTo>
                  <a:pt x="873125" y="919163"/>
                  <a:pt x="915987" y="455612"/>
                  <a:pt x="841375" y="285750"/>
                </a:cubicBezTo>
                <a:cubicBezTo>
                  <a:pt x="766763" y="115888"/>
                  <a:pt x="490538" y="209550"/>
                  <a:pt x="403225" y="161925"/>
                </a:cubicBezTo>
                <a:cubicBezTo>
                  <a:pt x="315912" y="114300"/>
                  <a:pt x="316706" y="57150"/>
                  <a:pt x="317500" y="0"/>
                </a:cubicBezTo>
              </a:path>
            </a:pathLst>
          </a:custGeom>
          <a:ln w="6350">
            <a:solidFill>
              <a:srgbClr val="C0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84" name="Picture 3"/>
          <p:cNvPicPr>
            <a:picLocks noChangeAspect="1" noChangeArrowheads="1"/>
          </p:cNvPicPr>
          <p:nvPr/>
        </p:nvPicPr>
        <p:blipFill>
          <a:blip r:embed="rId3" cstate="print"/>
          <a:srcRect/>
          <a:stretch>
            <a:fillRect/>
          </a:stretch>
        </p:blipFill>
        <p:spPr bwMode="auto">
          <a:xfrm>
            <a:off x="7962900" y="3076575"/>
            <a:ext cx="266700" cy="200025"/>
          </a:xfrm>
          <a:prstGeom prst="rect">
            <a:avLst/>
          </a:prstGeom>
          <a:noFill/>
          <a:ln w="9525">
            <a:noFill/>
            <a:miter lim="800000"/>
            <a:headEnd/>
            <a:tailEnd/>
          </a:ln>
        </p:spPr>
      </p:pic>
      <p:cxnSp>
        <p:nvCxnSpPr>
          <p:cNvPr id="86" name="Straight Connector 85"/>
          <p:cNvCxnSpPr/>
          <p:nvPr/>
        </p:nvCxnSpPr>
        <p:spPr>
          <a:xfrm>
            <a:off x="5791200" y="4048125"/>
            <a:ext cx="1524000"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flipV="1">
            <a:off x="7315200" y="3886200"/>
            <a:ext cx="0" cy="152400"/>
          </a:xfrm>
          <a:prstGeom prst="straightConnector1">
            <a:avLst/>
          </a:prstGeom>
          <a:ln w="63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6086475" y="4848225"/>
            <a:ext cx="1524000"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flipV="1">
            <a:off x="7610475" y="4686300"/>
            <a:ext cx="0" cy="152400"/>
          </a:xfrm>
          <a:prstGeom prst="straightConnector1">
            <a:avLst/>
          </a:prstGeom>
          <a:ln w="63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6086475" y="5867400"/>
            <a:ext cx="1524000"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flipV="1">
            <a:off x="7610475" y="5705475"/>
            <a:ext cx="0" cy="152400"/>
          </a:xfrm>
          <a:prstGeom prst="straightConnector1">
            <a:avLst/>
          </a:prstGeom>
          <a:ln w="63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1162050" y="3200400"/>
            <a:ext cx="1122423" cy="246221"/>
          </a:xfrm>
          <a:prstGeom prst="rect">
            <a:avLst/>
          </a:prstGeom>
          <a:noFill/>
        </p:spPr>
        <p:txBody>
          <a:bodyPr wrap="none" rtlCol="0">
            <a:spAutoFit/>
          </a:bodyPr>
          <a:lstStyle/>
          <a:p>
            <a:r>
              <a:rPr lang="en-US" sz="1000" i="1" dirty="0" smtClean="0"/>
              <a:t>+createProductC()</a:t>
            </a:r>
            <a:endParaRPr lang="en-US" sz="1000" i="1" dirty="0"/>
          </a:p>
        </p:txBody>
      </p:sp>
      <p:sp>
        <p:nvSpPr>
          <p:cNvPr id="102" name="Freeform 101"/>
          <p:cNvSpPr/>
          <p:nvPr/>
        </p:nvSpPr>
        <p:spPr>
          <a:xfrm>
            <a:off x="2200275" y="3143250"/>
            <a:ext cx="771525" cy="190500"/>
          </a:xfrm>
          <a:custGeom>
            <a:avLst/>
            <a:gdLst>
              <a:gd name="connsiteX0" fmla="*/ 0 w 771525"/>
              <a:gd name="connsiteY0" fmla="*/ 190500 h 190500"/>
              <a:gd name="connsiteX1" fmla="*/ 257175 w 771525"/>
              <a:gd name="connsiteY1" fmla="*/ 142875 h 190500"/>
              <a:gd name="connsiteX2" fmla="*/ 390525 w 771525"/>
              <a:gd name="connsiteY2" fmla="*/ 28575 h 190500"/>
              <a:gd name="connsiteX3" fmla="*/ 771525 w 771525"/>
              <a:gd name="connsiteY3" fmla="*/ 0 h 190500"/>
            </a:gdLst>
            <a:ahLst/>
            <a:cxnLst>
              <a:cxn ang="0">
                <a:pos x="connsiteX0" y="connsiteY0"/>
              </a:cxn>
              <a:cxn ang="0">
                <a:pos x="connsiteX1" y="connsiteY1"/>
              </a:cxn>
              <a:cxn ang="0">
                <a:pos x="connsiteX2" y="connsiteY2"/>
              </a:cxn>
              <a:cxn ang="0">
                <a:pos x="connsiteX3" y="connsiteY3"/>
              </a:cxn>
            </a:cxnLst>
            <a:rect l="l" t="t" r="r" b="b"/>
            <a:pathLst>
              <a:path w="771525" h="190500">
                <a:moveTo>
                  <a:pt x="0" y="190500"/>
                </a:moveTo>
                <a:cubicBezTo>
                  <a:pt x="96044" y="180181"/>
                  <a:pt x="192088" y="169862"/>
                  <a:pt x="257175" y="142875"/>
                </a:cubicBezTo>
                <a:cubicBezTo>
                  <a:pt x="322262" y="115888"/>
                  <a:pt x="304800" y="52387"/>
                  <a:pt x="390525" y="28575"/>
                </a:cubicBezTo>
                <a:cubicBezTo>
                  <a:pt x="476250" y="4763"/>
                  <a:pt x="623887" y="2381"/>
                  <a:pt x="7715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3" name="TextBox 102"/>
          <p:cNvSpPr txBox="1"/>
          <p:nvPr/>
        </p:nvSpPr>
        <p:spPr>
          <a:xfrm>
            <a:off x="1162050" y="4097179"/>
            <a:ext cx="1136850" cy="246221"/>
          </a:xfrm>
          <a:prstGeom prst="rect">
            <a:avLst/>
          </a:prstGeom>
          <a:noFill/>
        </p:spPr>
        <p:txBody>
          <a:bodyPr wrap="none" rtlCol="0">
            <a:spAutoFit/>
          </a:bodyPr>
          <a:lstStyle/>
          <a:p>
            <a:r>
              <a:rPr lang="en-US" sz="1000" dirty="0" smtClean="0"/>
              <a:t>+createProductC()</a:t>
            </a:r>
            <a:endParaRPr lang="en-US" sz="1000" dirty="0"/>
          </a:p>
        </p:txBody>
      </p:sp>
      <p:sp>
        <p:nvSpPr>
          <p:cNvPr id="104" name="Freeform 103"/>
          <p:cNvSpPr/>
          <p:nvPr/>
        </p:nvSpPr>
        <p:spPr>
          <a:xfrm>
            <a:off x="2247900" y="4059238"/>
            <a:ext cx="695325" cy="160337"/>
          </a:xfrm>
          <a:custGeom>
            <a:avLst/>
            <a:gdLst>
              <a:gd name="connsiteX0" fmla="*/ 0 w 695325"/>
              <a:gd name="connsiteY0" fmla="*/ 160337 h 160337"/>
              <a:gd name="connsiteX1" fmla="*/ 228600 w 695325"/>
              <a:gd name="connsiteY1" fmla="*/ 122237 h 160337"/>
              <a:gd name="connsiteX2" fmla="*/ 314325 w 695325"/>
              <a:gd name="connsiteY2" fmla="*/ 17462 h 160337"/>
              <a:gd name="connsiteX3" fmla="*/ 695325 w 695325"/>
              <a:gd name="connsiteY3" fmla="*/ 17462 h 160337"/>
            </a:gdLst>
            <a:ahLst/>
            <a:cxnLst>
              <a:cxn ang="0">
                <a:pos x="connsiteX0" y="connsiteY0"/>
              </a:cxn>
              <a:cxn ang="0">
                <a:pos x="connsiteX1" y="connsiteY1"/>
              </a:cxn>
              <a:cxn ang="0">
                <a:pos x="connsiteX2" y="connsiteY2"/>
              </a:cxn>
              <a:cxn ang="0">
                <a:pos x="connsiteX3" y="connsiteY3"/>
              </a:cxn>
            </a:cxnLst>
            <a:rect l="l" t="t" r="r" b="b"/>
            <a:pathLst>
              <a:path w="695325" h="160337">
                <a:moveTo>
                  <a:pt x="0" y="160337"/>
                </a:moveTo>
                <a:cubicBezTo>
                  <a:pt x="88106" y="153193"/>
                  <a:pt x="176213" y="146049"/>
                  <a:pt x="228600" y="122237"/>
                </a:cubicBezTo>
                <a:cubicBezTo>
                  <a:pt x="280987" y="98425"/>
                  <a:pt x="236538" y="34924"/>
                  <a:pt x="314325" y="17462"/>
                </a:cubicBezTo>
                <a:cubicBezTo>
                  <a:pt x="392112" y="0"/>
                  <a:pt x="543718" y="8731"/>
                  <a:pt x="695325" y="17462"/>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5" name="Freeform 104"/>
          <p:cNvSpPr/>
          <p:nvPr/>
        </p:nvSpPr>
        <p:spPr>
          <a:xfrm>
            <a:off x="2286000" y="4229100"/>
            <a:ext cx="657225" cy="590550"/>
          </a:xfrm>
          <a:custGeom>
            <a:avLst/>
            <a:gdLst>
              <a:gd name="connsiteX0" fmla="*/ 0 w 657225"/>
              <a:gd name="connsiteY0" fmla="*/ 0 h 590550"/>
              <a:gd name="connsiteX1" fmla="*/ 209550 w 657225"/>
              <a:gd name="connsiteY1" fmla="*/ 228600 h 590550"/>
              <a:gd name="connsiteX2" fmla="*/ 295275 w 657225"/>
              <a:gd name="connsiteY2" fmla="*/ 504825 h 590550"/>
              <a:gd name="connsiteX3" fmla="*/ 657225 w 657225"/>
              <a:gd name="connsiteY3" fmla="*/ 590550 h 590550"/>
            </a:gdLst>
            <a:ahLst/>
            <a:cxnLst>
              <a:cxn ang="0">
                <a:pos x="connsiteX0" y="connsiteY0"/>
              </a:cxn>
              <a:cxn ang="0">
                <a:pos x="connsiteX1" y="connsiteY1"/>
              </a:cxn>
              <a:cxn ang="0">
                <a:pos x="connsiteX2" y="connsiteY2"/>
              </a:cxn>
              <a:cxn ang="0">
                <a:pos x="connsiteX3" y="connsiteY3"/>
              </a:cxn>
            </a:cxnLst>
            <a:rect l="l" t="t" r="r" b="b"/>
            <a:pathLst>
              <a:path w="657225" h="590550">
                <a:moveTo>
                  <a:pt x="0" y="0"/>
                </a:moveTo>
                <a:cubicBezTo>
                  <a:pt x="80169" y="72231"/>
                  <a:pt x="160338" y="144463"/>
                  <a:pt x="209550" y="228600"/>
                </a:cubicBezTo>
                <a:cubicBezTo>
                  <a:pt x="258763" y="312738"/>
                  <a:pt x="220663" y="444500"/>
                  <a:pt x="295275" y="504825"/>
                </a:cubicBezTo>
                <a:cubicBezTo>
                  <a:pt x="369888" y="565150"/>
                  <a:pt x="513556" y="577850"/>
                  <a:pt x="657225" y="5905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6" name="TextBox 105"/>
          <p:cNvSpPr txBox="1"/>
          <p:nvPr/>
        </p:nvSpPr>
        <p:spPr>
          <a:xfrm>
            <a:off x="2819400" y="5791200"/>
            <a:ext cx="944489" cy="215444"/>
          </a:xfrm>
          <a:prstGeom prst="rect">
            <a:avLst/>
          </a:prstGeom>
          <a:noFill/>
        </p:spPr>
        <p:txBody>
          <a:bodyPr wrap="none" rtlCol="0">
            <a:spAutoFit/>
          </a:bodyPr>
          <a:lstStyle/>
          <a:p>
            <a:r>
              <a:rPr lang="en-US" sz="800" dirty="0" smtClean="0">
                <a:solidFill>
                  <a:srgbClr val="C00000"/>
                </a:solidFill>
              </a:rPr>
              <a:t>+createProductC()</a:t>
            </a:r>
            <a:endParaRPr lang="en-US" sz="800" dirty="0">
              <a:solidFill>
                <a:srgbClr val="C00000"/>
              </a:solidFill>
            </a:endParaRPr>
          </a:p>
        </p:txBody>
      </p:sp>
      <p:sp>
        <p:nvSpPr>
          <p:cNvPr id="107" name="TextBox 106"/>
          <p:cNvSpPr txBox="1"/>
          <p:nvPr/>
        </p:nvSpPr>
        <p:spPr>
          <a:xfrm>
            <a:off x="990600" y="1524000"/>
            <a:ext cx="1447800" cy="83099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 </a:t>
            </a:r>
          </a:p>
          <a:p>
            <a:r>
              <a:rPr lang="en-US" sz="1200" b="1" dirty="0" smtClean="0">
                <a:solidFill>
                  <a:srgbClr val="C00000"/>
                </a:solidFill>
                <a:latin typeface="Bradley Hand ITC" pitchFamily="66" charset="0"/>
              </a:rPr>
              <a:t>Adding a new product to existing family of products!</a:t>
            </a:r>
            <a:endParaRPr lang="en-US" sz="1200" b="1" dirty="0">
              <a:solidFill>
                <a:srgbClr val="C00000"/>
              </a:solidFill>
              <a:latin typeface="Bradley Hand ITC" pitchFamily="66" charset="0"/>
            </a:endParaRPr>
          </a:p>
        </p:txBody>
      </p:sp>
      <p:sp>
        <p:nvSpPr>
          <p:cNvPr id="108" name="Freeform 107"/>
          <p:cNvSpPr/>
          <p:nvPr/>
        </p:nvSpPr>
        <p:spPr>
          <a:xfrm>
            <a:off x="8277225" y="1857375"/>
            <a:ext cx="274637" cy="723900"/>
          </a:xfrm>
          <a:custGeom>
            <a:avLst/>
            <a:gdLst>
              <a:gd name="connsiteX0" fmla="*/ 47625 w 274637"/>
              <a:gd name="connsiteY0" fmla="*/ 0 h 723900"/>
              <a:gd name="connsiteX1" fmla="*/ 266700 w 274637"/>
              <a:gd name="connsiteY1" fmla="*/ 342900 h 723900"/>
              <a:gd name="connsiteX2" fmla="*/ 0 w 274637"/>
              <a:gd name="connsiteY2" fmla="*/ 723900 h 723900"/>
            </a:gdLst>
            <a:ahLst/>
            <a:cxnLst>
              <a:cxn ang="0">
                <a:pos x="connsiteX0" y="connsiteY0"/>
              </a:cxn>
              <a:cxn ang="0">
                <a:pos x="connsiteX1" y="connsiteY1"/>
              </a:cxn>
              <a:cxn ang="0">
                <a:pos x="connsiteX2" y="connsiteY2"/>
              </a:cxn>
            </a:cxnLst>
            <a:rect l="l" t="t" r="r" b="b"/>
            <a:pathLst>
              <a:path w="274637" h="723900">
                <a:moveTo>
                  <a:pt x="47625" y="0"/>
                </a:moveTo>
                <a:cubicBezTo>
                  <a:pt x="161131" y="111125"/>
                  <a:pt x="274637" y="222250"/>
                  <a:pt x="266700" y="342900"/>
                </a:cubicBezTo>
                <a:cubicBezTo>
                  <a:pt x="258763" y="463550"/>
                  <a:pt x="129381" y="593725"/>
                  <a:pt x="0" y="723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Abstract Factory </a:t>
            </a:r>
            <a:br>
              <a:rPr lang="en-US" dirty="0" smtClean="0"/>
            </a:br>
            <a:r>
              <a:rPr lang="en-US" dirty="0" smtClean="0"/>
              <a:t>— Very Simple and Fictional Example —</a:t>
            </a:r>
            <a:endParaRPr lang="en-US" dirty="0"/>
          </a:p>
        </p:txBody>
      </p:sp>
      <p:sp>
        <p:nvSpPr>
          <p:cNvPr id="3" name="Content Placeholder 2"/>
          <p:cNvSpPr>
            <a:spLocks noGrp="1"/>
          </p:cNvSpPr>
          <p:nvPr>
            <p:ph idx="1"/>
          </p:nvPr>
        </p:nvSpPr>
        <p:spPr>
          <a:xfrm>
            <a:off x="457200" y="1371601"/>
            <a:ext cx="8229600" cy="5105399"/>
          </a:xfrm>
        </p:spPr>
        <p:txBody>
          <a:bodyPr>
            <a:normAutofit fontScale="85000" lnSpcReduction="20000"/>
          </a:bodyPr>
          <a:lstStyle/>
          <a:p>
            <a:r>
              <a:rPr lang="en-US" dirty="0" smtClean="0"/>
              <a:t>Consider a software system for a computer store, where the store carries only two types of computers for sale:</a:t>
            </a:r>
          </a:p>
          <a:p>
            <a:pPr lvl="1"/>
            <a:r>
              <a:rPr lang="en-US" dirty="0" smtClean="0"/>
              <a:t>Top of the line computer, we’ll call these </a:t>
            </a:r>
            <a:r>
              <a:rPr lang="en-US" u="sng" dirty="0" smtClean="0"/>
              <a:t>advanced computers</a:t>
            </a:r>
          </a:p>
          <a:p>
            <a:pPr lvl="1"/>
            <a:r>
              <a:rPr lang="en-US" dirty="0" smtClean="0"/>
              <a:t>Inexpensive computers, we’ll call these </a:t>
            </a:r>
            <a:r>
              <a:rPr lang="en-US" u="sng" dirty="0" smtClean="0"/>
              <a:t>standard computers</a:t>
            </a:r>
          </a:p>
          <a:p>
            <a:pPr lvl="1"/>
            <a:r>
              <a:rPr lang="en-US" dirty="0" smtClean="0"/>
              <a:t>Obviously, a computer store will need to carry more computers in the future!</a:t>
            </a:r>
          </a:p>
          <a:p>
            <a:pPr lvl="1"/>
            <a:endParaRPr lang="en-US" dirty="0" smtClean="0"/>
          </a:p>
          <a:p>
            <a:r>
              <a:rPr lang="en-US" dirty="0" smtClean="0"/>
              <a:t>Advanced computers are made up of “advanced computer products,” e.g. the latest multi-core CPU, wireless keyboard, advanced monitor (e.g., widescreen large 3D), advanced graphics &amp; sound card, etc.  </a:t>
            </a:r>
          </a:p>
          <a:p>
            <a:pPr lvl="1"/>
            <a:r>
              <a:rPr lang="en-US" dirty="0" smtClean="0"/>
              <a:t>For simplicity, we’ll only use CPU, keyboard, and Monitor for our example.</a:t>
            </a:r>
          </a:p>
          <a:p>
            <a:endParaRPr lang="en-US" dirty="0" smtClean="0"/>
          </a:p>
          <a:p>
            <a:r>
              <a:rPr lang="en-US" dirty="0" smtClean="0"/>
              <a:t>Standard computers are made up of “standard computer products,” e.g., single core CPU, wired keyboard, small screen monitor, low-grade graphics and sound, etc. </a:t>
            </a:r>
          </a:p>
          <a:p>
            <a:pPr lvl="1"/>
            <a:r>
              <a:rPr lang="en-US" dirty="0" smtClean="0"/>
              <a:t>For simplicity, we’ll only use CPU, keyboard, and Monitor for our example.</a:t>
            </a:r>
          </a:p>
          <a:p>
            <a:endParaRPr lang="en-US" dirty="0" smtClean="0"/>
          </a:p>
          <a:p>
            <a:r>
              <a:rPr lang="en-US" dirty="0" smtClean="0"/>
              <a:t>The system is designed so that it searches remote information sources, e.g. online websites, remote databases, etc. for product information, such as:</a:t>
            </a:r>
          </a:p>
          <a:p>
            <a:pPr lvl="1"/>
            <a:r>
              <a:rPr lang="en-US" dirty="0" smtClean="0"/>
              <a:t>Product reviews</a:t>
            </a:r>
          </a:p>
          <a:p>
            <a:pPr lvl="1"/>
            <a:r>
              <a:rPr lang="en-US" dirty="0" smtClean="0"/>
              <a:t>Customer’s comments from specific websites, e.g., Amazon.com</a:t>
            </a:r>
          </a:p>
          <a:p>
            <a:pPr lvl="1"/>
            <a:r>
              <a:rPr lang="en-US" dirty="0" smtClean="0"/>
              <a:t>Manufacturers’ comments</a:t>
            </a:r>
          </a:p>
          <a:p>
            <a:pPr lvl="1"/>
            <a:r>
              <a:rPr lang="en-US" dirty="0" smtClean="0"/>
              <a:t>…</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Abstract Factory </a:t>
            </a:r>
            <a:br>
              <a:rPr lang="en-US" dirty="0" smtClean="0"/>
            </a:br>
            <a:r>
              <a:rPr lang="en-US" dirty="0" smtClean="0"/>
              <a:t>— Very Simple and Fictional Example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pic>
        <p:nvPicPr>
          <p:cNvPr id="2050" name="Picture 2" descr="C:\Users\cotero\AppData\Local\Microsoft\Windows\Temporary Internet Files\Content.IE5\MFZE6V1B\MC900089246[1].wmf"/>
          <p:cNvPicPr>
            <a:picLocks noChangeAspect="1" noChangeArrowheads="1"/>
          </p:cNvPicPr>
          <p:nvPr/>
        </p:nvPicPr>
        <p:blipFill>
          <a:blip r:embed="rId2" cstate="print"/>
          <a:srcRect/>
          <a:stretch>
            <a:fillRect/>
          </a:stretch>
        </p:blipFill>
        <p:spPr bwMode="auto">
          <a:xfrm>
            <a:off x="3429000" y="3124200"/>
            <a:ext cx="2126955" cy="1438884"/>
          </a:xfrm>
          <a:prstGeom prst="rect">
            <a:avLst/>
          </a:prstGeom>
          <a:noFill/>
        </p:spPr>
      </p:pic>
      <p:grpSp>
        <p:nvGrpSpPr>
          <p:cNvPr id="15" name="Group 14"/>
          <p:cNvGrpSpPr/>
          <p:nvPr/>
        </p:nvGrpSpPr>
        <p:grpSpPr>
          <a:xfrm>
            <a:off x="1752600" y="2971800"/>
            <a:ext cx="1348153" cy="990600"/>
            <a:chOff x="1752601" y="3581400"/>
            <a:chExt cx="1348153" cy="990600"/>
          </a:xfrm>
        </p:grpSpPr>
        <p:pic>
          <p:nvPicPr>
            <p:cNvPr id="2057" name="Picture 9" descr="C:\Users\cotero\AppData\Local\Microsoft\Windows\Temporary Internet Files\Content.IE5\6QQ1AAQV\MC900231557[1].wmf"/>
            <p:cNvPicPr>
              <a:picLocks noChangeAspect="1" noChangeArrowheads="1"/>
            </p:cNvPicPr>
            <p:nvPr/>
          </p:nvPicPr>
          <p:blipFill>
            <a:blip r:embed="rId3" cstate="print"/>
            <a:srcRect/>
            <a:stretch>
              <a:fillRect/>
            </a:stretch>
          </p:blipFill>
          <p:spPr bwMode="auto">
            <a:xfrm>
              <a:off x="1752601" y="3581400"/>
              <a:ext cx="781206" cy="958913"/>
            </a:xfrm>
            <a:prstGeom prst="rect">
              <a:avLst/>
            </a:prstGeom>
            <a:noFill/>
          </p:spPr>
        </p:pic>
        <p:pic>
          <p:nvPicPr>
            <p:cNvPr id="2056" name="Picture 8" descr="C:\Users\cotero\AppData\Local\Microsoft\Windows\Temporary Internet Files\Content.IE5\07RO37DR\MC900432633[1].png"/>
            <p:cNvPicPr>
              <a:picLocks noChangeAspect="1" noChangeArrowheads="1"/>
            </p:cNvPicPr>
            <p:nvPr/>
          </p:nvPicPr>
          <p:blipFill>
            <a:blip r:embed="rId4" cstate="print"/>
            <a:srcRect/>
            <a:stretch>
              <a:fillRect/>
            </a:stretch>
          </p:blipFill>
          <p:spPr bwMode="auto">
            <a:xfrm flipH="1">
              <a:off x="2133600" y="3733800"/>
              <a:ext cx="967154" cy="838200"/>
            </a:xfrm>
            <a:prstGeom prst="rect">
              <a:avLst/>
            </a:prstGeom>
            <a:noFill/>
          </p:spPr>
        </p:pic>
      </p:grpSp>
      <p:sp>
        <p:nvSpPr>
          <p:cNvPr id="18" name="Rounded Rectangular Callout 17"/>
          <p:cNvSpPr/>
          <p:nvPr/>
        </p:nvSpPr>
        <p:spPr>
          <a:xfrm>
            <a:off x="1524000" y="2743200"/>
            <a:ext cx="1676400" cy="1371600"/>
          </a:xfrm>
          <a:prstGeom prst="wedgeRoundRectCallout">
            <a:avLst>
              <a:gd name="adj1" fmla="val 103562"/>
              <a:gd name="adj2" fmla="val 47222"/>
              <a:gd name="adj3" fmla="val 16667"/>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p:cNvGrpSpPr/>
          <p:nvPr/>
        </p:nvGrpSpPr>
        <p:grpSpPr>
          <a:xfrm>
            <a:off x="7620000" y="2362200"/>
            <a:ext cx="1143000" cy="685800"/>
            <a:chOff x="4953000" y="2590800"/>
            <a:chExt cx="1143000" cy="685800"/>
          </a:xfrm>
        </p:grpSpPr>
        <p:grpSp>
          <p:nvGrpSpPr>
            <p:cNvPr id="26" name="Group 25"/>
            <p:cNvGrpSpPr/>
            <p:nvPr/>
          </p:nvGrpSpPr>
          <p:grpSpPr>
            <a:xfrm>
              <a:off x="5157700" y="2747546"/>
              <a:ext cx="709700" cy="405229"/>
              <a:chOff x="6477000" y="3048000"/>
              <a:chExt cx="709700" cy="405229"/>
            </a:xfrm>
          </p:grpSpPr>
          <p:sp>
            <p:nvSpPr>
              <p:cNvPr id="20" name="Can 19"/>
              <p:cNvSpPr/>
              <p:nvPr/>
            </p:nvSpPr>
            <p:spPr>
              <a:xfrm>
                <a:off x="6515100" y="3048000"/>
                <a:ext cx="647700" cy="381000"/>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6477000" y="3114675"/>
                <a:ext cx="709700" cy="338554"/>
              </a:xfrm>
              <a:prstGeom prst="rect">
                <a:avLst/>
              </a:prstGeom>
              <a:noFill/>
            </p:spPr>
            <p:txBody>
              <a:bodyPr wrap="square" rtlCol="0">
                <a:spAutoFit/>
              </a:bodyPr>
              <a:lstStyle/>
              <a:p>
                <a:pPr algn="ctr"/>
                <a:r>
                  <a:rPr lang="en-US" sz="800" dirty="0" smtClean="0"/>
                  <a:t>Information</a:t>
                </a:r>
              </a:p>
              <a:p>
                <a:pPr algn="ctr"/>
                <a:r>
                  <a:rPr lang="en-US" sz="800" dirty="0" smtClean="0"/>
                  <a:t>Source</a:t>
                </a:r>
                <a:endParaRPr lang="en-US" sz="800" dirty="0"/>
              </a:p>
            </p:txBody>
          </p:sp>
        </p:grpSp>
        <p:sp>
          <p:nvSpPr>
            <p:cNvPr id="25" name="Cloud 24"/>
            <p:cNvSpPr/>
            <p:nvPr/>
          </p:nvSpPr>
          <p:spPr>
            <a:xfrm>
              <a:off x="4953000" y="2590800"/>
              <a:ext cx="1143000" cy="685800"/>
            </a:xfrm>
            <a:prstGeom prst="cloud">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p:cNvGrpSpPr/>
          <p:nvPr/>
        </p:nvGrpSpPr>
        <p:grpSpPr>
          <a:xfrm>
            <a:off x="6248400" y="2514600"/>
            <a:ext cx="1143000" cy="685800"/>
            <a:chOff x="4953000" y="2590800"/>
            <a:chExt cx="1143000" cy="685800"/>
          </a:xfrm>
        </p:grpSpPr>
        <p:grpSp>
          <p:nvGrpSpPr>
            <p:cNvPr id="29" name="Group 25"/>
            <p:cNvGrpSpPr/>
            <p:nvPr/>
          </p:nvGrpSpPr>
          <p:grpSpPr>
            <a:xfrm>
              <a:off x="5157700" y="2747546"/>
              <a:ext cx="709700" cy="405229"/>
              <a:chOff x="6477000" y="3048000"/>
              <a:chExt cx="709700" cy="405229"/>
            </a:xfrm>
          </p:grpSpPr>
          <p:sp>
            <p:nvSpPr>
              <p:cNvPr id="31" name="Can 30"/>
              <p:cNvSpPr/>
              <p:nvPr/>
            </p:nvSpPr>
            <p:spPr>
              <a:xfrm>
                <a:off x="6515100" y="3048000"/>
                <a:ext cx="647700" cy="381000"/>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p:cNvSpPr txBox="1"/>
              <p:nvPr/>
            </p:nvSpPr>
            <p:spPr>
              <a:xfrm>
                <a:off x="6477000" y="3114675"/>
                <a:ext cx="709700" cy="338554"/>
              </a:xfrm>
              <a:prstGeom prst="rect">
                <a:avLst/>
              </a:prstGeom>
              <a:noFill/>
            </p:spPr>
            <p:txBody>
              <a:bodyPr wrap="square" rtlCol="0">
                <a:spAutoFit/>
              </a:bodyPr>
              <a:lstStyle/>
              <a:p>
                <a:pPr algn="ctr"/>
                <a:r>
                  <a:rPr lang="en-US" sz="800" dirty="0" smtClean="0"/>
                  <a:t>Information</a:t>
                </a:r>
              </a:p>
              <a:p>
                <a:pPr algn="ctr"/>
                <a:r>
                  <a:rPr lang="en-US" sz="800" dirty="0" smtClean="0"/>
                  <a:t>Source</a:t>
                </a:r>
                <a:endParaRPr lang="en-US" sz="800" dirty="0"/>
              </a:p>
            </p:txBody>
          </p:sp>
        </p:grpSp>
        <p:sp>
          <p:nvSpPr>
            <p:cNvPr id="30" name="Cloud 29"/>
            <p:cNvSpPr/>
            <p:nvPr/>
          </p:nvSpPr>
          <p:spPr>
            <a:xfrm>
              <a:off x="4953000" y="2590800"/>
              <a:ext cx="1143000" cy="685800"/>
            </a:xfrm>
            <a:prstGeom prst="cloud">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p:cNvGrpSpPr/>
          <p:nvPr/>
        </p:nvGrpSpPr>
        <p:grpSpPr>
          <a:xfrm>
            <a:off x="6096000" y="3429000"/>
            <a:ext cx="1143000" cy="685800"/>
            <a:chOff x="4953000" y="2590800"/>
            <a:chExt cx="1143000" cy="685800"/>
          </a:xfrm>
        </p:grpSpPr>
        <p:grpSp>
          <p:nvGrpSpPr>
            <p:cNvPr id="34" name="Group 25"/>
            <p:cNvGrpSpPr/>
            <p:nvPr/>
          </p:nvGrpSpPr>
          <p:grpSpPr>
            <a:xfrm>
              <a:off x="5157700" y="2747546"/>
              <a:ext cx="709700" cy="405229"/>
              <a:chOff x="6477000" y="3048000"/>
              <a:chExt cx="709700" cy="405229"/>
            </a:xfrm>
          </p:grpSpPr>
          <p:sp>
            <p:nvSpPr>
              <p:cNvPr id="36" name="Can 35"/>
              <p:cNvSpPr/>
              <p:nvPr/>
            </p:nvSpPr>
            <p:spPr>
              <a:xfrm>
                <a:off x="6515100" y="3048000"/>
                <a:ext cx="647700" cy="381000"/>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6477000" y="3114675"/>
                <a:ext cx="709700" cy="338554"/>
              </a:xfrm>
              <a:prstGeom prst="rect">
                <a:avLst/>
              </a:prstGeom>
              <a:noFill/>
            </p:spPr>
            <p:txBody>
              <a:bodyPr wrap="square" rtlCol="0">
                <a:spAutoFit/>
              </a:bodyPr>
              <a:lstStyle/>
              <a:p>
                <a:pPr algn="ctr"/>
                <a:r>
                  <a:rPr lang="en-US" sz="800" dirty="0" smtClean="0"/>
                  <a:t>Information</a:t>
                </a:r>
              </a:p>
              <a:p>
                <a:pPr algn="ctr"/>
                <a:r>
                  <a:rPr lang="en-US" sz="800" dirty="0" smtClean="0"/>
                  <a:t>Source</a:t>
                </a:r>
                <a:endParaRPr lang="en-US" sz="800" dirty="0"/>
              </a:p>
            </p:txBody>
          </p:sp>
        </p:grpSp>
        <p:sp>
          <p:nvSpPr>
            <p:cNvPr id="35" name="Cloud 34"/>
            <p:cNvSpPr/>
            <p:nvPr/>
          </p:nvSpPr>
          <p:spPr>
            <a:xfrm>
              <a:off x="4953000" y="2590800"/>
              <a:ext cx="1143000" cy="685800"/>
            </a:xfrm>
            <a:prstGeom prst="cloud">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p:cNvGrpSpPr/>
          <p:nvPr/>
        </p:nvGrpSpPr>
        <p:grpSpPr>
          <a:xfrm>
            <a:off x="7239000" y="4191000"/>
            <a:ext cx="1143000" cy="685800"/>
            <a:chOff x="4953000" y="2590800"/>
            <a:chExt cx="1143000" cy="685800"/>
          </a:xfrm>
        </p:grpSpPr>
        <p:grpSp>
          <p:nvGrpSpPr>
            <p:cNvPr id="39" name="Group 25"/>
            <p:cNvGrpSpPr/>
            <p:nvPr/>
          </p:nvGrpSpPr>
          <p:grpSpPr>
            <a:xfrm>
              <a:off x="5157700" y="2747546"/>
              <a:ext cx="709700" cy="405229"/>
              <a:chOff x="6477000" y="3048000"/>
              <a:chExt cx="709700" cy="405229"/>
            </a:xfrm>
          </p:grpSpPr>
          <p:sp>
            <p:nvSpPr>
              <p:cNvPr id="41" name="Can 40"/>
              <p:cNvSpPr/>
              <p:nvPr/>
            </p:nvSpPr>
            <p:spPr>
              <a:xfrm>
                <a:off x="6515100" y="3048000"/>
                <a:ext cx="647700" cy="381000"/>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6477000" y="3114675"/>
                <a:ext cx="709700" cy="338554"/>
              </a:xfrm>
              <a:prstGeom prst="rect">
                <a:avLst/>
              </a:prstGeom>
              <a:noFill/>
            </p:spPr>
            <p:txBody>
              <a:bodyPr wrap="square" rtlCol="0">
                <a:spAutoFit/>
              </a:bodyPr>
              <a:lstStyle/>
              <a:p>
                <a:pPr algn="ctr"/>
                <a:r>
                  <a:rPr lang="en-US" sz="800" dirty="0" smtClean="0"/>
                  <a:t>Information</a:t>
                </a:r>
              </a:p>
              <a:p>
                <a:pPr algn="ctr"/>
                <a:r>
                  <a:rPr lang="en-US" sz="800" dirty="0" smtClean="0"/>
                  <a:t>Source</a:t>
                </a:r>
                <a:endParaRPr lang="en-US" sz="800" dirty="0"/>
              </a:p>
            </p:txBody>
          </p:sp>
        </p:grpSp>
        <p:sp>
          <p:nvSpPr>
            <p:cNvPr id="40" name="Cloud 39"/>
            <p:cNvSpPr/>
            <p:nvPr/>
          </p:nvSpPr>
          <p:spPr>
            <a:xfrm>
              <a:off x="4953000" y="2590800"/>
              <a:ext cx="1143000" cy="685800"/>
            </a:xfrm>
            <a:prstGeom prst="cloud">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42"/>
          <p:cNvGrpSpPr/>
          <p:nvPr/>
        </p:nvGrpSpPr>
        <p:grpSpPr>
          <a:xfrm>
            <a:off x="7467600" y="3200400"/>
            <a:ext cx="1143000" cy="685800"/>
            <a:chOff x="4953000" y="2590800"/>
            <a:chExt cx="1143000" cy="685800"/>
          </a:xfrm>
        </p:grpSpPr>
        <p:grpSp>
          <p:nvGrpSpPr>
            <p:cNvPr id="44" name="Group 25"/>
            <p:cNvGrpSpPr/>
            <p:nvPr/>
          </p:nvGrpSpPr>
          <p:grpSpPr>
            <a:xfrm>
              <a:off x="5157700" y="2747546"/>
              <a:ext cx="709700" cy="405229"/>
              <a:chOff x="6477000" y="3048000"/>
              <a:chExt cx="709700" cy="405229"/>
            </a:xfrm>
          </p:grpSpPr>
          <p:sp>
            <p:nvSpPr>
              <p:cNvPr id="46" name="Can 45"/>
              <p:cNvSpPr/>
              <p:nvPr/>
            </p:nvSpPr>
            <p:spPr>
              <a:xfrm>
                <a:off x="6515100" y="3048000"/>
                <a:ext cx="647700" cy="381000"/>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6477000" y="3114675"/>
                <a:ext cx="709700" cy="338554"/>
              </a:xfrm>
              <a:prstGeom prst="rect">
                <a:avLst/>
              </a:prstGeom>
              <a:noFill/>
            </p:spPr>
            <p:txBody>
              <a:bodyPr wrap="square" rtlCol="0">
                <a:spAutoFit/>
              </a:bodyPr>
              <a:lstStyle/>
              <a:p>
                <a:pPr algn="ctr"/>
                <a:r>
                  <a:rPr lang="en-US" sz="800" dirty="0" smtClean="0"/>
                  <a:t>Information</a:t>
                </a:r>
              </a:p>
              <a:p>
                <a:pPr algn="ctr"/>
                <a:r>
                  <a:rPr lang="en-US" sz="800" dirty="0" smtClean="0"/>
                  <a:t>Source</a:t>
                </a:r>
                <a:endParaRPr lang="en-US" sz="800" dirty="0"/>
              </a:p>
            </p:txBody>
          </p:sp>
        </p:grpSp>
        <p:sp>
          <p:nvSpPr>
            <p:cNvPr id="45" name="Cloud 44"/>
            <p:cNvSpPr/>
            <p:nvPr/>
          </p:nvSpPr>
          <p:spPr>
            <a:xfrm>
              <a:off x="4953000" y="2590800"/>
              <a:ext cx="1143000" cy="685800"/>
            </a:xfrm>
            <a:prstGeom prst="cloud">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p:cNvGrpSpPr/>
          <p:nvPr/>
        </p:nvGrpSpPr>
        <p:grpSpPr>
          <a:xfrm>
            <a:off x="5867400" y="4343400"/>
            <a:ext cx="1143000" cy="685800"/>
            <a:chOff x="4953000" y="2590800"/>
            <a:chExt cx="1143000" cy="685800"/>
          </a:xfrm>
        </p:grpSpPr>
        <p:grpSp>
          <p:nvGrpSpPr>
            <p:cNvPr id="49" name="Group 25"/>
            <p:cNvGrpSpPr/>
            <p:nvPr/>
          </p:nvGrpSpPr>
          <p:grpSpPr>
            <a:xfrm>
              <a:off x="5157700" y="2747546"/>
              <a:ext cx="709700" cy="405229"/>
              <a:chOff x="6477000" y="3048000"/>
              <a:chExt cx="709700" cy="405229"/>
            </a:xfrm>
          </p:grpSpPr>
          <p:sp>
            <p:nvSpPr>
              <p:cNvPr id="51" name="Can 50"/>
              <p:cNvSpPr/>
              <p:nvPr/>
            </p:nvSpPr>
            <p:spPr>
              <a:xfrm>
                <a:off x="6515100" y="3048000"/>
                <a:ext cx="647700" cy="381000"/>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p:cNvSpPr txBox="1"/>
              <p:nvPr/>
            </p:nvSpPr>
            <p:spPr>
              <a:xfrm>
                <a:off x="6477000" y="3114675"/>
                <a:ext cx="709700" cy="338554"/>
              </a:xfrm>
              <a:prstGeom prst="rect">
                <a:avLst/>
              </a:prstGeom>
              <a:noFill/>
            </p:spPr>
            <p:txBody>
              <a:bodyPr wrap="square" rtlCol="0">
                <a:spAutoFit/>
              </a:bodyPr>
              <a:lstStyle/>
              <a:p>
                <a:pPr algn="ctr"/>
                <a:r>
                  <a:rPr lang="en-US" sz="800" dirty="0" smtClean="0"/>
                  <a:t>Information</a:t>
                </a:r>
              </a:p>
              <a:p>
                <a:pPr algn="ctr"/>
                <a:r>
                  <a:rPr lang="en-US" sz="800" dirty="0" smtClean="0"/>
                  <a:t>Source</a:t>
                </a:r>
                <a:endParaRPr lang="en-US" sz="800" dirty="0"/>
              </a:p>
            </p:txBody>
          </p:sp>
        </p:grpSp>
        <p:sp>
          <p:nvSpPr>
            <p:cNvPr id="50" name="Cloud 49"/>
            <p:cNvSpPr/>
            <p:nvPr/>
          </p:nvSpPr>
          <p:spPr>
            <a:xfrm>
              <a:off x="4953000" y="2590800"/>
              <a:ext cx="1143000" cy="685800"/>
            </a:xfrm>
            <a:prstGeom prst="cloud">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p:cNvGrpSpPr/>
          <p:nvPr/>
        </p:nvGrpSpPr>
        <p:grpSpPr>
          <a:xfrm>
            <a:off x="6705600" y="5029200"/>
            <a:ext cx="1143000" cy="685800"/>
            <a:chOff x="4953000" y="2590800"/>
            <a:chExt cx="1143000" cy="685800"/>
          </a:xfrm>
        </p:grpSpPr>
        <p:grpSp>
          <p:nvGrpSpPr>
            <p:cNvPr id="54" name="Group 25"/>
            <p:cNvGrpSpPr/>
            <p:nvPr/>
          </p:nvGrpSpPr>
          <p:grpSpPr>
            <a:xfrm>
              <a:off x="5157700" y="2747546"/>
              <a:ext cx="709700" cy="405229"/>
              <a:chOff x="6477000" y="3048000"/>
              <a:chExt cx="709700" cy="405229"/>
            </a:xfrm>
          </p:grpSpPr>
          <p:sp>
            <p:nvSpPr>
              <p:cNvPr id="56" name="Can 55"/>
              <p:cNvSpPr/>
              <p:nvPr/>
            </p:nvSpPr>
            <p:spPr>
              <a:xfrm>
                <a:off x="6515100" y="3048000"/>
                <a:ext cx="647700" cy="381000"/>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p:cNvSpPr txBox="1"/>
              <p:nvPr/>
            </p:nvSpPr>
            <p:spPr>
              <a:xfrm>
                <a:off x="6477000" y="3114675"/>
                <a:ext cx="709700" cy="338554"/>
              </a:xfrm>
              <a:prstGeom prst="rect">
                <a:avLst/>
              </a:prstGeom>
              <a:noFill/>
            </p:spPr>
            <p:txBody>
              <a:bodyPr wrap="square" rtlCol="0">
                <a:spAutoFit/>
              </a:bodyPr>
              <a:lstStyle/>
              <a:p>
                <a:pPr algn="ctr"/>
                <a:r>
                  <a:rPr lang="en-US" sz="800" dirty="0" smtClean="0"/>
                  <a:t>Information</a:t>
                </a:r>
              </a:p>
              <a:p>
                <a:pPr algn="ctr"/>
                <a:r>
                  <a:rPr lang="en-US" sz="800" dirty="0" smtClean="0"/>
                  <a:t>Source</a:t>
                </a:r>
                <a:endParaRPr lang="en-US" sz="800" dirty="0"/>
              </a:p>
            </p:txBody>
          </p:sp>
        </p:grpSp>
        <p:sp>
          <p:nvSpPr>
            <p:cNvPr id="55" name="Cloud 54"/>
            <p:cNvSpPr/>
            <p:nvPr/>
          </p:nvSpPr>
          <p:spPr>
            <a:xfrm>
              <a:off x="4953000" y="2590800"/>
              <a:ext cx="1143000" cy="685800"/>
            </a:xfrm>
            <a:prstGeom prst="cloud">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8" name="Freeform 57"/>
          <p:cNvSpPr/>
          <p:nvPr/>
        </p:nvSpPr>
        <p:spPr>
          <a:xfrm>
            <a:off x="4676775" y="2849563"/>
            <a:ext cx="1562100" cy="588962"/>
          </a:xfrm>
          <a:custGeom>
            <a:avLst/>
            <a:gdLst>
              <a:gd name="connsiteX0" fmla="*/ 0 w 1562100"/>
              <a:gd name="connsiteY0" fmla="*/ 541337 h 588962"/>
              <a:gd name="connsiteX1" fmla="*/ 647700 w 1562100"/>
              <a:gd name="connsiteY1" fmla="*/ 512762 h 588962"/>
              <a:gd name="connsiteX2" fmla="*/ 1152525 w 1562100"/>
              <a:gd name="connsiteY2" fmla="*/ 84137 h 588962"/>
              <a:gd name="connsiteX3" fmla="*/ 1562100 w 1562100"/>
              <a:gd name="connsiteY3" fmla="*/ 7937 h 588962"/>
            </a:gdLst>
            <a:ahLst/>
            <a:cxnLst>
              <a:cxn ang="0">
                <a:pos x="connsiteX0" y="connsiteY0"/>
              </a:cxn>
              <a:cxn ang="0">
                <a:pos x="connsiteX1" y="connsiteY1"/>
              </a:cxn>
              <a:cxn ang="0">
                <a:pos x="connsiteX2" y="connsiteY2"/>
              </a:cxn>
              <a:cxn ang="0">
                <a:pos x="connsiteX3" y="connsiteY3"/>
              </a:cxn>
            </a:cxnLst>
            <a:rect l="l" t="t" r="r" b="b"/>
            <a:pathLst>
              <a:path w="1562100" h="588962">
                <a:moveTo>
                  <a:pt x="0" y="541337"/>
                </a:moveTo>
                <a:cubicBezTo>
                  <a:pt x="227806" y="565149"/>
                  <a:pt x="455613" y="588962"/>
                  <a:pt x="647700" y="512762"/>
                </a:cubicBezTo>
                <a:cubicBezTo>
                  <a:pt x="839787" y="436562"/>
                  <a:pt x="1000125" y="168275"/>
                  <a:pt x="1152525" y="84137"/>
                </a:cubicBezTo>
                <a:cubicBezTo>
                  <a:pt x="1304925" y="0"/>
                  <a:pt x="1433512" y="3968"/>
                  <a:pt x="1562100" y="7937"/>
                </a:cubicBezTo>
              </a:path>
            </a:pathLst>
          </a:cu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Freeform 58"/>
          <p:cNvSpPr/>
          <p:nvPr/>
        </p:nvSpPr>
        <p:spPr>
          <a:xfrm>
            <a:off x="4705350" y="2905125"/>
            <a:ext cx="2962275" cy="633412"/>
          </a:xfrm>
          <a:custGeom>
            <a:avLst/>
            <a:gdLst>
              <a:gd name="connsiteX0" fmla="*/ 0 w 2962275"/>
              <a:gd name="connsiteY0" fmla="*/ 523875 h 633412"/>
              <a:gd name="connsiteX1" fmla="*/ 1171575 w 2962275"/>
              <a:gd name="connsiteY1" fmla="*/ 619125 h 633412"/>
              <a:gd name="connsiteX2" fmla="*/ 1695450 w 2962275"/>
              <a:gd name="connsiteY2" fmla="*/ 438150 h 633412"/>
              <a:gd name="connsiteX3" fmla="*/ 2486025 w 2962275"/>
              <a:gd name="connsiteY3" fmla="*/ 390525 h 633412"/>
              <a:gd name="connsiteX4" fmla="*/ 2962275 w 2962275"/>
              <a:gd name="connsiteY4" fmla="*/ 0 h 633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2275" h="633412">
                <a:moveTo>
                  <a:pt x="0" y="523875"/>
                </a:moveTo>
                <a:cubicBezTo>
                  <a:pt x="444500" y="578643"/>
                  <a:pt x="889000" y="633412"/>
                  <a:pt x="1171575" y="619125"/>
                </a:cubicBezTo>
                <a:cubicBezTo>
                  <a:pt x="1454150" y="604838"/>
                  <a:pt x="1476375" y="476250"/>
                  <a:pt x="1695450" y="438150"/>
                </a:cubicBezTo>
                <a:cubicBezTo>
                  <a:pt x="1914525" y="400050"/>
                  <a:pt x="2274888" y="463550"/>
                  <a:pt x="2486025" y="390525"/>
                </a:cubicBezTo>
                <a:cubicBezTo>
                  <a:pt x="2697163" y="317500"/>
                  <a:pt x="2829719" y="158750"/>
                  <a:pt x="2962275" y="0"/>
                </a:cubicBezTo>
              </a:path>
            </a:pathLst>
          </a:cu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0" name="Freeform 59"/>
          <p:cNvSpPr/>
          <p:nvPr/>
        </p:nvSpPr>
        <p:spPr>
          <a:xfrm>
            <a:off x="4676775" y="3467100"/>
            <a:ext cx="1438275" cy="414338"/>
          </a:xfrm>
          <a:custGeom>
            <a:avLst/>
            <a:gdLst>
              <a:gd name="connsiteX0" fmla="*/ 0 w 1438275"/>
              <a:gd name="connsiteY0" fmla="*/ 0 h 414338"/>
              <a:gd name="connsiteX1" fmla="*/ 895350 w 1438275"/>
              <a:gd name="connsiteY1" fmla="*/ 171450 h 414338"/>
              <a:gd name="connsiteX2" fmla="*/ 1152525 w 1438275"/>
              <a:gd name="connsiteY2" fmla="*/ 381000 h 414338"/>
              <a:gd name="connsiteX3" fmla="*/ 1438275 w 1438275"/>
              <a:gd name="connsiteY3" fmla="*/ 371475 h 414338"/>
            </a:gdLst>
            <a:ahLst/>
            <a:cxnLst>
              <a:cxn ang="0">
                <a:pos x="connsiteX0" y="connsiteY0"/>
              </a:cxn>
              <a:cxn ang="0">
                <a:pos x="connsiteX1" y="connsiteY1"/>
              </a:cxn>
              <a:cxn ang="0">
                <a:pos x="connsiteX2" y="connsiteY2"/>
              </a:cxn>
              <a:cxn ang="0">
                <a:pos x="connsiteX3" y="connsiteY3"/>
              </a:cxn>
            </a:cxnLst>
            <a:rect l="l" t="t" r="r" b="b"/>
            <a:pathLst>
              <a:path w="1438275" h="414338">
                <a:moveTo>
                  <a:pt x="0" y="0"/>
                </a:moveTo>
                <a:cubicBezTo>
                  <a:pt x="351631" y="53975"/>
                  <a:pt x="703263" y="107950"/>
                  <a:pt x="895350" y="171450"/>
                </a:cubicBezTo>
                <a:cubicBezTo>
                  <a:pt x="1087437" y="234950"/>
                  <a:pt x="1062037" y="347662"/>
                  <a:pt x="1152525" y="381000"/>
                </a:cubicBezTo>
                <a:cubicBezTo>
                  <a:pt x="1243013" y="414338"/>
                  <a:pt x="1340644" y="392906"/>
                  <a:pt x="1438275" y="371475"/>
                </a:cubicBezTo>
              </a:path>
            </a:pathLst>
          </a:cu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Freeform 60"/>
          <p:cNvSpPr/>
          <p:nvPr/>
        </p:nvSpPr>
        <p:spPr>
          <a:xfrm>
            <a:off x="4676775" y="3448050"/>
            <a:ext cx="2905125" cy="798513"/>
          </a:xfrm>
          <a:custGeom>
            <a:avLst/>
            <a:gdLst>
              <a:gd name="connsiteX0" fmla="*/ 0 w 2905125"/>
              <a:gd name="connsiteY0" fmla="*/ 0 h 798513"/>
              <a:gd name="connsiteX1" fmla="*/ 1076325 w 2905125"/>
              <a:gd name="connsiteY1" fmla="*/ 504825 h 798513"/>
              <a:gd name="connsiteX2" fmla="*/ 1943100 w 2905125"/>
              <a:gd name="connsiteY2" fmla="*/ 771525 h 798513"/>
              <a:gd name="connsiteX3" fmla="*/ 2905125 w 2905125"/>
              <a:gd name="connsiteY3" fmla="*/ 342900 h 798513"/>
            </a:gdLst>
            <a:ahLst/>
            <a:cxnLst>
              <a:cxn ang="0">
                <a:pos x="connsiteX0" y="connsiteY0"/>
              </a:cxn>
              <a:cxn ang="0">
                <a:pos x="connsiteX1" y="connsiteY1"/>
              </a:cxn>
              <a:cxn ang="0">
                <a:pos x="connsiteX2" y="connsiteY2"/>
              </a:cxn>
              <a:cxn ang="0">
                <a:pos x="connsiteX3" y="connsiteY3"/>
              </a:cxn>
            </a:cxnLst>
            <a:rect l="l" t="t" r="r" b="b"/>
            <a:pathLst>
              <a:path w="2905125" h="798513">
                <a:moveTo>
                  <a:pt x="0" y="0"/>
                </a:moveTo>
                <a:cubicBezTo>
                  <a:pt x="376237" y="188119"/>
                  <a:pt x="752475" y="376238"/>
                  <a:pt x="1076325" y="504825"/>
                </a:cubicBezTo>
                <a:cubicBezTo>
                  <a:pt x="1400175" y="633413"/>
                  <a:pt x="1638300" y="798513"/>
                  <a:pt x="1943100" y="771525"/>
                </a:cubicBezTo>
                <a:cubicBezTo>
                  <a:pt x="2247900" y="744538"/>
                  <a:pt x="2576512" y="543719"/>
                  <a:pt x="2905125" y="342900"/>
                </a:cubicBezTo>
              </a:path>
            </a:pathLst>
          </a:cu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2" name="Freeform 61"/>
          <p:cNvSpPr/>
          <p:nvPr/>
        </p:nvSpPr>
        <p:spPr>
          <a:xfrm>
            <a:off x="4657725" y="3495675"/>
            <a:ext cx="1628775" cy="885825"/>
          </a:xfrm>
          <a:custGeom>
            <a:avLst/>
            <a:gdLst>
              <a:gd name="connsiteX0" fmla="*/ 0 w 1628775"/>
              <a:gd name="connsiteY0" fmla="*/ 0 h 885825"/>
              <a:gd name="connsiteX1" fmla="*/ 962025 w 1628775"/>
              <a:gd name="connsiteY1" fmla="*/ 571500 h 885825"/>
              <a:gd name="connsiteX2" fmla="*/ 1447800 w 1628775"/>
              <a:gd name="connsiteY2" fmla="*/ 771525 h 885825"/>
              <a:gd name="connsiteX3" fmla="*/ 1628775 w 1628775"/>
              <a:gd name="connsiteY3" fmla="*/ 885825 h 885825"/>
            </a:gdLst>
            <a:ahLst/>
            <a:cxnLst>
              <a:cxn ang="0">
                <a:pos x="connsiteX0" y="connsiteY0"/>
              </a:cxn>
              <a:cxn ang="0">
                <a:pos x="connsiteX1" y="connsiteY1"/>
              </a:cxn>
              <a:cxn ang="0">
                <a:pos x="connsiteX2" y="connsiteY2"/>
              </a:cxn>
              <a:cxn ang="0">
                <a:pos x="connsiteX3" y="connsiteY3"/>
              </a:cxn>
            </a:cxnLst>
            <a:rect l="l" t="t" r="r" b="b"/>
            <a:pathLst>
              <a:path w="1628775" h="885825">
                <a:moveTo>
                  <a:pt x="0" y="0"/>
                </a:moveTo>
                <a:cubicBezTo>
                  <a:pt x="360362" y="221456"/>
                  <a:pt x="720725" y="442913"/>
                  <a:pt x="962025" y="571500"/>
                </a:cubicBezTo>
                <a:cubicBezTo>
                  <a:pt x="1203325" y="700087"/>
                  <a:pt x="1336675" y="719138"/>
                  <a:pt x="1447800" y="771525"/>
                </a:cubicBezTo>
                <a:cubicBezTo>
                  <a:pt x="1558925" y="823912"/>
                  <a:pt x="1593850" y="854868"/>
                  <a:pt x="1628775" y="885825"/>
                </a:cubicBezTo>
              </a:path>
            </a:pathLst>
          </a:cu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 name="Freeform 62"/>
          <p:cNvSpPr/>
          <p:nvPr/>
        </p:nvSpPr>
        <p:spPr>
          <a:xfrm>
            <a:off x="4657725" y="3543300"/>
            <a:ext cx="2647950" cy="1668462"/>
          </a:xfrm>
          <a:custGeom>
            <a:avLst/>
            <a:gdLst>
              <a:gd name="connsiteX0" fmla="*/ 0 w 2647950"/>
              <a:gd name="connsiteY0" fmla="*/ 0 h 1668462"/>
              <a:gd name="connsiteX1" fmla="*/ 885825 w 2647950"/>
              <a:gd name="connsiteY1" fmla="*/ 1066800 h 1668462"/>
              <a:gd name="connsiteX2" fmla="*/ 1123950 w 2647950"/>
              <a:gd name="connsiteY2" fmla="*/ 1562100 h 1668462"/>
              <a:gd name="connsiteX3" fmla="*/ 1905000 w 2647950"/>
              <a:gd name="connsiteY3" fmla="*/ 1609725 h 1668462"/>
              <a:gd name="connsiteX4" fmla="*/ 2647950 w 2647950"/>
              <a:gd name="connsiteY4" fmla="*/ 1209675 h 1668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950" h="1668462">
                <a:moveTo>
                  <a:pt x="0" y="0"/>
                </a:moveTo>
                <a:cubicBezTo>
                  <a:pt x="349250" y="403225"/>
                  <a:pt x="698500" y="806450"/>
                  <a:pt x="885825" y="1066800"/>
                </a:cubicBezTo>
                <a:cubicBezTo>
                  <a:pt x="1073150" y="1327150"/>
                  <a:pt x="954087" y="1471612"/>
                  <a:pt x="1123950" y="1562100"/>
                </a:cubicBezTo>
                <a:cubicBezTo>
                  <a:pt x="1293813" y="1652588"/>
                  <a:pt x="1651000" y="1668462"/>
                  <a:pt x="1905000" y="1609725"/>
                </a:cubicBezTo>
                <a:cubicBezTo>
                  <a:pt x="2159000" y="1550988"/>
                  <a:pt x="2403475" y="1380331"/>
                  <a:pt x="2647950" y="1209675"/>
                </a:cubicBezTo>
              </a:path>
            </a:pathLst>
          </a:cu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Freeform 63"/>
          <p:cNvSpPr/>
          <p:nvPr/>
        </p:nvSpPr>
        <p:spPr>
          <a:xfrm>
            <a:off x="4610100" y="3581400"/>
            <a:ext cx="2133600" cy="2000250"/>
          </a:xfrm>
          <a:custGeom>
            <a:avLst/>
            <a:gdLst>
              <a:gd name="connsiteX0" fmla="*/ 0 w 2133600"/>
              <a:gd name="connsiteY0" fmla="*/ 0 h 2000250"/>
              <a:gd name="connsiteX1" fmla="*/ 523875 w 2133600"/>
              <a:gd name="connsiteY1" fmla="*/ 914400 h 2000250"/>
              <a:gd name="connsiteX2" fmla="*/ 952500 w 2133600"/>
              <a:gd name="connsiteY2" fmla="*/ 1828800 h 2000250"/>
              <a:gd name="connsiteX3" fmla="*/ 2133600 w 2133600"/>
              <a:gd name="connsiteY3" fmla="*/ 1943100 h 2000250"/>
            </a:gdLst>
            <a:ahLst/>
            <a:cxnLst>
              <a:cxn ang="0">
                <a:pos x="connsiteX0" y="connsiteY0"/>
              </a:cxn>
              <a:cxn ang="0">
                <a:pos x="connsiteX1" y="connsiteY1"/>
              </a:cxn>
              <a:cxn ang="0">
                <a:pos x="connsiteX2" y="connsiteY2"/>
              </a:cxn>
              <a:cxn ang="0">
                <a:pos x="connsiteX3" y="connsiteY3"/>
              </a:cxn>
            </a:cxnLst>
            <a:rect l="l" t="t" r="r" b="b"/>
            <a:pathLst>
              <a:path w="2133600" h="2000250">
                <a:moveTo>
                  <a:pt x="0" y="0"/>
                </a:moveTo>
                <a:cubicBezTo>
                  <a:pt x="182562" y="304800"/>
                  <a:pt x="365125" y="609600"/>
                  <a:pt x="523875" y="914400"/>
                </a:cubicBezTo>
                <a:cubicBezTo>
                  <a:pt x="682625" y="1219200"/>
                  <a:pt x="684213" y="1657350"/>
                  <a:pt x="952500" y="1828800"/>
                </a:cubicBezTo>
                <a:cubicBezTo>
                  <a:pt x="1220787" y="2000250"/>
                  <a:pt x="1677193" y="1971675"/>
                  <a:pt x="2133600" y="1943100"/>
                </a:cubicBezTo>
              </a:path>
            </a:pathLst>
          </a:cu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060" name="Picture 12"/>
          <p:cNvPicPr>
            <a:picLocks noChangeAspect="1" noChangeArrowheads="1"/>
          </p:cNvPicPr>
          <p:nvPr/>
        </p:nvPicPr>
        <p:blipFill>
          <a:blip r:embed="rId5" cstate="print"/>
          <a:srcRect/>
          <a:stretch>
            <a:fillRect/>
          </a:stretch>
        </p:blipFill>
        <p:spPr bwMode="auto">
          <a:xfrm>
            <a:off x="3276600" y="1828800"/>
            <a:ext cx="2905125" cy="647700"/>
          </a:xfrm>
          <a:prstGeom prst="rect">
            <a:avLst/>
          </a:prstGeom>
          <a:noFill/>
          <a:ln w="9525">
            <a:noFill/>
            <a:miter lim="800000"/>
            <a:headEnd/>
            <a:tailEnd/>
          </a:ln>
        </p:spPr>
      </p:pic>
      <p:sp>
        <p:nvSpPr>
          <p:cNvPr id="66" name="Rounded Rectangular Callout 65"/>
          <p:cNvSpPr/>
          <p:nvPr/>
        </p:nvSpPr>
        <p:spPr>
          <a:xfrm>
            <a:off x="3200400" y="1752600"/>
            <a:ext cx="3124200" cy="838200"/>
          </a:xfrm>
          <a:prstGeom prst="wedgeRoundRectCallout">
            <a:avLst>
              <a:gd name="adj1" fmla="val -11509"/>
              <a:gd name="adj2" fmla="val 138825"/>
              <a:gd name="adj3" fmla="val 16667"/>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p:cNvSpPr txBox="1"/>
          <p:nvPr/>
        </p:nvSpPr>
        <p:spPr>
          <a:xfrm>
            <a:off x="2362200" y="4495800"/>
            <a:ext cx="1295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Computer Store</a:t>
            </a:r>
            <a:endParaRPr lang="en-US" sz="1200" b="1" dirty="0">
              <a:solidFill>
                <a:srgbClr val="C00000"/>
              </a:solidFill>
              <a:latin typeface="Bradley Hand ITC" pitchFamily="66" charset="0"/>
            </a:endParaRPr>
          </a:p>
        </p:txBody>
      </p:sp>
      <p:sp>
        <p:nvSpPr>
          <p:cNvPr id="68" name="Freeform 67"/>
          <p:cNvSpPr/>
          <p:nvPr/>
        </p:nvSpPr>
        <p:spPr>
          <a:xfrm>
            <a:off x="3590925" y="4333875"/>
            <a:ext cx="352425" cy="304800"/>
          </a:xfrm>
          <a:custGeom>
            <a:avLst/>
            <a:gdLst>
              <a:gd name="connsiteX0" fmla="*/ 0 w 352425"/>
              <a:gd name="connsiteY0" fmla="*/ 304800 h 304800"/>
              <a:gd name="connsiteX1" fmla="*/ 200025 w 352425"/>
              <a:gd name="connsiteY1" fmla="*/ 219075 h 304800"/>
              <a:gd name="connsiteX2" fmla="*/ 352425 w 352425"/>
              <a:gd name="connsiteY2" fmla="*/ 0 h 304800"/>
            </a:gdLst>
            <a:ahLst/>
            <a:cxnLst>
              <a:cxn ang="0">
                <a:pos x="connsiteX0" y="connsiteY0"/>
              </a:cxn>
              <a:cxn ang="0">
                <a:pos x="connsiteX1" y="connsiteY1"/>
              </a:cxn>
              <a:cxn ang="0">
                <a:pos x="connsiteX2" y="connsiteY2"/>
              </a:cxn>
            </a:cxnLst>
            <a:rect l="l" t="t" r="r" b="b"/>
            <a:pathLst>
              <a:path w="352425" h="304800">
                <a:moveTo>
                  <a:pt x="0" y="304800"/>
                </a:moveTo>
                <a:cubicBezTo>
                  <a:pt x="70644" y="287337"/>
                  <a:pt x="141288" y="269875"/>
                  <a:pt x="200025" y="219075"/>
                </a:cubicBezTo>
                <a:cubicBezTo>
                  <a:pt x="258762" y="168275"/>
                  <a:pt x="305593" y="84137"/>
                  <a:pt x="3524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9" name="TextBox 68"/>
          <p:cNvSpPr txBox="1"/>
          <p:nvPr/>
        </p:nvSpPr>
        <p:spPr>
          <a:xfrm>
            <a:off x="533400" y="2133600"/>
            <a:ext cx="1905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Each computer is made up of different products</a:t>
            </a:r>
            <a:endParaRPr lang="en-US" sz="1200" b="1" dirty="0">
              <a:solidFill>
                <a:srgbClr val="C00000"/>
              </a:solidFill>
              <a:latin typeface="Bradley Hand ITC" pitchFamily="66" charset="0"/>
            </a:endParaRPr>
          </a:p>
        </p:txBody>
      </p:sp>
      <p:sp>
        <p:nvSpPr>
          <p:cNvPr id="70" name="Freeform 69"/>
          <p:cNvSpPr/>
          <p:nvPr/>
        </p:nvSpPr>
        <p:spPr>
          <a:xfrm>
            <a:off x="2219325" y="2457450"/>
            <a:ext cx="476250" cy="571500"/>
          </a:xfrm>
          <a:custGeom>
            <a:avLst/>
            <a:gdLst>
              <a:gd name="connsiteX0" fmla="*/ 0 w 476250"/>
              <a:gd name="connsiteY0" fmla="*/ 0 h 571500"/>
              <a:gd name="connsiteX1" fmla="*/ 352425 w 476250"/>
              <a:gd name="connsiteY1" fmla="*/ 180975 h 571500"/>
              <a:gd name="connsiteX2" fmla="*/ 476250 w 476250"/>
              <a:gd name="connsiteY2" fmla="*/ 571500 h 571500"/>
            </a:gdLst>
            <a:ahLst/>
            <a:cxnLst>
              <a:cxn ang="0">
                <a:pos x="connsiteX0" y="connsiteY0"/>
              </a:cxn>
              <a:cxn ang="0">
                <a:pos x="connsiteX1" y="connsiteY1"/>
              </a:cxn>
              <a:cxn ang="0">
                <a:pos x="connsiteX2" y="connsiteY2"/>
              </a:cxn>
            </a:cxnLst>
            <a:rect l="l" t="t" r="r" b="b"/>
            <a:pathLst>
              <a:path w="476250" h="571500">
                <a:moveTo>
                  <a:pt x="0" y="0"/>
                </a:moveTo>
                <a:cubicBezTo>
                  <a:pt x="136525" y="42862"/>
                  <a:pt x="273050" y="85725"/>
                  <a:pt x="352425" y="180975"/>
                </a:cubicBezTo>
                <a:cubicBezTo>
                  <a:pt x="431800" y="276225"/>
                  <a:pt x="454025" y="423862"/>
                  <a:pt x="476250" y="5715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TextBox 70"/>
          <p:cNvSpPr txBox="1"/>
          <p:nvPr/>
        </p:nvSpPr>
        <p:spPr>
          <a:xfrm>
            <a:off x="685800" y="4114800"/>
            <a:ext cx="990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Customer</a:t>
            </a:r>
            <a:endParaRPr lang="en-US" sz="1200" b="1" dirty="0">
              <a:solidFill>
                <a:srgbClr val="C00000"/>
              </a:solidFill>
              <a:latin typeface="Bradley Hand ITC" pitchFamily="66" charset="0"/>
            </a:endParaRPr>
          </a:p>
        </p:txBody>
      </p:sp>
      <p:sp>
        <p:nvSpPr>
          <p:cNvPr id="72" name="Freeform 71"/>
          <p:cNvSpPr/>
          <p:nvPr/>
        </p:nvSpPr>
        <p:spPr>
          <a:xfrm>
            <a:off x="1524000" y="3962400"/>
            <a:ext cx="352425" cy="304800"/>
          </a:xfrm>
          <a:custGeom>
            <a:avLst/>
            <a:gdLst>
              <a:gd name="connsiteX0" fmla="*/ 0 w 352425"/>
              <a:gd name="connsiteY0" fmla="*/ 304800 h 304800"/>
              <a:gd name="connsiteX1" fmla="*/ 200025 w 352425"/>
              <a:gd name="connsiteY1" fmla="*/ 219075 h 304800"/>
              <a:gd name="connsiteX2" fmla="*/ 352425 w 352425"/>
              <a:gd name="connsiteY2" fmla="*/ 0 h 304800"/>
            </a:gdLst>
            <a:ahLst/>
            <a:cxnLst>
              <a:cxn ang="0">
                <a:pos x="connsiteX0" y="connsiteY0"/>
              </a:cxn>
              <a:cxn ang="0">
                <a:pos x="connsiteX1" y="connsiteY1"/>
              </a:cxn>
              <a:cxn ang="0">
                <a:pos x="connsiteX2" y="connsiteY2"/>
              </a:cxn>
            </a:cxnLst>
            <a:rect l="l" t="t" r="r" b="b"/>
            <a:pathLst>
              <a:path w="352425" h="304800">
                <a:moveTo>
                  <a:pt x="0" y="304800"/>
                </a:moveTo>
                <a:cubicBezTo>
                  <a:pt x="70644" y="287337"/>
                  <a:pt x="141288" y="269875"/>
                  <a:pt x="200025" y="219075"/>
                </a:cubicBezTo>
                <a:cubicBezTo>
                  <a:pt x="258762" y="168275"/>
                  <a:pt x="305593" y="84137"/>
                  <a:pt x="3524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3" name="TextBox 72"/>
          <p:cNvSpPr txBox="1"/>
          <p:nvPr/>
        </p:nvSpPr>
        <p:spPr>
          <a:xfrm>
            <a:off x="2438400" y="5638800"/>
            <a:ext cx="3200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Each computer product is associated with one or more information sources.  These sources are used to find out information about the product!</a:t>
            </a:r>
            <a:endParaRPr lang="en-US" sz="1200" b="1" dirty="0">
              <a:solidFill>
                <a:srgbClr val="C00000"/>
              </a:solidFill>
              <a:latin typeface="Bradley Hand ITC" pitchFamily="66" charset="0"/>
            </a:endParaRPr>
          </a:p>
        </p:txBody>
      </p:sp>
      <p:sp>
        <p:nvSpPr>
          <p:cNvPr id="74" name="Freeform 73"/>
          <p:cNvSpPr/>
          <p:nvPr/>
        </p:nvSpPr>
        <p:spPr>
          <a:xfrm>
            <a:off x="5581650" y="5648325"/>
            <a:ext cx="542925" cy="314325"/>
          </a:xfrm>
          <a:custGeom>
            <a:avLst/>
            <a:gdLst>
              <a:gd name="connsiteX0" fmla="*/ 0 w 542925"/>
              <a:gd name="connsiteY0" fmla="*/ 314325 h 314325"/>
              <a:gd name="connsiteX1" fmla="*/ 381000 w 542925"/>
              <a:gd name="connsiteY1" fmla="*/ 276225 h 314325"/>
              <a:gd name="connsiteX2" fmla="*/ 361950 w 542925"/>
              <a:gd name="connsiteY2" fmla="*/ 161925 h 314325"/>
              <a:gd name="connsiteX3" fmla="*/ 542925 w 542925"/>
              <a:gd name="connsiteY3" fmla="*/ 0 h 314325"/>
            </a:gdLst>
            <a:ahLst/>
            <a:cxnLst>
              <a:cxn ang="0">
                <a:pos x="connsiteX0" y="connsiteY0"/>
              </a:cxn>
              <a:cxn ang="0">
                <a:pos x="connsiteX1" y="connsiteY1"/>
              </a:cxn>
              <a:cxn ang="0">
                <a:pos x="connsiteX2" y="connsiteY2"/>
              </a:cxn>
              <a:cxn ang="0">
                <a:pos x="connsiteX3" y="connsiteY3"/>
              </a:cxn>
            </a:cxnLst>
            <a:rect l="l" t="t" r="r" b="b"/>
            <a:pathLst>
              <a:path w="542925" h="314325">
                <a:moveTo>
                  <a:pt x="0" y="314325"/>
                </a:moveTo>
                <a:cubicBezTo>
                  <a:pt x="160337" y="307975"/>
                  <a:pt x="320675" y="301625"/>
                  <a:pt x="381000" y="276225"/>
                </a:cubicBezTo>
                <a:cubicBezTo>
                  <a:pt x="441325" y="250825"/>
                  <a:pt x="334962" y="207963"/>
                  <a:pt x="361950" y="161925"/>
                </a:cubicBezTo>
                <a:cubicBezTo>
                  <a:pt x="388938" y="115887"/>
                  <a:pt x="465931" y="57943"/>
                  <a:pt x="5429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 Factory for Computer Store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1828800" y="1981200"/>
            <a:ext cx="5372100" cy="3467100"/>
          </a:xfrm>
          <a:prstGeom prst="rect">
            <a:avLst/>
          </a:prstGeom>
          <a:noFill/>
          <a:ln w="9525">
            <a:noFill/>
            <a:miter lim="800000"/>
            <a:headEnd/>
            <a:tailEnd/>
          </a:ln>
        </p:spPr>
      </p:pic>
      <p:sp>
        <p:nvSpPr>
          <p:cNvPr id="8" name="Rectangle 7"/>
          <p:cNvSpPr/>
          <p:nvPr/>
        </p:nvSpPr>
        <p:spPr>
          <a:xfrm>
            <a:off x="6477000" y="1981200"/>
            <a:ext cx="7620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543800" y="3581400"/>
            <a:ext cx="762000" cy="461665"/>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Product</a:t>
            </a:r>
          </a:p>
          <a:p>
            <a:pPr algn="ctr"/>
            <a:r>
              <a:rPr lang="en-US" sz="1200" b="1" dirty="0" smtClean="0">
                <a:solidFill>
                  <a:srgbClr val="C00000"/>
                </a:solidFill>
                <a:latin typeface="Bradley Hand ITC" pitchFamily="66" charset="0"/>
              </a:rPr>
              <a:t> Classes</a:t>
            </a:r>
            <a:endParaRPr lang="en-US" sz="1200" b="1" dirty="0">
              <a:solidFill>
                <a:srgbClr val="C00000"/>
              </a:solidFill>
              <a:latin typeface="Bradley Hand ITC" pitchFamily="66" charset="0"/>
            </a:endParaRPr>
          </a:p>
        </p:txBody>
      </p:sp>
      <p:sp>
        <p:nvSpPr>
          <p:cNvPr id="10" name="Right Brace 9"/>
          <p:cNvSpPr/>
          <p:nvPr/>
        </p:nvSpPr>
        <p:spPr>
          <a:xfrm>
            <a:off x="7315200" y="2514600"/>
            <a:ext cx="228600" cy="25908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p:cNvSpPr/>
          <p:nvPr/>
        </p:nvSpPr>
        <p:spPr>
          <a:xfrm>
            <a:off x="1600200" y="2362200"/>
            <a:ext cx="152400" cy="30480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914400" y="3657600"/>
            <a:ext cx="685800" cy="461665"/>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Creator</a:t>
            </a:r>
          </a:p>
          <a:p>
            <a:pPr algn="ctr"/>
            <a:r>
              <a:rPr lang="en-US" sz="1200" b="1" dirty="0" smtClean="0">
                <a:solidFill>
                  <a:srgbClr val="C00000"/>
                </a:solidFill>
                <a:latin typeface="Bradley Hand ITC" pitchFamily="66" charset="0"/>
              </a:rPr>
              <a:t>Classes</a:t>
            </a:r>
            <a:endParaRPr lang="en-US" sz="1200" b="1" dirty="0">
              <a:solidFill>
                <a:srgbClr val="C00000"/>
              </a:solidFill>
              <a:latin typeface="Bradley Hand ITC" pitchFamily="66" charset="0"/>
            </a:endParaRPr>
          </a:p>
        </p:txBody>
      </p:sp>
      <p:sp>
        <p:nvSpPr>
          <p:cNvPr id="13" name="TextBox 12"/>
          <p:cNvSpPr txBox="1"/>
          <p:nvPr/>
        </p:nvSpPr>
        <p:spPr>
          <a:xfrm>
            <a:off x="2971800" y="5791200"/>
            <a:ext cx="3200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Let’s break it down in the next slides…</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pic>
        <p:nvPicPr>
          <p:cNvPr id="4101" name="Picture 5"/>
          <p:cNvPicPr>
            <a:picLocks noChangeAspect="1" noChangeArrowheads="1"/>
          </p:cNvPicPr>
          <p:nvPr/>
        </p:nvPicPr>
        <p:blipFill>
          <a:blip r:embed="rId2" cstate="print"/>
          <a:srcRect/>
          <a:stretch>
            <a:fillRect/>
          </a:stretch>
        </p:blipFill>
        <p:spPr bwMode="auto">
          <a:xfrm>
            <a:off x="4584866" y="4572000"/>
            <a:ext cx="3720934" cy="1828800"/>
          </a:xfrm>
          <a:prstGeom prst="rect">
            <a:avLst/>
          </a:prstGeom>
          <a:noFill/>
          <a:ln w="9525">
            <a:noFill/>
            <a:miter lim="800000"/>
            <a:headEnd/>
            <a:tailEnd/>
          </a:ln>
        </p:spPr>
      </p:pic>
      <p:pic>
        <p:nvPicPr>
          <p:cNvPr id="4100" name="Picture 4"/>
          <p:cNvPicPr>
            <a:picLocks noChangeAspect="1" noChangeArrowheads="1"/>
          </p:cNvPicPr>
          <p:nvPr/>
        </p:nvPicPr>
        <p:blipFill>
          <a:blip r:embed="rId3" cstate="print"/>
          <a:srcRect/>
          <a:stretch>
            <a:fillRect/>
          </a:stretch>
        </p:blipFill>
        <p:spPr bwMode="auto">
          <a:xfrm>
            <a:off x="4587902" y="2514600"/>
            <a:ext cx="3641698" cy="1828800"/>
          </a:xfrm>
          <a:prstGeom prst="rect">
            <a:avLst/>
          </a:prstGeom>
          <a:noFill/>
          <a:ln w="9525">
            <a:noFill/>
            <a:miter lim="800000"/>
            <a:headEnd/>
            <a:tailEnd/>
          </a:ln>
        </p:spPr>
      </p:pic>
      <p:pic>
        <p:nvPicPr>
          <p:cNvPr id="4099" name="Picture 3"/>
          <p:cNvPicPr>
            <a:picLocks noChangeAspect="1" noChangeArrowheads="1"/>
          </p:cNvPicPr>
          <p:nvPr/>
        </p:nvPicPr>
        <p:blipFill>
          <a:blip r:embed="rId4" cstate="print"/>
          <a:srcRect/>
          <a:stretch>
            <a:fillRect/>
          </a:stretch>
        </p:blipFill>
        <p:spPr bwMode="auto">
          <a:xfrm>
            <a:off x="4571999" y="381000"/>
            <a:ext cx="3487669" cy="1828800"/>
          </a:xfrm>
          <a:prstGeom prst="rect">
            <a:avLst/>
          </a:prstGeom>
          <a:noFill/>
          <a:ln w="9525">
            <a:noFill/>
            <a:miter lim="800000"/>
            <a:headEnd/>
            <a:tailEnd/>
          </a:ln>
        </p:spPr>
      </p:pic>
      <p:pic>
        <p:nvPicPr>
          <p:cNvPr id="4104" name="Picture 8"/>
          <p:cNvPicPr>
            <a:picLocks noChangeAspect="1" noChangeArrowheads="1"/>
          </p:cNvPicPr>
          <p:nvPr/>
        </p:nvPicPr>
        <p:blipFill>
          <a:blip r:embed="rId5" cstate="print"/>
          <a:srcRect/>
          <a:stretch>
            <a:fillRect/>
          </a:stretch>
        </p:blipFill>
        <p:spPr bwMode="auto">
          <a:xfrm>
            <a:off x="1447800" y="685800"/>
            <a:ext cx="2438400" cy="1276350"/>
          </a:xfrm>
          <a:prstGeom prst="rect">
            <a:avLst/>
          </a:prstGeom>
          <a:noFill/>
          <a:ln w="9525">
            <a:noFill/>
            <a:miter lim="800000"/>
            <a:headEnd/>
            <a:tailEnd/>
          </a:ln>
          <a:effectLst/>
        </p:spPr>
      </p:pic>
      <p:pic>
        <p:nvPicPr>
          <p:cNvPr id="4105" name="Picture 9"/>
          <p:cNvPicPr>
            <a:picLocks noChangeAspect="1" noChangeArrowheads="1"/>
          </p:cNvPicPr>
          <p:nvPr/>
        </p:nvPicPr>
        <p:blipFill>
          <a:blip r:embed="rId6" cstate="print"/>
          <a:srcRect/>
          <a:stretch>
            <a:fillRect/>
          </a:stretch>
        </p:blipFill>
        <p:spPr bwMode="auto">
          <a:xfrm>
            <a:off x="1371600" y="2819400"/>
            <a:ext cx="2600325" cy="1276350"/>
          </a:xfrm>
          <a:prstGeom prst="rect">
            <a:avLst/>
          </a:prstGeom>
          <a:noFill/>
          <a:ln w="9525">
            <a:noFill/>
            <a:miter lim="800000"/>
            <a:headEnd/>
            <a:tailEnd/>
          </a:ln>
          <a:effectLst/>
        </p:spPr>
      </p:pic>
      <p:cxnSp>
        <p:nvCxnSpPr>
          <p:cNvPr id="16" name="Straight Connector 15"/>
          <p:cNvCxnSpPr/>
          <p:nvPr/>
        </p:nvCxnSpPr>
        <p:spPr>
          <a:xfrm flipH="1">
            <a:off x="228600" y="23622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228600" y="44196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4106" name="Picture 10"/>
          <p:cNvPicPr>
            <a:picLocks noChangeAspect="1" noChangeArrowheads="1"/>
          </p:cNvPicPr>
          <p:nvPr/>
        </p:nvPicPr>
        <p:blipFill>
          <a:blip r:embed="rId7" cstate="print"/>
          <a:srcRect/>
          <a:stretch>
            <a:fillRect/>
          </a:stretch>
        </p:blipFill>
        <p:spPr bwMode="auto">
          <a:xfrm>
            <a:off x="1457325" y="4800600"/>
            <a:ext cx="2352675" cy="1276350"/>
          </a:xfrm>
          <a:prstGeom prst="rect">
            <a:avLst/>
          </a:prstGeom>
          <a:noFill/>
          <a:ln w="9525">
            <a:noFill/>
            <a:miter lim="800000"/>
            <a:headEnd/>
            <a:tailEnd/>
          </a:ln>
          <a:effectLst/>
        </p:spPr>
      </p:pic>
      <p:sp>
        <p:nvSpPr>
          <p:cNvPr id="19" name="Oval 18"/>
          <p:cNvSpPr/>
          <p:nvPr/>
        </p:nvSpPr>
        <p:spPr>
          <a:xfrm>
            <a:off x="7086599" y="1638300"/>
            <a:ext cx="276225" cy="266700"/>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267575" y="3771900"/>
            <a:ext cx="276225" cy="266700"/>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7305675" y="5829300"/>
            <a:ext cx="276225" cy="266700"/>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6781800" y="762000"/>
            <a:ext cx="1676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Notice how we create interfaces in C++</a:t>
            </a:r>
            <a:endParaRPr lang="en-US" sz="1200" b="1" dirty="0">
              <a:solidFill>
                <a:srgbClr val="C00000"/>
              </a:solidFill>
              <a:latin typeface="Bradley Hand ITC" pitchFamily="66" charset="0"/>
            </a:endParaRPr>
          </a:p>
        </p:txBody>
      </p:sp>
      <p:sp>
        <p:nvSpPr>
          <p:cNvPr id="29" name="Freeform 28"/>
          <p:cNvSpPr/>
          <p:nvPr/>
        </p:nvSpPr>
        <p:spPr>
          <a:xfrm>
            <a:off x="7419975" y="1076325"/>
            <a:ext cx="1112837" cy="771525"/>
          </a:xfrm>
          <a:custGeom>
            <a:avLst/>
            <a:gdLst>
              <a:gd name="connsiteX0" fmla="*/ 876300 w 1112837"/>
              <a:gd name="connsiteY0" fmla="*/ 0 h 771525"/>
              <a:gd name="connsiteX1" fmla="*/ 1095375 w 1112837"/>
              <a:gd name="connsiteY1" fmla="*/ 285750 h 771525"/>
              <a:gd name="connsiteX2" fmla="*/ 771525 w 1112837"/>
              <a:gd name="connsiteY2" fmla="*/ 466725 h 771525"/>
              <a:gd name="connsiteX3" fmla="*/ 666750 w 1112837"/>
              <a:gd name="connsiteY3" fmla="*/ 714375 h 771525"/>
              <a:gd name="connsiteX4" fmla="*/ 0 w 1112837"/>
              <a:gd name="connsiteY4" fmla="*/ 771525 h 771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2837" h="771525">
                <a:moveTo>
                  <a:pt x="876300" y="0"/>
                </a:moveTo>
                <a:cubicBezTo>
                  <a:pt x="994568" y="103981"/>
                  <a:pt x="1112837" y="207963"/>
                  <a:pt x="1095375" y="285750"/>
                </a:cubicBezTo>
                <a:cubicBezTo>
                  <a:pt x="1077913" y="363537"/>
                  <a:pt x="842962" y="395288"/>
                  <a:pt x="771525" y="466725"/>
                </a:cubicBezTo>
                <a:cubicBezTo>
                  <a:pt x="700088" y="538162"/>
                  <a:pt x="795337" y="663575"/>
                  <a:pt x="666750" y="714375"/>
                </a:cubicBezTo>
                <a:cubicBezTo>
                  <a:pt x="538163" y="765175"/>
                  <a:pt x="269081" y="768350"/>
                  <a:pt x="0" y="771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p:cNvSpPr txBox="1"/>
          <p:nvPr/>
        </p:nvSpPr>
        <p:spPr>
          <a:xfrm>
            <a:off x="381000" y="1828800"/>
            <a:ext cx="1905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Notice the italics to denote the abstract method</a:t>
            </a:r>
            <a:endParaRPr lang="en-US" sz="1200" b="1" dirty="0">
              <a:solidFill>
                <a:srgbClr val="C00000"/>
              </a:solidFill>
              <a:latin typeface="Bradley Hand ITC" pitchFamily="66" charset="0"/>
            </a:endParaRPr>
          </a:p>
        </p:txBody>
      </p:sp>
      <p:sp>
        <p:nvSpPr>
          <p:cNvPr id="31" name="Freeform 30"/>
          <p:cNvSpPr/>
          <p:nvPr/>
        </p:nvSpPr>
        <p:spPr>
          <a:xfrm>
            <a:off x="2057400" y="1714500"/>
            <a:ext cx="361950" cy="428625"/>
          </a:xfrm>
          <a:custGeom>
            <a:avLst/>
            <a:gdLst>
              <a:gd name="connsiteX0" fmla="*/ 0 w 361950"/>
              <a:gd name="connsiteY0" fmla="*/ 428625 h 428625"/>
              <a:gd name="connsiteX1" fmla="*/ 238125 w 361950"/>
              <a:gd name="connsiteY1" fmla="*/ 361950 h 428625"/>
              <a:gd name="connsiteX2" fmla="*/ 228600 w 361950"/>
              <a:gd name="connsiteY2" fmla="*/ 190500 h 428625"/>
              <a:gd name="connsiteX3" fmla="*/ 361950 w 361950"/>
              <a:gd name="connsiteY3" fmla="*/ 0 h 428625"/>
            </a:gdLst>
            <a:ahLst/>
            <a:cxnLst>
              <a:cxn ang="0">
                <a:pos x="connsiteX0" y="connsiteY0"/>
              </a:cxn>
              <a:cxn ang="0">
                <a:pos x="connsiteX1" y="connsiteY1"/>
              </a:cxn>
              <a:cxn ang="0">
                <a:pos x="connsiteX2" y="connsiteY2"/>
              </a:cxn>
              <a:cxn ang="0">
                <a:pos x="connsiteX3" y="connsiteY3"/>
              </a:cxn>
            </a:cxnLst>
            <a:rect l="l" t="t" r="r" b="b"/>
            <a:pathLst>
              <a:path w="361950" h="428625">
                <a:moveTo>
                  <a:pt x="0" y="428625"/>
                </a:moveTo>
                <a:cubicBezTo>
                  <a:pt x="100012" y="415131"/>
                  <a:pt x="200025" y="401637"/>
                  <a:pt x="238125" y="361950"/>
                </a:cubicBezTo>
                <a:cubicBezTo>
                  <a:pt x="276225" y="322263"/>
                  <a:pt x="207963" y="250825"/>
                  <a:pt x="228600" y="190500"/>
                </a:cubicBezTo>
                <a:cubicBezTo>
                  <a:pt x="249237" y="130175"/>
                  <a:pt x="305593" y="65087"/>
                  <a:pt x="3619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Freeform 31"/>
          <p:cNvSpPr/>
          <p:nvPr/>
        </p:nvSpPr>
        <p:spPr>
          <a:xfrm>
            <a:off x="7573963" y="3190875"/>
            <a:ext cx="1112837" cy="771525"/>
          </a:xfrm>
          <a:custGeom>
            <a:avLst/>
            <a:gdLst>
              <a:gd name="connsiteX0" fmla="*/ 876300 w 1112837"/>
              <a:gd name="connsiteY0" fmla="*/ 0 h 771525"/>
              <a:gd name="connsiteX1" fmla="*/ 1095375 w 1112837"/>
              <a:gd name="connsiteY1" fmla="*/ 285750 h 771525"/>
              <a:gd name="connsiteX2" fmla="*/ 771525 w 1112837"/>
              <a:gd name="connsiteY2" fmla="*/ 466725 h 771525"/>
              <a:gd name="connsiteX3" fmla="*/ 666750 w 1112837"/>
              <a:gd name="connsiteY3" fmla="*/ 714375 h 771525"/>
              <a:gd name="connsiteX4" fmla="*/ 0 w 1112837"/>
              <a:gd name="connsiteY4" fmla="*/ 771525 h 771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2837" h="771525">
                <a:moveTo>
                  <a:pt x="876300" y="0"/>
                </a:moveTo>
                <a:cubicBezTo>
                  <a:pt x="994568" y="103981"/>
                  <a:pt x="1112837" y="207963"/>
                  <a:pt x="1095375" y="285750"/>
                </a:cubicBezTo>
                <a:cubicBezTo>
                  <a:pt x="1077913" y="363537"/>
                  <a:pt x="842962" y="395288"/>
                  <a:pt x="771525" y="466725"/>
                </a:cubicBezTo>
                <a:cubicBezTo>
                  <a:pt x="700088" y="538162"/>
                  <a:pt x="795337" y="663575"/>
                  <a:pt x="666750" y="714375"/>
                </a:cubicBezTo>
                <a:cubicBezTo>
                  <a:pt x="538163" y="765175"/>
                  <a:pt x="269081" y="768350"/>
                  <a:pt x="0" y="771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TextBox 32"/>
          <p:cNvSpPr txBox="1"/>
          <p:nvPr/>
        </p:nvSpPr>
        <p:spPr>
          <a:xfrm>
            <a:off x="5867400" y="2891135"/>
            <a:ext cx="2895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means that you cannot instantiate objects from this abstract class</a:t>
            </a:r>
            <a:endParaRPr lang="en-US" sz="1200" b="1" dirty="0">
              <a:solidFill>
                <a:srgbClr val="C00000"/>
              </a:solidFill>
              <a:latin typeface="Bradley Hand ITC" pitchFamily="66" charset="0"/>
            </a:endParaRPr>
          </a:p>
        </p:txBody>
      </p:sp>
      <p:sp>
        <p:nvSpPr>
          <p:cNvPr id="34" name="Freeform 33"/>
          <p:cNvSpPr/>
          <p:nvPr/>
        </p:nvSpPr>
        <p:spPr>
          <a:xfrm>
            <a:off x="7650163" y="5252740"/>
            <a:ext cx="1112837" cy="771525"/>
          </a:xfrm>
          <a:custGeom>
            <a:avLst/>
            <a:gdLst>
              <a:gd name="connsiteX0" fmla="*/ 876300 w 1112837"/>
              <a:gd name="connsiteY0" fmla="*/ 0 h 771525"/>
              <a:gd name="connsiteX1" fmla="*/ 1095375 w 1112837"/>
              <a:gd name="connsiteY1" fmla="*/ 285750 h 771525"/>
              <a:gd name="connsiteX2" fmla="*/ 771525 w 1112837"/>
              <a:gd name="connsiteY2" fmla="*/ 466725 h 771525"/>
              <a:gd name="connsiteX3" fmla="*/ 666750 w 1112837"/>
              <a:gd name="connsiteY3" fmla="*/ 714375 h 771525"/>
              <a:gd name="connsiteX4" fmla="*/ 0 w 1112837"/>
              <a:gd name="connsiteY4" fmla="*/ 771525 h 771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2837" h="771525">
                <a:moveTo>
                  <a:pt x="876300" y="0"/>
                </a:moveTo>
                <a:cubicBezTo>
                  <a:pt x="994568" y="103981"/>
                  <a:pt x="1112837" y="207963"/>
                  <a:pt x="1095375" y="285750"/>
                </a:cubicBezTo>
                <a:cubicBezTo>
                  <a:pt x="1077913" y="363537"/>
                  <a:pt x="842962" y="395288"/>
                  <a:pt x="771525" y="466725"/>
                </a:cubicBezTo>
                <a:cubicBezTo>
                  <a:pt x="700088" y="538162"/>
                  <a:pt x="795337" y="663575"/>
                  <a:pt x="666750" y="714375"/>
                </a:cubicBezTo>
                <a:cubicBezTo>
                  <a:pt x="538163" y="765175"/>
                  <a:pt x="269081" y="768350"/>
                  <a:pt x="0" y="771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p:cNvSpPr txBox="1"/>
          <p:nvPr/>
        </p:nvSpPr>
        <p:spPr>
          <a:xfrm>
            <a:off x="5581650" y="4800600"/>
            <a:ext cx="3276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Derived classes must provide implementation for this method before they can be instantiated!</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err="1" smtClean="0"/>
              <a:t>Cpu</a:t>
            </a:r>
            <a:r>
              <a:rPr lang="en-US" dirty="0" smtClean="0"/>
              <a:t> Product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pic>
        <p:nvPicPr>
          <p:cNvPr id="11" name="Picture 3"/>
          <p:cNvPicPr>
            <a:picLocks noChangeAspect="1" noChangeArrowheads="1"/>
          </p:cNvPicPr>
          <p:nvPr/>
        </p:nvPicPr>
        <p:blipFill>
          <a:blip r:embed="rId2" cstate="print"/>
          <a:srcRect/>
          <a:stretch>
            <a:fillRect/>
          </a:stretch>
        </p:blipFill>
        <p:spPr bwMode="auto">
          <a:xfrm>
            <a:off x="838200" y="1600200"/>
            <a:ext cx="3487669" cy="1828800"/>
          </a:xfrm>
          <a:prstGeom prst="rect">
            <a:avLst/>
          </a:prstGeom>
          <a:noFill/>
          <a:ln w="9525">
            <a:noFill/>
            <a:miter lim="800000"/>
            <a:headEnd/>
            <a:tailEnd/>
          </a:ln>
        </p:spPr>
      </p:pic>
      <p:pic>
        <p:nvPicPr>
          <p:cNvPr id="5124" name="Picture 4"/>
          <p:cNvPicPr>
            <a:picLocks noChangeAspect="1" noChangeArrowheads="1"/>
          </p:cNvPicPr>
          <p:nvPr/>
        </p:nvPicPr>
        <p:blipFill>
          <a:blip r:embed="rId3" cstate="print"/>
          <a:srcRect/>
          <a:stretch>
            <a:fillRect/>
          </a:stretch>
        </p:blipFill>
        <p:spPr bwMode="auto">
          <a:xfrm>
            <a:off x="4724400" y="4038600"/>
            <a:ext cx="3581400" cy="2143854"/>
          </a:xfrm>
          <a:prstGeom prst="rect">
            <a:avLst/>
          </a:prstGeom>
          <a:noFill/>
          <a:ln w="9525">
            <a:noFill/>
            <a:miter lim="800000"/>
            <a:headEnd/>
            <a:tailEnd/>
          </a:ln>
        </p:spPr>
      </p:pic>
      <p:pic>
        <p:nvPicPr>
          <p:cNvPr id="5123" name="Picture 3"/>
          <p:cNvPicPr>
            <a:picLocks noChangeAspect="1" noChangeArrowheads="1"/>
          </p:cNvPicPr>
          <p:nvPr/>
        </p:nvPicPr>
        <p:blipFill>
          <a:blip r:embed="rId4" cstate="print"/>
          <a:srcRect/>
          <a:stretch>
            <a:fillRect/>
          </a:stretch>
        </p:blipFill>
        <p:spPr bwMode="auto">
          <a:xfrm>
            <a:off x="838200" y="4038600"/>
            <a:ext cx="3550955" cy="2162175"/>
          </a:xfrm>
          <a:prstGeom prst="rect">
            <a:avLst/>
          </a:prstGeom>
          <a:noFill/>
          <a:ln w="9525">
            <a:noFill/>
            <a:miter lim="800000"/>
            <a:headEnd/>
            <a:tailEnd/>
          </a:ln>
        </p:spPr>
      </p:pic>
      <p:grpSp>
        <p:nvGrpSpPr>
          <p:cNvPr id="19" name="Group 18"/>
          <p:cNvGrpSpPr/>
          <p:nvPr/>
        </p:nvGrpSpPr>
        <p:grpSpPr>
          <a:xfrm>
            <a:off x="4495800" y="1371600"/>
            <a:ext cx="4076700" cy="2314575"/>
            <a:chOff x="533400" y="3581400"/>
            <a:chExt cx="4076700" cy="2314575"/>
          </a:xfrm>
        </p:grpSpPr>
        <p:pic>
          <p:nvPicPr>
            <p:cNvPr id="5127" name="Picture 7"/>
            <p:cNvPicPr>
              <a:picLocks noChangeAspect="1" noChangeArrowheads="1"/>
            </p:cNvPicPr>
            <p:nvPr/>
          </p:nvPicPr>
          <p:blipFill>
            <a:blip r:embed="rId5" cstate="print"/>
            <a:srcRect/>
            <a:stretch>
              <a:fillRect/>
            </a:stretch>
          </p:blipFill>
          <p:spPr bwMode="auto">
            <a:xfrm>
              <a:off x="533400" y="3581400"/>
              <a:ext cx="4076700" cy="2314575"/>
            </a:xfrm>
            <a:prstGeom prst="rect">
              <a:avLst/>
            </a:prstGeom>
            <a:noFill/>
            <a:ln w="9525">
              <a:noFill/>
              <a:miter lim="800000"/>
              <a:headEnd/>
              <a:tailEnd/>
            </a:ln>
            <a:effectLst/>
          </p:spPr>
        </p:pic>
        <p:sp>
          <p:nvSpPr>
            <p:cNvPr id="15" name="Rectangle 14"/>
            <p:cNvSpPr/>
            <p:nvPr/>
          </p:nvSpPr>
          <p:spPr>
            <a:xfrm>
              <a:off x="1695450" y="4857750"/>
              <a:ext cx="1905000" cy="3048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p:nvCxnSpPr>
          <p:spPr>
            <a:xfrm>
              <a:off x="1857375" y="4857750"/>
              <a:ext cx="0" cy="3048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200400" y="4876800"/>
              <a:ext cx="0" cy="3048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0" name="Freeform 19"/>
          <p:cNvSpPr/>
          <p:nvPr/>
        </p:nvSpPr>
        <p:spPr>
          <a:xfrm>
            <a:off x="2781300" y="3543300"/>
            <a:ext cx="1857375" cy="742950"/>
          </a:xfrm>
          <a:custGeom>
            <a:avLst/>
            <a:gdLst>
              <a:gd name="connsiteX0" fmla="*/ 0 w 1857375"/>
              <a:gd name="connsiteY0" fmla="*/ 742950 h 742950"/>
              <a:gd name="connsiteX1" fmla="*/ 790575 w 1857375"/>
              <a:gd name="connsiteY1" fmla="*/ 428625 h 742950"/>
              <a:gd name="connsiteX2" fmla="*/ 1219200 w 1857375"/>
              <a:gd name="connsiteY2" fmla="*/ 438150 h 742950"/>
              <a:gd name="connsiteX3" fmla="*/ 1857375 w 1857375"/>
              <a:gd name="connsiteY3" fmla="*/ 0 h 742950"/>
            </a:gdLst>
            <a:ahLst/>
            <a:cxnLst>
              <a:cxn ang="0">
                <a:pos x="connsiteX0" y="connsiteY0"/>
              </a:cxn>
              <a:cxn ang="0">
                <a:pos x="connsiteX1" y="connsiteY1"/>
              </a:cxn>
              <a:cxn ang="0">
                <a:pos x="connsiteX2" y="connsiteY2"/>
              </a:cxn>
              <a:cxn ang="0">
                <a:pos x="connsiteX3" y="connsiteY3"/>
              </a:cxn>
            </a:cxnLst>
            <a:rect l="l" t="t" r="r" b="b"/>
            <a:pathLst>
              <a:path w="1857375" h="742950">
                <a:moveTo>
                  <a:pt x="0" y="742950"/>
                </a:moveTo>
                <a:cubicBezTo>
                  <a:pt x="293687" y="611187"/>
                  <a:pt x="587375" y="479425"/>
                  <a:pt x="790575" y="428625"/>
                </a:cubicBezTo>
                <a:cubicBezTo>
                  <a:pt x="993775" y="377825"/>
                  <a:pt x="1041400" y="509587"/>
                  <a:pt x="1219200" y="438150"/>
                </a:cubicBezTo>
                <a:cubicBezTo>
                  <a:pt x="1397000" y="366713"/>
                  <a:pt x="1627187" y="183356"/>
                  <a:pt x="1857375" y="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Freeform 20"/>
          <p:cNvSpPr/>
          <p:nvPr/>
        </p:nvSpPr>
        <p:spPr>
          <a:xfrm>
            <a:off x="6600825" y="3514725"/>
            <a:ext cx="1038225" cy="857250"/>
          </a:xfrm>
          <a:custGeom>
            <a:avLst/>
            <a:gdLst>
              <a:gd name="connsiteX0" fmla="*/ 0 w 1038225"/>
              <a:gd name="connsiteY0" fmla="*/ 857250 h 857250"/>
              <a:gd name="connsiteX1" fmla="*/ 457200 w 1038225"/>
              <a:gd name="connsiteY1" fmla="*/ 695325 h 857250"/>
              <a:gd name="connsiteX2" fmla="*/ 866775 w 1038225"/>
              <a:gd name="connsiteY2" fmla="*/ 361950 h 857250"/>
              <a:gd name="connsiteX3" fmla="*/ 1038225 w 1038225"/>
              <a:gd name="connsiteY3" fmla="*/ 0 h 857250"/>
            </a:gdLst>
            <a:ahLst/>
            <a:cxnLst>
              <a:cxn ang="0">
                <a:pos x="connsiteX0" y="connsiteY0"/>
              </a:cxn>
              <a:cxn ang="0">
                <a:pos x="connsiteX1" y="connsiteY1"/>
              </a:cxn>
              <a:cxn ang="0">
                <a:pos x="connsiteX2" y="connsiteY2"/>
              </a:cxn>
              <a:cxn ang="0">
                <a:pos x="connsiteX3" y="connsiteY3"/>
              </a:cxn>
            </a:cxnLst>
            <a:rect l="l" t="t" r="r" b="b"/>
            <a:pathLst>
              <a:path w="1038225" h="857250">
                <a:moveTo>
                  <a:pt x="0" y="857250"/>
                </a:moveTo>
                <a:cubicBezTo>
                  <a:pt x="156369" y="817562"/>
                  <a:pt x="312738" y="777875"/>
                  <a:pt x="457200" y="695325"/>
                </a:cubicBezTo>
                <a:cubicBezTo>
                  <a:pt x="601663" y="612775"/>
                  <a:pt x="769938" y="477837"/>
                  <a:pt x="866775" y="361950"/>
                </a:cubicBezTo>
                <a:cubicBezTo>
                  <a:pt x="963612" y="246063"/>
                  <a:pt x="1000918" y="123031"/>
                  <a:pt x="1038225" y="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Freeform 22"/>
          <p:cNvSpPr/>
          <p:nvPr/>
        </p:nvSpPr>
        <p:spPr>
          <a:xfrm>
            <a:off x="1504950" y="1752600"/>
            <a:ext cx="3924300" cy="338138"/>
          </a:xfrm>
          <a:custGeom>
            <a:avLst/>
            <a:gdLst>
              <a:gd name="connsiteX0" fmla="*/ 0 w 3924300"/>
              <a:gd name="connsiteY0" fmla="*/ 0 h 452438"/>
              <a:gd name="connsiteX1" fmla="*/ 1609725 w 3924300"/>
              <a:gd name="connsiteY1" fmla="*/ 419100 h 452438"/>
              <a:gd name="connsiteX2" fmla="*/ 2905125 w 3924300"/>
              <a:gd name="connsiteY2" fmla="*/ 200025 h 452438"/>
              <a:gd name="connsiteX3" fmla="*/ 3924300 w 3924300"/>
              <a:gd name="connsiteY3" fmla="*/ 333375 h 452438"/>
            </a:gdLst>
            <a:ahLst/>
            <a:cxnLst>
              <a:cxn ang="0">
                <a:pos x="connsiteX0" y="connsiteY0"/>
              </a:cxn>
              <a:cxn ang="0">
                <a:pos x="connsiteX1" y="connsiteY1"/>
              </a:cxn>
              <a:cxn ang="0">
                <a:pos x="connsiteX2" y="connsiteY2"/>
              </a:cxn>
              <a:cxn ang="0">
                <a:pos x="connsiteX3" y="connsiteY3"/>
              </a:cxn>
            </a:cxnLst>
            <a:rect l="l" t="t" r="r" b="b"/>
            <a:pathLst>
              <a:path w="3924300" h="452438">
                <a:moveTo>
                  <a:pt x="0" y="0"/>
                </a:moveTo>
                <a:cubicBezTo>
                  <a:pt x="562768" y="192881"/>
                  <a:pt x="1125537" y="385762"/>
                  <a:pt x="1609725" y="419100"/>
                </a:cubicBezTo>
                <a:cubicBezTo>
                  <a:pt x="2093913" y="452438"/>
                  <a:pt x="2519363" y="214312"/>
                  <a:pt x="2905125" y="200025"/>
                </a:cubicBezTo>
                <a:cubicBezTo>
                  <a:pt x="3290887" y="185738"/>
                  <a:pt x="3607593" y="259556"/>
                  <a:pt x="3924300" y="333375"/>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Connector 23"/>
          <p:cNvCxnSpPr/>
          <p:nvPr/>
        </p:nvCxnSpPr>
        <p:spPr>
          <a:xfrm flipH="1">
            <a:off x="228600" y="38100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4495800" y="3810000"/>
            <a:ext cx="0" cy="27432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p:cNvCxnSpPr/>
          <p:nvPr/>
        </p:nvCxnSpPr>
        <p:spPr>
          <a:xfrm flipV="1">
            <a:off x="4419600" y="3657600"/>
            <a:ext cx="0" cy="28956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The Monitor Product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grpSp>
        <p:nvGrpSpPr>
          <p:cNvPr id="17" name="Group 16"/>
          <p:cNvGrpSpPr/>
          <p:nvPr/>
        </p:nvGrpSpPr>
        <p:grpSpPr>
          <a:xfrm>
            <a:off x="4419600" y="1295400"/>
            <a:ext cx="4314825" cy="2276475"/>
            <a:chOff x="4267200" y="1371600"/>
            <a:chExt cx="4314825" cy="2276475"/>
          </a:xfrm>
        </p:grpSpPr>
        <p:sp>
          <p:nvSpPr>
            <p:cNvPr id="8" name="Rectangle 7"/>
            <p:cNvSpPr/>
            <p:nvPr/>
          </p:nvSpPr>
          <p:spPr>
            <a:xfrm>
              <a:off x="5524500" y="2562225"/>
              <a:ext cx="1905000" cy="40005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7" name="Picture 3"/>
            <p:cNvPicPr>
              <a:picLocks noChangeAspect="1" noChangeArrowheads="1"/>
            </p:cNvPicPr>
            <p:nvPr/>
          </p:nvPicPr>
          <p:blipFill>
            <a:blip r:embed="rId2" cstate="print"/>
            <a:srcRect/>
            <a:stretch>
              <a:fillRect/>
            </a:stretch>
          </p:blipFill>
          <p:spPr bwMode="auto">
            <a:xfrm>
              <a:off x="4267200" y="1371600"/>
              <a:ext cx="4314825" cy="2276475"/>
            </a:xfrm>
            <a:prstGeom prst="rect">
              <a:avLst/>
            </a:prstGeom>
            <a:noFill/>
            <a:ln w="9525">
              <a:noFill/>
              <a:miter lim="800000"/>
              <a:headEnd/>
              <a:tailEnd/>
            </a:ln>
            <a:effectLst/>
          </p:spPr>
        </p:pic>
        <p:sp>
          <p:nvSpPr>
            <p:cNvPr id="10" name="Rectangle 9"/>
            <p:cNvSpPr/>
            <p:nvPr/>
          </p:nvSpPr>
          <p:spPr>
            <a:xfrm>
              <a:off x="5495925" y="2657475"/>
              <a:ext cx="1905000" cy="257175"/>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a:off x="5867400" y="2667000"/>
              <a:ext cx="0" cy="2286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6934200" y="2667000"/>
              <a:ext cx="0" cy="2286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18" name="Picture 4"/>
          <p:cNvPicPr>
            <a:picLocks noChangeAspect="1" noChangeArrowheads="1"/>
          </p:cNvPicPr>
          <p:nvPr/>
        </p:nvPicPr>
        <p:blipFill>
          <a:blip r:embed="rId3" cstate="print"/>
          <a:srcRect/>
          <a:stretch>
            <a:fillRect/>
          </a:stretch>
        </p:blipFill>
        <p:spPr bwMode="auto">
          <a:xfrm>
            <a:off x="533400" y="1524000"/>
            <a:ext cx="3641698" cy="1828800"/>
          </a:xfrm>
          <a:prstGeom prst="rect">
            <a:avLst/>
          </a:prstGeom>
          <a:noFill/>
          <a:ln w="9525">
            <a:noFill/>
            <a:miter lim="800000"/>
            <a:headEnd/>
            <a:tailEnd/>
          </a:ln>
        </p:spPr>
      </p:pic>
      <p:pic>
        <p:nvPicPr>
          <p:cNvPr id="6148" name="Picture 4"/>
          <p:cNvPicPr>
            <a:picLocks noChangeAspect="1" noChangeArrowheads="1"/>
          </p:cNvPicPr>
          <p:nvPr/>
        </p:nvPicPr>
        <p:blipFill>
          <a:blip r:embed="rId4" cstate="print"/>
          <a:srcRect/>
          <a:stretch>
            <a:fillRect/>
          </a:stretch>
        </p:blipFill>
        <p:spPr bwMode="auto">
          <a:xfrm>
            <a:off x="609600" y="3886200"/>
            <a:ext cx="3733800" cy="2095167"/>
          </a:xfrm>
          <a:prstGeom prst="rect">
            <a:avLst/>
          </a:prstGeom>
          <a:noFill/>
          <a:ln w="9525">
            <a:noFill/>
            <a:miter lim="800000"/>
            <a:headEnd/>
            <a:tailEnd/>
          </a:ln>
        </p:spPr>
      </p:pic>
      <p:pic>
        <p:nvPicPr>
          <p:cNvPr id="6149" name="Picture 5"/>
          <p:cNvPicPr>
            <a:picLocks noChangeAspect="1" noChangeArrowheads="1"/>
          </p:cNvPicPr>
          <p:nvPr/>
        </p:nvPicPr>
        <p:blipFill>
          <a:blip r:embed="rId5" cstate="print"/>
          <a:srcRect/>
          <a:stretch>
            <a:fillRect/>
          </a:stretch>
        </p:blipFill>
        <p:spPr bwMode="auto">
          <a:xfrm>
            <a:off x="4648200" y="3886200"/>
            <a:ext cx="4038600" cy="2019300"/>
          </a:xfrm>
          <a:prstGeom prst="rect">
            <a:avLst/>
          </a:prstGeom>
          <a:noFill/>
          <a:ln w="9525">
            <a:noFill/>
            <a:miter lim="800000"/>
            <a:headEnd/>
            <a:tailEnd/>
          </a:ln>
        </p:spPr>
      </p:pic>
      <p:cxnSp>
        <p:nvCxnSpPr>
          <p:cNvPr id="21" name="Straight Connector 20"/>
          <p:cNvCxnSpPr/>
          <p:nvPr/>
        </p:nvCxnSpPr>
        <p:spPr>
          <a:xfrm flipH="1">
            <a:off x="228600" y="36576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Freeform 23"/>
          <p:cNvSpPr/>
          <p:nvPr/>
        </p:nvSpPr>
        <p:spPr>
          <a:xfrm>
            <a:off x="1504950" y="1752600"/>
            <a:ext cx="3924300" cy="338138"/>
          </a:xfrm>
          <a:custGeom>
            <a:avLst/>
            <a:gdLst>
              <a:gd name="connsiteX0" fmla="*/ 0 w 3924300"/>
              <a:gd name="connsiteY0" fmla="*/ 0 h 452438"/>
              <a:gd name="connsiteX1" fmla="*/ 1609725 w 3924300"/>
              <a:gd name="connsiteY1" fmla="*/ 419100 h 452438"/>
              <a:gd name="connsiteX2" fmla="*/ 2905125 w 3924300"/>
              <a:gd name="connsiteY2" fmla="*/ 200025 h 452438"/>
              <a:gd name="connsiteX3" fmla="*/ 3924300 w 3924300"/>
              <a:gd name="connsiteY3" fmla="*/ 333375 h 452438"/>
            </a:gdLst>
            <a:ahLst/>
            <a:cxnLst>
              <a:cxn ang="0">
                <a:pos x="connsiteX0" y="connsiteY0"/>
              </a:cxn>
              <a:cxn ang="0">
                <a:pos x="connsiteX1" y="connsiteY1"/>
              </a:cxn>
              <a:cxn ang="0">
                <a:pos x="connsiteX2" y="connsiteY2"/>
              </a:cxn>
              <a:cxn ang="0">
                <a:pos x="connsiteX3" y="connsiteY3"/>
              </a:cxn>
            </a:cxnLst>
            <a:rect l="l" t="t" r="r" b="b"/>
            <a:pathLst>
              <a:path w="3924300" h="452438">
                <a:moveTo>
                  <a:pt x="0" y="0"/>
                </a:moveTo>
                <a:cubicBezTo>
                  <a:pt x="562768" y="192881"/>
                  <a:pt x="1125537" y="385762"/>
                  <a:pt x="1609725" y="419100"/>
                </a:cubicBezTo>
                <a:cubicBezTo>
                  <a:pt x="2093913" y="452438"/>
                  <a:pt x="2519363" y="214312"/>
                  <a:pt x="2905125" y="200025"/>
                </a:cubicBezTo>
                <a:cubicBezTo>
                  <a:pt x="3290887" y="185738"/>
                  <a:pt x="3607593" y="259556"/>
                  <a:pt x="3924300" y="333375"/>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Freeform 24"/>
          <p:cNvSpPr/>
          <p:nvPr/>
        </p:nvSpPr>
        <p:spPr>
          <a:xfrm>
            <a:off x="2667000" y="3352800"/>
            <a:ext cx="1857375" cy="742950"/>
          </a:xfrm>
          <a:custGeom>
            <a:avLst/>
            <a:gdLst>
              <a:gd name="connsiteX0" fmla="*/ 0 w 1857375"/>
              <a:gd name="connsiteY0" fmla="*/ 742950 h 742950"/>
              <a:gd name="connsiteX1" fmla="*/ 790575 w 1857375"/>
              <a:gd name="connsiteY1" fmla="*/ 428625 h 742950"/>
              <a:gd name="connsiteX2" fmla="*/ 1219200 w 1857375"/>
              <a:gd name="connsiteY2" fmla="*/ 438150 h 742950"/>
              <a:gd name="connsiteX3" fmla="*/ 1857375 w 1857375"/>
              <a:gd name="connsiteY3" fmla="*/ 0 h 742950"/>
            </a:gdLst>
            <a:ahLst/>
            <a:cxnLst>
              <a:cxn ang="0">
                <a:pos x="connsiteX0" y="connsiteY0"/>
              </a:cxn>
              <a:cxn ang="0">
                <a:pos x="connsiteX1" y="connsiteY1"/>
              </a:cxn>
              <a:cxn ang="0">
                <a:pos x="connsiteX2" y="connsiteY2"/>
              </a:cxn>
              <a:cxn ang="0">
                <a:pos x="connsiteX3" y="connsiteY3"/>
              </a:cxn>
            </a:cxnLst>
            <a:rect l="l" t="t" r="r" b="b"/>
            <a:pathLst>
              <a:path w="1857375" h="742950">
                <a:moveTo>
                  <a:pt x="0" y="742950"/>
                </a:moveTo>
                <a:cubicBezTo>
                  <a:pt x="293687" y="611187"/>
                  <a:pt x="587375" y="479425"/>
                  <a:pt x="790575" y="428625"/>
                </a:cubicBezTo>
                <a:cubicBezTo>
                  <a:pt x="993775" y="377825"/>
                  <a:pt x="1041400" y="509587"/>
                  <a:pt x="1219200" y="438150"/>
                </a:cubicBezTo>
                <a:cubicBezTo>
                  <a:pt x="1397000" y="366713"/>
                  <a:pt x="1627187" y="183356"/>
                  <a:pt x="1857375" y="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Freeform 25"/>
          <p:cNvSpPr/>
          <p:nvPr/>
        </p:nvSpPr>
        <p:spPr>
          <a:xfrm>
            <a:off x="6096000" y="3428999"/>
            <a:ext cx="1038225" cy="609601"/>
          </a:xfrm>
          <a:custGeom>
            <a:avLst/>
            <a:gdLst>
              <a:gd name="connsiteX0" fmla="*/ 0 w 1038225"/>
              <a:gd name="connsiteY0" fmla="*/ 857250 h 857250"/>
              <a:gd name="connsiteX1" fmla="*/ 457200 w 1038225"/>
              <a:gd name="connsiteY1" fmla="*/ 695325 h 857250"/>
              <a:gd name="connsiteX2" fmla="*/ 866775 w 1038225"/>
              <a:gd name="connsiteY2" fmla="*/ 361950 h 857250"/>
              <a:gd name="connsiteX3" fmla="*/ 1038225 w 1038225"/>
              <a:gd name="connsiteY3" fmla="*/ 0 h 857250"/>
            </a:gdLst>
            <a:ahLst/>
            <a:cxnLst>
              <a:cxn ang="0">
                <a:pos x="connsiteX0" y="connsiteY0"/>
              </a:cxn>
              <a:cxn ang="0">
                <a:pos x="connsiteX1" y="connsiteY1"/>
              </a:cxn>
              <a:cxn ang="0">
                <a:pos x="connsiteX2" y="connsiteY2"/>
              </a:cxn>
              <a:cxn ang="0">
                <a:pos x="connsiteX3" y="connsiteY3"/>
              </a:cxn>
            </a:cxnLst>
            <a:rect l="l" t="t" r="r" b="b"/>
            <a:pathLst>
              <a:path w="1038225" h="857250">
                <a:moveTo>
                  <a:pt x="0" y="857250"/>
                </a:moveTo>
                <a:cubicBezTo>
                  <a:pt x="156369" y="817562"/>
                  <a:pt x="312738" y="777875"/>
                  <a:pt x="457200" y="695325"/>
                </a:cubicBezTo>
                <a:cubicBezTo>
                  <a:pt x="601663" y="612775"/>
                  <a:pt x="769938" y="477837"/>
                  <a:pt x="866775" y="361950"/>
                </a:cubicBezTo>
                <a:cubicBezTo>
                  <a:pt x="963612" y="246063"/>
                  <a:pt x="1000918" y="123031"/>
                  <a:pt x="1038225" y="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Keyboard Product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grpSp>
        <p:nvGrpSpPr>
          <p:cNvPr id="17" name="Group 16"/>
          <p:cNvGrpSpPr/>
          <p:nvPr/>
        </p:nvGrpSpPr>
        <p:grpSpPr>
          <a:xfrm>
            <a:off x="4343400" y="1295400"/>
            <a:ext cx="4486275" cy="2200275"/>
            <a:chOff x="4343400" y="1219200"/>
            <a:chExt cx="4486275" cy="2200275"/>
          </a:xfrm>
        </p:grpSpPr>
        <p:pic>
          <p:nvPicPr>
            <p:cNvPr id="7170" name="Picture 2"/>
            <p:cNvPicPr>
              <a:picLocks noChangeAspect="1" noChangeArrowheads="1"/>
            </p:cNvPicPr>
            <p:nvPr/>
          </p:nvPicPr>
          <p:blipFill>
            <a:blip r:embed="rId2" cstate="print"/>
            <a:srcRect/>
            <a:stretch>
              <a:fillRect/>
            </a:stretch>
          </p:blipFill>
          <p:spPr bwMode="auto">
            <a:xfrm>
              <a:off x="4343400" y="1219200"/>
              <a:ext cx="4486275" cy="2200275"/>
            </a:xfrm>
            <a:prstGeom prst="rect">
              <a:avLst/>
            </a:prstGeom>
            <a:noFill/>
            <a:ln w="9525">
              <a:noFill/>
              <a:miter lim="800000"/>
              <a:headEnd/>
              <a:tailEnd/>
            </a:ln>
            <a:effectLst/>
          </p:spPr>
        </p:pic>
        <p:sp>
          <p:nvSpPr>
            <p:cNvPr id="8" name="Rectangle 7"/>
            <p:cNvSpPr/>
            <p:nvPr/>
          </p:nvSpPr>
          <p:spPr>
            <a:xfrm>
              <a:off x="5715000" y="2514600"/>
              <a:ext cx="16002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5829300" y="2495550"/>
              <a:ext cx="0" cy="2286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791200" y="2705100"/>
              <a:ext cx="95250" cy="47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a:off x="7162800" y="2486025"/>
              <a:ext cx="0" cy="2286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7124700" y="2705100"/>
              <a:ext cx="95250" cy="47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8" name="Straight Connector 17"/>
          <p:cNvCxnSpPr/>
          <p:nvPr/>
        </p:nvCxnSpPr>
        <p:spPr>
          <a:xfrm flipV="1">
            <a:off x="4419600" y="3657600"/>
            <a:ext cx="0" cy="28956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228600" y="36576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20" name="Picture 5"/>
          <p:cNvPicPr>
            <a:picLocks noChangeAspect="1" noChangeArrowheads="1"/>
          </p:cNvPicPr>
          <p:nvPr/>
        </p:nvPicPr>
        <p:blipFill>
          <a:blip r:embed="rId3" cstate="print"/>
          <a:srcRect/>
          <a:stretch>
            <a:fillRect/>
          </a:stretch>
        </p:blipFill>
        <p:spPr bwMode="auto">
          <a:xfrm>
            <a:off x="533400" y="1447800"/>
            <a:ext cx="3720934" cy="1828800"/>
          </a:xfrm>
          <a:prstGeom prst="rect">
            <a:avLst/>
          </a:prstGeom>
          <a:noFill/>
          <a:ln w="9525">
            <a:noFill/>
            <a:miter lim="800000"/>
            <a:headEnd/>
            <a:tailEnd/>
          </a:ln>
        </p:spPr>
      </p:pic>
      <p:pic>
        <p:nvPicPr>
          <p:cNvPr id="7171" name="Picture 3"/>
          <p:cNvPicPr>
            <a:picLocks noChangeAspect="1" noChangeArrowheads="1"/>
          </p:cNvPicPr>
          <p:nvPr/>
        </p:nvPicPr>
        <p:blipFill>
          <a:blip r:embed="rId4" cstate="print"/>
          <a:srcRect/>
          <a:stretch>
            <a:fillRect/>
          </a:stretch>
        </p:blipFill>
        <p:spPr bwMode="auto">
          <a:xfrm>
            <a:off x="533400" y="3962400"/>
            <a:ext cx="3686175" cy="2015632"/>
          </a:xfrm>
          <a:prstGeom prst="rect">
            <a:avLst/>
          </a:prstGeom>
          <a:noFill/>
          <a:ln w="9525">
            <a:noFill/>
            <a:miter lim="800000"/>
            <a:headEnd/>
            <a:tailEnd/>
          </a:ln>
        </p:spPr>
      </p:pic>
      <p:pic>
        <p:nvPicPr>
          <p:cNvPr id="7172" name="Picture 4"/>
          <p:cNvPicPr>
            <a:picLocks noChangeAspect="1" noChangeArrowheads="1"/>
          </p:cNvPicPr>
          <p:nvPr/>
        </p:nvPicPr>
        <p:blipFill>
          <a:blip r:embed="rId5" cstate="print"/>
          <a:srcRect/>
          <a:stretch>
            <a:fillRect/>
          </a:stretch>
        </p:blipFill>
        <p:spPr bwMode="auto">
          <a:xfrm>
            <a:off x="4724400" y="3962400"/>
            <a:ext cx="3810000" cy="2075962"/>
          </a:xfrm>
          <a:prstGeom prst="rect">
            <a:avLst/>
          </a:prstGeom>
          <a:noFill/>
          <a:ln w="9525">
            <a:noFill/>
            <a:miter lim="800000"/>
            <a:headEnd/>
            <a:tailEnd/>
          </a:ln>
        </p:spPr>
      </p:pic>
      <p:sp>
        <p:nvSpPr>
          <p:cNvPr id="23" name="Freeform 22"/>
          <p:cNvSpPr/>
          <p:nvPr/>
        </p:nvSpPr>
        <p:spPr>
          <a:xfrm>
            <a:off x="1504950" y="1752600"/>
            <a:ext cx="3924300" cy="609600"/>
          </a:xfrm>
          <a:custGeom>
            <a:avLst/>
            <a:gdLst>
              <a:gd name="connsiteX0" fmla="*/ 0 w 3924300"/>
              <a:gd name="connsiteY0" fmla="*/ 0 h 452438"/>
              <a:gd name="connsiteX1" fmla="*/ 1609725 w 3924300"/>
              <a:gd name="connsiteY1" fmla="*/ 419100 h 452438"/>
              <a:gd name="connsiteX2" fmla="*/ 2905125 w 3924300"/>
              <a:gd name="connsiteY2" fmla="*/ 200025 h 452438"/>
              <a:gd name="connsiteX3" fmla="*/ 3924300 w 3924300"/>
              <a:gd name="connsiteY3" fmla="*/ 333375 h 452438"/>
            </a:gdLst>
            <a:ahLst/>
            <a:cxnLst>
              <a:cxn ang="0">
                <a:pos x="connsiteX0" y="connsiteY0"/>
              </a:cxn>
              <a:cxn ang="0">
                <a:pos x="connsiteX1" y="connsiteY1"/>
              </a:cxn>
              <a:cxn ang="0">
                <a:pos x="connsiteX2" y="connsiteY2"/>
              </a:cxn>
              <a:cxn ang="0">
                <a:pos x="connsiteX3" y="connsiteY3"/>
              </a:cxn>
            </a:cxnLst>
            <a:rect l="l" t="t" r="r" b="b"/>
            <a:pathLst>
              <a:path w="3924300" h="452438">
                <a:moveTo>
                  <a:pt x="0" y="0"/>
                </a:moveTo>
                <a:cubicBezTo>
                  <a:pt x="562768" y="192881"/>
                  <a:pt x="1125537" y="385762"/>
                  <a:pt x="1609725" y="419100"/>
                </a:cubicBezTo>
                <a:cubicBezTo>
                  <a:pt x="2093913" y="452438"/>
                  <a:pt x="2519363" y="214312"/>
                  <a:pt x="2905125" y="200025"/>
                </a:cubicBezTo>
                <a:cubicBezTo>
                  <a:pt x="3290887" y="185738"/>
                  <a:pt x="3607593" y="259556"/>
                  <a:pt x="3924300" y="333375"/>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a:off x="2667000" y="3352800"/>
            <a:ext cx="1857375" cy="742950"/>
          </a:xfrm>
          <a:custGeom>
            <a:avLst/>
            <a:gdLst>
              <a:gd name="connsiteX0" fmla="*/ 0 w 1857375"/>
              <a:gd name="connsiteY0" fmla="*/ 742950 h 742950"/>
              <a:gd name="connsiteX1" fmla="*/ 790575 w 1857375"/>
              <a:gd name="connsiteY1" fmla="*/ 428625 h 742950"/>
              <a:gd name="connsiteX2" fmla="*/ 1219200 w 1857375"/>
              <a:gd name="connsiteY2" fmla="*/ 438150 h 742950"/>
              <a:gd name="connsiteX3" fmla="*/ 1857375 w 1857375"/>
              <a:gd name="connsiteY3" fmla="*/ 0 h 742950"/>
            </a:gdLst>
            <a:ahLst/>
            <a:cxnLst>
              <a:cxn ang="0">
                <a:pos x="connsiteX0" y="connsiteY0"/>
              </a:cxn>
              <a:cxn ang="0">
                <a:pos x="connsiteX1" y="connsiteY1"/>
              </a:cxn>
              <a:cxn ang="0">
                <a:pos x="connsiteX2" y="connsiteY2"/>
              </a:cxn>
              <a:cxn ang="0">
                <a:pos x="connsiteX3" y="connsiteY3"/>
              </a:cxn>
            </a:cxnLst>
            <a:rect l="l" t="t" r="r" b="b"/>
            <a:pathLst>
              <a:path w="1857375" h="742950">
                <a:moveTo>
                  <a:pt x="0" y="742950"/>
                </a:moveTo>
                <a:cubicBezTo>
                  <a:pt x="293687" y="611187"/>
                  <a:pt x="587375" y="479425"/>
                  <a:pt x="790575" y="428625"/>
                </a:cubicBezTo>
                <a:cubicBezTo>
                  <a:pt x="993775" y="377825"/>
                  <a:pt x="1041400" y="509587"/>
                  <a:pt x="1219200" y="438150"/>
                </a:cubicBezTo>
                <a:cubicBezTo>
                  <a:pt x="1397000" y="366713"/>
                  <a:pt x="1627187" y="183356"/>
                  <a:pt x="1857375" y="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Freeform 24"/>
          <p:cNvSpPr/>
          <p:nvPr/>
        </p:nvSpPr>
        <p:spPr>
          <a:xfrm>
            <a:off x="6096000" y="3428999"/>
            <a:ext cx="1038225" cy="609601"/>
          </a:xfrm>
          <a:custGeom>
            <a:avLst/>
            <a:gdLst>
              <a:gd name="connsiteX0" fmla="*/ 0 w 1038225"/>
              <a:gd name="connsiteY0" fmla="*/ 857250 h 857250"/>
              <a:gd name="connsiteX1" fmla="*/ 457200 w 1038225"/>
              <a:gd name="connsiteY1" fmla="*/ 695325 h 857250"/>
              <a:gd name="connsiteX2" fmla="*/ 866775 w 1038225"/>
              <a:gd name="connsiteY2" fmla="*/ 361950 h 857250"/>
              <a:gd name="connsiteX3" fmla="*/ 1038225 w 1038225"/>
              <a:gd name="connsiteY3" fmla="*/ 0 h 857250"/>
            </a:gdLst>
            <a:ahLst/>
            <a:cxnLst>
              <a:cxn ang="0">
                <a:pos x="connsiteX0" y="connsiteY0"/>
              </a:cxn>
              <a:cxn ang="0">
                <a:pos x="connsiteX1" y="connsiteY1"/>
              </a:cxn>
              <a:cxn ang="0">
                <a:pos x="connsiteX2" y="connsiteY2"/>
              </a:cxn>
              <a:cxn ang="0">
                <a:pos x="connsiteX3" y="connsiteY3"/>
              </a:cxn>
            </a:cxnLst>
            <a:rect l="l" t="t" r="r" b="b"/>
            <a:pathLst>
              <a:path w="1038225" h="857250">
                <a:moveTo>
                  <a:pt x="0" y="857250"/>
                </a:moveTo>
                <a:cubicBezTo>
                  <a:pt x="156369" y="817562"/>
                  <a:pt x="312738" y="777875"/>
                  <a:pt x="457200" y="695325"/>
                </a:cubicBezTo>
                <a:cubicBezTo>
                  <a:pt x="601663" y="612775"/>
                  <a:pt x="769938" y="477837"/>
                  <a:pt x="866775" y="361950"/>
                </a:cubicBezTo>
                <a:cubicBezTo>
                  <a:pt x="963612" y="246063"/>
                  <a:pt x="1000918" y="123031"/>
                  <a:pt x="1038225" y="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p:cNvSpPr txBox="1"/>
          <p:nvPr/>
        </p:nvSpPr>
        <p:spPr>
          <a:xfrm>
            <a:off x="2209800" y="1295400"/>
            <a:ext cx="2895600" cy="43088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pPr algn="ctr"/>
            <a:r>
              <a:rPr lang="en-US" sz="1100" b="1" dirty="0" smtClean="0">
                <a:solidFill>
                  <a:srgbClr val="C00000"/>
                </a:solidFill>
                <a:latin typeface="Bradley Hand ITC" pitchFamily="66" charset="0"/>
              </a:rPr>
              <a:t>Hopefully by this point you can start seeing the pattern for designing products!</a:t>
            </a:r>
            <a:endParaRPr lang="en-US" sz="11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8229600" cy="792162"/>
          </a:xfrm>
        </p:spPr>
        <p:txBody>
          <a:bodyPr/>
          <a:lstStyle/>
          <a:p>
            <a:r>
              <a:rPr lang="en-US" dirty="0" smtClean="0"/>
              <a:t>The </a:t>
            </a:r>
            <a:r>
              <a:rPr lang="en-US" dirty="0" err="1" smtClean="0"/>
              <a:t>Cpu</a:t>
            </a:r>
            <a:r>
              <a:rPr lang="en-US" dirty="0" smtClean="0"/>
              <a:t> Product Implementation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9" name="Picture 3"/>
          <p:cNvPicPr>
            <a:picLocks noChangeAspect="1" noChangeArrowheads="1"/>
          </p:cNvPicPr>
          <p:nvPr/>
        </p:nvPicPr>
        <p:blipFill>
          <a:blip r:embed="rId2" cstate="print"/>
          <a:srcRect/>
          <a:stretch>
            <a:fillRect/>
          </a:stretch>
        </p:blipFill>
        <p:spPr bwMode="auto">
          <a:xfrm>
            <a:off x="914400" y="3733800"/>
            <a:ext cx="4607243" cy="2667000"/>
          </a:xfrm>
          <a:prstGeom prst="rect">
            <a:avLst/>
          </a:prstGeom>
          <a:noFill/>
          <a:ln w="9525">
            <a:noFill/>
            <a:miter lim="800000"/>
            <a:headEnd/>
            <a:tailEnd/>
          </a:ln>
        </p:spPr>
      </p:pic>
      <p:pic>
        <p:nvPicPr>
          <p:cNvPr id="8196" name="Picture 4"/>
          <p:cNvPicPr>
            <a:picLocks noChangeAspect="1" noChangeArrowheads="1"/>
          </p:cNvPicPr>
          <p:nvPr/>
        </p:nvPicPr>
        <p:blipFill>
          <a:blip r:embed="rId3" cstate="print"/>
          <a:srcRect/>
          <a:stretch>
            <a:fillRect/>
          </a:stretch>
        </p:blipFill>
        <p:spPr bwMode="auto">
          <a:xfrm>
            <a:off x="928999" y="838200"/>
            <a:ext cx="4743306" cy="2724150"/>
          </a:xfrm>
          <a:prstGeom prst="rect">
            <a:avLst/>
          </a:prstGeom>
          <a:noFill/>
          <a:ln w="9525">
            <a:noFill/>
            <a:miter lim="800000"/>
            <a:headEnd/>
            <a:tailEnd/>
          </a:ln>
        </p:spPr>
      </p:pic>
      <p:cxnSp>
        <p:nvCxnSpPr>
          <p:cNvPr id="11" name="Straight Connector 10"/>
          <p:cNvCxnSpPr/>
          <p:nvPr/>
        </p:nvCxnSpPr>
        <p:spPr>
          <a:xfrm flipH="1">
            <a:off x="228600" y="36576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a:off x="7391400" y="1374648"/>
            <a:ext cx="989373" cy="758952"/>
            <a:chOff x="7200900" y="1219200"/>
            <a:chExt cx="989373" cy="758952"/>
          </a:xfrm>
        </p:grpSpPr>
        <p:sp>
          <p:nvSpPr>
            <p:cNvPr id="13" name="Can 12"/>
            <p:cNvSpPr/>
            <p:nvPr/>
          </p:nvSpPr>
          <p:spPr>
            <a:xfrm>
              <a:off x="7239000" y="1219200"/>
              <a:ext cx="914400" cy="758952"/>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7200900" y="1476375"/>
              <a:ext cx="989373" cy="338554"/>
            </a:xfrm>
            <a:prstGeom prst="rect">
              <a:avLst/>
            </a:prstGeom>
            <a:noFill/>
          </p:spPr>
          <p:txBody>
            <a:bodyPr wrap="none" rtlCol="0">
              <a:spAutoFit/>
            </a:bodyPr>
            <a:lstStyle/>
            <a:p>
              <a:pPr algn="ctr"/>
              <a:r>
                <a:rPr lang="en-US" sz="800" dirty="0" smtClean="0"/>
                <a:t>Database for </a:t>
              </a:r>
            </a:p>
            <a:p>
              <a:pPr algn="ctr"/>
              <a:r>
                <a:rPr lang="en-US" sz="800" u="sng" dirty="0" smtClean="0"/>
                <a:t>Advanced</a:t>
              </a:r>
              <a:r>
                <a:rPr lang="en-US" sz="800" dirty="0" smtClean="0"/>
                <a:t> Products</a:t>
              </a:r>
              <a:endParaRPr lang="en-US" sz="800" dirty="0"/>
            </a:p>
          </p:txBody>
        </p:sp>
      </p:grpSp>
      <p:grpSp>
        <p:nvGrpSpPr>
          <p:cNvPr id="16" name="Group 15"/>
          <p:cNvGrpSpPr/>
          <p:nvPr/>
        </p:nvGrpSpPr>
        <p:grpSpPr>
          <a:xfrm>
            <a:off x="7391400" y="4346448"/>
            <a:ext cx="954107" cy="758952"/>
            <a:chOff x="6924675" y="5638800"/>
            <a:chExt cx="954107" cy="758952"/>
          </a:xfrm>
        </p:grpSpPr>
        <p:sp>
          <p:nvSpPr>
            <p:cNvPr id="12" name="Can 11"/>
            <p:cNvSpPr/>
            <p:nvPr/>
          </p:nvSpPr>
          <p:spPr>
            <a:xfrm>
              <a:off x="6934200" y="5638800"/>
              <a:ext cx="914400" cy="758952"/>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6924675" y="5915025"/>
              <a:ext cx="954107" cy="338554"/>
            </a:xfrm>
            <a:prstGeom prst="rect">
              <a:avLst/>
            </a:prstGeom>
            <a:noFill/>
          </p:spPr>
          <p:txBody>
            <a:bodyPr wrap="none" rtlCol="0">
              <a:spAutoFit/>
            </a:bodyPr>
            <a:lstStyle/>
            <a:p>
              <a:pPr algn="ctr"/>
              <a:r>
                <a:rPr lang="en-US" sz="800" dirty="0" smtClean="0"/>
                <a:t>Database for </a:t>
              </a:r>
            </a:p>
            <a:p>
              <a:pPr algn="ctr"/>
              <a:r>
                <a:rPr lang="en-US" sz="800" u="sng" dirty="0" smtClean="0"/>
                <a:t>Standard</a:t>
              </a:r>
              <a:r>
                <a:rPr lang="en-US" sz="800" dirty="0" smtClean="0"/>
                <a:t> Products</a:t>
              </a:r>
              <a:endParaRPr lang="en-US" sz="800" dirty="0"/>
            </a:p>
          </p:txBody>
        </p:sp>
      </p:grpSp>
      <p:sp>
        <p:nvSpPr>
          <p:cNvPr id="18" name="Folded Corner 17"/>
          <p:cNvSpPr/>
          <p:nvPr/>
        </p:nvSpPr>
        <p:spPr>
          <a:xfrm>
            <a:off x="7467600" y="2314575"/>
            <a:ext cx="762000" cy="609600"/>
          </a:xfrm>
          <a:prstGeom prst="foldedCorner">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7467600" y="2333625"/>
            <a:ext cx="793807" cy="584775"/>
          </a:xfrm>
          <a:prstGeom prst="rect">
            <a:avLst/>
          </a:prstGeom>
          <a:noFill/>
        </p:spPr>
        <p:txBody>
          <a:bodyPr wrap="none" rtlCol="0">
            <a:spAutoFit/>
          </a:bodyPr>
          <a:lstStyle/>
          <a:p>
            <a:pPr algn="ctr"/>
            <a:r>
              <a:rPr lang="en-US" sz="800" dirty="0" smtClean="0"/>
              <a:t>File with </a:t>
            </a:r>
          </a:p>
          <a:p>
            <a:pPr algn="ctr"/>
            <a:r>
              <a:rPr lang="en-US" sz="800" dirty="0" smtClean="0"/>
              <a:t>Information of</a:t>
            </a:r>
          </a:p>
          <a:p>
            <a:pPr algn="ctr"/>
            <a:r>
              <a:rPr lang="en-US" sz="800" dirty="0" smtClean="0"/>
              <a:t>Advanced </a:t>
            </a:r>
          </a:p>
          <a:p>
            <a:pPr algn="ctr"/>
            <a:r>
              <a:rPr lang="en-US" sz="800" dirty="0" smtClean="0"/>
              <a:t>Products</a:t>
            </a:r>
            <a:endParaRPr lang="en-US" sz="800" dirty="0"/>
          </a:p>
        </p:txBody>
      </p:sp>
      <p:grpSp>
        <p:nvGrpSpPr>
          <p:cNvPr id="22" name="Group 21"/>
          <p:cNvGrpSpPr/>
          <p:nvPr/>
        </p:nvGrpSpPr>
        <p:grpSpPr>
          <a:xfrm>
            <a:off x="7467600" y="5334000"/>
            <a:ext cx="793807" cy="609600"/>
            <a:chOff x="7435793" y="4114800"/>
            <a:chExt cx="793807" cy="609600"/>
          </a:xfrm>
        </p:grpSpPr>
        <p:sp>
          <p:nvSpPr>
            <p:cNvPr id="20" name="Folded Corner 19"/>
            <p:cNvSpPr/>
            <p:nvPr/>
          </p:nvSpPr>
          <p:spPr>
            <a:xfrm>
              <a:off x="7435793" y="4114800"/>
              <a:ext cx="762000" cy="609600"/>
            </a:xfrm>
            <a:prstGeom prst="foldedCorner">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7435793" y="4133850"/>
              <a:ext cx="793807" cy="584775"/>
            </a:xfrm>
            <a:prstGeom prst="rect">
              <a:avLst/>
            </a:prstGeom>
            <a:noFill/>
          </p:spPr>
          <p:txBody>
            <a:bodyPr wrap="none" rtlCol="0">
              <a:spAutoFit/>
            </a:bodyPr>
            <a:lstStyle/>
            <a:p>
              <a:pPr algn="ctr"/>
              <a:r>
                <a:rPr lang="en-US" sz="800" dirty="0" smtClean="0"/>
                <a:t>File with </a:t>
              </a:r>
            </a:p>
            <a:p>
              <a:pPr algn="ctr"/>
              <a:r>
                <a:rPr lang="en-US" sz="800" dirty="0" smtClean="0"/>
                <a:t>Information of</a:t>
              </a:r>
            </a:p>
            <a:p>
              <a:pPr algn="ctr"/>
              <a:r>
                <a:rPr lang="en-US" sz="800" dirty="0" smtClean="0"/>
                <a:t>Standard</a:t>
              </a:r>
            </a:p>
            <a:p>
              <a:pPr algn="ctr"/>
              <a:r>
                <a:rPr lang="en-US" sz="800" dirty="0" smtClean="0"/>
                <a:t>Products</a:t>
              </a:r>
              <a:endParaRPr lang="en-US" sz="800" dirty="0"/>
            </a:p>
          </p:txBody>
        </p:sp>
      </p:grpSp>
      <p:sp>
        <p:nvSpPr>
          <p:cNvPr id="23" name="Freeform 22"/>
          <p:cNvSpPr/>
          <p:nvPr/>
        </p:nvSpPr>
        <p:spPr>
          <a:xfrm>
            <a:off x="5019675" y="5105399"/>
            <a:ext cx="2266950" cy="904875"/>
          </a:xfrm>
          <a:custGeom>
            <a:avLst/>
            <a:gdLst>
              <a:gd name="connsiteX0" fmla="*/ 0 w 2266950"/>
              <a:gd name="connsiteY0" fmla="*/ 1162050 h 1162050"/>
              <a:gd name="connsiteX1" fmla="*/ 1200150 w 2266950"/>
              <a:gd name="connsiteY1" fmla="*/ 857250 h 1162050"/>
              <a:gd name="connsiteX2" fmla="*/ 1543050 w 2266950"/>
              <a:gd name="connsiteY2" fmla="*/ 247650 h 1162050"/>
              <a:gd name="connsiteX3" fmla="*/ 2266950 w 2266950"/>
              <a:gd name="connsiteY3" fmla="*/ 0 h 1162050"/>
            </a:gdLst>
            <a:ahLst/>
            <a:cxnLst>
              <a:cxn ang="0">
                <a:pos x="connsiteX0" y="connsiteY0"/>
              </a:cxn>
              <a:cxn ang="0">
                <a:pos x="connsiteX1" y="connsiteY1"/>
              </a:cxn>
              <a:cxn ang="0">
                <a:pos x="connsiteX2" y="connsiteY2"/>
              </a:cxn>
              <a:cxn ang="0">
                <a:pos x="connsiteX3" y="connsiteY3"/>
              </a:cxn>
            </a:cxnLst>
            <a:rect l="l" t="t" r="r" b="b"/>
            <a:pathLst>
              <a:path w="2266950" h="1162050">
                <a:moveTo>
                  <a:pt x="0" y="1162050"/>
                </a:moveTo>
                <a:cubicBezTo>
                  <a:pt x="471487" y="1085850"/>
                  <a:pt x="942975" y="1009650"/>
                  <a:pt x="1200150" y="857250"/>
                </a:cubicBezTo>
                <a:cubicBezTo>
                  <a:pt x="1457325" y="704850"/>
                  <a:pt x="1365250" y="390525"/>
                  <a:pt x="1543050" y="247650"/>
                </a:cubicBezTo>
                <a:cubicBezTo>
                  <a:pt x="1720850" y="104775"/>
                  <a:pt x="1993900" y="52387"/>
                  <a:pt x="22669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a:off x="5029200" y="2286000"/>
            <a:ext cx="2266950" cy="762000"/>
          </a:xfrm>
          <a:custGeom>
            <a:avLst/>
            <a:gdLst>
              <a:gd name="connsiteX0" fmla="*/ 0 w 2266950"/>
              <a:gd name="connsiteY0" fmla="*/ 1162050 h 1162050"/>
              <a:gd name="connsiteX1" fmla="*/ 1200150 w 2266950"/>
              <a:gd name="connsiteY1" fmla="*/ 857250 h 1162050"/>
              <a:gd name="connsiteX2" fmla="*/ 1543050 w 2266950"/>
              <a:gd name="connsiteY2" fmla="*/ 247650 h 1162050"/>
              <a:gd name="connsiteX3" fmla="*/ 2266950 w 2266950"/>
              <a:gd name="connsiteY3" fmla="*/ 0 h 1162050"/>
            </a:gdLst>
            <a:ahLst/>
            <a:cxnLst>
              <a:cxn ang="0">
                <a:pos x="connsiteX0" y="connsiteY0"/>
              </a:cxn>
              <a:cxn ang="0">
                <a:pos x="connsiteX1" y="connsiteY1"/>
              </a:cxn>
              <a:cxn ang="0">
                <a:pos x="connsiteX2" y="connsiteY2"/>
              </a:cxn>
              <a:cxn ang="0">
                <a:pos x="connsiteX3" y="connsiteY3"/>
              </a:cxn>
            </a:cxnLst>
            <a:rect l="l" t="t" r="r" b="b"/>
            <a:pathLst>
              <a:path w="2266950" h="1162050">
                <a:moveTo>
                  <a:pt x="0" y="1162050"/>
                </a:moveTo>
                <a:cubicBezTo>
                  <a:pt x="471487" y="1085850"/>
                  <a:pt x="942975" y="1009650"/>
                  <a:pt x="1200150" y="857250"/>
                </a:cubicBezTo>
                <a:cubicBezTo>
                  <a:pt x="1457325" y="704850"/>
                  <a:pt x="1365250" y="390525"/>
                  <a:pt x="1543050" y="247650"/>
                </a:cubicBezTo>
                <a:cubicBezTo>
                  <a:pt x="1720850" y="104775"/>
                  <a:pt x="1993900" y="52387"/>
                  <a:pt x="22669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p:cNvSpPr txBox="1"/>
          <p:nvPr/>
        </p:nvSpPr>
        <p:spPr>
          <a:xfrm>
            <a:off x="4114800" y="1981200"/>
            <a:ext cx="24384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code in this function knows how to retrieve information from data source A, which can use specific format, location, etc.</a:t>
            </a:r>
            <a:endParaRPr lang="en-US" sz="1200" b="1" dirty="0">
              <a:solidFill>
                <a:srgbClr val="C00000"/>
              </a:solidFill>
              <a:latin typeface="Bradley Hand ITC" pitchFamily="66" charset="0"/>
            </a:endParaRPr>
          </a:p>
        </p:txBody>
      </p:sp>
      <p:sp>
        <p:nvSpPr>
          <p:cNvPr id="26" name="TextBox 25"/>
          <p:cNvSpPr txBox="1"/>
          <p:nvPr/>
        </p:nvSpPr>
        <p:spPr>
          <a:xfrm>
            <a:off x="4191000" y="4953000"/>
            <a:ext cx="22860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code in this function knows how to retrieve information from data source B, which can use specific format, location, etc.</a:t>
            </a:r>
            <a:endParaRPr lang="en-US" sz="1200" b="1" dirty="0">
              <a:solidFill>
                <a:srgbClr val="C00000"/>
              </a:solidFill>
              <a:latin typeface="Bradley Hand ITC" pitchFamily="66" charset="0"/>
            </a:endParaRPr>
          </a:p>
        </p:txBody>
      </p:sp>
      <p:sp>
        <p:nvSpPr>
          <p:cNvPr id="27" name="TextBox 26"/>
          <p:cNvSpPr txBox="1"/>
          <p:nvPr/>
        </p:nvSpPr>
        <p:spPr>
          <a:xfrm>
            <a:off x="7010400" y="1066800"/>
            <a:ext cx="16002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Information Source A</a:t>
            </a:r>
            <a:endParaRPr lang="en-US" sz="1200" b="1" dirty="0">
              <a:solidFill>
                <a:srgbClr val="C00000"/>
              </a:solidFill>
              <a:latin typeface="Bradley Hand ITC" pitchFamily="66" charset="0"/>
            </a:endParaRPr>
          </a:p>
        </p:txBody>
      </p:sp>
      <p:sp>
        <p:nvSpPr>
          <p:cNvPr id="28" name="TextBox 27"/>
          <p:cNvSpPr txBox="1"/>
          <p:nvPr/>
        </p:nvSpPr>
        <p:spPr>
          <a:xfrm>
            <a:off x="7010400" y="3962400"/>
            <a:ext cx="16002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Information Source B</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Product Implementation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pic>
        <p:nvPicPr>
          <p:cNvPr id="9218" name="Picture 2"/>
          <p:cNvPicPr>
            <a:picLocks noChangeAspect="1" noChangeArrowheads="1"/>
          </p:cNvPicPr>
          <p:nvPr/>
        </p:nvPicPr>
        <p:blipFill>
          <a:blip r:embed="rId2" cstate="print"/>
          <a:srcRect/>
          <a:stretch>
            <a:fillRect/>
          </a:stretch>
        </p:blipFill>
        <p:spPr bwMode="auto">
          <a:xfrm>
            <a:off x="2362201" y="1295400"/>
            <a:ext cx="5867400" cy="1014119"/>
          </a:xfrm>
          <a:prstGeom prst="rect">
            <a:avLst/>
          </a:prstGeom>
          <a:noFill/>
          <a:ln w="9525">
            <a:noFill/>
            <a:miter lim="800000"/>
            <a:headEnd/>
            <a:tailEnd/>
          </a:ln>
        </p:spPr>
      </p:pic>
      <p:pic>
        <p:nvPicPr>
          <p:cNvPr id="9219" name="Picture 3"/>
          <p:cNvPicPr>
            <a:picLocks noChangeAspect="1" noChangeArrowheads="1"/>
          </p:cNvPicPr>
          <p:nvPr/>
        </p:nvPicPr>
        <p:blipFill>
          <a:blip r:embed="rId3" cstate="print"/>
          <a:srcRect/>
          <a:stretch>
            <a:fillRect/>
          </a:stretch>
        </p:blipFill>
        <p:spPr bwMode="auto">
          <a:xfrm>
            <a:off x="2362200" y="2514600"/>
            <a:ext cx="6167281" cy="1085849"/>
          </a:xfrm>
          <a:prstGeom prst="rect">
            <a:avLst/>
          </a:prstGeom>
          <a:noFill/>
          <a:ln w="9525">
            <a:noFill/>
            <a:miter lim="800000"/>
            <a:headEnd/>
            <a:tailEnd/>
          </a:ln>
        </p:spPr>
      </p:pic>
      <p:pic>
        <p:nvPicPr>
          <p:cNvPr id="9220" name="Picture 4"/>
          <p:cNvPicPr>
            <a:picLocks noChangeAspect="1" noChangeArrowheads="1"/>
          </p:cNvPicPr>
          <p:nvPr/>
        </p:nvPicPr>
        <p:blipFill>
          <a:blip r:embed="rId4" cstate="print"/>
          <a:srcRect/>
          <a:stretch>
            <a:fillRect/>
          </a:stretch>
        </p:blipFill>
        <p:spPr bwMode="auto">
          <a:xfrm>
            <a:off x="2362200" y="3831319"/>
            <a:ext cx="5943600" cy="1045481"/>
          </a:xfrm>
          <a:prstGeom prst="rect">
            <a:avLst/>
          </a:prstGeom>
          <a:noFill/>
          <a:ln w="9525">
            <a:noFill/>
            <a:miter lim="800000"/>
            <a:headEnd/>
            <a:tailEnd/>
          </a:ln>
        </p:spPr>
      </p:pic>
      <p:pic>
        <p:nvPicPr>
          <p:cNvPr id="9221" name="Picture 5"/>
          <p:cNvPicPr>
            <a:picLocks noChangeAspect="1" noChangeArrowheads="1"/>
          </p:cNvPicPr>
          <p:nvPr/>
        </p:nvPicPr>
        <p:blipFill>
          <a:blip r:embed="rId5" cstate="print"/>
          <a:srcRect/>
          <a:stretch>
            <a:fillRect/>
          </a:stretch>
        </p:blipFill>
        <p:spPr bwMode="auto">
          <a:xfrm>
            <a:off x="2362200" y="5158178"/>
            <a:ext cx="6172200" cy="1090222"/>
          </a:xfrm>
          <a:prstGeom prst="rect">
            <a:avLst/>
          </a:prstGeom>
          <a:noFill/>
          <a:ln w="9525">
            <a:noFill/>
            <a:miter lim="800000"/>
            <a:headEnd/>
            <a:tailEnd/>
          </a:ln>
        </p:spPr>
      </p:pic>
      <p:cxnSp>
        <p:nvCxnSpPr>
          <p:cNvPr id="11" name="Straight Connector 10"/>
          <p:cNvCxnSpPr/>
          <p:nvPr/>
        </p:nvCxnSpPr>
        <p:spPr>
          <a:xfrm flipH="1">
            <a:off x="228600" y="2409825"/>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228600" y="371475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228600" y="50292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81000" y="3962400"/>
            <a:ext cx="1676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All other products are implemented using the same pattern!</a:t>
            </a:r>
            <a:endParaRPr lang="en-US" sz="1200" b="1" dirty="0">
              <a:solidFill>
                <a:srgbClr val="C00000"/>
              </a:solidFill>
              <a:latin typeface="Bradley Hand ITC" pitchFamily="66" charset="0"/>
            </a:endParaRPr>
          </a:p>
        </p:txBody>
      </p:sp>
      <p:sp>
        <p:nvSpPr>
          <p:cNvPr id="15" name="Freeform 14"/>
          <p:cNvSpPr/>
          <p:nvPr/>
        </p:nvSpPr>
        <p:spPr>
          <a:xfrm>
            <a:off x="1238250" y="1485900"/>
            <a:ext cx="1047750" cy="2486025"/>
          </a:xfrm>
          <a:custGeom>
            <a:avLst/>
            <a:gdLst>
              <a:gd name="connsiteX0" fmla="*/ 0 w 1047750"/>
              <a:gd name="connsiteY0" fmla="*/ 2486025 h 2486025"/>
              <a:gd name="connsiteX1" fmla="*/ 361950 w 1047750"/>
              <a:gd name="connsiteY1" fmla="*/ 504825 h 2486025"/>
              <a:gd name="connsiteX2" fmla="*/ 1047750 w 1047750"/>
              <a:gd name="connsiteY2" fmla="*/ 0 h 2486025"/>
            </a:gdLst>
            <a:ahLst/>
            <a:cxnLst>
              <a:cxn ang="0">
                <a:pos x="connsiteX0" y="connsiteY0"/>
              </a:cxn>
              <a:cxn ang="0">
                <a:pos x="connsiteX1" y="connsiteY1"/>
              </a:cxn>
              <a:cxn ang="0">
                <a:pos x="connsiteX2" y="connsiteY2"/>
              </a:cxn>
            </a:cxnLst>
            <a:rect l="l" t="t" r="r" b="b"/>
            <a:pathLst>
              <a:path w="1047750" h="2486025">
                <a:moveTo>
                  <a:pt x="0" y="2486025"/>
                </a:moveTo>
                <a:cubicBezTo>
                  <a:pt x="93662" y="1702594"/>
                  <a:pt x="187325" y="919163"/>
                  <a:pt x="361950" y="504825"/>
                </a:cubicBezTo>
                <a:cubicBezTo>
                  <a:pt x="536575" y="90488"/>
                  <a:pt x="792162" y="45244"/>
                  <a:pt x="10477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Freeform 15"/>
          <p:cNvSpPr/>
          <p:nvPr/>
        </p:nvSpPr>
        <p:spPr>
          <a:xfrm>
            <a:off x="1371600" y="2733675"/>
            <a:ext cx="933450" cy="1257300"/>
          </a:xfrm>
          <a:custGeom>
            <a:avLst/>
            <a:gdLst>
              <a:gd name="connsiteX0" fmla="*/ 0 w 933450"/>
              <a:gd name="connsiteY0" fmla="*/ 1257300 h 1257300"/>
              <a:gd name="connsiteX1" fmla="*/ 276225 w 933450"/>
              <a:gd name="connsiteY1" fmla="*/ 247650 h 1257300"/>
              <a:gd name="connsiteX2" fmla="*/ 933450 w 933450"/>
              <a:gd name="connsiteY2" fmla="*/ 0 h 1257300"/>
            </a:gdLst>
            <a:ahLst/>
            <a:cxnLst>
              <a:cxn ang="0">
                <a:pos x="connsiteX0" y="connsiteY0"/>
              </a:cxn>
              <a:cxn ang="0">
                <a:pos x="connsiteX1" y="connsiteY1"/>
              </a:cxn>
              <a:cxn ang="0">
                <a:pos x="connsiteX2" y="connsiteY2"/>
              </a:cxn>
            </a:cxnLst>
            <a:rect l="l" t="t" r="r" b="b"/>
            <a:pathLst>
              <a:path w="933450" h="1257300">
                <a:moveTo>
                  <a:pt x="0" y="1257300"/>
                </a:moveTo>
                <a:cubicBezTo>
                  <a:pt x="60325" y="857250"/>
                  <a:pt x="120650" y="457200"/>
                  <a:pt x="276225" y="247650"/>
                </a:cubicBezTo>
                <a:cubicBezTo>
                  <a:pt x="431800" y="38100"/>
                  <a:pt x="682625" y="19050"/>
                  <a:pt x="9334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Freeform 16"/>
          <p:cNvSpPr/>
          <p:nvPr/>
        </p:nvSpPr>
        <p:spPr>
          <a:xfrm>
            <a:off x="1943100" y="4013200"/>
            <a:ext cx="352425" cy="158750"/>
          </a:xfrm>
          <a:custGeom>
            <a:avLst/>
            <a:gdLst>
              <a:gd name="connsiteX0" fmla="*/ 0 w 352425"/>
              <a:gd name="connsiteY0" fmla="*/ 158750 h 158750"/>
              <a:gd name="connsiteX1" fmla="*/ 123825 w 352425"/>
              <a:gd name="connsiteY1" fmla="*/ 25400 h 158750"/>
              <a:gd name="connsiteX2" fmla="*/ 352425 w 352425"/>
              <a:gd name="connsiteY2" fmla="*/ 6350 h 158750"/>
            </a:gdLst>
            <a:ahLst/>
            <a:cxnLst>
              <a:cxn ang="0">
                <a:pos x="connsiteX0" y="connsiteY0"/>
              </a:cxn>
              <a:cxn ang="0">
                <a:pos x="connsiteX1" y="connsiteY1"/>
              </a:cxn>
              <a:cxn ang="0">
                <a:pos x="connsiteX2" y="connsiteY2"/>
              </a:cxn>
            </a:cxnLst>
            <a:rect l="l" t="t" r="r" b="b"/>
            <a:pathLst>
              <a:path w="352425" h="158750">
                <a:moveTo>
                  <a:pt x="0" y="158750"/>
                </a:moveTo>
                <a:cubicBezTo>
                  <a:pt x="32544" y="104775"/>
                  <a:pt x="65088" y="50800"/>
                  <a:pt x="123825" y="25400"/>
                </a:cubicBezTo>
                <a:cubicBezTo>
                  <a:pt x="182562" y="0"/>
                  <a:pt x="267493" y="3175"/>
                  <a:pt x="352425" y="63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Freeform 17"/>
          <p:cNvSpPr/>
          <p:nvPr/>
        </p:nvSpPr>
        <p:spPr>
          <a:xfrm>
            <a:off x="1790700" y="4467225"/>
            <a:ext cx="504825" cy="923925"/>
          </a:xfrm>
          <a:custGeom>
            <a:avLst/>
            <a:gdLst>
              <a:gd name="connsiteX0" fmla="*/ 0 w 504825"/>
              <a:gd name="connsiteY0" fmla="*/ 0 h 923925"/>
              <a:gd name="connsiteX1" fmla="*/ 123825 w 504825"/>
              <a:gd name="connsiteY1" fmla="*/ 771525 h 923925"/>
              <a:gd name="connsiteX2" fmla="*/ 504825 w 504825"/>
              <a:gd name="connsiteY2" fmla="*/ 914400 h 923925"/>
            </a:gdLst>
            <a:ahLst/>
            <a:cxnLst>
              <a:cxn ang="0">
                <a:pos x="connsiteX0" y="connsiteY0"/>
              </a:cxn>
              <a:cxn ang="0">
                <a:pos x="connsiteX1" y="connsiteY1"/>
              </a:cxn>
              <a:cxn ang="0">
                <a:pos x="connsiteX2" y="connsiteY2"/>
              </a:cxn>
            </a:cxnLst>
            <a:rect l="l" t="t" r="r" b="b"/>
            <a:pathLst>
              <a:path w="504825" h="923925">
                <a:moveTo>
                  <a:pt x="0" y="0"/>
                </a:moveTo>
                <a:cubicBezTo>
                  <a:pt x="19844" y="309562"/>
                  <a:pt x="39688" y="619125"/>
                  <a:pt x="123825" y="771525"/>
                </a:cubicBezTo>
                <a:cubicBezTo>
                  <a:pt x="207963" y="923925"/>
                  <a:pt x="356394" y="919162"/>
                  <a:pt x="504825" y="9144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Oval 20"/>
          <p:cNvSpPr/>
          <p:nvPr/>
        </p:nvSpPr>
        <p:spPr>
          <a:xfrm>
            <a:off x="2600324" y="3905250"/>
            <a:ext cx="981075" cy="209550"/>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2600325" y="5248275"/>
            <a:ext cx="981075" cy="209550"/>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2638425" y="2609850"/>
            <a:ext cx="981075" cy="209550"/>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2619375" y="1362075"/>
            <a:ext cx="981075" cy="209550"/>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the Factory Interface and Concrete Factories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grpSp>
        <p:nvGrpSpPr>
          <p:cNvPr id="13" name="Group 12"/>
          <p:cNvGrpSpPr/>
          <p:nvPr/>
        </p:nvGrpSpPr>
        <p:grpSpPr>
          <a:xfrm>
            <a:off x="533400" y="1752600"/>
            <a:ext cx="8267700" cy="3228975"/>
            <a:chOff x="419100" y="1981200"/>
            <a:chExt cx="8267700" cy="3228975"/>
          </a:xfrm>
        </p:grpSpPr>
        <p:pic>
          <p:nvPicPr>
            <p:cNvPr id="10243" name="Picture 3"/>
            <p:cNvPicPr>
              <a:picLocks noChangeAspect="1" noChangeArrowheads="1"/>
            </p:cNvPicPr>
            <p:nvPr/>
          </p:nvPicPr>
          <p:blipFill>
            <a:blip r:embed="rId2" cstate="print"/>
            <a:srcRect/>
            <a:stretch>
              <a:fillRect/>
            </a:stretch>
          </p:blipFill>
          <p:spPr bwMode="auto">
            <a:xfrm>
              <a:off x="419100" y="1981200"/>
              <a:ext cx="8267700" cy="3228975"/>
            </a:xfrm>
            <a:prstGeom prst="rect">
              <a:avLst/>
            </a:prstGeom>
            <a:noFill/>
            <a:ln w="9525">
              <a:noFill/>
              <a:miter lim="800000"/>
              <a:headEnd/>
              <a:tailEnd/>
            </a:ln>
            <a:effectLst/>
          </p:spPr>
        </p:pic>
        <p:sp>
          <p:nvSpPr>
            <p:cNvPr id="9" name="Rectangle 8"/>
            <p:cNvSpPr/>
            <p:nvPr/>
          </p:nvSpPr>
          <p:spPr>
            <a:xfrm>
              <a:off x="3886200" y="3286124"/>
              <a:ext cx="1371600" cy="152401"/>
            </a:xfrm>
            <a:prstGeom prst="rect">
              <a:avLst/>
            </a:prstGeom>
            <a:solidFill>
              <a:schemeClr val="bg1"/>
            </a:solidFill>
            <a:ln w="412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5133975" y="3276600"/>
              <a:ext cx="0" cy="1524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962400" y="3276600"/>
              <a:ext cx="0" cy="1524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14" name="TextBox 13"/>
          <p:cNvSpPr txBox="1"/>
          <p:nvPr/>
        </p:nvSpPr>
        <p:spPr>
          <a:xfrm>
            <a:off x="3276600" y="5334000"/>
            <a:ext cx="2743200" cy="83099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This design connects the products designed in the previous slides with the factories used to abstract their creation!</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Advanced Computer Parts Factory</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pic>
        <p:nvPicPr>
          <p:cNvPr id="11266" name="Picture 2"/>
          <p:cNvPicPr>
            <a:picLocks noChangeAspect="1" noChangeArrowheads="1"/>
          </p:cNvPicPr>
          <p:nvPr/>
        </p:nvPicPr>
        <p:blipFill>
          <a:blip r:embed="rId2" cstate="print"/>
          <a:srcRect/>
          <a:stretch>
            <a:fillRect/>
          </a:stretch>
        </p:blipFill>
        <p:spPr bwMode="auto">
          <a:xfrm>
            <a:off x="685800" y="1359463"/>
            <a:ext cx="4213132" cy="4884175"/>
          </a:xfrm>
          <a:prstGeom prst="rect">
            <a:avLst/>
          </a:prstGeom>
          <a:noFill/>
          <a:ln w="9525">
            <a:noFill/>
            <a:miter lim="800000"/>
            <a:headEnd/>
            <a:tailEnd/>
          </a:ln>
        </p:spPr>
      </p:pic>
      <p:pic>
        <p:nvPicPr>
          <p:cNvPr id="11267" name="Picture 3"/>
          <p:cNvPicPr>
            <a:picLocks noChangeAspect="1" noChangeArrowheads="1"/>
          </p:cNvPicPr>
          <p:nvPr/>
        </p:nvPicPr>
        <p:blipFill>
          <a:blip r:embed="rId3" cstate="print"/>
          <a:srcRect/>
          <a:stretch>
            <a:fillRect/>
          </a:stretch>
        </p:blipFill>
        <p:spPr bwMode="auto">
          <a:xfrm>
            <a:off x="4953000" y="2590800"/>
            <a:ext cx="3850105" cy="2286000"/>
          </a:xfrm>
          <a:prstGeom prst="rect">
            <a:avLst/>
          </a:prstGeom>
          <a:noFill/>
          <a:ln w="9525">
            <a:noFill/>
            <a:miter lim="800000"/>
            <a:headEnd/>
            <a:tailEnd/>
          </a:ln>
        </p:spPr>
      </p:pic>
      <p:sp>
        <p:nvSpPr>
          <p:cNvPr id="14" name="TextBox 13"/>
          <p:cNvSpPr txBox="1"/>
          <p:nvPr/>
        </p:nvSpPr>
        <p:spPr>
          <a:xfrm>
            <a:off x="4495800" y="1447800"/>
            <a:ext cx="1676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These are equivalent!</a:t>
            </a:r>
            <a:endParaRPr lang="en-US" sz="1200" b="1" dirty="0">
              <a:solidFill>
                <a:srgbClr val="C00000"/>
              </a:solidFill>
              <a:latin typeface="Bradley Hand ITC" pitchFamily="66" charset="0"/>
            </a:endParaRPr>
          </a:p>
        </p:txBody>
      </p:sp>
      <p:sp>
        <p:nvSpPr>
          <p:cNvPr id="15" name="Freeform 14"/>
          <p:cNvSpPr/>
          <p:nvPr/>
        </p:nvSpPr>
        <p:spPr>
          <a:xfrm>
            <a:off x="3152775" y="1600200"/>
            <a:ext cx="1495425" cy="438150"/>
          </a:xfrm>
          <a:custGeom>
            <a:avLst/>
            <a:gdLst>
              <a:gd name="connsiteX0" fmla="*/ 1695450 w 1695450"/>
              <a:gd name="connsiteY0" fmla="*/ 0 h 381000"/>
              <a:gd name="connsiteX1" fmla="*/ 1057275 w 1695450"/>
              <a:gd name="connsiteY1" fmla="*/ 28575 h 381000"/>
              <a:gd name="connsiteX2" fmla="*/ 552450 w 1695450"/>
              <a:gd name="connsiteY2" fmla="*/ 266700 h 381000"/>
              <a:gd name="connsiteX3" fmla="*/ 0 w 169545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695450" h="381000">
                <a:moveTo>
                  <a:pt x="1695450" y="0"/>
                </a:moveTo>
                <a:lnTo>
                  <a:pt x="1057275" y="28575"/>
                </a:lnTo>
                <a:cubicBezTo>
                  <a:pt x="866775" y="73025"/>
                  <a:pt x="728662" y="207963"/>
                  <a:pt x="552450" y="266700"/>
                </a:cubicBezTo>
                <a:cubicBezTo>
                  <a:pt x="376238" y="325437"/>
                  <a:pt x="188119" y="353218"/>
                  <a:pt x="0" y="381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Freeform 16"/>
          <p:cNvSpPr/>
          <p:nvPr/>
        </p:nvSpPr>
        <p:spPr>
          <a:xfrm>
            <a:off x="6096000" y="1600200"/>
            <a:ext cx="1714500" cy="1609725"/>
          </a:xfrm>
          <a:custGeom>
            <a:avLst/>
            <a:gdLst>
              <a:gd name="connsiteX0" fmla="*/ 0 w 1905000"/>
              <a:gd name="connsiteY0" fmla="*/ 0 h 1533525"/>
              <a:gd name="connsiteX1" fmla="*/ 809625 w 1905000"/>
              <a:gd name="connsiteY1" fmla="*/ 342900 h 1533525"/>
              <a:gd name="connsiteX2" fmla="*/ 1123950 w 1905000"/>
              <a:gd name="connsiteY2" fmla="*/ 762000 h 1533525"/>
              <a:gd name="connsiteX3" fmla="*/ 1685925 w 1905000"/>
              <a:gd name="connsiteY3" fmla="*/ 1028700 h 1533525"/>
              <a:gd name="connsiteX4" fmla="*/ 1905000 w 1905000"/>
              <a:gd name="connsiteY4" fmla="*/ 1533525 h 1533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0" h="1533525">
                <a:moveTo>
                  <a:pt x="0" y="0"/>
                </a:moveTo>
                <a:cubicBezTo>
                  <a:pt x="311150" y="107950"/>
                  <a:pt x="622300" y="215900"/>
                  <a:pt x="809625" y="342900"/>
                </a:cubicBezTo>
                <a:cubicBezTo>
                  <a:pt x="996950" y="469900"/>
                  <a:pt x="977900" y="647700"/>
                  <a:pt x="1123950" y="762000"/>
                </a:cubicBezTo>
                <a:cubicBezTo>
                  <a:pt x="1270000" y="876300"/>
                  <a:pt x="1555750" y="900113"/>
                  <a:pt x="1685925" y="1028700"/>
                </a:cubicBezTo>
                <a:cubicBezTo>
                  <a:pt x="1816100" y="1157288"/>
                  <a:pt x="1860550" y="1345406"/>
                  <a:pt x="1905000" y="1533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Standard Computer Parts Factory</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pic>
        <p:nvPicPr>
          <p:cNvPr id="12291" name="Picture 3"/>
          <p:cNvPicPr>
            <a:picLocks noChangeAspect="1" noChangeArrowheads="1"/>
          </p:cNvPicPr>
          <p:nvPr/>
        </p:nvPicPr>
        <p:blipFill>
          <a:blip r:embed="rId2" cstate="print"/>
          <a:srcRect/>
          <a:stretch>
            <a:fillRect/>
          </a:stretch>
        </p:blipFill>
        <p:spPr bwMode="auto">
          <a:xfrm>
            <a:off x="685800" y="1219200"/>
            <a:ext cx="4230645" cy="5029200"/>
          </a:xfrm>
          <a:prstGeom prst="rect">
            <a:avLst/>
          </a:prstGeom>
          <a:noFill/>
          <a:ln w="9525">
            <a:noFill/>
            <a:miter lim="800000"/>
            <a:headEnd/>
            <a:tailEnd/>
          </a:ln>
        </p:spPr>
      </p:pic>
      <p:pic>
        <p:nvPicPr>
          <p:cNvPr id="12290" name="Picture 2"/>
          <p:cNvPicPr>
            <a:picLocks noChangeAspect="1" noChangeArrowheads="1"/>
          </p:cNvPicPr>
          <p:nvPr/>
        </p:nvPicPr>
        <p:blipFill>
          <a:blip r:embed="rId3" cstate="print"/>
          <a:srcRect/>
          <a:stretch>
            <a:fillRect/>
          </a:stretch>
        </p:blipFill>
        <p:spPr bwMode="auto">
          <a:xfrm>
            <a:off x="5029200" y="2362200"/>
            <a:ext cx="3781425" cy="2279842"/>
          </a:xfrm>
          <a:prstGeom prst="rect">
            <a:avLst/>
          </a:prstGeom>
          <a:noFill/>
          <a:ln w="9525">
            <a:noFill/>
            <a:miter lim="800000"/>
            <a:headEnd/>
            <a:tailEnd/>
          </a:ln>
        </p:spPr>
      </p:pic>
      <p:sp>
        <p:nvSpPr>
          <p:cNvPr id="9" name="TextBox 8"/>
          <p:cNvSpPr txBox="1"/>
          <p:nvPr/>
        </p:nvSpPr>
        <p:spPr>
          <a:xfrm>
            <a:off x="3733800" y="1447800"/>
            <a:ext cx="1676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These are equivalent!</a:t>
            </a:r>
            <a:endParaRPr lang="en-US" sz="1200" b="1" dirty="0">
              <a:solidFill>
                <a:srgbClr val="C00000"/>
              </a:solidFill>
              <a:latin typeface="Bradley Hand ITC" pitchFamily="66" charset="0"/>
            </a:endParaRPr>
          </a:p>
        </p:txBody>
      </p:sp>
      <p:sp>
        <p:nvSpPr>
          <p:cNvPr id="10" name="Freeform 9"/>
          <p:cNvSpPr/>
          <p:nvPr/>
        </p:nvSpPr>
        <p:spPr>
          <a:xfrm>
            <a:off x="3152775" y="1600200"/>
            <a:ext cx="657225" cy="438150"/>
          </a:xfrm>
          <a:custGeom>
            <a:avLst/>
            <a:gdLst>
              <a:gd name="connsiteX0" fmla="*/ 1695450 w 1695450"/>
              <a:gd name="connsiteY0" fmla="*/ 0 h 381000"/>
              <a:gd name="connsiteX1" fmla="*/ 1057275 w 1695450"/>
              <a:gd name="connsiteY1" fmla="*/ 28575 h 381000"/>
              <a:gd name="connsiteX2" fmla="*/ 552450 w 1695450"/>
              <a:gd name="connsiteY2" fmla="*/ 266700 h 381000"/>
              <a:gd name="connsiteX3" fmla="*/ 0 w 169545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695450" h="381000">
                <a:moveTo>
                  <a:pt x="1695450" y="0"/>
                </a:moveTo>
                <a:lnTo>
                  <a:pt x="1057275" y="28575"/>
                </a:lnTo>
                <a:cubicBezTo>
                  <a:pt x="866775" y="73025"/>
                  <a:pt x="728662" y="207963"/>
                  <a:pt x="552450" y="266700"/>
                </a:cubicBezTo>
                <a:cubicBezTo>
                  <a:pt x="376238" y="325437"/>
                  <a:pt x="188119" y="353218"/>
                  <a:pt x="0" y="381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Freeform 10"/>
          <p:cNvSpPr/>
          <p:nvPr/>
        </p:nvSpPr>
        <p:spPr>
          <a:xfrm>
            <a:off x="5410200" y="1600201"/>
            <a:ext cx="914400" cy="1524000"/>
          </a:xfrm>
          <a:custGeom>
            <a:avLst/>
            <a:gdLst>
              <a:gd name="connsiteX0" fmla="*/ 0 w 1905000"/>
              <a:gd name="connsiteY0" fmla="*/ 0 h 1533525"/>
              <a:gd name="connsiteX1" fmla="*/ 809625 w 1905000"/>
              <a:gd name="connsiteY1" fmla="*/ 342900 h 1533525"/>
              <a:gd name="connsiteX2" fmla="*/ 1123950 w 1905000"/>
              <a:gd name="connsiteY2" fmla="*/ 762000 h 1533525"/>
              <a:gd name="connsiteX3" fmla="*/ 1685925 w 1905000"/>
              <a:gd name="connsiteY3" fmla="*/ 1028700 h 1533525"/>
              <a:gd name="connsiteX4" fmla="*/ 1905000 w 1905000"/>
              <a:gd name="connsiteY4" fmla="*/ 1533525 h 1533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0" h="1533525">
                <a:moveTo>
                  <a:pt x="0" y="0"/>
                </a:moveTo>
                <a:cubicBezTo>
                  <a:pt x="311150" y="107950"/>
                  <a:pt x="622300" y="215900"/>
                  <a:pt x="809625" y="342900"/>
                </a:cubicBezTo>
                <a:cubicBezTo>
                  <a:pt x="996950" y="469900"/>
                  <a:pt x="977900" y="647700"/>
                  <a:pt x="1123950" y="762000"/>
                </a:cubicBezTo>
                <a:cubicBezTo>
                  <a:pt x="1270000" y="876300"/>
                  <a:pt x="1555750" y="900113"/>
                  <a:pt x="1685925" y="1028700"/>
                </a:cubicBezTo>
                <a:cubicBezTo>
                  <a:pt x="1816100" y="1157288"/>
                  <a:pt x="1860550" y="1345406"/>
                  <a:pt x="1905000" y="1533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Client Computer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pic>
        <p:nvPicPr>
          <p:cNvPr id="14338" name="Picture 2"/>
          <p:cNvPicPr>
            <a:picLocks noChangeAspect="1" noChangeArrowheads="1"/>
          </p:cNvPicPr>
          <p:nvPr/>
        </p:nvPicPr>
        <p:blipFill>
          <a:blip r:embed="rId2" cstate="print"/>
          <a:srcRect/>
          <a:stretch>
            <a:fillRect/>
          </a:stretch>
        </p:blipFill>
        <p:spPr bwMode="auto">
          <a:xfrm>
            <a:off x="639896" y="1371600"/>
            <a:ext cx="4008304" cy="4495801"/>
          </a:xfrm>
          <a:prstGeom prst="rect">
            <a:avLst/>
          </a:prstGeom>
          <a:noFill/>
          <a:ln w="9525">
            <a:noFill/>
            <a:miter lim="800000"/>
            <a:headEnd/>
            <a:tailEnd/>
          </a:ln>
        </p:spPr>
      </p:pic>
      <p:pic>
        <p:nvPicPr>
          <p:cNvPr id="14340" name="Picture 4"/>
          <p:cNvPicPr>
            <a:picLocks noChangeAspect="1" noChangeArrowheads="1"/>
          </p:cNvPicPr>
          <p:nvPr/>
        </p:nvPicPr>
        <p:blipFill>
          <a:blip r:embed="rId3" cstate="print"/>
          <a:srcRect/>
          <a:stretch>
            <a:fillRect/>
          </a:stretch>
        </p:blipFill>
        <p:spPr bwMode="auto">
          <a:xfrm>
            <a:off x="3953934" y="1752600"/>
            <a:ext cx="5037666" cy="3810000"/>
          </a:xfrm>
          <a:prstGeom prst="rect">
            <a:avLst/>
          </a:prstGeom>
          <a:noFill/>
          <a:ln w="9525">
            <a:noFill/>
            <a:miter lim="800000"/>
            <a:headEnd/>
            <a:tailEnd/>
          </a:ln>
          <a:effectLst/>
        </p:spPr>
      </p:pic>
      <p:sp>
        <p:nvSpPr>
          <p:cNvPr id="11" name="TextBox 10"/>
          <p:cNvSpPr txBox="1"/>
          <p:nvPr/>
        </p:nvSpPr>
        <p:spPr>
          <a:xfrm>
            <a:off x="2790825" y="1371600"/>
            <a:ext cx="1676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These are equivalent!</a:t>
            </a:r>
            <a:endParaRPr lang="en-US" sz="1200" b="1" dirty="0">
              <a:solidFill>
                <a:srgbClr val="C00000"/>
              </a:solidFill>
              <a:latin typeface="Bradley Hand ITC" pitchFamily="66" charset="0"/>
            </a:endParaRPr>
          </a:p>
        </p:txBody>
      </p:sp>
      <p:sp>
        <p:nvSpPr>
          <p:cNvPr id="12" name="Freeform 11"/>
          <p:cNvSpPr/>
          <p:nvPr/>
        </p:nvSpPr>
        <p:spPr>
          <a:xfrm>
            <a:off x="2209800" y="1524000"/>
            <a:ext cx="657225" cy="438150"/>
          </a:xfrm>
          <a:custGeom>
            <a:avLst/>
            <a:gdLst>
              <a:gd name="connsiteX0" fmla="*/ 1695450 w 1695450"/>
              <a:gd name="connsiteY0" fmla="*/ 0 h 381000"/>
              <a:gd name="connsiteX1" fmla="*/ 1057275 w 1695450"/>
              <a:gd name="connsiteY1" fmla="*/ 28575 h 381000"/>
              <a:gd name="connsiteX2" fmla="*/ 552450 w 1695450"/>
              <a:gd name="connsiteY2" fmla="*/ 266700 h 381000"/>
              <a:gd name="connsiteX3" fmla="*/ 0 w 169545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695450" h="381000">
                <a:moveTo>
                  <a:pt x="1695450" y="0"/>
                </a:moveTo>
                <a:lnTo>
                  <a:pt x="1057275" y="28575"/>
                </a:lnTo>
                <a:cubicBezTo>
                  <a:pt x="866775" y="73025"/>
                  <a:pt x="728662" y="207963"/>
                  <a:pt x="552450" y="266700"/>
                </a:cubicBezTo>
                <a:cubicBezTo>
                  <a:pt x="376238" y="325437"/>
                  <a:pt x="188119" y="353218"/>
                  <a:pt x="0" y="381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12"/>
          <p:cNvSpPr/>
          <p:nvPr/>
        </p:nvSpPr>
        <p:spPr>
          <a:xfrm>
            <a:off x="4467225" y="1524001"/>
            <a:ext cx="914400" cy="1447799"/>
          </a:xfrm>
          <a:custGeom>
            <a:avLst/>
            <a:gdLst>
              <a:gd name="connsiteX0" fmla="*/ 0 w 1905000"/>
              <a:gd name="connsiteY0" fmla="*/ 0 h 1533525"/>
              <a:gd name="connsiteX1" fmla="*/ 809625 w 1905000"/>
              <a:gd name="connsiteY1" fmla="*/ 342900 h 1533525"/>
              <a:gd name="connsiteX2" fmla="*/ 1123950 w 1905000"/>
              <a:gd name="connsiteY2" fmla="*/ 762000 h 1533525"/>
              <a:gd name="connsiteX3" fmla="*/ 1685925 w 1905000"/>
              <a:gd name="connsiteY3" fmla="*/ 1028700 h 1533525"/>
              <a:gd name="connsiteX4" fmla="*/ 1905000 w 1905000"/>
              <a:gd name="connsiteY4" fmla="*/ 1533525 h 1533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0" h="1533525">
                <a:moveTo>
                  <a:pt x="0" y="0"/>
                </a:moveTo>
                <a:cubicBezTo>
                  <a:pt x="311150" y="107950"/>
                  <a:pt x="622300" y="215900"/>
                  <a:pt x="809625" y="342900"/>
                </a:cubicBezTo>
                <a:cubicBezTo>
                  <a:pt x="996950" y="469900"/>
                  <a:pt x="977900" y="647700"/>
                  <a:pt x="1123950" y="762000"/>
                </a:cubicBezTo>
                <a:cubicBezTo>
                  <a:pt x="1270000" y="876300"/>
                  <a:pt x="1555750" y="900113"/>
                  <a:pt x="1685925" y="1028700"/>
                </a:cubicBezTo>
                <a:cubicBezTo>
                  <a:pt x="1816100" y="1157288"/>
                  <a:pt x="1860550" y="1345406"/>
                  <a:pt x="1905000" y="1533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5181600" y="5791200"/>
            <a:ext cx="2743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Notice the named associations, which are specified with private visibility!</a:t>
            </a:r>
            <a:endParaRPr lang="en-US" sz="1200" b="1" dirty="0">
              <a:solidFill>
                <a:srgbClr val="C00000"/>
              </a:solidFill>
              <a:latin typeface="Bradley Hand ITC" pitchFamily="66" charset="0"/>
            </a:endParaRPr>
          </a:p>
        </p:txBody>
      </p:sp>
      <p:sp>
        <p:nvSpPr>
          <p:cNvPr id="15" name="Freeform 14"/>
          <p:cNvSpPr/>
          <p:nvPr/>
        </p:nvSpPr>
        <p:spPr>
          <a:xfrm>
            <a:off x="7105650" y="5010150"/>
            <a:ext cx="958850" cy="1028700"/>
          </a:xfrm>
          <a:custGeom>
            <a:avLst/>
            <a:gdLst>
              <a:gd name="connsiteX0" fmla="*/ 723900 w 958850"/>
              <a:gd name="connsiteY0" fmla="*/ 1028700 h 1028700"/>
              <a:gd name="connsiteX1" fmla="*/ 781050 w 958850"/>
              <a:gd name="connsiteY1" fmla="*/ 838200 h 1028700"/>
              <a:gd name="connsiteX2" fmla="*/ 828675 w 958850"/>
              <a:gd name="connsiteY2" fmla="*/ 466725 h 1028700"/>
              <a:gd name="connsiteX3" fmla="*/ 0 w 958850"/>
              <a:gd name="connsiteY3" fmla="*/ 0 h 1028700"/>
            </a:gdLst>
            <a:ahLst/>
            <a:cxnLst>
              <a:cxn ang="0">
                <a:pos x="connsiteX0" y="connsiteY0"/>
              </a:cxn>
              <a:cxn ang="0">
                <a:pos x="connsiteX1" y="connsiteY1"/>
              </a:cxn>
              <a:cxn ang="0">
                <a:pos x="connsiteX2" y="connsiteY2"/>
              </a:cxn>
              <a:cxn ang="0">
                <a:pos x="connsiteX3" y="connsiteY3"/>
              </a:cxn>
            </a:cxnLst>
            <a:rect l="l" t="t" r="r" b="b"/>
            <a:pathLst>
              <a:path w="958850" h="1028700">
                <a:moveTo>
                  <a:pt x="723900" y="1028700"/>
                </a:moveTo>
                <a:cubicBezTo>
                  <a:pt x="743744" y="980281"/>
                  <a:pt x="763588" y="931862"/>
                  <a:pt x="781050" y="838200"/>
                </a:cubicBezTo>
                <a:cubicBezTo>
                  <a:pt x="798512" y="744538"/>
                  <a:pt x="958850" y="606425"/>
                  <a:pt x="828675" y="466725"/>
                </a:cubicBezTo>
                <a:cubicBezTo>
                  <a:pt x="698500" y="327025"/>
                  <a:pt x="349250" y="163512"/>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Freeform 15"/>
          <p:cNvSpPr/>
          <p:nvPr/>
        </p:nvSpPr>
        <p:spPr>
          <a:xfrm>
            <a:off x="1333500" y="5829300"/>
            <a:ext cx="4010025" cy="466725"/>
          </a:xfrm>
          <a:custGeom>
            <a:avLst/>
            <a:gdLst>
              <a:gd name="connsiteX0" fmla="*/ 4010025 w 4010025"/>
              <a:gd name="connsiteY0" fmla="*/ 304800 h 466725"/>
              <a:gd name="connsiteX1" fmla="*/ 3952875 w 4010025"/>
              <a:gd name="connsiteY1" fmla="*/ 304800 h 466725"/>
              <a:gd name="connsiteX2" fmla="*/ 2781300 w 4010025"/>
              <a:gd name="connsiteY2" fmla="*/ 171450 h 466725"/>
              <a:gd name="connsiteX3" fmla="*/ 838200 w 4010025"/>
              <a:gd name="connsiteY3" fmla="*/ 438150 h 466725"/>
              <a:gd name="connsiteX4" fmla="*/ 0 w 4010025"/>
              <a:gd name="connsiteY4" fmla="*/ 0 h 466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0025" h="466725">
                <a:moveTo>
                  <a:pt x="4010025" y="304800"/>
                </a:moveTo>
                <a:lnTo>
                  <a:pt x="3952875" y="304800"/>
                </a:lnTo>
                <a:cubicBezTo>
                  <a:pt x="3748088" y="282575"/>
                  <a:pt x="3300413" y="149225"/>
                  <a:pt x="2781300" y="171450"/>
                </a:cubicBezTo>
                <a:cubicBezTo>
                  <a:pt x="2262188" y="193675"/>
                  <a:pt x="1301750" y="466725"/>
                  <a:pt x="838200" y="438150"/>
                </a:cubicBezTo>
                <a:cubicBezTo>
                  <a:pt x="374650" y="409575"/>
                  <a:pt x="187325" y="204787"/>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1600200" y="5904726"/>
            <a:ext cx="1371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Code from model!</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92162"/>
          </a:xfrm>
        </p:spPr>
        <p:txBody>
          <a:bodyPr/>
          <a:lstStyle/>
          <a:p>
            <a:r>
              <a:rPr lang="en-US" dirty="0" smtClean="0"/>
              <a:t>The Client Computer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2590799" y="1066800"/>
            <a:ext cx="5392655" cy="2362200"/>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2590800" y="3672840"/>
            <a:ext cx="3962400" cy="2804160"/>
          </a:xfrm>
          <a:prstGeom prst="rect">
            <a:avLst/>
          </a:prstGeom>
          <a:noFill/>
          <a:ln w="9525">
            <a:noFill/>
            <a:miter lim="800000"/>
            <a:headEnd/>
            <a:tailEnd/>
          </a:ln>
        </p:spPr>
      </p:pic>
      <p:cxnSp>
        <p:nvCxnSpPr>
          <p:cNvPr id="9" name="Straight Connector 8"/>
          <p:cNvCxnSpPr/>
          <p:nvPr/>
        </p:nvCxnSpPr>
        <p:spPr>
          <a:xfrm flipH="1">
            <a:off x="228600" y="35052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4800" y="1524000"/>
            <a:ext cx="1905000"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Computer object is configured with a Factory object.  The Computer object delegates creation of products to its Factory!</a:t>
            </a:r>
            <a:endParaRPr lang="en-US" sz="1200" b="1" dirty="0">
              <a:solidFill>
                <a:srgbClr val="C00000"/>
              </a:solidFill>
              <a:latin typeface="Bradley Hand ITC" pitchFamily="66" charset="0"/>
            </a:endParaRPr>
          </a:p>
        </p:txBody>
      </p:sp>
      <p:sp>
        <p:nvSpPr>
          <p:cNvPr id="11" name="Freeform 10"/>
          <p:cNvSpPr/>
          <p:nvPr/>
        </p:nvSpPr>
        <p:spPr>
          <a:xfrm>
            <a:off x="2000250" y="2228850"/>
            <a:ext cx="685800" cy="771525"/>
          </a:xfrm>
          <a:custGeom>
            <a:avLst/>
            <a:gdLst>
              <a:gd name="connsiteX0" fmla="*/ 0 w 685800"/>
              <a:gd name="connsiteY0" fmla="*/ 0 h 771525"/>
              <a:gd name="connsiteX1" fmla="*/ 161925 w 685800"/>
              <a:gd name="connsiteY1" fmla="*/ 152400 h 771525"/>
              <a:gd name="connsiteX2" fmla="*/ 200025 w 685800"/>
              <a:gd name="connsiteY2" fmla="*/ 638175 h 771525"/>
              <a:gd name="connsiteX3" fmla="*/ 685800 w 685800"/>
              <a:gd name="connsiteY3" fmla="*/ 771525 h 771525"/>
            </a:gdLst>
            <a:ahLst/>
            <a:cxnLst>
              <a:cxn ang="0">
                <a:pos x="connsiteX0" y="connsiteY0"/>
              </a:cxn>
              <a:cxn ang="0">
                <a:pos x="connsiteX1" y="connsiteY1"/>
              </a:cxn>
              <a:cxn ang="0">
                <a:pos x="connsiteX2" y="connsiteY2"/>
              </a:cxn>
              <a:cxn ang="0">
                <a:pos x="connsiteX3" y="connsiteY3"/>
              </a:cxn>
            </a:cxnLst>
            <a:rect l="l" t="t" r="r" b="b"/>
            <a:pathLst>
              <a:path w="685800" h="771525">
                <a:moveTo>
                  <a:pt x="0" y="0"/>
                </a:moveTo>
                <a:cubicBezTo>
                  <a:pt x="64294" y="23019"/>
                  <a:pt x="128588" y="46038"/>
                  <a:pt x="161925" y="152400"/>
                </a:cubicBezTo>
                <a:cubicBezTo>
                  <a:pt x="195262" y="258762"/>
                  <a:pt x="112713" y="534988"/>
                  <a:pt x="200025" y="638175"/>
                </a:cubicBezTo>
                <a:cubicBezTo>
                  <a:pt x="287338" y="741363"/>
                  <a:pt x="486569" y="756444"/>
                  <a:pt x="685800" y="771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381000" y="4648200"/>
            <a:ext cx="19050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Since our design relies on interfaces only, this code works for both standard and advanced computers!</a:t>
            </a:r>
            <a:endParaRPr lang="en-US" sz="1200" b="1" dirty="0">
              <a:solidFill>
                <a:srgbClr val="C00000"/>
              </a:solidFill>
              <a:latin typeface="Bradley Hand ITC" pitchFamily="66" charset="0"/>
            </a:endParaRPr>
          </a:p>
        </p:txBody>
      </p:sp>
      <p:sp>
        <p:nvSpPr>
          <p:cNvPr id="13" name="Left Brace 12"/>
          <p:cNvSpPr/>
          <p:nvPr/>
        </p:nvSpPr>
        <p:spPr>
          <a:xfrm>
            <a:off x="2286000" y="3657600"/>
            <a:ext cx="228600" cy="28194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5638800" y="990600"/>
            <a:ext cx="3048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If you want and advanced computer, pass in an AdvancedComputerFactory, otherwise, pass in a StandardComputerFactory</a:t>
            </a:r>
            <a:endParaRPr lang="en-US" sz="1200" b="1" dirty="0">
              <a:solidFill>
                <a:srgbClr val="C00000"/>
              </a:solidFill>
              <a:latin typeface="Bradley Hand ITC" pitchFamily="66" charset="0"/>
            </a:endParaRPr>
          </a:p>
        </p:txBody>
      </p:sp>
      <p:sp>
        <p:nvSpPr>
          <p:cNvPr id="15" name="Freeform 14"/>
          <p:cNvSpPr/>
          <p:nvPr/>
        </p:nvSpPr>
        <p:spPr>
          <a:xfrm>
            <a:off x="5095875" y="1419225"/>
            <a:ext cx="771525" cy="371475"/>
          </a:xfrm>
          <a:custGeom>
            <a:avLst/>
            <a:gdLst>
              <a:gd name="connsiteX0" fmla="*/ 771525 w 771525"/>
              <a:gd name="connsiteY0" fmla="*/ 0 h 371475"/>
              <a:gd name="connsiteX1" fmla="*/ 619125 w 771525"/>
              <a:gd name="connsiteY1" fmla="*/ 95250 h 371475"/>
              <a:gd name="connsiteX2" fmla="*/ 161925 w 771525"/>
              <a:gd name="connsiteY2" fmla="*/ 123825 h 371475"/>
              <a:gd name="connsiteX3" fmla="*/ 0 w 77152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771525" h="371475">
                <a:moveTo>
                  <a:pt x="771525" y="0"/>
                </a:moveTo>
                <a:cubicBezTo>
                  <a:pt x="746125" y="37306"/>
                  <a:pt x="720725" y="74612"/>
                  <a:pt x="619125" y="95250"/>
                </a:cubicBezTo>
                <a:cubicBezTo>
                  <a:pt x="517525" y="115888"/>
                  <a:pt x="265113" y="77788"/>
                  <a:pt x="161925" y="123825"/>
                </a:cubicBezTo>
                <a:cubicBezTo>
                  <a:pt x="58738" y="169863"/>
                  <a:pt x="29369" y="270669"/>
                  <a:pt x="0" y="3714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6" name="Picture 4"/>
          <p:cNvPicPr>
            <a:picLocks noChangeAspect="1" noChangeArrowheads="1"/>
          </p:cNvPicPr>
          <p:nvPr/>
        </p:nvPicPr>
        <p:blipFill>
          <a:blip r:embed="rId4" cstate="print"/>
          <a:srcRect/>
          <a:stretch>
            <a:fillRect/>
          </a:stretch>
        </p:blipFill>
        <p:spPr bwMode="auto">
          <a:xfrm>
            <a:off x="5867400" y="3505200"/>
            <a:ext cx="3056466" cy="2311614"/>
          </a:xfrm>
          <a:prstGeom prst="rect">
            <a:avLst/>
          </a:prstGeom>
          <a:noFill/>
          <a:ln w="9525">
            <a:noFill/>
            <a:miter lim="800000"/>
            <a:headEnd/>
            <a:tailEnd/>
          </a:ln>
          <a:effectLst/>
        </p:spPr>
      </p:pic>
      <p:sp>
        <p:nvSpPr>
          <p:cNvPr id="17" name="Rectangle 16"/>
          <p:cNvSpPr/>
          <p:nvPr/>
        </p:nvSpPr>
        <p:spPr>
          <a:xfrm>
            <a:off x="3124200" y="3886200"/>
            <a:ext cx="76200" cy="1524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3124200" y="4848225"/>
            <a:ext cx="76200" cy="1524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124200" y="5819775"/>
            <a:ext cx="76200" cy="1524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 Factory Example – Putting it all Together</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pic>
        <p:nvPicPr>
          <p:cNvPr id="15362" name="Picture 2"/>
          <p:cNvPicPr>
            <a:picLocks noChangeAspect="1" noChangeArrowheads="1"/>
          </p:cNvPicPr>
          <p:nvPr/>
        </p:nvPicPr>
        <p:blipFill>
          <a:blip r:embed="rId2" cstate="print"/>
          <a:srcRect/>
          <a:stretch>
            <a:fillRect/>
          </a:stretch>
        </p:blipFill>
        <p:spPr bwMode="auto">
          <a:xfrm>
            <a:off x="457200" y="1752600"/>
            <a:ext cx="4667250" cy="1533525"/>
          </a:xfrm>
          <a:prstGeom prst="rect">
            <a:avLst/>
          </a:prstGeom>
          <a:noFill/>
          <a:ln w="9525">
            <a:noFill/>
            <a:miter lim="800000"/>
            <a:headEnd/>
            <a:tailEnd/>
          </a:ln>
        </p:spPr>
      </p:pic>
      <p:pic>
        <p:nvPicPr>
          <p:cNvPr id="15363" name="Picture 3"/>
          <p:cNvPicPr>
            <a:picLocks noChangeAspect="1" noChangeArrowheads="1"/>
          </p:cNvPicPr>
          <p:nvPr/>
        </p:nvPicPr>
        <p:blipFill>
          <a:blip r:embed="rId3" cstate="print"/>
          <a:srcRect/>
          <a:stretch>
            <a:fillRect/>
          </a:stretch>
        </p:blipFill>
        <p:spPr bwMode="auto">
          <a:xfrm>
            <a:off x="457200" y="4038600"/>
            <a:ext cx="3971925" cy="1828800"/>
          </a:xfrm>
          <a:prstGeom prst="rect">
            <a:avLst/>
          </a:prstGeom>
          <a:noFill/>
          <a:ln w="9525">
            <a:noFill/>
            <a:miter lim="800000"/>
            <a:headEnd/>
            <a:tailEnd/>
          </a:ln>
        </p:spPr>
      </p:pic>
      <p:pic>
        <p:nvPicPr>
          <p:cNvPr id="15364" name="Picture 4"/>
          <p:cNvPicPr>
            <a:picLocks noChangeAspect="1" noChangeArrowheads="1"/>
          </p:cNvPicPr>
          <p:nvPr/>
        </p:nvPicPr>
        <p:blipFill>
          <a:blip r:embed="rId4" cstate="print"/>
          <a:srcRect/>
          <a:stretch>
            <a:fillRect/>
          </a:stretch>
        </p:blipFill>
        <p:spPr bwMode="auto">
          <a:xfrm>
            <a:off x="4876800" y="4038600"/>
            <a:ext cx="3867150" cy="1857375"/>
          </a:xfrm>
          <a:prstGeom prst="rect">
            <a:avLst/>
          </a:prstGeom>
          <a:noFill/>
          <a:ln w="9525">
            <a:noFill/>
            <a:miter lim="800000"/>
            <a:headEnd/>
            <a:tailEnd/>
          </a:ln>
        </p:spPr>
      </p:pic>
      <p:sp>
        <p:nvSpPr>
          <p:cNvPr id="10" name="Freeform 9"/>
          <p:cNvSpPr/>
          <p:nvPr/>
        </p:nvSpPr>
        <p:spPr>
          <a:xfrm>
            <a:off x="1685925" y="3209925"/>
            <a:ext cx="901700" cy="904875"/>
          </a:xfrm>
          <a:custGeom>
            <a:avLst/>
            <a:gdLst>
              <a:gd name="connsiteX0" fmla="*/ 733425 w 901700"/>
              <a:gd name="connsiteY0" fmla="*/ 0 h 904875"/>
              <a:gd name="connsiteX1" fmla="*/ 876300 w 901700"/>
              <a:gd name="connsiteY1" fmla="*/ 190500 h 904875"/>
              <a:gd name="connsiteX2" fmla="*/ 581025 w 901700"/>
              <a:gd name="connsiteY2" fmla="*/ 371475 h 904875"/>
              <a:gd name="connsiteX3" fmla="*/ 590550 w 901700"/>
              <a:gd name="connsiteY3" fmla="*/ 714375 h 904875"/>
              <a:gd name="connsiteX4" fmla="*/ 0 w 901700"/>
              <a:gd name="connsiteY4" fmla="*/ 904875 h 904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700" h="904875">
                <a:moveTo>
                  <a:pt x="733425" y="0"/>
                </a:moveTo>
                <a:cubicBezTo>
                  <a:pt x="817562" y="64294"/>
                  <a:pt x="901700" y="128588"/>
                  <a:pt x="876300" y="190500"/>
                </a:cubicBezTo>
                <a:cubicBezTo>
                  <a:pt x="850900" y="252412"/>
                  <a:pt x="628650" y="284162"/>
                  <a:pt x="581025" y="371475"/>
                </a:cubicBezTo>
                <a:cubicBezTo>
                  <a:pt x="533400" y="458788"/>
                  <a:pt x="687387" y="625475"/>
                  <a:pt x="590550" y="714375"/>
                </a:cubicBezTo>
                <a:cubicBezTo>
                  <a:pt x="493713" y="803275"/>
                  <a:pt x="246856" y="854075"/>
                  <a:pt x="0" y="9048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Oval 14"/>
          <p:cNvSpPr/>
          <p:nvPr/>
        </p:nvSpPr>
        <p:spPr>
          <a:xfrm>
            <a:off x="2438400" y="3568898"/>
            <a:ext cx="304800" cy="241102"/>
          </a:xfrm>
          <a:prstGeom prst="ellipse">
            <a:avLst/>
          </a:prstGeom>
          <a:noFill/>
          <a:ln w="25400" cmpd="dbl">
            <a:solidFill>
              <a:schemeClr val="tx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2457450" y="3533775"/>
            <a:ext cx="276038" cy="307777"/>
          </a:xfrm>
          <a:prstGeom prst="rect">
            <a:avLst/>
          </a:prstGeom>
          <a:noFill/>
        </p:spPr>
        <p:txBody>
          <a:bodyPr wrap="none" rtlCol="0">
            <a:spAutoFit/>
          </a:bodyPr>
          <a:lstStyle/>
          <a:p>
            <a:r>
              <a:rPr lang="en-US" sz="1400" dirty="0" smtClean="0"/>
              <a:t>2</a:t>
            </a:r>
            <a:endParaRPr lang="en-US" sz="1400" dirty="0"/>
          </a:p>
        </p:txBody>
      </p:sp>
      <p:grpSp>
        <p:nvGrpSpPr>
          <p:cNvPr id="19" name="Group 18"/>
          <p:cNvGrpSpPr/>
          <p:nvPr/>
        </p:nvGrpSpPr>
        <p:grpSpPr>
          <a:xfrm>
            <a:off x="457200" y="1368623"/>
            <a:ext cx="304800" cy="307777"/>
            <a:chOff x="457200" y="1368623"/>
            <a:chExt cx="304800" cy="307777"/>
          </a:xfrm>
        </p:grpSpPr>
        <p:sp>
          <p:nvSpPr>
            <p:cNvPr id="17" name="Oval 16"/>
            <p:cNvSpPr/>
            <p:nvPr/>
          </p:nvSpPr>
          <p:spPr>
            <a:xfrm>
              <a:off x="457200" y="1403746"/>
              <a:ext cx="304800" cy="241102"/>
            </a:xfrm>
            <a:prstGeom prst="ellipse">
              <a:avLst/>
            </a:prstGeom>
            <a:noFill/>
            <a:ln w="25400" cmpd="dbl">
              <a:solidFill>
                <a:schemeClr val="tx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476250" y="1368623"/>
              <a:ext cx="276038" cy="307777"/>
            </a:xfrm>
            <a:prstGeom prst="rect">
              <a:avLst/>
            </a:prstGeom>
            <a:noFill/>
          </p:spPr>
          <p:txBody>
            <a:bodyPr wrap="none" rtlCol="0">
              <a:spAutoFit/>
            </a:bodyPr>
            <a:lstStyle/>
            <a:p>
              <a:r>
                <a:rPr lang="en-US" sz="1400" dirty="0" smtClean="0"/>
                <a:t>1</a:t>
              </a:r>
              <a:endParaRPr lang="en-US" sz="1400" dirty="0"/>
            </a:p>
          </p:txBody>
        </p:sp>
      </p:grpSp>
      <p:grpSp>
        <p:nvGrpSpPr>
          <p:cNvPr id="20" name="Group 19"/>
          <p:cNvGrpSpPr/>
          <p:nvPr/>
        </p:nvGrpSpPr>
        <p:grpSpPr>
          <a:xfrm>
            <a:off x="4114800" y="5562600"/>
            <a:ext cx="304800" cy="307777"/>
            <a:chOff x="457200" y="1368623"/>
            <a:chExt cx="304800" cy="307777"/>
          </a:xfrm>
        </p:grpSpPr>
        <p:sp>
          <p:nvSpPr>
            <p:cNvPr id="21" name="Oval 20"/>
            <p:cNvSpPr/>
            <p:nvPr/>
          </p:nvSpPr>
          <p:spPr>
            <a:xfrm>
              <a:off x="457200" y="1403746"/>
              <a:ext cx="304800" cy="241102"/>
            </a:xfrm>
            <a:prstGeom prst="ellipse">
              <a:avLst/>
            </a:prstGeom>
            <a:noFill/>
            <a:ln w="25400" cmpd="dbl">
              <a:solidFill>
                <a:schemeClr val="tx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476250" y="1368623"/>
              <a:ext cx="276038" cy="307777"/>
            </a:xfrm>
            <a:prstGeom prst="rect">
              <a:avLst/>
            </a:prstGeom>
            <a:noFill/>
          </p:spPr>
          <p:txBody>
            <a:bodyPr wrap="none" rtlCol="0">
              <a:spAutoFit/>
            </a:bodyPr>
            <a:lstStyle/>
            <a:p>
              <a:r>
                <a:rPr lang="en-US" sz="1400" dirty="0" smtClean="0"/>
                <a:t>3</a:t>
              </a:r>
              <a:endParaRPr lang="en-US" sz="1400" dirty="0"/>
            </a:p>
          </p:txBody>
        </p:sp>
      </p:grpSp>
      <p:sp>
        <p:nvSpPr>
          <p:cNvPr id="23" name="Freeform 22"/>
          <p:cNvSpPr/>
          <p:nvPr/>
        </p:nvSpPr>
        <p:spPr>
          <a:xfrm>
            <a:off x="1695450" y="4143375"/>
            <a:ext cx="3162300" cy="1973262"/>
          </a:xfrm>
          <a:custGeom>
            <a:avLst/>
            <a:gdLst>
              <a:gd name="connsiteX0" fmla="*/ 0 w 3162300"/>
              <a:gd name="connsiteY0" fmla="*/ 1695450 h 1973262"/>
              <a:gd name="connsiteX1" fmla="*/ 790575 w 3162300"/>
              <a:gd name="connsiteY1" fmla="*/ 1809750 h 1973262"/>
              <a:gd name="connsiteX2" fmla="*/ 1704975 w 3162300"/>
              <a:gd name="connsiteY2" fmla="*/ 1971675 h 1973262"/>
              <a:gd name="connsiteX3" fmla="*/ 2771775 w 3162300"/>
              <a:gd name="connsiteY3" fmla="*/ 1800225 h 1973262"/>
              <a:gd name="connsiteX4" fmla="*/ 2733675 w 3162300"/>
              <a:gd name="connsiteY4" fmla="*/ 1152525 h 1973262"/>
              <a:gd name="connsiteX5" fmla="*/ 2981325 w 3162300"/>
              <a:gd name="connsiteY5" fmla="*/ 685800 h 1973262"/>
              <a:gd name="connsiteX6" fmla="*/ 2857500 w 3162300"/>
              <a:gd name="connsiteY6" fmla="*/ 276225 h 1973262"/>
              <a:gd name="connsiteX7" fmla="*/ 3162300 w 3162300"/>
              <a:gd name="connsiteY7" fmla="*/ 0 h 1973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2300" h="1973262">
                <a:moveTo>
                  <a:pt x="0" y="1695450"/>
                </a:moveTo>
                <a:lnTo>
                  <a:pt x="790575" y="1809750"/>
                </a:lnTo>
                <a:cubicBezTo>
                  <a:pt x="1074738" y="1855788"/>
                  <a:pt x="1374775" y="1973262"/>
                  <a:pt x="1704975" y="1971675"/>
                </a:cubicBezTo>
                <a:cubicBezTo>
                  <a:pt x="2035175" y="1970088"/>
                  <a:pt x="2600325" y="1936750"/>
                  <a:pt x="2771775" y="1800225"/>
                </a:cubicBezTo>
                <a:cubicBezTo>
                  <a:pt x="2943225" y="1663700"/>
                  <a:pt x="2698750" y="1338262"/>
                  <a:pt x="2733675" y="1152525"/>
                </a:cubicBezTo>
                <a:cubicBezTo>
                  <a:pt x="2768600" y="966788"/>
                  <a:pt x="2960688" y="831850"/>
                  <a:pt x="2981325" y="685800"/>
                </a:cubicBezTo>
                <a:cubicBezTo>
                  <a:pt x="3001963" y="539750"/>
                  <a:pt x="2827338" y="390525"/>
                  <a:pt x="2857500" y="276225"/>
                </a:cubicBezTo>
                <a:cubicBezTo>
                  <a:pt x="2887662" y="161925"/>
                  <a:pt x="3024981" y="80962"/>
                  <a:pt x="316230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Freeform 24"/>
          <p:cNvSpPr/>
          <p:nvPr/>
        </p:nvSpPr>
        <p:spPr>
          <a:xfrm>
            <a:off x="8077200" y="3429000"/>
            <a:ext cx="533401" cy="809625"/>
          </a:xfrm>
          <a:custGeom>
            <a:avLst/>
            <a:gdLst>
              <a:gd name="connsiteX0" fmla="*/ 0 w 593725"/>
              <a:gd name="connsiteY0" fmla="*/ 809625 h 809625"/>
              <a:gd name="connsiteX1" fmla="*/ 276225 w 593725"/>
              <a:gd name="connsiteY1" fmla="*/ 666750 h 809625"/>
              <a:gd name="connsiteX2" fmla="*/ 285750 w 593725"/>
              <a:gd name="connsiteY2" fmla="*/ 428625 h 809625"/>
              <a:gd name="connsiteX3" fmla="*/ 581025 w 593725"/>
              <a:gd name="connsiteY3" fmla="*/ 161925 h 809625"/>
              <a:gd name="connsiteX4" fmla="*/ 361950 w 593725"/>
              <a:gd name="connsiteY4" fmla="*/ 0 h 809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725" h="809625">
                <a:moveTo>
                  <a:pt x="0" y="809625"/>
                </a:moveTo>
                <a:cubicBezTo>
                  <a:pt x="114300" y="769937"/>
                  <a:pt x="228600" y="730250"/>
                  <a:pt x="276225" y="666750"/>
                </a:cubicBezTo>
                <a:cubicBezTo>
                  <a:pt x="323850" y="603250"/>
                  <a:pt x="234950" y="512762"/>
                  <a:pt x="285750" y="428625"/>
                </a:cubicBezTo>
                <a:cubicBezTo>
                  <a:pt x="336550" y="344488"/>
                  <a:pt x="568325" y="233362"/>
                  <a:pt x="581025" y="161925"/>
                </a:cubicBezTo>
                <a:cubicBezTo>
                  <a:pt x="593725" y="90488"/>
                  <a:pt x="477837" y="45244"/>
                  <a:pt x="3619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6" name="Group 25"/>
          <p:cNvGrpSpPr/>
          <p:nvPr/>
        </p:nvGrpSpPr>
        <p:grpSpPr>
          <a:xfrm>
            <a:off x="8458200" y="3807023"/>
            <a:ext cx="304800" cy="307777"/>
            <a:chOff x="457200" y="1368623"/>
            <a:chExt cx="304800" cy="307777"/>
          </a:xfrm>
        </p:grpSpPr>
        <p:sp>
          <p:nvSpPr>
            <p:cNvPr id="27" name="Oval 26"/>
            <p:cNvSpPr/>
            <p:nvPr/>
          </p:nvSpPr>
          <p:spPr>
            <a:xfrm>
              <a:off x="457200" y="1403746"/>
              <a:ext cx="304800" cy="241102"/>
            </a:xfrm>
            <a:prstGeom prst="ellipse">
              <a:avLst/>
            </a:prstGeom>
            <a:noFill/>
            <a:ln w="25400" cmpd="dbl">
              <a:solidFill>
                <a:schemeClr val="tx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476250" y="1368623"/>
              <a:ext cx="276038" cy="307777"/>
            </a:xfrm>
            <a:prstGeom prst="rect">
              <a:avLst/>
            </a:prstGeom>
            <a:noFill/>
          </p:spPr>
          <p:txBody>
            <a:bodyPr wrap="none" rtlCol="0">
              <a:spAutoFit/>
            </a:bodyPr>
            <a:lstStyle/>
            <a:p>
              <a:r>
                <a:rPr lang="en-US" sz="1400" dirty="0" smtClean="0"/>
                <a:t>4</a:t>
              </a:r>
              <a:endParaRPr lang="en-US" sz="1400" dirty="0"/>
            </a:p>
          </p:txBody>
        </p:sp>
      </p:grpSp>
      <p:pic>
        <p:nvPicPr>
          <p:cNvPr id="15366" name="Picture 6"/>
          <p:cNvPicPr>
            <a:picLocks noChangeAspect="1" noChangeArrowheads="1"/>
          </p:cNvPicPr>
          <p:nvPr/>
        </p:nvPicPr>
        <p:blipFill>
          <a:blip r:embed="rId5" cstate="print"/>
          <a:srcRect/>
          <a:stretch>
            <a:fillRect/>
          </a:stretch>
        </p:blipFill>
        <p:spPr bwMode="auto">
          <a:xfrm>
            <a:off x="647700" y="2962275"/>
            <a:ext cx="3762375" cy="161925"/>
          </a:xfrm>
          <a:prstGeom prst="rect">
            <a:avLst/>
          </a:prstGeom>
          <a:noFill/>
          <a:ln w="9525">
            <a:noFill/>
            <a:miter lim="800000"/>
            <a:headEnd/>
            <a:tailEnd/>
          </a:ln>
        </p:spPr>
      </p:pic>
      <p:sp>
        <p:nvSpPr>
          <p:cNvPr id="30" name="Rectangle 29"/>
          <p:cNvSpPr/>
          <p:nvPr/>
        </p:nvSpPr>
        <p:spPr>
          <a:xfrm>
            <a:off x="4267200" y="2895600"/>
            <a:ext cx="9144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5" name="Picture 5"/>
          <p:cNvPicPr>
            <a:picLocks noChangeAspect="1" noChangeArrowheads="1"/>
          </p:cNvPicPr>
          <p:nvPr/>
        </p:nvPicPr>
        <p:blipFill>
          <a:blip r:embed="rId6" cstate="print"/>
          <a:srcRect/>
          <a:stretch>
            <a:fillRect/>
          </a:stretch>
        </p:blipFill>
        <p:spPr bwMode="auto">
          <a:xfrm>
            <a:off x="5334000" y="1371600"/>
            <a:ext cx="2944559" cy="2343150"/>
          </a:xfrm>
          <a:prstGeom prst="rect">
            <a:avLst/>
          </a:prstGeom>
          <a:noFill/>
          <a:ln w="9525">
            <a:noFill/>
            <a:miter lim="800000"/>
            <a:headEnd/>
            <a:tailEnd/>
          </a:ln>
          <a:effectLst>
            <a:outerShdw blurRad="63500" sx="102000" sy="102000" algn="ctr" rotWithShape="0">
              <a:prstClr val="black">
                <a:alpha val="40000"/>
              </a:prstClr>
            </a:outerShdw>
          </a:effectLst>
        </p:spPr>
      </p:pic>
      <p:sp>
        <p:nvSpPr>
          <p:cNvPr id="29" name="TextBox 28"/>
          <p:cNvSpPr txBox="1"/>
          <p:nvPr/>
        </p:nvSpPr>
        <p:spPr>
          <a:xfrm>
            <a:off x="5562600" y="5943600"/>
            <a:ext cx="2590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Notice how we configure the Computer object with a Factory object!</a:t>
            </a:r>
            <a:endParaRPr lang="en-US" sz="1200" b="1" dirty="0">
              <a:solidFill>
                <a:srgbClr val="C00000"/>
              </a:solidFill>
              <a:latin typeface="Bradley Hand ITC" pitchFamily="66" charset="0"/>
            </a:endParaRPr>
          </a:p>
        </p:txBody>
      </p:sp>
      <p:sp>
        <p:nvSpPr>
          <p:cNvPr id="34" name="Freeform 33"/>
          <p:cNvSpPr/>
          <p:nvPr/>
        </p:nvSpPr>
        <p:spPr>
          <a:xfrm>
            <a:off x="7924800" y="4378325"/>
            <a:ext cx="936625" cy="1860550"/>
          </a:xfrm>
          <a:custGeom>
            <a:avLst/>
            <a:gdLst>
              <a:gd name="connsiteX0" fmla="*/ 0 w 1127125"/>
              <a:gd name="connsiteY0" fmla="*/ 1860550 h 1860550"/>
              <a:gd name="connsiteX1" fmla="*/ 523875 w 1127125"/>
              <a:gd name="connsiteY1" fmla="*/ 1565275 h 1860550"/>
              <a:gd name="connsiteX2" fmla="*/ 752475 w 1127125"/>
              <a:gd name="connsiteY2" fmla="*/ 984250 h 1860550"/>
              <a:gd name="connsiteX3" fmla="*/ 1038225 w 1127125"/>
              <a:gd name="connsiteY3" fmla="*/ 765175 h 1860550"/>
              <a:gd name="connsiteX4" fmla="*/ 1095375 w 1127125"/>
              <a:gd name="connsiteY4" fmla="*/ 365125 h 1860550"/>
              <a:gd name="connsiteX5" fmla="*/ 847725 w 1127125"/>
              <a:gd name="connsiteY5" fmla="*/ 31750 h 1860550"/>
              <a:gd name="connsiteX6" fmla="*/ 428625 w 1127125"/>
              <a:gd name="connsiteY6" fmla="*/ 174625 h 1860550"/>
              <a:gd name="connsiteX7" fmla="*/ 190500 w 1127125"/>
              <a:gd name="connsiteY7" fmla="*/ 88900 h 186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125" h="1860550">
                <a:moveTo>
                  <a:pt x="0" y="1860550"/>
                </a:moveTo>
                <a:cubicBezTo>
                  <a:pt x="199231" y="1785937"/>
                  <a:pt x="398463" y="1711325"/>
                  <a:pt x="523875" y="1565275"/>
                </a:cubicBezTo>
                <a:cubicBezTo>
                  <a:pt x="649288" y="1419225"/>
                  <a:pt x="666750" y="1117600"/>
                  <a:pt x="752475" y="984250"/>
                </a:cubicBezTo>
                <a:cubicBezTo>
                  <a:pt x="838200" y="850900"/>
                  <a:pt x="981075" y="868363"/>
                  <a:pt x="1038225" y="765175"/>
                </a:cubicBezTo>
                <a:cubicBezTo>
                  <a:pt x="1095375" y="661988"/>
                  <a:pt x="1127125" y="487362"/>
                  <a:pt x="1095375" y="365125"/>
                </a:cubicBezTo>
                <a:cubicBezTo>
                  <a:pt x="1063625" y="242888"/>
                  <a:pt x="958850" y="63500"/>
                  <a:pt x="847725" y="31750"/>
                </a:cubicBezTo>
                <a:cubicBezTo>
                  <a:pt x="736600" y="0"/>
                  <a:pt x="538162" y="165100"/>
                  <a:pt x="428625" y="174625"/>
                </a:cubicBezTo>
                <a:cubicBezTo>
                  <a:pt x="319088" y="184150"/>
                  <a:pt x="254794" y="136525"/>
                  <a:pt x="190500" y="88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 Factory Step-by-Step Summary</a:t>
            </a:r>
            <a:endParaRPr lang="en-US" dirty="0"/>
          </a:p>
        </p:txBody>
      </p:sp>
      <p:sp>
        <p:nvSpPr>
          <p:cNvPr id="3" name="Content Placeholder 2"/>
          <p:cNvSpPr>
            <a:spLocks noGrp="1"/>
          </p:cNvSpPr>
          <p:nvPr>
            <p:ph idx="1"/>
          </p:nvPr>
        </p:nvSpPr>
        <p:spPr/>
        <p:txBody>
          <a:bodyPr>
            <a:normAutofit lnSpcReduction="10000"/>
          </a:bodyPr>
          <a:lstStyle/>
          <a:p>
            <a:r>
              <a:rPr lang="en-US" dirty="0" smtClean="0"/>
              <a:t>As seen, the Abstract Factory pattern can be used over and over to support new family of products or to add new products to existing ones.  When designing with the Abstract Factory, execute the following steps:</a:t>
            </a:r>
          </a:p>
          <a:p>
            <a:pPr marL="800100" lvl="1" indent="-342900">
              <a:buFont typeface="+mj-lt"/>
              <a:buAutoNum type="arabicPeriod"/>
            </a:pPr>
            <a:r>
              <a:rPr lang="en-US" dirty="0" smtClean="0"/>
              <a:t>Design the product interfaces (e.g., </a:t>
            </a:r>
            <a:r>
              <a:rPr lang="en-US" dirty="0" err="1" smtClean="0"/>
              <a:t>Cpu</a:t>
            </a:r>
            <a:r>
              <a:rPr lang="en-US" dirty="0" smtClean="0"/>
              <a:t>, Monitor, and Keyboard)</a:t>
            </a:r>
          </a:p>
          <a:p>
            <a:pPr marL="800100" lvl="1" indent="-342900">
              <a:buFont typeface="+mj-lt"/>
              <a:buAutoNum type="arabicPeriod"/>
            </a:pPr>
            <a:r>
              <a:rPr lang="en-US" dirty="0" smtClean="0"/>
              <a:t>Identify the different families or groups required for the problem (e.g., standard vs. advanced computers)</a:t>
            </a:r>
          </a:p>
          <a:p>
            <a:pPr marL="800100" lvl="1" indent="-342900">
              <a:buFont typeface="+mj-lt"/>
              <a:buAutoNum type="arabicPeriod"/>
            </a:pPr>
            <a:r>
              <a:rPr lang="en-US" dirty="0" smtClean="0"/>
              <a:t>For each group identified in step 2, design concrete products that realize the respective product interfaces identified in step 1.</a:t>
            </a:r>
          </a:p>
          <a:p>
            <a:pPr marL="800100" lvl="1" indent="-342900">
              <a:buFont typeface="+mj-lt"/>
              <a:buAutoNum type="arabicPeriod"/>
            </a:pPr>
            <a:r>
              <a:rPr lang="en-US" dirty="0" smtClean="0"/>
              <a:t>Create the factory interface (e.g., </a:t>
            </a:r>
            <a:r>
              <a:rPr lang="en-US" dirty="0" err="1" smtClean="0"/>
              <a:t>ComputerPartsFactory</a:t>
            </a:r>
            <a:r>
              <a:rPr lang="en-US" dirty="0" smtClean="0"/>
              <a:t>).  The factory interface contains </a:t>
            </a:r>
            <a:r>
              <a:rPr lang="en-US" i="1" dirty="0" smtClean="0"/>
              <a:t>n</a:t>
            </a:r>
            <a:r>
              <a:rPr lang="en-US" dirty="0" smtClean="0"/>
              <a:t> interface methods, one for each product interface identified in step 1.</a:t>
            </a:r>
          </a:p>
          <a:p>
            <a:pPr marL="800100" lvl="1" indent="-342900">
              <a:buFont typeface="+mj-lt"/>
              <a:buAutoNum type="arabicPeriod"/>
            </a:pPr>
            <a:r>
              <a:rPr lang="en-US" dirty="0" smtClean="0"/>
              <a:t>For each family or group identified in step 2, create concrete factories that realize the factory interface created in step 4.</a:t>
            </a:r>
          </a:p>
          <a:p>
            <a:pPr marL="800100" lvl="1" indent="-342900">
              <a:buFont typeface="+mj-lt"/>
              <a:buAutoNum type="arabicPeriod"/>
            </a:pPr>
            <a:r>
              <a:rPr lang="en-US" dirty="0" smtClean="0"/>
              <a:t>Associate each concrete factory from step 5 with their respective products from step 3.</a:t>
            </a:r>
          </a:p>
          <a:p>
            <a:pPr marL="800100" lvl="1" indent="-342900">
              <a:buFont typeface="+mj-lt"/>
              <a:buAutoNum type="arabicPeriod"/>
            </a:pPr>
            <a:r>
              <a:rPr lang="en-US" dirty="0" smtClean="0"/>
              <a:t>Create the Client (e.g., Computer) which is associated with both product and factory interfaces created in steps 1 and 4, respectively.</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Consequences of Abstract Factory</a:t>
            </a:r>
            <a:endParaRPr lang="en-US" dirty="0"/>
          </a:p>
        </p:txBody>
      </p:sp>
      <p:sp>
        <p:nvSpPr>
          <p:cNvPr id="3" name="Content Placeholder 2"/>
          <p:cNvSpPr>
            <a:spLocks noGrp="1"/>
          </p:cNvSpPr>
          <p:nvPr>
            <p:ph idx="1"/>
          </p:nvPr>
        </p:nvSpPr>
        <p:spPr>
          <a:xfrm>
            <a:off x="457200" y="1371601"/>
            <a:ext cx="5410200" cy="5029199"/>
          </a:xfrm>
        </p:spPr>
        <p:txBody>
          <a:bodyPr>
            <a:normAutofit/>
          </a:bodyPr>
          <a:lstStyle/>
          <a:p>
            <a:r>
              <a:rPr lang="en-US" dirty="0" smtClean="0"/>
              <a:t>Cons</a:t>
            </a:r>
          </a:p>
          <a:p>
            <a:pPr lvl="1"/>
            <a:r>
              <a:rPr lang="en-US" dirty="0" smtClean="0"/>
              <a:t>Large number of classes are required</a:t>
            </a:r>
          </a:p>
          <a:p>
            <a:pPr lvl="1"/>
            <a:endParaRPr lang="en-US" dirty="0" smtClean="0"/>
          </a:p>
          <a:p>
            <a:r>
              <a:rPr lang="en-US" dirty="0" smtClean="0"/>
              <a:t>Pros</a:t>
            </a:r>
          </a:p>
          <a:p>
            <a:pPr lvl="1"/>
            <a:r>
              <a:rPr lang="en-US" dirty="0" smtClean="0"/>
              <a:t>Isolates concrete product classes so that reusing them becomes easier</a:t>
            </a:r>
          </a:p>
          <a:p>
            <a:pPr lvl="1"/>
            <a:r>
              <a:rPr lang="en-US" dirty="0" smtClean="0"/>
              <a:t>Promotes consistency within specific product families.</a:t>
            </a:r>
          </a:p>
          <a:p>
            <a:pPr lvl="1"/>
            <a:r>
              <a:rPr lang="en-US" dirty="0" smtClean="0"/>
              <a:t>Adding new families of products require no modification to existing code.  </a:t>
            </a:r>
          </a:p>
          <a:p>
            <a:pPr lvl="2"/>
            <a:r>
              <a:rPr lang="en-US" dirty="0" smtClean="0"/>
              <a:t>Additions are made through extension, therefore, obeying the OCP.</a:t>
            </a:r>
          </a:p>
          <a:p>
            <a:pPr lvl="1"/>
            <a:r>
              <a:rPr lang="en-US" dirty="0" smtClean="0"/>
              <a:t>Helps minimize the degree of complexity when changing the system to meet future needs.</a:t>
            </a:r>
          </a:p>
          <a:p>
            <a:pPr lvl="2"/>
            <a:r>
              <a:rPr lang="en-US" dirty="0" smtClean="0"/>
              <a:t>i.e., increases modifiability</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pic>
        <p:nvPicPr>
          <p:cNvPr id="16386" name="Picture 2"/>
          <p:cNvPicPr>
            <a:picLocks noChangeAspect="1" noChangeArrowheads="1"/>
          </p:cNvPicPr>
          <p:nvPr/>
        </p:nvPicPr>
        <p:blipFill>
          <a:blip r:embed="rId2" cstate="print"/>
          <a:srcRect/>
          <a:stretch>
            <a:fillRect/>
          </a:stretch>
        </p:blipFill>
        <p:spPr bwMode="auto">
          <a:xfrm>
            <a:off x="5943600" y="1295400"/>
            <a:ext cx="2223932" cy="5024438"/>
          </a:xfrm>
          <a:prstGeom prst="rect">
            <a:avLst/>
          </a:prstGeom>
          <a:noFill/>
          <a:ln w="9525">
            <a:noFill/>
            <a:miter lim="800000"/>
            <a:headEnd/>
            <a:tailEnd/>
          </a:ln>
        </p:spPr>
      </p:pic>
      <p:sp>
        <p:nvSpPr>
          <p:cNvPr id="8" name="Freeform 7"/>
          <p:cNvSpPr/>
          <p:nvPr/>
        </p:nvSpPr>
        <p:spPr>
          <a:xfrm>
            <a:off x="4772025" y="1952625"/>
            <a:ext cx="1076325" cy="619125"/>
          </a:xfrm>
          <a:custGeom>
            <a:avLst/>
            <a:gdLst>
              <a:gd name="connsiteX0" fmla="*/ 0 w 1076325"/>
              <a:gd name="connsiteY0" fmla="*/ 0 h 619125"/>
              <a:gd name="connsiteX1" fmla="*/ 342900 w 1076325"/>
              <a:gd name="connsiteY1" fmla="*/ 161925 h 619125"/>
              <a:gd name="connsiteX2" fmla="*/ 657225 w 1076325"/>
              <a:gd name="connsiteY2" fmla="*/ 523875 h 619125"/>
              <a:gd name="connsiteX3" fmla="*/ 1076325 w 1076325"/>
              <a:gd name="connsiteY3" fmla="*/ 619125 h 619125"/>
            </a:gdLst>
            <a:ahLst/>
            <a:cxnLst>
              <a:cxn ang="0">
                <a:pos x="connsiteX0" y="connsiteY0"/>
              </a:cxn>
              <a:cxn ang="0">
                <a:pos x="connsiteX1" y="connsiteY1"/>
              </a:cxn>
              <a:cxn ang="0">
                <a:pos x="connsiteX2" y="connsiteY2"/>
              </a:cxn>
              <a:cxn ang="0">
                <a:pos x="connsiteX3" y="connsiteY3"/>
              </a:cxn>
            </a:cxnLst>
            <a:rect l="l" t="t" r="r" b="b"/>
            <a:pathLst>
              <a:path w="1076325" h="619125">
                <a:moveTo>
                  <a:pt x="0" y="0"/>
                </a:moveTo>
                <a:cubicBezTo>
                  <a:pt x="116681" y="37306"/>
                  <a:pt x="233363" y="74613"/>
                  <a:pt x="342900" y="161925"/>
                </a:cubicBezTo>
                <a:cubicBezTo>
                  <a:pt x="452438" y="249238"/>
                  <a:pt x="534988" y="447675"/>
                  <a:pt x="657225" y="523875"/>
                </a:cubicBezTo>
                <a:cubicBezTo>
                  <a:pt x="779463" y="600075"/>
                  <a:pt x="927894" y="609600"/>
                  <a:pt x="1076325" y="6191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a:bodyPr>
          <a:lstStyle/>
          <a:p>
            <a:r>
              <a:rPr lang="en-US" dirty="0" smtClean="0"/>
              <a:t>In this session, we presented fundamentals concepts of design patterns and creational design patterns, including:</a:t>
            </a:r>
          </a:p>
          <a:p>
            <a:pPr lvl="1"/>
            <a:r>
              <a:rPr lang="en-US" dirty="0" smtClean="0"/>
              <a:t>Abstract Factory</a:t>
            </a:r>
          </a:p>
          <a:p>
            <a:pPr lvl="1">
              <a:buNone/>
            </a:pPr>
            <a:endParaRPr lang="en-US" dirty="0" smtClean="0"/>
          </a:p>
          <a:p>
            <a:r>
              <a:rPr lang="en-US" dirty="0" smtClean="0"/>
              <a:t>In the next sessions, we will continue the presentation on creational design patterns, including:</a:t>
            </a:r>
          </a:p>
          <a:p>
            <a:pPr lvl="1"/>
            <a:r>
              <a:rPr lang="en-US" dirty="0" smtClean="0"/>
              <a:t>Factory method</a:t>
            </a:r>
          </a:p>
          <a:p>
            <a:pPr lvl="1"/>
            <a:r>
              <a:rPr lang="en-US" dirty="0" smtClean="0"/>
              <a:t>Builder</a:t>
            </a:r>
          </a:p>
          <a:p>
            <a:pPr lvl="1"/>
            <a:r>
              <a:rPr lang="en-US" dirty="0" smtClean="0"/>
              <a:t>Prototype</a:t>
            </a:r>
          </a:p>
          <a:p>
            <a:pPr lvl="1"/>
            <a:r>
              <a:rPr lang="en-US" dirty="0" smtClean="0"/>
              <a:t>Singleton</a:t>
            </a:r>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[1] Gamma, Erich, Richard Helm, Ralph Johnson, and John </a:t>
            </a:r>
            <a:r>
              <a:rPr lang="en-US" dirty="0" err="1" smtClean="0"/>
              <a:t>Vlissides</a:t>
            </a:r>
            <a:r>
              <a:rPr lang="en-US" dirty="0" smtClean="0"/>
              <a:t>.  </a:t>
            </a:r>
            <a:r>
              <a:rPr lang="en-US" i="1" dirty="0" smtClean="0"/>
              <a:t>Design Patterns: Elements of Reusable Object-Oriented Software</a:t>
            </a:r>
            <a:r>
              <a:rPr lang="en-US" dirty="0" smtClean="0"/>
              <a:t>.  Boston: Addison-Wesley, 1995.</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3/27/2019</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15703</TotalTime>
  <Words>2245</Words>
  <Application>Microsoft Office PowerPoint</Application>
  <PresentationFormat>On-screen Show (4:3)</PresentationFormat>
  <Paragraphs>333</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UVa-Wise-Clean-BW</vt:lpstr>
      <vt:lpstr>Chapter 6: Creational Design Patterns</vt:lpstr>
      <vt:lpstr>Session’s Agenda</vt:lpstr>
      <vt:lpstr>Patterns in Detailed Design</vt:lpstr>
      <vt:lpstr>Patterns in Detailed Design</vt:lpstr>
      <vt:lpstr>Classification of Design Patterns</vt:lpstr>
      <vt:lpstr>Documenting Design Patterns</vt:lpstr>
      <vt:lpstr>Creational Design Patterns</vt:lpstr>
      <vt:lpstr>The Abstract Factory</vt:lpstr>
      <vt:lpstr>The Abstract Factory Design Pattern</vt:lpstr>
      <vt:lpstr>The Abstract Factory Design Pattern</vt:lpstr>
      <vt:lpstr>The Abstract Factory Design Pattern</vt:lpstr>
      <vt:lpstr>The Abstract Factory  — Very Simple and Fictional Example —</vt:lpstr>
      <vt:lpstr>The Abstract Factory  — Very Simple and Fictional Example —</vt:lpstr>
      <vt:lpstr>Abstract Factory for Computer Store</vt:lpstr>
      <vt:lpstr>PowerPoint Presentation</vt:lpstr>
      <vt:lpstr>The Cpu Product Design</vt:lpstr>
      <vt:lpstr>The Monitor Product Design</vt:lpstr>
      <vt:lpstr>The Keyboard Product Design</vt:lpstr>
      <vt:lpstr>The Cpu Product Implementation</vt:lpstr>
      <vt:lpstr>Other Product Implementation</vt:lpstr>
      <vt:lpstr>Design the Factory Interface and Concrete Factories</vt:lpstr>
      <vt:lpstr>The Advanced Computer Parts Factory</vt:lpstr>
      <vt:lpstr>The Standard Computer Parts Factory</vt:lpstr>
      <vt:lpstr>The Client Computer Design</vt:lpstr>
      <vt:lpstr>The Client Computer Design</vt:lpstr>
      <vt:lpstr>Abstract Factory Example – Putting it all Together</vt:lpstr>
      <vt:lpstr>Abstract Factory Step-by-Step Summary</vt:lpstr>
      <vt:lpstr>Consequences of Abstract Factory</vt:lpstr>
      <vt:lpstr>What’s Next…</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User</cp:lastModifiedBy>
  <cp:revision>889</cp:revision>
  <dcterms:created xsi:type="dcterms:W3CDTF">2006-08-16T00:00:00Z</dcterms:created>
  <dcterms:modified xsi:type="dcterms:W3CDTF">2019-03-27T07:54:53Z</dcterms:modified>
</cp:coreProperties>
</file>