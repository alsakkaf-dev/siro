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7315200" cy="9601200"/>
  <p:embeddedFontLst>
    <p:embeddedFont>
      <p:font typeface="Architects Daughter"/>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27" roundtripDataSignature="AMtx7mjOBWUdkZb8FfIV9QQ5Js6UcqG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chitectsDaughter-regular.fntdata"/><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55" name="Google Shape;155;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5" name="Google Shape;195;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06" name="Google Shape;206;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3" name="Google Shape;253;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70" name="Google Shape;270;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87" name="Google Shape;287;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12" name="Google Shape;312;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30" name="Google Shape;330;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49" name="Google Shape;349;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63" name="Google Shape;363;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85" name="Google Shape;385;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99" name="Google Shape;399;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08" name="Google Shape;408;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17" name="Google Shape;417;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2"/>
          <p:cNvSpPr txBox="1"/>
          <p:nvPr>
            <p:ph type="ctrTitle"/>
          </p:nvPr>
        </p:nvSpPr>
        <p:spPr>
          <a:xfrm>
            <a:off x="0" y="685800"/>
            <a:ext cx="9144000" cy="1066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2400"/>
              <a:buFont typeface="Times New Roman"/>
              <a:buNone/>
              <a:defRPr b="1" sz="2400" cap="sma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2"/>
          <p:cNvSpPr txBox="1"/>
          <p:nvPr>
            <p:ph idx="1" type="subTitle"/>
          </p:nvPr>
        </p:nvSpPr>
        <p:spPr>
          <a:xfrm>
            <a:off x="0" y="1752599"/>
            <a:ext cx="9144000" cy="457200"/>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000000"/>
              </a:buClr>
              <a:buSzPts val="2000"/>
              <a:buNone/>
              <a:defRPr sz="2000" cap="small">
                <a:solidFill>
                  <a:srgbClr val="000000"/>
                </a:solidFill>
                <a:latin typeface="Times New Roman"/>
                <a:ea typeface="Times New Roman"/>
                <a:cs typeface="Times New Roman"/>
                <a:sym typeface="Times New Roman"/>
              </a:defRPr>
            </a:lvl1pPr>
            <a:lvl2pPr lvl="1" algn="ctr">
              <a:spcBef>
                <a:spcPts val="400"/>
              </a:spcBef>
              <a:spcAft>
                <a:spcPts val="0"/>
              </a:spcAft>
              <a:buClr>
                <a:srgbClr val="888888"/>
              </a:buClr>
              <a:buSzPts val="20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280"/>
              </a:spcBef>
              <a:spcAft>
                <a:spcPts val="0"/>
              </a:spcAft>
              <a:buClr>
                <a:srgbClr val="888888"/>
              </a:buClr>
              <a:buSzPts val="14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2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rgbClr val="000000"/>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sz="1000">
                <a:solidFill>
                  <a:srgbClr val="333333"/>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1" sz="1000" u="none" cap="none" strike="noStrike">
                <a:solidFill>
                  <a:srgbClr val="000000"/>
                </a:solidFill>
                <a:latin typeface="Times New Roman"/>
                <a:ea typeface="Times New Roman"/>
                <a:cs typeface="Times New Roman"/>
                <a:sym typeface="Times New Roman"/>
              </a:defRPr>
            </a:lvl1pPr>
            <a:lvl2pPr indent="0" lvl="1" marL="0" algn="r">
              <a:spcBef>
                <a:spcPts val="0"/>
              </a:spcBef>
              <a:buNone/>
              <a:defRPr b="0" i="1" sz="1000" u="none" cap="none" strike="noStrike">
                <a:solidFill>
                  <a:srgbClr val="000000"/>
                </a:solidFill>
                <a:latin typeface="Times New Roman"/>
                <a:ea typeface="Times New Roman"/>
                <a:cs typeface="Times New Roman"/>
                <a:sym typeface="Times New Roman"/>
              </a:defRPr>
            </a:lvl2pPr>
            <a:lvl3pPr indent="0" lvl="2" marL="0" algn="r">
              <a:spcBef>
                <a:spcPts val="0"/>
              </a:spcBef>
              <a:buNone/>
              <a:defRPr b="0" i="1" sz="1000" u="none" cap="none" strike="noStrike">
                <a:solidFill>
                  <a:srgbClr val="000000"/>
                </a:solidFill>
                <a:latin typeface="Times New Roman"/>
                <a:ea typeface="Times New Roman"/>
                <a:cs typeface="Times New Roman"/>
                <a:sym typeface="Times New Roman"/>
              </a:defRPr>
            </a:lvl3pPr>
            <a:lvl4pPr indent="0" lvl="3" marL="0" algn="r">
              <a:spcBef>
                <a:spcPts val="0"/>
              </a:spcBef>
              <a:buNone/>
              <a:defRPr b="0" i="1" sz="1000" u="none" cap="none" strike="noStrike">
                <a:solidFill>
                  <a:srgbClr val="000000"/>
                </a:solidFill>
                <a:latin typeface="Times New Roman"/>
                <a:ea typeface="Times New Roman"/>
                <a:cs typeface="Times New Roman"/>
                <a:sym typeface="Times New Roman"/>
              </a:defRPr>
            </a:lvl4pPr>
            <a:lvl5pPr indent="0" lvl="4" marL="0" algn="r">
              <a:spcBef>
                <a:spcPts val="0"/>
              </a:spcBef>
              <a:buNone/>
              <a:defRPr b="0" i="1" sz="1000" u="none" cap="none" strike="noStrike">
                <a:solidFill>
                  <a:srgbClr val="000000"/>
                </a:solidFill>
                <a:latin typeface="Times New Roman"/>
                <a:ea typeface="Times New Roman"/>
                <a:cs typeface="Times New Roman"/>
                <a:sym typeface="Times New Roman"/>
              </a:defRPr>
            </a:lvl5pPr>
            <a:lvl6pPr indent="0" lvl="5" marL="0" algn="r">
              <a:spcBef>
                <a:spcPts val="0"/>
              </a:spcBef>
              <a:buNone/>
              <a:defRPr b="0" i="1" sz="1000" u="none" cap="none" strike="noStrike">
                <a:solidFill>
                  <a:srgbClr val="000000"/>
                </a:solidFill>
                <a:latin typeface="Times New Roman"/>
                <a:ea typeface="Times New Roman"/>
                <a:cs typeface="Times New Roman"/>
                <a:sym typeface="Times New Roman"/>
              </a:defRPr>
            </a:lvl6pPr>
            <a:lvl7pPr indent="0" lvl="6" marL="0" algn="r">
              <a:spcBef>
                <a:spcPts val="0"/>
              </a:spcBef>
              <a:buNone/>
              <a:defRPr b="0" i="1" sz="1000" u="none" cap="none" strike="noStrike">
                <a:solidFill>
                  <a:srgbClr val="000000"/>
                </a:solidFill>
                <a:latin typeface="Times New Roman"/>
                <a:ea typeface="Times New Roman"/>
                <a:cs typeface="Times New Roman"/>
                <a:sym typeface="Times New Roman"/>
              </a:defRPr>
            </a:lvl7pPr>
            <a:lvl8pPr indent="0" lvl="7" marL="0" algn="r">
              <a:spcBef>
                <a:spcPts val="0"/>
              </a:spcBef>
              <a:buNone/>
              <a:defRPr b="0" i="1" sz="1000" u="none" cap="none" strike="noStrike">
                <a:solidFill>
                  <a:srgbClr val="000000"/>
                </a:solidFill>
                <a:latin typeface="Times New Roman"/>
                <a:ea typeface="Times New Roman"/>
                <a:cs typeface="Times New Roman"/>
                <a:sym typeface="Times New Roman"/>
              </a:defRPr>
            </a:lvl8pPr>
            <a:lvl9pPr indent="0" lvl="8" marL="0" algn="r">
              <a:spcBef>
                <a:spcPts val="0"/>
              </a:spcBef>
              <a:buNone/>
              <a:defRPr b="0" i="1" sz="10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22"/>
          <p:cNvSpPr txBox="1"/>
          <p:nvPr/>
        </p:nvSpPr>
        <p:spPr>
          <a:xfrm>
            <a:off x="1676400" y="2713434"/>
            <a:ext cx="6477000"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00000"/>
                </a:solidFill>
                <a:latin typeface="Times New Roman"/>
                <a:ea typeface="Times New Roman"/>
                <a:cs typeface="Times New Roman"/>
                <a:sym typeface="Times New Roman"/>
              </a:rPr>
              <a:t>Software Engineering Design: Theory and Practice</a:t>
            </a:r>
            <a:r>
              <a:rPr b="0" i="1" lang="en-US" sz="1800" u="none" cap="none" strike="noStrike">
                <a:solidFill>
                  <a:srgbClr val="C00000"/>
                </a:solidFill>
                <a:latin typeface="Times New Roman"/>
                <a:ea typeface="Times New Roman"/>
                <a:cs typeface="Times New Roman"/>
                <a:sym typeface="Times New Roman"/>
              </a:rPr>
              <a:t> </a:t>
            </a:r>
            <a:endParaRPr i="1" sz="1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lang="en-US" sz="1600">
                <a:solidFill>
                  <a:schemeClr val="dk1"/>
                </a:solidFill>
                <a:latin typeface="Times New Roman"/>
                <a:ea typeface="Times New Roman"/>
                <a:cs typeface="Times New Roman"/>
                <a:sym typeface="Times New Roman"/>
              </a:rPr>
              <a:t>by Carlos</a:t>
            </a:r>
            <a:r>
              <a:rPr b="0" lang="en-US" sz="1600">
                <a:solidFill>
                  <a:schemeClr val="dk1"/>
                </a:solidFill>
                <a:latin typeface="Times New Roman"/>
                <a:ea typeface="Times New Roman"/>
                <a:cs typeface="Times New Roman"/>
                <a:sym typeface="Times New Roman"/>
              </a:rPr>
              <a:t> E. Otero</a:t>
            </a:r>
            <a:endParaRPr b="0"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chemeClr val="dk1"/>
                </a:solidFill>
                <a:latin typeface="Times New Roman"/>
                <a:ea typeface="Times New Roman"/>
                <a:cs typeface="Times New Roman"/>
                <a:sym typeface="Times New Roman"/>
              </a:rPr>
              <a:t>Slides copyright © 2012</a:t>
            </a:r>
            <a:r>
              <a:rPr lang="en-US" sz="18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by Carlos E. Otero</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1" sz="1800">
              <a:solidFill>
                <a:schemeClr val="dk2"/>
              </a:solidFill>
              <a:latin typeface="Times New Roman"/>
              <a:ea typeface="Times New Roman"/>
              <a:cs typeface="Times New Roman"/>
              <a:sym typeface="Times New Roman"/>
            </a:endParaRPr>
          </a:p>
          <a:p>
            <a:pPr indent="0" lvl="0" marL="0" marR="0" rtl="0" algn="l">
              <a:spcBef>
                <a:spcPts val="0"/>
              </a:spcBef>
              <a:spcAft>
                <a:spcPts val="0"/>
              </a:spcAft>
              <a:buNone/>
            </a:pPr>
            <a:r>
              <a:rPr b="1" i="1" lang="en-US" sz="1800">
                <a:solidFill>
                  <a:srgbClr val="C00000"/>
                </a:solidFill>
                <a:latin typeface="Times New Roman"/>
                <a:ea typeface="Times New Roman"/>
                <a:cs typeface="Times New Roman"/>
                <a:sym typeface="Times New Roman"/>
              </a:rPr>
              <a:t>For non-profit educational use only</a:t>
            </a:r>
            <a:endParaRPr b="1" sz="1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May be reproduced only for student use when used in conjunction with </a:t>
            </a:r>
            <a:r>
              <a:rPr i="1" lang="en-US" sz="1200">
                <a:solidFill>
                  <a:schemeClr val="dk1"/>
                </a:solidFill>
                <a:latin typeface="Times New Roman"/>
                <a:ea typeface="Times New Roman"/>
                <a:cs typeface="Times New Roman"/>
                <a:sym typeface="Times New Roman"/>
              </a:rPr>
              <a:t>Software Engineering Design: Theory and Practice. </a:t>
            </a:r>
            <a:r>
              <a:rPr lang="en-US" sz="1200">
                <a:solidFill>
                  <a:schemeClr val="dk1"/>
                </a:solidFill>
                <a:latin typeface="Times New Roman"/>
                <a:ea typeface="Times New Roman"/>
                <a:cs typeface="Times New Roman"/>
                <a:sym typeface="Times New Roman"/>
              </a:rPr>
              <a:t>Any other reproduction or use is prohibited without the express written permission of the author.</a:t>
            </a:r>
            <a:endParaRPr/>
          </a:p>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All copyright information must appear if these slides are posted on a website for student use.</a:t>
            </a:r>
            <a:endParaRPr/>
          </a:p>
        </p:txBody>
      </p:sp>
      <p:pic>
        <p:nvPicPr>
          <p:cNvPr id="23" name="Google Shape;23;p22"/>
          <p:cNvPicPr preferRelativeResize="0"/>
          <p:nvPr/>
        </p:nvPicPr>
        <p:blipFill rotWithShape="1">
          <a:blip r:embed="rId2">
            <a:alphaModFix/>
          </a:blip>
          <a:srcRect b="0" l="0" r="0" t="0"/>
          <a:stretch/>
        </p:blipFill>
        <p:spPr>
          <a:xfrm>
            <a:off x="7162800" y="3200400"/>
            <a:ext cx="762000" cy="11024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3"/>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Clr>
                <a:schemeClr val="dk1"/>
              </a:buClr>
              <a:buSzPts val="2000"/>
              <a:buFont typeface="Noto Sans Symbols"/>
              <a:buChar char="⮚"/>
              <a:defRPr sz="2000"/>
            </a:lvl1pPr>
            <a:lvl2pPr indent="-342900" lvl="1" marL="914400" algn="l">
              <a:spcBef>
                <a:spcPts val="360"/>
              </a:spcBef>
              <a:spcAft>
                <a:spcPts val="0"/>
              </a:spcAft>
              <a:buClr>
                <a:schemeClr val="dk1"/>
              </a:buClr>
              <a:buSzPts val="1800"/>
              <a:buFont typeface="Noto Sans Symbols"/>
              <a:buChar char="✔"/>
              <a:defRPr sz="1800"/>
            </a:lvl2pPr>
            <a:lvl3pPr indent="-330200" lvl="2" marL="1371600" algn="l">
              <a:spcBef>
                <a:spcPts val="320"/>
              </a:spcBef>
              <a:spcAft>
                <a:spcPts val="0"/>
              </a:spcAft>
              <a:buClr>
                <a:schemeClr val="dk1"/>
              </a:buClr>
              <a:buSzPts val="1600"/>
              <a:buFont typeface="Noto Sans Symbols"/>
              <a:buChar char="▪"/>
              <a:defRPr sz="1600"/>
            </a:lvl3pPr>
            <a:lvl4pPr indent="-317500" lvl="3" marL="1828800" algn="l">
              <a:spcBef>
                <a:spcPts val="280"/>
              </a:spcBef>
              <a:spcAft>
                <a:spcPts val="0"/>
              </a:spcAft>
              <a:buClr>
                <a:schemeClr val="dk1"/>
              </a:buClr>
              <a:buSzPts val="1400"/>
              <a:buChar char="–"/>
              <a:defRPr sz="1400"/>
            </a:lvl4pPr>
            <a:lvl5pPr indent="-304800" lvl="4" marL="2286000" algn="l">
              <a:spcBef>
                <a:spcPts val="240"/>
              </a:spcBef>
              <a:spcAft>
                <a:spcPts val="0"/>
              </a:spcAft>
              <a:buClr>
                <a:schemeClr val="dk1"/>
              </a:buClr>
              <a:buSzPts val="1200"/>
              <a:buChar char="»"/>
              <a:defRPr sz="1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2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i="1" sz="1000">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sz="1000">
                <a:solidFill>
                  <a:srgbClr val="000000"/>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i="1" sz="1000">
                <a:solidFill>
                  <a:srgbClr val="333333"/>
                </a:solidFill>
                <a:latin typeface="Times New Roman"/>
                <a:ea typeface="Times New Roman"/>
                <a:cs typeface="Times New Roman"/>
                <a:sym typeface="Times New Roman"/>
              </a:defRPr>
            </a:lvl1pPr>
            <a:lvl2pPr indent="0" lvl="1" marL="0" algn="r">
              <a:spcBef>
                <a:spcPts val="0"/>
              </a:spcBef>
              <a:buNone/>
              <a:defRPr i="1" sz="1000">
                <a:solidFill>
                  <a:srgbClr val="333333"/>
                </a:solidFill>
                <a:latin typeface="Times New Roman"/>
                <a:ea typeface="Times New Roman"/>
                <a:cs typeface="Times New Roman"/>
                <a:sym typeface="Times New Roman"/>
              </a:defRPr>
            </a:lvl2pPr>
            <a:lvl3pPr indent="0" lvl="2" marL="0" algn="r">
              <a:spcBef>
                <a:spcPts val="0"/>
              </a:spcBef>
              <a:buNone/>
              <a:defRPr i="1" sz="1000">
                <a:solidFill>
                  <a:srgbClr val="333333"/>
                </a:solidFill>
                <a:latin typeface="Times New Roman"/>
                <a:ea typeface="Times New Roman"/>
                <a:cs typeface="Times New Roman"/>
                <a:sym typeface="Times New Roman"/>
              </a:defRPr>
            </a:lvl3pPr>
            <a:lvl4pPr indent="0" lvl="3" marL="0" algn="r">
              <a:spcBef>
                <a:spcPts val="0"/>
              </a:spcBef>
              <a:buNone/>
              <a:defRPr i="1" sz="1000">
                <a:solidFill>
                  <a:srgbClr val="333333"/>
                </a:solidFill>
                <a:latin typeface="Times New Roman"/>
                <a:ea typeface="Times New Roman"/>
                <a:cs typeface="Times New Roman"/>
                <a:sym typeface="Times New Roman"/>
              </a:defRPr>
            </a:lvl4pPr>
            <a:lvl5pPr indent="0" lvl="4" marL="0" algn="r">
              <a:spcBef>
                <a:spcPts val="0"/>
              </a:spcBef>
              <a:buNone/>
              <a:defRPr i="1" sz="1000">
                <a:solidFill>
                  <a:srgbClr val="333333"/>
                </a:solidFill>
                <a:latin typeface="Times New Roman"/>
                <a:ea typeface="Times New Roman"/>
                <a:cs typeface="Times New Roman"/>
                <a:sym typeface="Times New Roman"/>
              </a:defRPr>
            </a:lvl5pPr>
            <a:lvl6pPr indent="0" lvl="5" marL="0" algn="r">
              <a:spcBef>
                <a:spcPts val="0"/>
              </a:spcBef>
              <a:buNone/>
              <a:defRPr i="1" sz="1000">
                <a:solidFill>
                  <a:srgbClr val="333333"/>
                </a:solidFill>
                <a:latin typeface="Times New Roman"/>
                <a:ea typeface="Times New Roman"/>
                <a:cs typeface="Times New Roman"/>
                <a:sym typeface="Times New Roman"/>
              </a:defRPr>
            </a:lvl6pPr>
            <a:lvl7pPr indent="0" lvl="6" marL="0" algn="r">
              <a:spcBef>
                <a:spcPts val="0"/>
              </a:spcBef>
              <a:buNone/>
              <a:defRPr i="1" sz="1000">
                <a:solidFill>
                  <a:srgbClr val="333333"/>
                </a:solidFill>
                <a:latin typeface="Times New Roman"/>
                <a:ea typeface="Times New Roman"/>
                <a:cs typeface="Times New Roman"/>
                <a:sym typeface="Times New Roman"/>
              </a:defRPr>
            </a:lvl7pPr>
            <a:lvl8pPr indent="0" lvl="7" marL="0" algn="r">
              <a:spcBef>
                <a:spcPts val="0"/>
              </a:spcBef>
              <a:buNone/>
              <a:defRPr i="1" sz="1000">
                <a:solidFill>
                  <a:srgbClr val="333333"/>
                </a:solidFill>
                <a:latin typeface="Times New Roman"/>
                <a:ea typeface="Times New Roman"/>
                <a:cs typeface="Times New Roman"/>
                <a:sym typeface="Times New Roman"/>
              </a:defRPr>
            </a:lvl8pPr>
            <a:lvl9pPr indent="0" lvl="8" marL="0" algn="r">
              <a:spcBef>
                <a:spcPts val="0"/>
              </a:spcBef>
              <a:buNone/>
              <a:defRPr i="1" sz="1000">
                <a:solidFill>
                  <a:srgbClr val="33333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Times New Roman"/>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3" name="Google Shape;33;p24"/>
          <p:cNvSpPr txBox="1"/>
          <p:nvPr>
            <p:ph idx="10" type="dt"/>
          </p:nvPr>
        </p:nvSpPr>
        <p:spPr>
          <a:xfrm>
            <a:off x="457200" y="6562078"/>
            <a:ext cx="990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4"/>
          <p:cNvSpPr txBox="1"/>
          <p:nvPr>
            <p:ph idx="11" type="ftr"/>
          </p:nvPr>
        </p:nvSpPr>
        <p:spPr>
          <a:xfrm>
            <a:off x="1447800" y="6562078"/>
            <a:ext cx="60960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2" type="sldNum"/>
          </p:nvPr>
        </p:nvSpPr>
        <p:spPr>
          <a:xfrm>
            <a:off x="7543800" y="6562078"/>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2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9" name="Google Shape;39;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17500" lvl="4" marL="2286000" algn="l">
              <a:spcBef>
                <a:spcPts val="280"/>
              </a:spcBef>
              <a:spcAft>
                <a:spcPts val="0"/>
              </a:spcAft>
              <a:buClr>
                <a:schemeClr val="dk1"/>
              </a:buClr>
              <a:buSzPts val="1400"/>
              <a:buChar char="»"/>
              <a:defRPr sz="14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5"/>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p:nvPr>
            <p:ph idx="11" type="ftr"/>
          </p:nvPr>
        </p:nvSpPr>
        <p:spPr>
          <a:xfrm>
            <a:off x="32004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5"/>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26"/>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2400"/>
              <a:buFont typeface="Times New Roma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26"/>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6"/>
          <p:cNvSpPr txBox="1"/>
          <p:nvPr>
            <p:ph idx="11" type="ftr"/>
          </p:nvPr>
        </p:nvSpPr>
        <p:spPr>
          <a:xfrm>
            <a:off x="31242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6"/>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2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7"/>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7"/>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8"/>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1" type="ftr"/>
          </p:nvPr>
        </p:nvSpPr>
        <p:spPr>
          <a:xfrm>
            <a:off x="31242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imes New Roman"/>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4" name="Google Shape;64;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9"/>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imes New Roman"/>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1" name="Google Shape;71;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2" name="Google Shape;72;p30"/>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0"/>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3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1"/>
          <p:cNvSpPr txBox="1"/>
          <p:nvPr>
            <p:ph idx="1" type="body"/>
          </p:nvPr>
        </p:nvSpPr>
        <p:spPr>
          <a:xfrm rot="5400000">
            <a:off x="2194718" y="-365919"/>
            <a:ext cx="47545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31"/>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1" type="ftr"/>
          </p:nvPr>
        </p:nvSpPr>
        <p:spPr>
          <a:xfrm>
            <a:off x="29718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1"/>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3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4" name="Google Shape;84;p32"/>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2"/>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2"/>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2400"/>
              <a:buFont typeface="Times New Roman"/>
              <a:buNone/>
              <a:defRPr b="1" i="0" sz="2400" u="none" cap="small"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Times New Roman"/>
                <a:ea typeface="Times New Roman"/>
                <a:cs typeface="Times New Roman"/>
                <a:sym typeface="Times New Roman"/>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1"/>
          <p:cNvSpPr/>
          <p:nvPr/>
        </p:nvSpPr>
        <p:spPr>
          <a:xfrm>
            <a:off x="219722" y="228600"/>
            <a:ext cx="8686800" cy="6324600"/>
          </a:xfrm>
          <a:prstGeom prst="roundRect">
            <a:avLst>
              <a:gd fmla="val 16667" name="adj"/>
            </a:avLst>
          </a:prstGeom>
          <a:noFill/>
          <a:ln cap="flat" cmpd="sng" w="19050">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 name="Google Shape;13;p2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1" sz="1000" u="none" cap="none" strike="noStrike">
                <a:solidFill>
                  <a:srgbClr val="333333"/>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1" sz="1000" u="none" cap="none" strike="noStrike">
                <a:solidFill>
                  <a:srgbClr val="333333"/>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1pPr>
            <a:lvl2pPr indent="0" lvl="1"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2pPr>
            <a:lvl3pPr indent="0" lvl="2"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3pPr>
            <a:lvl4pPr indent="0" lvl="3"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4pPr>
            <a:lvl5pPr indent="0" lvl="4"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5pPr>
            <a:lvl6pPr indent="0" lvl="5"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6pPr>
            <a:lvl7pPr indent="0" lvl="6"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7pPr>
            <a:lvl8pPr indent="0" lvl="7"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8pPr>
            <a:lvl9pPr indent="0" lvl="8"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7.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2.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23.png"/><Relationship Id="rId7"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0" y="685800"/>
            <a:ext cx="91440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Chapter 6: Creational Design Patterns</a:t>
            </a:r>
            <a:endParaRPr/>
          </a:p>
        </p:txBody>
      </p:sp>
      <p:sp>
        <p:nvSpPr>
          <p:cNvPr id="92" name="Google Shape;92;p1"/>
          <p:cNvSpPr txBox="1"/>
          <p:nvPr>
            <p:ph idx="1" type="subTitle"/>
          </p:nvPr>
        </p:nvSpPr>
        <p:spPr>
          <a:xfrm>
            <a:off x="0" y="1752598"/>
            <a:ext cx="9144000" cy="83820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000000"/>
              </a:buClr>
              <a:buSzPts val="2000"/>
              <a:buNone/>
            </a:pPr>
            <a:r>
              <a:rPr lang="en-US"/>
              <a:t>Session II: Factory Method</a:t>
            </a:r>
            <a:endParaRPr/>
          </a:p>
        </p:txBody>
      </p:sp>
      <p:sp>
        <p:nvSpPr>
          <p:cNvPr id="93" name="Google Shape;93;p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94" name="Google Shape;94;p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5" name="Google Shape;95;p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Session’s Agenda</a:t>
            </a:r>
            <a:endParaRPr/>
          </a:p>
        </p:txBody>
      </p:sp>
      <p:sp>
        <p:nvSpPr>
          <p:cNvPr id="101" name="Google Shape;101;p2"/>
          <p:cNvSpPr txBox="1"/>
          <p:nvPr>
            <p:ph idx="1" type="body"/>
          </p:nvPr>
        </p:nvSpPr>
        <p:spPr>
          <a:xfrm>
            <a:off x="457200" y="1371601"/>
            <a:ext cx="8229600" cy="4648199"/>
          </a:xfrm>
          <a:prstGeom prst="rect">
            <a:avLst/>
          </a:prstGeom>
          <a:noFill/>
          <a:ln>
            <a:noFill/>
          </a:ln>
        </p:spPr>
        <p:txBody>
          <a:bodyPr anchorCtr="0" anchor="t" bIns="45700" lIns="91425" spcFirstLastPara="1" rIns="91425" wrap="square" tIns="45700">
            <a:normAutofit/>
          </a:bodyPr>
          <a:lstStyle/>
          <a:p>
            <a:pPr indent="-127000" lvl="2" marL="1143000" rtl="0" algn="l">
              <a:spcBef>
                <a:spcPts val="0"/>
              </a:spcBef>
              <a:spcAft>
                <a:spcPts val="0"/>
              </a:spcAft>
              <a:buClr>
                <a:schemeClr val="dk1"/>
              </a:buClr>
              <a:buSzPts val="1600"/>
              <a:buNone/>
            </a:pPr>
            <a:r>
              <a:t/>
            </a:r>
            <a:endParaRPr/>
          </a:p>
          <a:p>
            <a:pPr indent="-342900" lvl="0" marL="342900" rtl="0" algn="l">
              <a:spcBef>
                <a:spcPts val="400"/>
              </a:spcBef>
              <a:spcAft>
                <a:spcPts val="0"/>
              </a:spcAft>
              <a:buClr>
                <a:schemeClr val="dk1"/>
              </a:buClr>
              <a:buSzPts val="2000"/>
              <a:buFont typeface="Noto Sans Symbols"/>
              <a:buChar char="⮚"/>
            </a:pPr>
            <a:r>
              <a:rPr lang="en-US"/>
              <a:t>Creational Patterns in Detailed Design</a:t>
            </a:r>
            <a:endParaRPr/>
          </a:p>
          <a:p>
            <a:pPr indent="-2857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Factory Method Design Pattern</a:t>
            </a:r>
            <a:endParaRPr/>
          </a:p>
          <a:p>
            <a:pPr indent="-285750" lvl="1" marL="742950" rtl="0" algn="l">
              <a:spcBef>
                <a:spcPts val="360"/>
              </a:spcBef>
              <a:spcAft>
                <a:spcPts val="0"/>
              </a:spcAft>
              <a:buClr>
                <a:schemeClr val="dk1"/>
              </a:buClr>
              <a:buSzPts val="1800"/>
              <a:buChar char="✔"/>
            </a:pPr>
            <a:r>
              <a:rPr lang="en-US"/>
              <a:t>Java Example</a:t>
            </a:r>
            <a:endParaRPr/>
          </a:p>
          <a:p>
            <a:pPr indent="-285750" lvl="1" marL="742950" rtl="0" algn="l">
              <a:spcBef>
                <a:spcPts val="360"/>
              </a:spcBef>
              <a:spcAft>
                <a:spcPts val="0"/>
              </a:spcAft>
              <a:buClr>
                <a:schemeClr val="dk1"/>
              </a:buClr>
              <a:buSzPts val="1800"/>
              <a:buChar char="✔"/>
            </a:pPr>
            <a:r>
              <a:rPr lang="en-US"/>
              <a:t>C++ Example</a:t>
            </a:r>
            <a:endParaRPr/>
          </a:p>
          <a:p>
            <a:pPr indent="-1714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Null Object Design Pattern</a:t>
            </a:r>
            <a:endParaRPr/>
          </a:p>
          <a:p>
            <a:pPr indent="-127000" lvl="2" marL="1143000" rtl="0" algn="l">
              <a:spcBef>
                <a:spcPts val="320"/>
              </a:spcBef>
              <a:spcAft>
                <a:spcPts val="0"/>
              </a:spcAft>
              <a:buClr>
                <a:schemeClr val="dk1"/>
              </a:buClr>
              <a:buSzPts val="1600"/>
              <a:buNone/>
            </a:pPr>
            <a:r>
              <a:t/>
            </a:r>
            <a:endParaRPr/>
          </a:p>
          <a:p>
            <a:pPr indent="-342900" lvl="0" marL="342900" rtl="0" algn="l">
              <a:spcBef>
                <a:spcPts val="400"/>
              </a:spcBef>
              <a:spcAft>
                <a:spcPts val="0"/>
              </a:spcAft>
              <a:buClr>
                <a:schemeClr val="dk1"/>
              </a:buClr>
              <a:buSzPts val="2000"/>
              <a:buFont typeface="Noto Sans Symbols"/>
              <a:buChar char="⮚"/>
            </a:pPr>
            <a:r>
              <a:rPr lang="en-US"/>
              <a:t>Benefits of Factory Method</a:t>
            </a:r>
            <a:endParaRPr/>
          </a:p>
          <a:p>
            <a:pPr indent="-1714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What’s next…</a:t>
            </a:r>
            <a:endParaRPr/>
          </a:p>
          <a:p>
            <a:pPr indent="-2857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None/>
            </a:pPr>
            <a:r>
              <a:t/>
            </a:r>
            <a:endParaRPr/>
          </a:p>
          <a:p>
            <a:pPr indent="-215900" lvl="0" marL="342900" rtl="0" algn="l">
              <a:spcBef>
                <a:spcPts val="400"/>
              </a:spcBef>
              <a:spcAft>
                <a:spcPts val="0"/>
              </a:spcAft>
              <a:buClr>
                <a:schemeClr val="dk1"/>
              </a:buClr>
              <a:buSzPts val="2000"/>
              <a:buFont typeface="Noto Sans Symbols"/>
              <a:buNone/>
            </a:pPr>
            <a:r>
              <a:t/>
            </a:r>
            <a:endParaRPr/>
          </a:p>
          <a:p>
            <a:pPr indent="-2857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None/>
            </a:pPr>
            <a:r>
              <a:t/>
            </a:r>
            <a:endParaRPr/>
          </a:p>
          <a:p>
            <a:pPr indent="-171450" lvl="1" marL="742950" rtl="0" algn="l">
              <a:spcBef>
                <a:spcPts val="360"/>
              </a:spcBef>
              <a:spcAft>
                <a:spcPts val="0"/>
              </a:spcAft>
              <a:buClr>
                <a:schemeClr val="dk1"/>
              </a:buClr>
              <a:buSzPts val="1800"/>
              <a:buNone/>
            </a:pPr>
            <a:r>
              <a:t/>
            </a:r>
            <a:endParaRPr/>
          </a:p>
        </p:txBody>
      </p:sp>
      <p:sp>
        <p:nvSpPr>
          <p:cNvPr id="102" name="Google Shape;102;p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103" name="Google Shape;103;p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04" name="Google Shape;104;p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Design Pattern</a:t>
            </a:r>
            <a:endParaRPr/>
          </a:p>
        </p:txBody>
      </p:sp>
      <p:sp>
        <p:nvSpPr>
          <p:cNvPr id="110" name="Google Shape;110;p3"/>
          <p:cNvSpPr txBox="1"/>
          <p:nvPr>
            <p:ph idx="1" type="body"/>
          </p:nvPr>
        </p:nvSpPr>
        <p:spPr>
          <a:xfrm>
            <a:off x="457200" y="1371601"/>
            <a:ext cx="8229600" cy="1752599"/>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850"/>
              <a:buFont typeface="Noto Sans Symbols"/>
              <a:buChar char="⮚"/>
            </a:pPr>
            <a:r>
              <a:rPr lang="en-US" sz="1850"/>
              <a:t>The Factory Method design pattern is a class creational pattern used to encapsulate and defer object instantiation to derived classes.</a:t>
            </a:r>
            <a:endParaRPr/>
          </a:p>
          <a:p>
            <a:pPr indent="-225425" lvl="0" marL="342900" rtl="0" algn="l">
              <a:lnSpc>
                <a:spcPct val="80000"/>
              </a:lnSpc>
              <a:spcBef>
                <a:spcPts val="370"/>
              </a:spcBef>
              <a:spcAft>
                <a:spcPts val="0"/>
              </a:spcAft>
              <a:buClr>
                <a:schemeClr val="dk1"/>
              </a:buClr>
              <a:buSzPts val="1850"/>
              <a:buFont typeface="Noto Sans Symbols"/>
              <a:buNone/>
            </a:pPr>
            <a:r>
              <a:t/>
            </a:r>
            <a:endParaRPr sz="1850"/>
          </a:p>
          <a:p>
            <a:pPr indent="-342900" lvl="0" marL="342900" rtl="0" algn="l">
              <a:lnSpc>
                <a:spcPct val="80000"/>
              </a:lnSpc>
              <a:spcBef>
                <a:spcPts val="370"/>
              </a:spcBef>
              <a:spcAft>
                <a:spcPts val="0"/>
              </a:spcAft>
              <a:buClr>
                <a:schemeClr val="dk1"/>
              </a:buClr>
              <a:buSzPts val="1850"/>
              <a:buFont typeface="Noto Sans Symbols"/>
              <a:buChar char="⮚"/>
            </a:pPr>
            <a:r>
              <a:rPr lang="en-US" sz="1850"/>
              <a:t>According to the GoF, the intent of the factory method is to [1]</a:t>
            </a:r>
            <a:endParaRPr/>
          </a:p>
          <a:p>
            <a:pPr indent="-285750" lvl="1" marL="742950" rtl="0" algn="l">
              <a:lnSpc>
                <a:spcPct val="80000"/>
              </a:lnSpc>
              <a:spcBef>
                <a:spcPts val="333"/>
              </a:spcBef>
              <a:spcAft>
                <a:spcPts val="0"/>
              </a:spcAft>
              <a:buClr>
                <a:schemeClr val="dk1"/>
              </a:buClr>
              <a:buSzPts val="1665"/>
              <a:buChar char="✔"/>
            </a:pPr>
            <a:r>
              <a:rPr lang="en-US" sz="1665"/>
              <a:t>Define an interface for creating an object, but let subclasses decide which class to instantiate.  Factory method lets a class defer instantiation to subclasses.</a:t>
            </a:r>
            <a:endParaRPr sz="1665"/>
          </a:p>
        </p:txBody>
      </p:sp>
      <p:sp>
        <p:nvSpPr>
          <p:cNvPr id="111" name="Google Shape;111;p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112" name="Google Shape;112;p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13" name="Google Shape;113;p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4" name="Google Shape;114;p3"/>
          <p:cNvPicPr preferRelativeResize="0"/>
          <p:nvPr/>
        </p:nvPicPr>
        <p:blipFill rotWithShape="1">
          <a:blip r:embed="rId3">
            <a:alphaModFix/>
          </a:blip>
          <a:srcRect b="0" l="0" r="0" t="0"/>
          <a:stretch/>
        </p:blipFill>
        <p:spPr>
          <a:xfrm>
            <a:off x="3124200" y="3962400"/>
            <a:ext cx="3114675" cy="1809750"/>
          </a:xfrm>
          <a:prstGeom prst="rect">
            <a:avLst/>
          </a:prstGeom>
          <a:noFill/>
          <a:ln>
            <a:noFill/>
          </a:ln>
        </p:spPr>
      </p:pic>
      <p:sp>
        <p:nvSpPr>
          <p:cNvPr id="115" name="Google Shape;115;p3"/>
          <p:cNvSpPr txBox="1"/>
          <p:nvPr/>
        </p:nvSpPr>
        <p:spPr>
          <a:xfrm>
            <a:off x="6510337" y="4562475"/>
            <a:ext cx="762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u="sng">
                <a:solidFill>
                  <a:srgbClr val="C00000"/>
                </a:solidFill>
                <a:latin typeface="Architects Daughter"/>
                <a:ea typeface="Architects Daughter"/>
                <a:cs typeface="Architects Daughter"/>
                <a:sym typeface="Architects Daughter"/>
              </a:rPr>
              <a:t>Product</a:t>
            </a:r>
            <a:endParaRPr/>
          </a:p>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 Classes</a:t>
            </a:r>
            <a:endParaRPr b="1" sz="1200">
              <a:solidFill>
                <a:srgbClr val="C00000"/>
              </a:solidFill>
              <a:latin typeface="Architects Daughter"/>
              <a:ea typeface="Architects Daughter"/>
              <a:cs typeface="Architects Daughter"/>
              <a:sym typeface="Architects Daughter"/>
            </a:endParaRPr>
          </a:p>
        </p:txBody>
      </p:sp>
      <p:sp>
        <p:nvSpPr>
          <p:cNvPr id="116" name="Google Shape;116;p3"/>
          <p:cNvSpPr/>
          <p:nvPr/>
        </p:nvSpPr>
        <p:spPr>
          <a:xfrm>
            <a:off x="6357937" y="3952875"/>
            <a:ext cx="152400" cy="1752600"/>
          </a:xfrm>
          <a:prstGeom prst="rightBrace">
            <a:avLst>
              <a:gd fmla="val 8333" name="adj1"/>
              <a:gd fmla="val 50000" name="adj2"/>
            </a:avLst>
          </a:prstGeom>
          <a:noFill/>
          <a:ln cap="flat" cmpd="sng" w="952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3"/>
          <p:cNvSpPr/>
          <p:nvPr/>
        </p:nvSpPr>
        <p:spPr>
          <a:xfrm>
            <a:off x="3005137" y="3952875"/>
            <a:ext cx="228600" cy="1752600"/>
          </a:xfrm>
          <a:prstGeom prst="leftBrace">
            <a:avLst>
              <a:gd fmla="val 8333" name="adj1"/>
              <a:gd fmla="val 50000" name="adj2"/>
            </a:avLst>
          </a:prstGeom>
          <a:noFill/>
          <a:ln cap="flat" cmpd="sng" w="952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3"/>
          <p:cNvSpPr txBox="1"/>
          <p:nvPr/>
        </p:nvSpPr>
        <p:spPr>
          <a:xfrm>
            <a:off x="2243137" y="4714875"/>
            <a:ext cx="6858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u="sng">
                <a:solidFill>
                  <a:srgbClr val="C00000"/>
                </a:solidFill>
                <a:latin typeface="Architects Daughter"/>
                <a:ea typeface="Architects Daughter"/>
                <a:cs typeface="Architects Daughter"/>
                <a:sym typeface="Architects Daughter"/>
              </a:rPr>
              <a:t>Creator</a:t>
            </a:r>
            <a:endParaRPr/>
          </a:p>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Classes</a:t>
            </a:r>
            <a:endParaRPr b="1" sz="1200">
              <a:solidFill>
                <a:srgbClr val="C00000"/>
              </a:solidFill>
              <a:latin typeface="Architects Daughter"/>
              <a:ea typeface="Architects Daughter"/>
              <a:cs typeface="Architects Daughter"/>
              <a:sym typeface="Architects Daughter"/>
            </a:endParaRPr>
          </a:p>
        </p:txBody>
      </p:sp>
      <p:sp>
        <p:nvSpPr>
          <p:cNvPr id="119" name="Google Shape;119;p3"/>
          <p:cNvSpPr txBox="1"/>
          <p:nvPr/>
        </p:nvSpPr>
        <p:spPr>
          <a:xfrm>
            <a:off x="6400800" y="3124200"/>
            <a:ext cx="18288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Products need to obey the Product interface!</a:t>
            </a:r>
            <a:endParaRPr b="1" sz="1200">
              <a:solidFill>
                <a:srgbClr val="C00000"/>
              </a:solidFill>
              <a:latin typeface="Architects Daughter"/>
              <a:ea typeface="Architects Daughter"/>
              <a:cs typeface="Architects Daughter"/>
              <a:sym typeface="Architects Daughter"/>
            </a:endParaRPr>
          </a:p>
        </p:txBody>
      </p:sp>
      <p:sp>
        <p:nvSpPr>
          <p:cNvPr id="120" name="Google Shape;120;p3"/>
          <p:cNvSpPr/>
          <p:nvPr/>
        </p:nvSpPr>
        <p:spPr>
          <a:xfrm>
            <a:off x="5900737" y="3505200"/>
            <a:ext cx="695325" cy="447675"/>
          </a:xfrm>
          <a:custGeom>
            <a:rect b="b" l="l" r="r" t="t"/>
            <a:pathLst>
              <a:path extrusionOk="0" h="762000" w="695325">
                <a:moveTo>
                  <a:pt x="695325" y="0"/>
                </a:moveTo>
                <a:cubicBezTo>
                  <a:pt x="566737" y="38100"/>
                  <a:pt x="438150" y="76200"/>
                  <a:pt x="371475" y="161925"/>
                </a:cubicBezTo>
                <a:cubicBezTo>
                  <a:pt x="304800" y="247650"/>
                  <a:pt x="357188" y="414337"/>
                  <a:pt x="295275" y="514350"/>
                </a:cubicBezTo>
                <a:cubicBezTo>
                  <a:pt x="233362" y="614363"/>
                  <a:pt x="116681" y="688181"/>
                  <a:pt x="0" y="7620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3"/>
          <p:cNvSpPr txBox="1"/>
          <p:nvPr/>
        </p:nvSpPr>
        <p:spPr>
          <a:xfrm>
            <a:off x="795337" y="4177010"/>
            <a:ext cx="18288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Factories need to obey the Factory interface!</a:t>
            </a:r>
            <a:endParaRPr b="1" sz="1200">
              <a:solidFill>
                <a:srgbClr val="C00000"/>
              </a:solidFill>
              <a:latin typeface="Architects Daughter"/>
              <a:ea typeface="Architects Daughter"/>
              <a:cs typeface="Architects Daughter"/>
              <a:sym typeface="Architects Daughter"/>
            </a:endParaRPr>
          </a:p>
        </p:txBody>
      </p:sp>
      <p:sp>
        <p:nvSpPr>
          <p:cNvPr id="122" name="Google Shape;122;p3"/>
          <p:cNvSpPr/>
          <p:nvPr/>
        </p:nvSpPr>
        <p:spPr>
          <a:xfrm>
            <a:off x="2081212" y="3691235"/>
            <a:ext cx="1304925" cy="514350"/>
          </a:xfrm>
          <a:custGeom>
            <a:rect b="b" l="l" r="r" t="t"/>
            <a:pathLst>
              <a:path extrusionOk="0" h="514350" w="1076325">
                <a:moveTo>
                  <a:pt x="0" y="495300"/>
                </a:moveTo>
                <a:cubicBezTo>
                  <a:pt x="176212" y="504825"/>
                  <a:pt x="352425" y="514350"/>
                  <a:pt x="476250" y="438150"/>
                </a:cubicBezTo>
                <a:cubicBezTo>
                  <a:pt x="600075" y="361950"/>
                  <a:pt x="642938" y="76200"/>
                  <a:pt x="742950" y="38100"/>
                </a:cubicBezTo>
                <a:cubicBezTo>
                  <a:pt x="842962" y="0"/>
                  <a:pt x="959643" y="104775"/>
                  <a:pt x="1076325" y="20955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grpSp>
        <p:nvGrpSpPr>
          <p:cNvPr id="127" name="Google Shape;127;p4"/>
          <p:cNvGrpSpPr/>
          <p:nvPr/>
        </p:nvGrpSpPr>
        <p:grpSpPr>
          <a:xfrm>
            <a:off x="3733800" y="1524000"/>
            <a:ext cx="2514600" cy="3733800"/>
            <a:chOff x="4114800" y="1676400"/>
            <a:chExt cx="3219450" cy="4343400"/>
          </a:xfrm>
        </p:grpSpPr>
        <p:pic>
          <p:nvPicPr>
            <p:cNvPr id="128" name="Google Shape;128;p4"/>
            <p:cNvPicPr preferRelativeResize="0"/>
            <p:nvPr/>
          </p:nvPicPr>
          <p:blipFill rotWithShape="1">
            <a:blip r:embed="rId3">
              <a:alphaModFix/>
            </a:blip>
            <a:srcRect b="0" l="0" r="0" t="0"/>
            <a:stretch/>
          </p:blipFill>
          <p:spPr>
            <a:xfrm>
              <a:off x="4114800" y="1676400"/>
              <a:ext cx="3219450" cy="4343400"/>
            </a:xfrm>
            <a:prstGeom prst="rect">
              <a:avLst/>
            </a:prstGeom>
            <a:noFill/>
            <a:ln>
              <a:noFill/>
            </a:ln>
          </p:spPr>
        </p:pic>
        <p:sp>
          <p:nvSpPr>
            <p:cNvPr id="129" name="Google Shape;129;p4"/>
            <p:cNvSpPr/>
            <p:nvPr/>
          </p:nvSpPr>
          <p:spPr>
            <a:xfrm>
              <a:off x="4114800" y="1771650"/>
              <a:ext cx="152400" cy="424815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0" name="Google Shape;130;p4"/>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131" name="Google Shape;131;p4"/>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132" name="Google Shape;132;p4"/>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33" name="Google Shape;133;p4"/>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4" name="Google Shape;134;p4"/>
          <p:cNvSpPr/>
          <p:nvPr/>
        </p:nvSpPr>
        <p:spPr>
          <a:xfrm>
            <a:off x="7010400" y="1371600"/>
            <a:ext cx="1600200" cy="838200"/>
          </a:xfrm>
          <a:prstGeom prst="rect">
            <a:avLst/>
          </a:prstGeom>
          <a:noFill/>
          <a:ln cap="flat" cmpd="sng" w="9525">
            <a:solidFill>
              <a:srgbClr val="000000"/>
            </a:solidFill>
            <a:prstDash val="solid"/>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5" name="Google Shape;135;p4"/>
          <p:cNvSpPr txBox="1"/>
          <p:nvPr/>
        </p:nvSpPr>
        <p:spPr>
          <a:xfrm>
            <a:off x="7066935" y="1371600"/>
            <a:ext cx="1696065"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Remote Store Manager’s Station</a:t>
            </a:r>
            <a:endParaRPr sz="800">
              <a:solidFill>
                <a:schemeClr val="dk1"/>
              </a:solidFill>
              <a:latin typeface="Calibri"/>
              <a:ea typeface="Calibri"/>
              <a:cs typeface="Calibri"/>
              <a:sym typeface="Calibri"/>
            </a:endParaRPr>
          </a:p>
        </p:txBody>
      </p:sp>
      <p:pic>
        <p:nvPicPr>
          <p:cNvPr descr="C:\Program Files (x86)\Microsoft Office\MEDIA\CAGCAT10\j0285750.wmf" id="136" name="Google Shape;136;p4"/>
          <p:cNvPicPr preferRelativeResize="0"/>
          <p:nvPr/>
        </p:nvPicPr>
        <p:blipFill rotWithShape="1">
          <a:blip r:embed="rId4">
            <a:alphaModFix/>
          </a:blip>
          <a:srcRect b="0" l="0" r="0" t="0"/>
          <a:stretch/>
        </p:blipFill>
        <p:spPr>
          <a:xfrm>
            <a:off x="7462684" y="1619250"/>
            <a:ext cx="789801" cy="531522"/>
          </a:xfrm>
          <a:prstGeom prst="rect">
            <a:avLst/>
          </a:prstGeom>
          <a:noFill/>
          <a:ln>
            <a:noFill/>
          </a:ln>
        </p:spPr>
      </p:pic>
      <p:sp>
        <p:nvSpPr>
          <p:cNvPr id="137" name="Google Shape;137;p4"/>
          <p:cNvSpPr/>
          <p:nvPr/>
        </p:nvSpPr>
        <p:spPr>
          <a:xfrm>
            <a:off x="3581400" y="1295400"/>
            <a:ext cx="2667000" cy="4038600"/>
          </a:xfrm>
          <a:prstGeom prst="wedgeRoundRectCallout">
            <a:avLst>
              <a:gd fmla="val 105333" name="adj1"/>
              <a:gd fmla="val -36616" name="adj2"/>
              <a:gd fmla="val 16667" name="adj3"/>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38" name="Google Shape;138;p4"/>
          <p:cNvPicPr preferRelativeResize="0"/>
          <p:nvPr/>
        </p:nvPicPr>
        <p:blipFill rotWithShape="1">
          <a:blip r:embed="rId5">
            <a:alphaModFix/>
          </a:blip>
          <a:srcRect b="26999" l="20740" r="50000" t="18412"/>
          <a:stretch/>
        </p:blipFill>
        <p:spPr>
          <a:xfrm>
            <a:off x="6324600" y="2971800"/>
            <a:ext cx="2438400" cy="2843186"/>
          </a:xfrm>
          <a:prstGeom prst="rect">
            <a:avLst/>
          </a:prstGeom>
          <a:noFill/>
          <a:ln>
            <a:noFill/>
          </a:ln>
        </p:spPr>
      </p:pic>
      <p:sp>
        <p:nvSpPr>
          <p:cNvPr id="139" name="Google Shape;139;p4"/>
          <p:cNvSpPr txBox="1"/>
          <p:nvPr/>
        </p:nvSpPr>
        <p:spPr>
          <a:xfrm>
            <a:off x="1143000" y="1258669"/>
            <a:ext cx="23622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Consider this code, which handles all computers from stores #1 and #2.  What’s wrong with it?</a:t>
            </a:r>
            <a:endParaRPr b="1" sz="1200">
              <a:solidFill>
                <a:srgbClr val="C00000"/>
              </a:solidFill>
              <a:latin typeface="Architects Daughter"/>
              <a:ea typeface="Architects Daughter"/>
              <a:cs typeface="Architects Daughter"/>
              <a:sym typeface="Architects Daughter"/>
            </a:endParaRPr>
          </a:p>
        </p:txBody>
      </p:sp>
      <p:pic>
        <p:nvPicPr>
          <p:cNvPr id="140" name="Google Shape;140;p4"/>
          <p:cNvPicPr preferRelativeResize="0"/>
          <p:nvPr/>
        </p:nvPicPr>
        <p:blipFill rotWithShape="1">
          <a:blip r:embed="rId6">
            <a:alphaModFix/>
          </a:blip>
          <a:srcRect b="0" l="0" r="0" t="0"/>
          <a:stretch/>
        </p:blipFill>
        <p:spPr>
          <a:xfrm>
            <a:off x="457200" y="2057400"/>
            <a:ext cx="2952750" cy="2971800"/>
          </a:xfrm>
          <a:prstGeom prst="rect">
            <a:avLst/>
          </a:prstGeom>
          <a:noFill/>
          <a:ln>
            <a:noFill/>
          </a:ln>
        </p:spPr>
      </p:pic>
      <p:sp>
        <p:nvSpPr>
          <p:cNvPr id="141" name="Google Shape;141;p4"/>
          <p:cNvSpPr/>
          <p:nvPr/>
        </p:nvSpPr>
        <p:spPr>
          <a:xfrm>
            <a:off x="3276600" y="1752600"/>
            <a:ext cx="762000" cy="533399"/>
          </a:xfrm>
          <a:custGeom>
            <a:rect b="b" l="l" r="r" t="t"/>
            <a:pathLst>
              <a:path extrusionOk="0" h="904875" w="1924050">
                <a:moveTo>
                  <a:pt x="0" y="0"/>
                </a:moveTo>
                <a:cubicBezTo>
                  <a:pt x="398462" y="40481"/>
                  <a:pt x="796925" y="80963"/>
                  <a:pt x="1028700" y="209550"/>
                </a:cubicBezTo>
                <a:cubicBezTo>
                  <a:pt x="1260475" y="338137"/>
                  <a:pt x="1241425" y="655638"/>
                  <a:pt x="1390650" y="771525"/>
                </a:cubicBezTo>
                <a:cubicBezTo>
                  <a:pt x="1539875" y="887412"/>
                  <a:pt x="1731962" y="896143"/>
                  <a:pt x="1924050" y="904875"/>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4"/>
          <p:cNvSpPr/>
          <p:nvPr/>
        </p:nvSpPr>
        <p:spPr>
          <a:xfrm>
            <a:off x="1657350" y="4953001"/>
            <a:ext cx="4800600" cy="685800"/>
          </a:xfrm>
          <a:custGeom>
            <a:rect b="b" l="l" r="r" t="t"/>
            <a:pathLst>
              <a:path extrusionOk="0" h="1087437" w="4800600">
                <a:moveTo>
                  <a:pt x="0" y="0"/>
                </a:moveTo>
                <a:cubicBezTo>
                  <a:pt x="539750" y="53181"/>
                  <a:pt x="1079500" y="106363"/>
                  <a:pt x="1476375" y="266700"/>
                </a:cubicBezTo>
                <a:cubicBezTo>
                  <a:pt x="1873250" y="427037"/>
                  <a:pt x="1939925" y="842963"/>
                  <a:pt x="2381250" y="962025"/>
                </a:cubicBezTo>
                <a:cubicBezTo>
                  <a:pt x="2822575" y="1081088"/>
                  <a:pt x="3721100" y="1087437"/>
                  <a:pt x="4124325" y="981075"/>
                </a:cubicBezTo>
                <a:cubicBezTo>
                  <a:pt x="4527550" y="874713"/>
                  <a:pt x="4664075" y="599281"/>
                  <a:pt x="4800600" y="32385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4"/>
          <p:cNvSpPr txBox="1"/>
          <p:nvPr/>
        </p:nvSpPr>
        <p:spPr>
          <a:xfrm>
            <a:off x="2895600" y="5638800"/>
            <a:ext cx="25908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This code would have to support all types of computer in all sites!</a:t>
            </a:r>
            <a:endParaRPr b="1" sz="1200">
              <a:solidFill>
                <a:srgbClr val="C00000"/>
              </a:solidFill>
              <a:latin typeface="Architects Daughter"/>
              <a:ea typeface="Architects Daughter"/>
              <a:cs typeface="Architects Daughter"/>
              <a:sym typeface="Architects Daughter"/>
            </a:endParaRPr>
          </a:p>
        </p:txBody>
      </p:sp>
      <p:sp>
        <p:nvSpPr>
          <p:cNvPr id="144" name="Google Shape;144;p4"/>
          <p:cNvSpPr txBox="1"/>
          <p:nvPr/>
        </p:nvSpPr>
        <p:spPr>
          <a:xfrm>
            <a:off x="5257800" y="6172200"/>
            <a:ext cx="281940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Let’s take a closer look in the next slide…</a:t>
            </a:r>
            <a:endParaRPr b="1" sz="1200">
              <a:solidFill>
                <a:srgbClr val="C00000"/>
              </a:solidFill>
              <a:latin typeface="Architects Daughter"/>
              <a:ea typeface="Architects Daughter"/>
              <a:cs typeface="Architects Daughter"/>
              <a:sym typeface="Architects Daughter"/>
            </a:endParaRPr>
          </a:p>
        </p:txBody>
      </p:sp>
      <p:sp>
        <p:nvSpPr>
          <p:cNvPr id="145" name="Google Shape;145;p4"/>
          <p:cNvSpPr txBox="1"/>
          <p:nvPr/>
        </p:nvSpPr>
        <p:spPr>
          <a:xfrm>
            <a:off x="6248400" y="1143000"/>
            <a:ext cx="6096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Java code</a:t>
            </a:r>
            <a:endParaRPr b="1" sz="1200">
              <a:solidFill>
                <a:srgbClr val="C00000"/>
              </a:solidFill>
              <a:latin typeface="Architects Daughter"/>
              <a:ea typeface="Architects Daughter"/>
              <a:cs typeface="Architects Daughter"/>
              <a:sym typeface="Architects Daughter"/>
            </a:endParaRPr>
          </a:p>
        </p:txBody>
      </p:sp>
      <p:sp>
        <p:nvSpPr>
          <p:cNvPr id="146" name="Google Shape;146;p4"/>
          <p:cNvSpPr/>
          <p:nvPr/>
        </p:nvSpPr>
        <p:spPr>
          <a:xfrm>
            <a:off x="5943600" y="1504950"/>
            <a:ext cx="447675" cy="171450"/>
          </a:xfrm>
          <a:custGeom>
            <a:rect b="b" l="l" r="r" t="t"/>
            <a:pathLst>
              <a:path extrusionOk="0" h="144462" w="304800">
                <a:moveTo>
                  <a:pt x="304800" y="0"/>
                </a:moveTo>
                <a:cubicBezTo>
                  <a:pt x="287337" y="51594"/>
                  <a:pt x="269875" y="103188"/>
                  <a:pt x="219075" y="123825"/>
                </a:cubicBezTo>
                <a:cubicBezTo>
                  <a:pt x="168275" y="144462"/>
                  <a:pt x="84137" y="134143"/>
                  <a:pt x="0" y="123825"/>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4"/>
          <p:cNvSpPr txBox="1"/>
          <p:nvPr/>
        </p:nvSpPr>
        <p:spPr>
          <a:xfrm>
            <a:off x="6934200" y="457200"/>
            <a:ext cx="479618"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Store 1</a:t>
            </a:r>
            <a:endParaRPr sz="800">
              <a:solidFill>
                <a:schemeClr val="dk1"/>
              </a:solidFill>
              <a:latin typeface="Calibri"/>
              <a:ea typeface="Calibri"/>
              <a:cs typeface="Calibri"/>
              <a:sym typeface="Calibri"/>
            </a:endParaRPr>
          </a:p>
        </p:txBody>
      </p:sp>
      <p:sp>
        <p:nvSpPr>
          <p:cNvPr id="148" name="Google Shape;148;p4"/>
          <p:cNvSpPr txBox="1"/>
          <p:nvPr/>
        </p:nvSpPr>
        <p:spPr>
          <a:xfrm>
            <a:off x="8001000" y="457200"/>
            <a:ext cx="479618"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Store 2</a:t>
            </a:r>
            <a:endParaRPr sz="800">
              <a:solidFill>
                <a:schemeClr val="dk1"/>
              </a:solidFill>
              <a:latin typeface="Calibri"/>
              <a:ea typeface="Calibri"/>
              <a:cs typeface="Calibri"/>
              <a:sym typeface="Calibri"/>
            </a:endParaRPr>
          </a:p>
        </p:txBody>
      </p:sp>
      <p:cxnSp>
        <p:nvCxnSpPr>
          <p:cNvPr id="149" name="Google Shape;149;p4"/>
          <p:cNvCxnSpPr/>
          <p:nvPr/>
        </p:nvCxnSpPr>
        <p:spPr>
          <a:xfrm>
            <a:off x="7239000" y="990600"/>
            <a:ext cx="457200" cy="381000"/>
          </a:xfrm>
          <a:prstGeom prst="straightConnector1">
            <a:avLst/>
          </a:prstGeom>
          <a:noFill/>
          <a:ln cap="flat" cmpd="sng" w="9525">
            <a:solidFill>
              <a:schemeClr val="dk1"/>
            </a:solidFill>
            <a:prstDash val="solid"/>
            <a:round/>
            <a:headEnd len="sm" w="sm" type="none"/>
            <a:tailEnd len="sm" w="sm" type="none"/>
          </a:ln>
        </p:spPr>
      </p:cxnSp>
      <p:cxnSp>
        <p:nvCxnSpPr>
          <p:cNvPr id="150" name="Google Shape;150;p4"/>
          <p:cNvCxnSpPr>
            <a:endCxn id="135" idx="0"/>
          </p:cNvCxnSpPr>
          <p:nvPr/>
        </p:nvCxnSpPr>
        <p:spPr>
          <a:xfrm flipH="1">
            <a:off x="7914968" y="1066800"/>
            <a:ext cx="314700" cy="304800"/>
          </a:xfrm>
          <a:prstGeom prst="straightConnector1">
            <a:avLst/>
          </a:prstGeom>
          <a:noFill/>
          <a:ln cap="flat" cmpd="sng" w="9525">
            <a:solidFill>
              <a:schemeClr val="dk1"/>
            </a:solidFill>
            <a:prstDash val="solid"/>
            <a:round/>
            <a:headEnd len="sm" w="sm" type="none"/>
            <a:tailEnd len="sm" w="sm" type="none"/>
          </a:ln>
        </p:spPr>
      </p:cxnSp>
      <p:pic>
        <p:nvPicPr>
          <p:cNvPr descr="C:\Users\cotero\AppData\Local\Microsoft\Windows\Temporary Internet Files\Content.IE5\MFZE6V1B\MC900089246[1].wmf" id="151" name="Google Shape;151;p4"/>
          <p:cNvPicPr preferRelativeResize="0"/>
          <p:nvPr/>
        </p:nvPicPr>
        <p:blipFill rotWithShape="1">
          <a:blip r:embed="rId7">
            <a:alphaModFix/>
          </a:blip>
          <a:srcRect b="0" l="0" r="0" t="0"/>
          <a:stretch/>
        </p:blipFill>
        <p:spPr>
          <a:xfrm>
            <a:off x="6858000" y="685800"/>
            <a:ext cx="675832" cy="457200"/>
          </a:xfrm>
          <a:prstGeom prst="rect">
            <a:avLst/>
          </a:prstGeom>
          <a:noFill/>
          <a:ln>
            <a:noFill/>
          </a:ln>
        </p:spPr>
      </p:pic>
      <p:pic>
        <p:nvPicPr>
          <p:cNvPr descr="C:\Users\cotero\AppData\Local\Microsoft\Windows\Temporary Internet Files\Content.IE5\MFZE6V1B\MC900089246[1].wmf" id="152" name="Google Shape;152;p4"/>
          <p:cNvPicPr preferRelativeResize="0"/>
          <p:nvPr/>
        </p:nvPicPr>
        <p:blipFill rotWithShape="1">
          <a:blip r:embed="rId7">
            <a:alphaModFix/>
          </a:blip>
          <a:srcRect b="0" l="0" r="0" t="0"/>
          <a:stretch/>
        </p:blipFill>
        <p:spPr>
          <a:xfrm>
            <a:off x="7924800" y="685800"/>
            <a:ext cx="685800" cy="4639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158" name="Google Shape;158;p5"/>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159" name="Google Shape;159;p5"/>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60" name="Google Shape;160;p5"/>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1" name="Google Shape;161;p5"/>
          <p:cNvPicPr preferRelativeResize="0"/>
          <p:nvPr/>
        </p:nvPicPr>
        <p:blipFill rotWithShape="1">
          <a:blip r:embed="rId3">
            <a:alphaModFix/>
          </a:blip>
          <a:srcRect b="15999" l="21875" r="51250" t="23000"/>
          <a:stretch/>
        </p:blipFill>
        <p:spPr>
          <a:xfrm>
            <a:off x="3048000" y="1676400"/>
            <a:ext cx="2793167" cy="3962400"/>
          </a:xfrm>
          <a:prstGeom prst="rect">
            <a:avLst/>
          </a:prstGeom>
          <a:noFill/>
          <a:ln>
            <a:noFill/>
          </a:ln>
        </p:spPr>
      </p:pic>
      <p:sp>
        <p:nvSpPr>
          <p:cNvPr id="162" name="Google Shape;162;p5"/>
          <p:cNvSpPr/>
          <p:nvPr/>
        </p:nvSpPr>
        <p:spPr>
          <a:xfrm rot="10800000">
            <a:off x="5715000" y="2362200"/>
            <a:ext cx="457200" cy="2057400"/>
          </a:xfrm>
          <a:prstGeom prst="leftBrace">
            <a:avLst>
              <a:gd fmla="val 16407" name="adj1"/>
              <a:gd fmla="val 50000" name="adj2"/>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cxnSp>
        <p:nvCxnSpPr>
          <p:cNvPr id="163" name="Google Shape;163;p5"/>
          <p:cNvCxnSpPr/>
          <p:nvPr/>
        </p:nvCxnSpPr>
        <p:spPr>
          <a:xfrm>
            <a:off x="2667000" y="3352800"/>
            <a:ext cx="609600" cy="228600"/>
          </a:xfrm>
          <a:prstGeom prst="curvedConnector3">
            <a:avLst>
              <a:gd fmla="val 50000" name="adj1"/>
            </a:avLst>
          </a:prstGeom>
          <a:noFill/>
          <a:ln>
            <a:noFill/>
          </a:ln>
        </p:spPr>
      </p:cxnSp>
      <p:cxnSp>
        <p:nvCxnSpPr>
          <p:cNvPr id="164" name="Google Shape;164;p5"/>
          <p:cNvCxnSpPr/>
          <p:nvPr/>
        </p:nvCxnSpPr>
        <p:spPr>
          <a:xfrm flipH="1" rot="-5400000">
            <a:off x="2377050" y="6034731"/>
            <a:ext cx="1113300" cy="533400"/>
          </a:xfrm>
          <a:prstGeom prst="curvedConnector2">
            <a:avLst/>
          </a:prstGeom>
          <a:noFill/>
          <a:ln>
            <a:noFill/>
          </a:ln>
        </p:spPr>
      </p:cxnSp>
      <p:sp>
        <p:nvSpPr>
          <p:cNvPr id="165" name="Google Shape;165;p5"/>
          <p:cNvSpPr/>
          <p:nvPr/>
        </p:nvSpPr>
        <p:spPr>
          <a:xfrm rot="10800000">
            <a:off x="5715001" y="4648200"/>
            <a:ext cx="457200" cy="838200"/>
          </a:xfrm>
          <a:prstGeom prst="leftBrace">
            <a:avLst>
              <a:gd fmla="val 16407" name="adj1"/>
              <a:gd fmla="val 50000" name="adj2"/>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66" name="Google Shape;166;p5"/>
          <p:cNvSpPr txBox="1"/>
          <p:nvPr/>
        </p:nvSpPr>
        <p:spPr>
          <a:xfrm>
            <a:off x="304800" y="1524000"/>
            <a:ext cx="2743200" cy="11695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C00000"/>
                </a:solidFill>
                <a:latin typeface="Architects Daughter"/>
                <a:ea typeface="Architects Daughter"/>
                <a:cs typeface="Architects Daughter"/>
                <a:sym typeface="Architects Daughter"/>
              </a:rPr>
              <a:t>This code is not closed for modification.  If a new computer is added to the inventory of store #1, we have to get into this code and modify it for all other stores!</a:t>
            </a:r>
            <a:endParaRPr/>
          </a:p>
        </p:txBody>
      </p:sp>
      <p:sp>
        <p:nvSpPr>
          <p:cNvPr id="167" name="Google Shape;167;p5"/>
          <p:cNvSpPr txBox="1"/>
          <p:nvPr/>
        </p:nvSpPr>
        <p:spPr>
          <a:xfrm>
            <a:off x="6096000" y="2895600"/>
            <a:ext cx="2667000" cy="11695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C00000"/>
                </a:solidFill>
                <a:latin typeface="Architects Daughter"/>
                <a:ea typeface="Architects Daughter"/>
                <a:cs typeface="Architects Daughter"/>
                <a:sym typeface="Architects Daughter"/>
              </a:rPr>
              <a:t>This is what varies.  As the computer selection changes over time (for all computer stores), you’ll have to modify this code over and over.</a:t>
            </a:r>
            <a:endParaRPr/>
          </a:p>
        </p:txBody>
      </p:sp>
      <p:sp>
        <p:nvSpPr>
          <p:cNvPr id="168" name="Google Shape;168;p5"/>
          <p:cNvSpPr txBox="1"/>
          <p:nvPr/>
        </p:nvSpPr>
        <p:spPr>
          <a:xfrm>
            <a:off x="6172200" y="4724400"/>
            <a:ext cx="1905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C00000"/>
                </a:solidFill>
                <a:latin typeface="Architects Daughter"/>
                <a:ea typeface="Architects Daughter"/>
                <a:cs typeface="Architects Daughter"/>
                <a:sym typeface="Architects Daughter"/>
              </a:rPr>
              <a:t>This is what we expect to stay the same.</a:t>
            </a:r>
            <a:endParaRPr/>
          </a:p>
        </p:txBody>
      </p:sp>
      <p:sp>
        <p:nvSpPr>
          <p:cNvPr id="169" name="Google Shape;169;p5"/>
          <p:cNvSpPr txBox="1"/>
          <p:nvPr/>
        </p:nvSpPr>
        <p:spPr>
          <a:xfrm>
            <a:off x="6324600" y="1676400"/>
            <a:ext cx="2057400" cy="523220"/>
          </a:xfrm>
          <a:prstGeom prst="rect">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C00000"/>
                </a:solidFill>
                <a:latin typeface="Architects Daughter"/>
                <a:ea typeface="Architects Daughter"/>
                <a:cs typeface="Architects Daughter"/>
                <a:sym typeface="Architects Daughter"/>
              </a:rPr>
              <a:t>Design Principle:</a:t>
            </a:r>
            <a:endParaRPr/>
          </a:p>
          <a:p>
            <a:pPr indent="0" lvl="0" marL="0" marR="0" rtl="0" algn="l">
              <a:spcBef>
                <a:spcPts val="0"/>
              </a:spcBef>
              <a:spcAft>
                <a:spcPts val="0"/>
              </a:spcAft>
              <a:buNone/>
            </a:pPr>
            <a:r>
              <a:rPr b="1" lang="en-US" sz="1400">
                <a:solidFill>
                  <a:srgbClr val="C00000"/>
                </a:solidFill>
                <a:latin typeface="Architects Daughter"/>
                <a:ea typeface="Architects Daughter"/>
                <a:cs typeface="Architects Daughter"/>
                <a:sym typeface="Architects Daughter"/>
              </a:rPr>
              <a:t>Encapsulate what varies!</a:t>
            </a:r>
            <a:endParaRPr/>
          </a:p>
        </p:txBody>
      </p:sp>
      <p:sp>
        <p:nvSpPr>
          <p:cNvPr id="170" name="Google Shape;170;p5"/>
          <p:cNvSpPr/>
          <p:nvPr/>
        </p:nvSpPr>
        <p:spPr>
          <a:xfrm>
            <a:off x="2533650" y="2686050"/>
            <a:ext cx="657225" cy="619125"/>
          </a:xfrm>
          <a:custGeom>
            <a:rect b="b" l="l" r="r" t="t"/>
            <a:pathLst>
              <a:path extrusionOk="0" h="619125" w="657225">
                <a:moveTo>
                  <a:pt x="0" y="0"/>
                </a:moveTo>
                <a:cubicBezTo>
                  <a:pt x="134937" y="18256"/>
                  <a:pt x="269875" y="36513"/>
                  <a:pt x="323850" y="114300"/>
                </a:cubicBezTo>
                <a:cubicBezTo>
                  <a:pt x="377825" y="192087"/>
                  <a:pt x="268288" y="382588"/>
                  <a:pt x="323850" y="466725"/>
                </a:cubicBezTo>
                <a:cubicBezTo>
                  <a:pt x="379412" y="550862"/>
                  <a:pt x="518318" y="584993"/>
                  <a:pt x="657225" y="619125"/>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5"/>
          <p:cNvSpPr txBox="1"/>
          <p:nvPr/>
        </p:nvSpPr>
        <p:spPr>
          <a:xfrm>
            <a:off x="685800" y="3886200"/>
            <a:ext cx="1981200" cy="830997"/>
          </a:xfrm>
          <a:prstGeom prst="rect">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C00000"/>
                </a:solidFill>
                <a:latin typeface="Architects Daughter"/>
                <a:ea typeface="Architects Daughter"/>
                <a:cs typeface="Architects Daughter"/>
                <a:sym typeface="Architects Daughter"/>
              </a:rPr>
              <a:t>Important:</a:t>
            </a:r>
            <a:endParaRPr/>
          </a:p>
          <a:p>
            <a:pPr indent="0" lvl="0" marL="0" marR="0" rtl="0" algn="l">
              <a:spcBef>
                <a:spcPts val="0"/>
              </a:spcBef>
              <a:spcAft>
                <a:spcPts val="0"/>
              </a:spcAft>
              <a:buNone/>
            </a:pPr>
            <a:r>
              <a:rPr b="1" lang="en-US" sz="1200">
                <a:solidFill>
                  <a:srgbClr val="C00000"/>
                </a:solidFill>
                <a:latin typeface="Architects Daughter"/>
                <a:ea typeface="Architects Daughter"/>
                <a:cs typeface="Architects Daughter"/>
                <a:sym typeface="Architects Daughter"/>
              </a:rPr>
              <a:t>By coding to an interface, we can insulate ourselves from future changes!</a:t>
            </a:r>
            <a:endParaRPr/>
          </a:p>
        </p:txBody>
      </p:sp>
      <p:sp>
        <p:nvSpPr>
          <p:cNvPr id="172" name="Google Shape;172;p5"/>
          <p:cNvSpPr txBox="1"/>
          <p:nvPr/>
        </p:nvSpPr>
        <p:spPr>
          <a:xfrm>
            <a:off x="3505200" y="6019800"/>
            <a:ext cx="464820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Let’s see how the Factory Method can be used to solve this problem…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178" name="Google Shape;178;p6"/>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179" name="Google Shape;179;p6"/>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80" name="Google Shape;180;p6"/>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1" name="Google Shape;181;p6"/>
          <p:cNvPicPr preferRelativeResize="0"/>
          <p:nvPr/>
        </p:nvPicPr>
        <p:blipFill rotWithShape="1">
          <a:blip r:embed="rId3">
            <a:alphaModFix/>
          </a:blip>
          <a:srcRect b="0" l="0" r="0" t="0"/>
          <a:stretch/>
        </p:blipFill>
        <p:spPr>
          <a:xfrm>
            <a:off x="538163" y="1543050"/>
            <a:ext cx="8067675" cy="3771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187" name="Google Shape;187;p7"/>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188" name="Google Shape;188;p7"/>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89" name="Google Shape;189;p7"/>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0" name="Google Shape;190;p7"/>
          <p:cNvPicPr preferRelativeResize="0"/>
          <p:nvPr/>
        </p:nvPicPr>
        <p:blipFill rotWithShape="1">
          <a:blip r:embed="rId3">
            <a:alphaModFix/>
          </a:blip>
          <a:srcRect b="0" l="0" r="0" t="0"/>
          <a:stretch/>
        </p:blipFill>
        <p:spPr>
          <a:xfrm>
            <a:off x="647700" y="1676400"/>
            <a:ext cx="7991475" cy="4143375"/>
          </a:xfrm>
          <a:prstGeom prst="rect">
            <a:avLst/>
          </a:prstGeom>
          <a:noFill/>
          <a:ln>
            <a:noFill/>
          </a:ln>
        </p:spPr>
      </p:pic>
      <p:sp>
        <p:nvSpPr>
          <p:cNvPr id="191" name="Google Shape;191;p7"/>
          <p:cNvSpPr txBox="1"/>
          <p:nvPr/>
        </p:nvSpPr>
        <p:spPr>
          <a:xfrm>
            <a:off x="2590800" y="6019800"/>
            <a:ext cx="31242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C00000"/>
                </a:solidFill>
                <a:latin typeface="Architects Daughter"/>
                <a:ea typeface="Architects Daughter"/>
                <a:cs typeface="Architects Daughter"/>
                <a:sym typeface="Architects Daughter"/>
              </a:rPr>
              <a:t>Notice that this is an abstract method!</a:t>
            </a:r>
            <a:endParaRPr/>
          </a:p>
        </p:txBody>
      </p:sp>
      <p:sp>
        <p:nvSpPr>
          <p:cNvPr id="192" name="Google Shape;192;p7"/>
          <p:cNvSpPr/>
          <p:nvPr/>
        </p:nvSpPr>
        <p:spPr>
          <a:xfrm>
            <a:off x="2066925" y="5800725"/>
            <a:ext cx="609600" cy="361950"/>
          </a:xfrm>
          <a:custGeom>
            <a:rect b="b" l="l" r="r" t="t"/>
            <a:pathLst>
              <a:path extrusionOk="0" h="361950" w="609600">
                <a:moveTo>
                  <a:pt x="609600" y="361950"/>
                </a:moveTo>
                <a:cubicBezTo>
                  <a:pt x="554037" y="305593"/>
                  <a:pt x="498475" y="249237"/>
                  <a:pt x="419100" y="228600"/>
                </a:cubicBezTo>
                <a:cubicBezTo>
                  <a:pt x="339725" y="207963"/>
                  <a:pt x="203200" y="276225"/>
                  <a:pt x="133350" y="238125"/>
                </a:cubicBezTo>
                <a:cubicBezTo>
                  <a:pt x="63500" y="200025"/>
                  <a:pt x="31750" y="100012"/>
                  <a:pt x="0" y="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198" name="Google Shape;198;p8"/>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199" name="Google Shape;199;p8"/>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00" name="Google Shape;200;p8"/>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1" name="Google Shape;201;p8"/>
          <p:cNvPicPr preferRelativeResize="0"/>
          <p:nvPr/>
        </p:nvPicPr>
        <p:blipFill rotWithShape="1">
          <a:blip r:embed="rId3">
            <a:alphaModFix/>
          </a:blip>
          <a:srcRect b="0" l="0" r="0" t="0"/>
          <a:stretch/>
        </p:blipFill>
        <p:spPr>
          <a:xfrm>
            <a:off x="581025" y="1771650"/>
            <a:ext cx="7915275" cy="4010025"/>
          </a:xfrm>
          <a:prstGeom prst="rect">
            <a:avLst/>
          </a:prstGeom>
          <a:noFill/>
          <a:ln>
            <a:noFill/>
          </a:ln>
        </p:spPr>
      </p:pic>
      <p:sp>
        <p:nvSpPr>
          <p:cNvPr id="202" name="Google Shape;202;p8"/>
          <p:cNvSpPr txBox="1"/>
          <p:nvPr/>
        </p:nvSpPr>
        <p:spPr>
          <a:xfrm>
            <a:off x="2590800" y="6019800"/>
            <a:ext cx="31242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C00000"/>
                </a:solidFill>
                <a:latin typeface="Architects Daughter"/>
                <a:ea typeface="Architects Daughter"/>
                <a:cs typeface="Architects Daughter"/>
                <a:sym typeface="Architects Daughter"/>
              </a:rPr>
              <a:t>Notice that this is an abstract method!</a:t>
            </a:r>
            <a:endParaRPr/>
          </a:p>
        </p:txBody>
      </p:sp>
      <p:sp>
        <p:nvSpPr>
          <p:cNvPr id="203" name="Google Shape;203;p8"/>
          <p:cNvSpPr/>
          <p:nvPr/>
        </p:nvSpPr>
        <p:spPr>
          <a:xfrm>
            <a:off x="2066925" y="5800725"/>
            <a:ext cx="609600" cy="361950"/>
          </a:xfrm>
          <a:custGeom>
            <a:rect b="b" l="l" r="r" t="t"/>
            <a:pathLst>
              <a:path extrusionOk="0" h="361950" w="609600">
                <a:moveTo>
                  <a:pt x="609600" y="361950"/>
                </a:moveTo>
                <a:cubicBezTo>
                  <a:pt x="554037" y="305593"/>
                  <a:pt x="498475" y="249237"/>
                  <a:pt x="419100" y="228600"/>
                </a:cubicBezTo>
                <a:cubicBezTo>
                  <a:pt x="339725" y="207963"/>
                  <a:pt x="203200" y="276225"/>
                  <a:pt x="133350" y="238125"/>
                </a:cubicBezTo>
                <a:cubicBezTo>
                  <a:pt x="63500" y="200025"/>
                  <a:pt x="31750" y="100012"/>
                  <a:pt x="0" y="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9"/>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209" name="Google Shape;209;p9"/>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210" name="Google Shape;210;p9"/>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11" name="Google Shape;211;p9"/>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9"/>
          <p:cNvSpPr txBox="1"/>
          <p:nvPr>
            <p:ph idx="1" type="body"/>
          </p:nvPr>
        </p:nvSpPr>
        <p:spPr>
          <a:xfrm>
            <a:off x="457200" y="1371601"/>
            <a:ext cx="7693025" cy="19812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850"/>
              <a:buFont typeface="Noto Sans Symbols"/>
              <a:buChar char="⮚"/>
            </a:pPr>
            <a:r>
              <a:rPr lang="en-US" sz="1850"/>
              <a:t>Consider an information system for a chain of Computer Stores.  The chain is currently composed of two sites and the manager wants to have a centralized software that manages all two sites.  Mainly, the manager wants this centralized system to keep track of computer sales and display computer information for all sites.  Not all sites carry the same computers and new sites could be added in the future, therefore support for computers should be site-specific!</a:t>
            </a:r>
            <a:endParaRPr sz="1850"/>
          </a:p>
        </p:txBody>
      </p:sp>
      <p:cxnSp>
        <p:nvCxnSpPr>
          <p:cNvPr id="213" name="Google Shape;213;p9"/>
          <p:cNvCxnSpPr/>
          <p:nvPr/>
        </p:nvCxnSpPr>
        <p:spPr>
          <a:xfrm flipH="1" rot="10800000">
            <a:off x="2057400" y="4419600"/>
            <a:ext cx="1828800" cy="609600"/>
          </a:xfrm>
          <a:prstGeom prst="straightConnector1">
            <a:avLst/>
          </a:prstGeom>
          <a:noFill/>
          <a:ln cap="flat" cmpd="sng" w="9525">
            <a:solidFill>
              <a:srgbClr val="000000"/>
            </a:solidFill>
            <a:prstDash val="solid"/>
            <a:round/>
            <a:headEnd len="sm" w="sm" type="none"/>
            <a:tailEnd len="med" w="med" type="stealth"/>
          </a:ln>
        </p:spPr>
      </p:cxnSp>
      <p:cxnSp>
        <p:nvCxnSpPr>
          <p:cNvPr id="214" name="Google Shape;214;p9"/>
          <p:cNvCxnSpPr/>
          <p:nvPr/>
        </p:nvCxnSpPr>
        <p:spPr>
          <a:xfrm rot="10800000">
            <a:off x="4343400" y="4457700"/>
            <a:ext cx="0" cy="457201"/>
          </a:xfrm>
          <a:prstGeom prst="straightConnector1">
            <a:avLst/>
          </a:prstGeom>
          <a:noFill/>
          <a:ln cap="flat" cmpd="sng" w="9525">
            <a:solidFill>
              <a:srgbClr val="000000"/>
            </a:solidFill>
            <a:prstDash val="solid"/>
            <a:round/>
            <a:headEnd len="sm" w="sm" type="none"/>
            <a:tailEnd len="med" w="med" type="stealth"/>
          </a:ln>
        </p:spPr>
      </p:cxnSp>
      <p:cxnSp>
        <p:nvCxnSpPr>
          <p:cNvPr id="215" name="Google Shape;215;p9"/>
          <p:cNvCxnSpPr/>
          <p:nvPr/>
        </p:nvCxnSpPr>
        <p:spPr>
          <a:xfrm rot="10800000">
            <a:off x="4876800" y="4419600"/>
            <a:ext cx="1219200" cy="609600"/>
          </a:xfrm>
          <a:prstGeom prst="straightConnector1">
            <a:avLst/>
          </a:prstGeom>
          <a:noFill/>
          <a:ln cap="flat" cmpd="sng" w="9525">
            <a:solidFill>
              <a:srgbClr val="000000"/>
            </a:solidFill>
            <a:prstDash val="dash"/>
            <a:round/>
            <a:headEnd len="sm" w="sm" type="none"/>
            <a:tailEnd len="med" w="med" type="stealth"/>
          </a:ln>
        </p:spPr>
      </p:cxnSp>
      <p:sp>
        <p:nvSpPr>
          <p:cNvPr id="216" name="Google Shape;216;p9"/>
          <p:cNvSpPr/>
          <p:nvPr/>
        </p:nvSpPr>
        <p:spPr>
          <a:xfrm>
            <a:off x="6324600" y="5638800"/>
            <a:ext cx="533400" cy="228600"/>
          </a:xfrm>
          <a:prstGeom prst="roundRect">
            <a:avLst>
              <a:gd fmla="val 16667" name="adj"/>
            </a:avLst>
          </a:prstGeom>
          <a:noFill/>
          <a:ln cap="flat" cmpd="sng" w="9525">
            <a:solidFill>
              <a:srgbClr val="0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Arial"/>
                <a:ea typeface="Arial"/>
                <a:cs typeface="Arial"/>
                <a:sym typeface="Arial"/>
              </a:rPr>
              <a:t>HP</a:t>
            </a:r>
            <a:endParaRPr/>
          </a:p>
        </p:txBody>
      </p:sp>
      <p:cxnSp>
        <p:nvCxnSpPr>
          <p:cNvPr id="217" name="Google Shape;217;p9"/>
          <p:cNvCxnSpPr>
            <a:endCxn id="216" idx="0"/>
          </p:cNvCxnSpPr>
          <p:nvPr/>
        </p:nvCxnSpPr>
        <p:spPr>
          <a:xfrm>
            <a:off x="6096000" y="5334000"/>
            <a:ext cx="495300" cy="304800"/>
          </a:xfrm>
          <a:prstGeom prst="straightConnector1">
            <a:avLst/>
          </a:prstGeom>
          <a:noFill/>
          <a:ln cap="flat" cmpd="sng" w="9525">
            <a:solidFill>
              <a:srgbClr val="000000"/>
            </a:solidFill>
            <a:prstDash val="dash"/>
            <a:round/>
            <a:headEnd len="sm" w="sm" type="none"/>
            <a:tailEnd len="sm" w="sm" type="none"/>
          </a:ln>
        </p:spPr>
      </p:cxnSp>
      <p:grpSp>
        <p:nvGrpSpPr>
          <p:cNvPr id="218" name="Google Shape;218;p9"/>
          <p:cNvGrpSpPr/>
          <p:nvPr/>
        </p:nvGrpSpPr>
        <p:grpSpPr>
          <a:xfrm>
            <a:off x="3276600" y="3505200"/>
            <a:ext cx="2362200" cy="1219201"/>
            <a:chOff x="3276600" y="3505200"/>
            <a:chExt cx="2362200" cy="1219201"/>
          </a:xfrm>
        </p:grpSpPr>
        <p:sp>
          <p:nvSpPr>
            <p:cNvPr id="219" name="Google Shape;219;p9"/>
            <p:cNvSpPr/>
            <p:nvPr/>
          </p:nvSpPr>
          <p:spPr>
            <a:xfrm>
              <a:off x="3276600" y="3505200"/>
              <a:ext cx="2362200" cy="1219201"/>
            </a:xfrm>
            <a:prstGeom prst="rect">
              <a:avLst/>
            </a:prstGeom>
            <a:noFill/>
            <a:ln cap="flat" cmpd="sng" w="9525">
              <a:solidFill>
                <a:srgbClr val="000000"/>
              </a:solidFill>
              <a:prstDash val="solid"/>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0" name="Google Shape;220;p9"/>
            <p:cNvSpPr txBox="1"/>
            <p:nvPr/>
          </p:nvSpPr>
          <p:spPr>
            <a:xfrm>
              <a:off x="3352800" y="3505200"/>
              <a:ext cx="22860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Remote Store Manager’s Station</a:t>
              </a:r>
              <a:endParaRPr sz="1200">
                <a:solidFill>
                  <a:schemeClr val="dk1"/>
                </a:solidFill>
                <a:latin typeface="Calibri"/>
                <a:ea typeface="Calibri"/>
                <a:cs typeface="Calibri"/>
                <a:sym typeface="Calibri"/>
              </a:endParaRPr>
            </a:p>
          </p:txBody>
        </p:sp>
        <p:pic>
          <p:nvPicPr>
            <p:cNvPr descr="C:\Program Files (x86)\Microsoft Office\MEDIA\CAGCAT10\j0285750.wmf" id="221" name="Google Shape;221;p9"/>
            <p:cNvPicPr preferRelativeResize="0"/>
            <p:nvPr/>
          </p:nvPicPr>
          <p:blipFill rotWithShape="1">
            <a:blip r:embed="rId3">
              <a:alphaModFix/>
            </a:blip>
            <a:srcRect b="0" l="0" r="0" t="0"/>
            <a:stretch/>
          </p:blipFill>
          <p:spPr>
            <a:xfrm>
              <a:off x="3886200" y="3810000"/>
              <a:ext cx="1064514" cy="654182"/>
            </a:xfrm>
            <a:prstGeom prst="rect">
              <a:avLst/>
            </a:prstGeom>
            <a:noFill/>
            <a:ln>
              <a:noFill/>
            </a:ln>
          </p:spPr>
        </p:pic>
      </p:grpSp>
      <p:sp>
        <p:nvSpPr>
          <p:cNvPr id="222" name="Google Shape;222;p9"/>
          <p:cNvSpPr txBox="1"/>
          <p:nvPr/>
        </p:nvSpPr>
        <p:spPr>
          <a:xfrm>
            <a:off x="1371600" y="3657600"/>
            <a:ext cx="16764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Manager logs on to this computer to view products from all sites.</a:t>
            </a:r>
            <a:endParaRPr b="1" sz="1200">
              <a:solidFill>
                <a:srgbClr val="C00000"/>
              </a:solidFill>
              <a:latin typeface="Architects Daughter"/>
              <a:ea typeface="Architects Daughter"/>
              <a:cs typeface="Architects Daughter"/>
              <a:sym typeface="Architects Daughter"/>
            </a:endParaRPr>
          </a:p>
        </p:txBody>
      </p:sp>
      <p:sp>
        <p:nvSpPr>
          <p:cNvPr id="223" name="Google Shape;223;p9"/>
          <p:cNvSpPr/>
          <p:nvPr/>
        </p:nvSpPr>
        <p:spPr>
          <a:xfrm>
            <a:off x="2905125" y="3800475"/>
            <a:ext cx="923925" cy="390525"/>
          </a:xfrm>
          <a:custGeom>
            <a:rect b="b" l="l" r="r" t="t"/>
            <a:pathLst>
              <a:path extrusionOk="0" h="390525" w="923925">
                <a:moveTo>
                  <a:pt x="0" y="0"/>
                </a:moveTo>
                <a:cubicBezTo>
                  <a:pt x="191293" y="56356"/>
                  <a:pt x="382587" y="112712"/>
                  <a:pt x="485775" y="171450"/>
                </a:cubicBezTo>
                <a:cubicBezTo>
                  <a:pt x="588963" y="230188"/>
                  <a:pt x="546100" y="315913"/>
                  <a:pt x="619125" y="352425"/>
                </a:cubicBezTo>
                <a:cubicBezTo>
                  <a:pt x="692150" y="388937"/>
                  <a:pt x="808037" y="389731"/>
                  <a:pt x="923925" y="390525"/>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9"/>
          <p:cNvSpPr txBox="1"/>
          <p:nvPr/>
        </p:nvSpPr>
        <p:spPr>
          <a:xfrm>
            <a:off x="7086600" y="5105400"/>
            <a:ext cx="17526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It is possible that other sites carrying different computers could be added in the future</a:t>
            </a:r>
            <a:endParaRPr b="1" sz="1200">
              <a:solidFill>
                <a:srgbClr val="C00000"/>
              </a:solidFill>
              <a:latin typeface="Architects Daughter"/>
              <a:ea typeface="Architects Daughter"/>
              <a:cs typeface="Architects Daughter"/>
              <a:sym typeface="Architects Daughter"/>
            </a:endParaRPr>
          </a:p>
        </p:txBody>
      </p:sp>
      <p:sp>
        <p:nvSpPr>
          <p:cNvPr id="225" name="Google Shape;225;p9"/>
          <p:cNvSpPr/>
          <p:nvPr/>
        </p:nvSpPr>
        <p:spPr>
          <a:xfrm>
            <a:off x="6534150" y="5153025"/>
            <a:ext cx="685800" cy="95250"/>
          </a:xfrm>
          <a:custGeom>
            <a:rect b="b" l="l" r="r" t="t"/>
            <a:pathLst>
              <a:path extrusionOk="0" h="95250" w="685800">
                <a:moveTo>
                  <a:pt x="685800" y="95250"/>
                </a:moveTo>
                <a:cubicBezTo>
                  <a:pt x="577056" y="95250"/>
                  <a:pt x="468312" y="95250"/>
                  <a:pt x="400050" y="85725"/>
                </a:cubicBezTo>
                <a:cubicBezTo>
                  <a:pt x="331788" y="76200"/>
                  <a:pt x="342900" y="52387"/>
                  <a:pt x="276225" y="38100"/>
                </a:cubicBezTo>
                <a:cubicBezTo>
                  <a:pt x="209550" y="23813"/>
                  <a:pt x="104775" y="11906"/>
                  <a:pt x="0" y="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6" name="Google Shape;226;p9"/>
          <p:cNvGrpSpPr/>
          <p:nvPr/>
        </p:nvGrpSpPr>
        <p:grpSpPr>
          <a:xfrm>
            <a:off x="1600200" y="4800600"/>
            <a:ext cx="2026942" cy="1524000"/>
            <a:chOff x="1981200" y="4800600"/>
            <a:chExt cx="2026942" cy="1524000"/>
          </a:xfrm>
        </p:grpSpPr>
        <p:sp>
          <p:nvSpPr>
            <p:cNvPr id="227" name="Google Shape;227;p9"/>
            <p:cNvSpPr/>
            <p:nvPr/>
          </p:nvSpPr>
          <p:spPr>
            <a:xfrm>
              <a:off x="2745308" y="5410200"/>
              <a:ext cx="533400" cy="2286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lang="en-US" sz="800">
                  <a:solidFill>
                    <a:schemeClr val="dk1"/>
                  </a:solidFill>
                  <a:latin typeface="Calibri"/>
                  <a:ea typeface="Calibri"/>
                  <a:cs typeface="Calibri"/>
                  <a:sym typeface="Calibri"/>
                </a:rPr>
                <a:t>DELL</a:t>
              </a:r>
              <a:endParaRPr b="0" i="0" sz="800" u="none" cap="none" strike="noStrike">
                <a:solidFill>
                  <a:schemeClr val="dk1"/>
                </a:solidFill>
                <a:latin typeface="Arial"/>
                <a:ea typeface="Arial"/>
                <a:cs typeface="Arial"/>
                <a:sym typeface="Arial"/>
              </a:endParaRPr>
            </a:p>
          </p:txBody>
        </p:sp>
        <p:sp>
          <p:nvSpPr>
            <p:cNvPr id="228" name="Google Shape;228;p9"/>
            <p:cNvSpPr/>
            <p:nvPr/>
          </p:nvSpPr>
          <p:spPr>
            <a:xfrm>
              <a:off x="2745308" y="5867400"/>
              <a:ext cx="533400" cy="2286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Arial"/>
                  <a:ea typeface="Arial"/>
                  <a:cs typeface="Arial"/>
                  <a:sym typeface="Arial"/>
                </a:rPr>
                <a:t>MAC</a:t>
              </a:r>
              <a:endParaRPr/>
            </a:p>
          </p:txBody>
        </p:sp>
        <p:sp>
          <p:nvSpPr>
            <p:cNvPr id="229" name="Google Shape;229;p9"/>
            <p:cNvSpPr txBox="1"/>
            <p:nvPr/>
          </p:nvSpPr>
          <p:spPr>
            <a:xfrm>
              <a:off x="3119529" y="5638800"/>
              <a:ext cx="609462"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Inspiron</a:t>
              </a:r>
              <a:endParaRPr sz="1000">
                <a:solidFill>
                  <a:schemeClr val="dk1"/>
                </a:solidFill>
                <a:latin typeface="Calibri"/>
                <a:ea typeface="Calibri"/>
                <a:cs typeface="Calibri"/>
                <a:sym typeface="Calibri"/>
              </a:endParaRPr>
            </a:p>
          </p:txBody>
        </p:sp>
        <p:sp>
          <p:nvSpPr>
            <p:cNvPr id="230" name="Google Shape;230;p9"/>
            <p:cNvSpPr txBox="1"/>
            <p:nvPr/>
          </p:nvSpPr>
          <p:spPr>
            <a:xfrm>
              <a:off x="3130979" y="6078379"/>
              <a:ext cx="877163"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Mac Book Air</a:t>
              </a:r>
              <a:endParaRPr sz="1000">
                <a:solidFill>
                  <a:schemeClr val="dk1"/>
                </a:solidFill>
                <a:latin typeface="Calibri"/>
                <a:ea typeface="Calibri"/>
                <a:cs typeface="Calibri"/>
                <a:sym typeface="Calibri"/>
              </a:endParaRPr>
            </a:p>
          </p:txBody>
        </p:sp>
        <p:cxnSp>
          <p:nvCxnSpPr>
            <p:cNvPr id="231" name="Google Shape;231;p9"/>
            <p:cNvCxnSpPr/>
            <p:nvPr/>
          </p:nvCxnSpPr>
          <p:spPr>
            <a:xfrm>
              <a:off x="2514600" y="5334000"/>
              <a:ext cx="0" cy="685800"/>
            </a:xfrm>
            <a:prstGeom prst="straightConnector1">
              <a:avLst/>
            </a:prstGeom>
            <a:noFill/>
            <a:ln cap="flat" cmpd="sng" w="9525">
              <a:solidFill>
                <a:schemeClr val="dk1"/>
              </a:solidFill>
              <a:prstDash val="solid"/>
              <a:round/>
              <a:headEnd len="sm" w="sm" type="none"/>
              <a:tailEnd len="sm" w="sm" type="none"/>
            </a:ln>
          </p:spPr>
        </p:cxnSp>
        <p:cxnSp>
          <p:nvCxnSpPr>
            <p:cNvPr id="232" name="Google Shape;232;p9"/>
            <p:cNvCxnSpPr/>
            <p:nvPr/>
          </p:nvCxnSpPr>
          <p:spPr>
            <a:xfrm rot="10800000">
              <a:off x="2514600" y="5553075"/>
              <a:ext cx="228600" cy="0"/>
            </a:xfrm>
            <a:prstGeom prst="straightConnector1">
              <a:avLst/>
            </a:prstGeom>
            <a:noFill/>
            <a:ln cap="flat" cmpd="sng" w="9525">
              <a:solidFill>
                <a:schemeClr val="dk1"/>
              </a:solidFill>
              <a:prstDash val="solid"/>
              <a:round/>
              <a:headEnd len="sm" w="sm" type="none"/>
              <a:tailEnd len="sm" w="sm" type="none"/>
            </a:ln>
          </p:spPr>
        </p:cxnSp>
        <p:cxnSp>
          <p:nvCxnSpPr>
            <p:cNvPr id="233" name="Google Shape;233;p9"/>
            <p:cNvCxnSpPr/>
            <p:nvPr/>
          </p:nvCxnSpPr>
          <p:spPr>
            <a:xfrm rot="10800000">
              <a:off x="2514600" y="6019800"/>
              <a:ext cx="228600" cy="0"/>
            </a:xfrm>
            <a:prstGeom prst="straightConnector1">
              <a:avLst/>
            </a:prstGeom>
            <a:noFill/>
            <a:ln cap="flat" cmpd="sng" w="9525">
              <a:solidFill>
                <a:schemeClr val="dk1"/>
              </a:solidFill>
              <a:prstDash val="solid"/>
              <a:round/>
              <a:headEnd len="sm" w="sm" type="none"/>
              <a:tailEnd len="sm" w="sm" type="none"/>
            </a:ln>
          </p:spPr>
        </p:cxnSp>
        <p:cxnSp>
          <p:nvCxnSpPr>
            <p:cNvPr id="234" name="Google Shape;234;p9"/>
            <p:cNvCxnSpPr>
              <a:stCxn id="227" idx="2"/>
              <a:endCxn id="229" idx="1"/>
            </p:cNvCxnSpPr>
            <p:nvPr/>
          </p:nvCxnSpPr>
          <p:spPr>
            <a:xfrm flipH="1" rot="-5400000">
              <a:off x="3004208" y="5646600"/>
              <a:ext cx="123000" cy="107400"/>
            </a:xfrm>
            <a:prstGeom prst="bentConnector2">
              <a:avLst/>
            </a:prstGeom>
            <a:noFill/>
            <a:ln cap="flat" cmpd="sng" w="9525">
              <a:solidFill>
                <a:schemeClr val="dk1"/>
              </a:solidFill>
              <a:prstDash val="solid"/>
              <a:round/>
              <a:headEnd len="sm" w="sm" type="none"/>
              <a:tailEnd len="sm" w="sm" type="none"/>
            </a:ln>
          </p:spPr>
        </p:cxnSp>
        <p:cxnSp>
          <p:nvCxnSpPr>
            <p:cNvPr id="235" name="Google Shape;235;p9"/>
            <p:cNvCxnSpPr>
              <a:stCxn id="228" idx="2"/>
              <a:endCxn id="230" idx="1"/>
            </p:cNvCxnSpPr>
            <p:nvPr/>
          </p:nvCxnSpPr>
          <p:spPr>
            <a:xfrm flipH="1" rot="-5400000">
              <a:off x="3018758" y="6089250"/>
              <a:ext cx="105600" cy="119100"/>
            </a:xfrm>
            <a:prstGeom prst="bentConnector2">
              <a:avLst/>
            </a:prstGeom>
            <a:noFill/>
            <a:ln cap="flat" cmpd="sng" w="9525">
              <a:solidFill>
                <a:schemeClr val="dk1"/>
              </a:solidFill>
              <a:prstDash val="solid"/>
              <a:round/>
              <a:headEnd len="sm" w="sm" type="none"/>
              <a:tailEnd len="sm" w="sm" type="none"/>
            </a:ln>
          </p:spPr>
        </p:cxnSp>
        <p:pic>
          <p:nvPicPr>
            <p:cNvPr descr="C:\Users\cotero\AppData\Local\Microsoft\Windows\Temporary Internet Files\Content.IE5\MFZE6V1B\MC900089246[1].wmf" id="236" name="Google Shape;236;p9"/>
            <p:cNvPicPr preferRelativeResize="0"/>
            <p:nvPr/>
          </p:nvPicPr>
          <p:blipFill rotWithShape="1">
            <a:blip r:embed="rId4">
              <a:alphaModFix/>
            </a:blip>
            <a:srcRect b="0" l="0" r="0" t="0"/>
            <a:stretch/>
          </p:blipFill>
          <p:spPr>
            <a:xfrm>
              <a:off x="1981200" y="4800600"/>
              <a:ext cx="914400" cy="618591"/>
            </a:xfrm>
            <a:prstGeom prst="rect">
              <a:avLst/>
            </a:prstGeom>
            <a:noFill/>
            <a:ln>
              <a:noFill/>
            </a:ln>
          </p:spPr>
        </p:pic>
      </p:grpSp>
      <p:grpSp>
        <p:nvGrpSpPr>
          <p:cNvPr id="237" name="Google Shape;237;p9"/>
          <p:cNvGrpSpPr/>
          <p:nvPr/>
        </p:nvGrpSpPr>
        <p:grpSpPr>
          <a:xfrm>
            <a:off x="3962400" y="4876800"/>
            <a:ext cx="2209800" cy="1524000"/>
            <a:chOff x="3657600" y="4800600"/>
            <a:chExt cx="2209800" cy="1524000"/>
          </a:xfrm>
        </p:grpSpPr>
        <p:sp>
          <p:nvSpPr>
            <p:cNvPr id="238" name="Google Shape;238;p9"/>
            <p:cNvSpPr/>
            <p:nvPr/>
          </p:nvSpPr>
          <p:spPr>
            <a:xfrm>
              <a:off x="4574108" y="5410200"/>
              <a:ext cx="533400" cy="2286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Calibri"/>
                <a:buNone/>
              </a:pPr>
              <a:r>
                <a:rPr lang="en-US" sz="800">
                  <a:solidFill>
                    <a:schemeClr val="dk1"/>
                  </a:solidFill>
                  <a:latin typeface="Calibri"/>
                  <a:ea typeface="Calibri"/>
                  <a:cs typeface="Calibri"/>
                  <a:sym typeface="Calibri"/>
                </a:rPr>
                <a:t>DELL</a:t>
              </a:r>
              <a:endParaRPr b="0" i="0" sz="800" u="none" cap="none" strike="noStrike">
                <a:solidFill>
                  <a:schemeClr val="dk1"/>
                </a:solidFill>
                <a:latin typeface="Arial"/>
                <a:ea typeface="Arial"/>
                <a:cs typeface="Arial"/>
                <a:sym typeface="Arial"/>
              </a:endParaRPr>
            </a:p>
          </p:txBody>
        </p:sp>
        <p:sp>
          <p:nvSpPr>
            <p:cNvPr id="239" name="Google Shape;239;p9"/>
            <p:cNvSpPr/>
            <p:nvPr/>
          </p:nvSpPr>
          <p:spPr>
            <a:xfrm>
              <a:off x="4574108" y="5867400"/>
              <a:ext cx="533400" cy="2286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Arial"/>
                  <a:ea typeface="Arial"/>
                  <a:cs typeface="Arial"/>
                  <a:sym typeface="Arial"/>
                </a:rPr>
                <a:t>MAC</a:t>
              </a:r>
              <a:endParaRPr/>
            </a:p>
          </p:txBody>
        </p:sp>
        <p:sp>
          <p:nvSpPr>
            <p:cNvPr id="240" name="Google Shape;240;p9"/>
            <p:cNvSpPr txBox="1"/>
            <p:nvPr/>
          </p:nvSpPr>
          <p:spPr>
            <a:xfrm>
              <a:off x="4948329" y="5638800"/>
              <a:ext cx="61427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Latitude</a:t>
              </a:r>
              <a:endParaRPr sz="1000">
                <a:solidFill>
                  <a:schemeClr val="dk1"/>
                </a:solidFill>
                <a:latin typeface="Calibri"/>
                <a:ea typeface="Calibri"/>
                <a:cs typeface="Calibri"/>
                <a:sym typeface="Calibri"/>
              </a:endParaRPr>
            </a:p>
          </p:txBody>
        </p:sp>
        <p:sp>
          <p:nvSpPr>
            <p:cNvPr id="241" name="Google Shape;241;p9"/>
            <p:cNvSpPr txBox="1"/>
            <p:nvPr/>
          </p:nvSpPr>
          <p:spPr>
            <a:xfrm>
              <a:off x="4959779" y="6078379"/>
              <a:ext cx="90762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Mac Book Pro</a:t>
              </a:r>
              <a:endParaRPr sz="1000">
                <a:solidFill>
                  <a:schemeClr val="dk1"/>
                </a:solidFill>
                <a:latin typeface="Calibri"/>
                <a:ea typeface="Calibri"/>
                <a:cs typeface="Calibri"/>
                <a:sym typeface="Calibri"/>
              </a:endParaRPr>
            </a:p>
          </p:txBody>
        </p:sp>
        <p:cxnSp>
          <p:nvCxnSpPr>
            <p:cNvPr id="242" name="Google Shape;242;p9"/>
            <p:cNvCxnSpPr/>
            <p:nvPr/>
          </p:nvCxnSpPr>
          <p:spPr>
            <a:xfrm>
              <a:off x="4343400" y="5334000"/>
              <a:ext cx="0" cy="685800"/>
            </a:xfrm>
            <a:prstGeom prst="straightConnector1">
              <a:avLst/>
            </a:prstGeom>
            <a:noFill/>
            <a:ln cap="flat" cmpd="sng" w="9525">
              <a:solidFill>
                <a:schemeClr val="dk1"/>
              </a:solidFill>
              <a:prstDash val="solid"/>
              <a:round/>
              <a:headEnd len="sm" w="sm" type="none"/>
              <a:tailEnd len="sm" w="sm" type="none"/>
            </a:ln>
          </p:spPr>
        </p:cxnSp>
        <p:cxnSp>
          <p:nvCxnSpPr>
            <p:cNvPr id="243" name="Google Shape;243;p9"/>
            <p:cNvCxnSpPr/>
            <p:nvPr/>
          </p:nvCxnSpPr>
          <p:spPr>
            <a:xfrm rot="10800000">
              <a:off x="4343400" y="5553075"/>
              <a:ext cx="228600" cy="0"/>
            </a:xfrm>
            <a:prstGeom prst="straightConnector1">
              <a:avLst/>
            </a:prstGeom>
            <a:noFill/>
            <a:ln cap="flat" cmpd="sng" w="9525">
              <a:solidFill>
                <a:schemeClr val="dk1"/>
              </a:solidFill>
              <a:prstDash val="solid"/>
              <a:round/>
              <a:headEnd len="sm" w="sm" type="none"/>
              <a:tailEnd len="sm" w="sm" type="none"/>
            </a:ln>
          </p:spPr>
        </p:cxnSp>
        <p:cxnSp>
          <p:nvCxnSpPr>
            <p:cNvPr id="244" name="Google Shape;244;p9"/>
            <p:cNvCxnSpPr/>
            <p:nvPr/>
          </p:nvCxnSpPr>
          <p:spPr>
            <a:xfrm rot="10800000">
              <a:off x="4343400" y="6019800"/>
              <a:ext cx="228600" cy="0"/>
            </a:xfrm>
            <a:prstGeom prst="straightConnector1">
              <a:avLst/>
            </a:prstGeom>
            <a:noFill/>
            <a:ln cap="flat" cmpd="sng" w="9525">
              <a:solidFill>
                <a:schemeClr val="dk1"/>
              </a:solidFill>
              <a:prstDash val="solid"/>
              <a:round/>
              <a:headEnd len="sm" w="sm" type="none"/>
              <a:tailEnd len="sm" w="sm" type="none"/>
            </a:ln>
          </p:spPr>
        </p:cxnSp>
        <p:cxnSp>
          <p:nvCxnSpPr>
            <p:cNvPr id="245" name="Google Shape;245;p9"/>
            <p:cNvCxnSpPr>
              <a:stCxn id="238" idx="2"/>
              <a:endCxn id="240" idx="1"/>
            </p:cNvCxnSpPr>
            <p:nvPr/>
          </p:nvCxnSpPr>
          <p:spPr>
            <a:xfrm flipH="1" rot="-5400000">
              <a:off x="4833008" y="5646600"/>
              <a:ext cx="123000" cy="107400"/>
            </a:xfrm>
            <a:prstGeom prst="bentConnector2">
              <a:avLst/>
            </a:prstGeom>
            <a:noFill/>
            <a:ln cap="flat" cmpd="sng" w="9525">
              <a:solidFill>
                <a:schemeClr val="dk1"/>
              </a:solidFill>
              <a:prstDash val="solid"/>
              <a:round/>
              <a:headEnd len="sm" w="sm" type="none"/>
              <a:tailEnd len="sm" w="sm" type="none"/>
            </a:ln>
          </p:spPr>
        </p:cxnSp>
        <p:cxnSp>
          <p:nvCxnSpPr>
            <p:cNvPr id="246" name="Google Shape;246;p9"/>
            <p:cNvCxnSpPr>
              <a:stCxn id="239" idx="2"/>
              <a:endCxn id="241" idx="1"/>
            </p:cNvCxnSpPr>
            <p:nvPr/>
          </p:nvCxnSpPr>
          <p:spPr>
            <a:xfrm flipH="1" rot="-5400000">
              <a:off x="4847558" y="6089250"/>
              <a:ext cx="105600" cy="119100"/>
            </a:xfrm>
            <a:prstGeom prst="bentConnector2">
              <a:avLst/>
            </a:prstGeom>
            <a:noFill/>
            <a:ln cap="flat" cmpd="sng" w="9525">
              <a:solidFill>
                <a:schemeClr val="dk1"/>
              </a:solidFill>
              <a:prstDash val="solid"/>
              <a:round/>
              <a:headEnd len="sm" w="sm" type="none"/>
              <a:tailEnd len="sm" w="sm" type="none"/>
            </a:ln>
          </p:spPr>
        </p:cxnSp>
        <p:pic>
          <p:nvPicPr>
            <p:cNvPr descr="C:\Users\cotero\AppData\Local\Microsoft\Windows\Temporary Internet Files\Content.IE5\MFZE6V1B\MC900089246[1].wmf" id="247" name="Google Shape;247;p9"/>
            <p:cNvPicPr preferRelativeResize="0"/>
            <p:nvPr/>
          </p:nvPicPr>
          <p:blipFill rotWithShape="1">
            <a:blip r:embed="rId4">
              <a:alphaModFix/>
            </a:blip>
            <a:srcRect b="0" l="0" r="0" t="0"/>
            <a:stretch/>
          </p:blipFill>
          <p:spPr>
            <a:xfrm>
              <a:off x="3657600" y="4800600"/>
              <a:ext cx="914400" cy="618591"/>
            </a:xfrm>
            <a:prstGeom prst="rect">
              <a:avLst/>
            </a:prstGeom>
            <a:noFill/>
            <a:ln>
              <a:noFill/>
            </a:ln>
          </p:spPr>
        </p:pic>
      </p:grpSp>
      <p:pic>
        <p:nvPicPr>
          <p:cNvPr descr="C:\Users\cotero\AppData\Local\Microsoft\Windows\Temporary Internet Files\Content.IE5\MFZE6V1B\MC900089246[1].wmf" id="248" name="Google Shape;248;p9"/>
          <p:cNvPicPr preferRelativeResize="0"/>
          <p:nvPr/>
        </p:nvPicPr>
        <p:blipFill rotWithShape="1">
          <a:blip r:embed="rId4">
            <a:alphaModFix/>
          </a:blip>
          <a:srcRect b="0" l="0" r="0" t="0"/>
          <a:stretch/>
        </p:blipFill>
        <p:spPr>
          <a:xfrm>
            <a:off x="5638800" y="4800600"/>
            <a:ext cx="914400" cy="618591"/>
          </a:xfrm>
          <a:prstGeom prst="rect">
            <a:avLst/>
          </a:prstGeom>
          <a:solidFill>
            <a:schemeClr val="lt1"/>
          </a:solidFill>
          <a:ln cap="flat" cmpd="sng" w="9525">
            <a:solidFill>
              <a:srgbClr val="000000"/>
            </a:solidFill>
            <a:prstDash val="dash"/>
            <a:round/>
            <a:headEnd len="sm" w="sm" type="none"/>
            <a:tailEnd len="sm" w="sm" type="none"/>
          </a:ln>
        </p:spPr>
      </p:pic>
      <p:sp>
        <p:nvSpPr>
          <p:cNvPr id="249" name="Google Shape;249;p9"/>
          <p:cNvSpPr txBox="1"/>
          <p:nvPr/>
        </p:nvSpPr>
        <p:spPr>
          <a:xfrm>
            <a:off x="1219200" y="5329535"/>
            <a:ext cx="838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Computer Store 1</a:t>
            </a:r>
            <a:endParaRPr b="1" sz="1200">
              <a:solidFill>
                <a:srgbClr val="C00000"/>
              </a:solidFill>
              <a:latin typeface="Architects Daughter"/>
              <a:ea typeface="Architects Daughter"/>
              <a:cs typeface="Architects Daughter"/>
              <a:sym typeface="Architects Daughter"/>
            </a:endParaRPr>
          </a:p>
        </p:txBody>
      </p:sp>
      <p:sp>
        <p:nvSpPr>
          <p:cNvPr id="250" name="Google Shape;250;p9"/>
          <p:cNvSpPr txBox="1"/>
          <p:nvPr/>
        </p:nvSpPr>
        <p:spPr>
          <a:xfrm>
            <a:off x="3581400" y="5486400"/>
            <a:ext cx="9144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Computer Store 2</a:t>
            </a:r>
            <a:endParaRPr b="1" sz="1200">
              <a:solidFill>
                <a:srgbClr val="C00000"/>
              </a:solidFill>
              <a:latin typeface="Architects Daughter"/>
              <a:ea typeface="Architects Daughter"/>
              <a:cs typeface="Architects Daughter"/>
              <a:sym typeface="Architects Daugh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0"/>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Design Pattern Example</a:t>
            </a:r>
            <a:endParaRPr/>
          </a:p>
        </p:txBody>
      </p:sp>
      <p:sp>
        <p:nvSpPr>
          <p:cNvPr id="256" name="Google Shape;256;p10"/>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257" name="Google Shape;257;p10"/>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58" name="Google Shape;258;p10"/>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9" name="Google Shape;259;p10"/>
          <p:cNvPicPr preferRelativeResize="0"/>
          <p:nvPr/>
        </p:nvPicPr>
        <p:blipFill rotWithShape="1">
          <a:blip r:embed="rId3">
            <a:alphaModFix/>
          </a:blip>
          <a:srcRect b="0" l="0" r="0" t="0"/>
          <a:stretch/>
        </p:blipFill>
        <p:spPr>
          <a:xfrm>
            <a:off x="2362200" y="1752600"/>
            <a:ext cx="4457700" cy="4381500"/>
          </a:xfrm>
          <a:prstGeom prst="rect">
            <a:avLst/>
          </a:prstGeom>
          <a:noFill/>
          <a:ln>
            <a:noFill/>
          </a:ln>
        </p:spPr>
      </p:pic>
      <p:sp>
        <p:nvSpPr>
          <p:cNvPr id="260" name="Google Shape;260;p10"/>
          <p:cNvSpPr txBox="1"/>
          <p:nvPr/>
        </p:nvSpPr>
        <p:spPr>
          <a:xfrm>
            <a:off x="6934200" y="3733800"/>
            <a:ext cx="7620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u="sng">
                <a:solidFill>
                  <a:srgbClr val="C00000"/>
                </a:solidFill>
                <a:latin typeface="Architects Daughter"/>
                <a:ea typeface="Architects Daughter"/>
                <a:cs typeface="Architects Daughter"/>
                <a:sym typeface="Architects Daughter"/>
              </a:rPr>
              <a:t>Product</a:t>
            </a:r>
            <a:endParaRPr/>
          </a:p>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 Classes</a:t>
            </a:r>
            <a:endParaRPr b="1" sz="1200">
              <a:solidFill>
                <a:srgbClr val="C00000"/>
              </a:solidFill>
              <a:latin typeface="Architects Daughter"/>
              <a:ea typeface="Architects Daughter"/>
              <a:cs typeface="Architects Daughter"/>
              <a:sym typeface="Architects Daughter"/>
            </a:endParaRPr>
          </a:p>
        </p:txBody>
      </p:sp>
      <p:sp>
        <p:nvSpPr>
          <p:cNvPr id="261" name="Google Shape;261;p10"/>
          <p:cNvSpPr/>
          <p:nvPr/>
        </p:nvSpPr>
        <p:spPr>
          <a:xfrm>
            <a:off x="6781800" y="1828800"/>
            <a:ext cx="152400" cy="4267199"/>
          </a:xfrm>
          <a:prstGeom prst="rightBrace">
            <a:avLst>
              <a:gd fmla="val 8333" name="adj1"/>
              <a:gd fmla="val 50000" name="adj2"/>
            </a:avLst>
          </a:prstGeom>
          <a:noFill/>
          <a:ln cap="flat" cmpd="sng" w="952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0"/>
          <p:cNvSpPr/>
          <p:nvPr/>
        </p:nvSpPr>
        <p:spPr>
          <a:xfrm>
            <a:off x="2209800" y="1981200"/>
            <a:ext cx="152400" cy="2819400"/>
          </a:xfrm>
          <a:prstGeom prst="leftBrace">
            <a:avLst>
              <a:gd fmla="val 8333" name="adj1"/>
              <a:gd fmla="val 50000" name="adj2"/>
            </a:avLst>
          </a:prstGeom>
          <a:noFill/>
          <a:ln cap="flat" cmpd="sng" w="952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0"/>
          <p:cNvSpPr txBox="1"/>
          <p:nvPr/>
        </p:nvSpPr>
        <p:spPr>
          <a:xfrm>
            <a:off x="1524000" y="3124200"/>
            <a:ext cx="6858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u="sng">
                <a:solidFill>
                  <a:srgbClr val="C00000"/>
                </a:solidFill>
                <a:latin typeface="Architects Daughter"/>
                <a:ea typeface="Architects Daughter"/>
                <a:cs typeface="Architects Daughter"/>
                <a:sym typeface="Architects Daughter"/>
              </a:rPr>
              <a:t>Creator</a:t>
            </a:r>
            <a:endParaRPr/>
          </a:p>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Classes</a:t>
            </a:r>
            <a:endParaRPr b="1" sz="1200">
              <a:solidFill>
                <a:srgbClr val="C00000"/>
              </a:solidFill>
              <a:latin typeface="Architects Daughter"/>
              <a:ea typeface="Architects Daughter"/>
              <a:cs typeface="Architects Daughter"/>
              <a:sym typeface="Architects Daughter"/>
            </a:endParaRPr>
          </a:p>
        </p:txBody>
      </p:sp>
      <p:sp>
        <p:nvSpPr>
          <p:cNvPr id="264" name="Google Shape;264;p10"/>
          <p:cNvSpPr txBox="1"/>
          <p:nvPr/>
        </p:nvSpPr>
        <p:spPr>
          <a:xfrm>
            <a:off x="6858000" y="1143000"/>
            <a:ext cx="18288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Products need to obey the Product interface!</a:t>
            </a:r>
            <a:endParaRPr b="1" sz="1200">
              <a:solidFill>
                <a:srgbClr val="C00000"/>
              </a:solidFill>
              <a:latin typeface="Architects Daughter"/>
              <a:ea typeface="Architects Daughter"/>
              <a:cs typeface="Architects Daughter"/>
              <a:sym typeface="Architects Daughter"/>
            </a:endParaRPr>
          </a:p>
        </p:txBody>
      </p:sp>
      <p:sp>
        <p:nvSpPr>
          <p:cNvPr id="265" name="Google Shape;265;p10"/>
          <p:cNvSpPr/>
          <p:nvPr/>
        </p:nvSpPr>
        <p:spPr>
          <a:xfrm>
            <a:off x="6248400" y="1295401"/>
            <a:ext cx="695325" cy="457200"/>
          </a:xfrm>
          <a:custGeom>
            <a:rect b="b" l="l" r="r" t="t"/>
            <a:pathLst>
              <a:path extrusionOk="0" h="762000" w="695325">
                <a:moveTo>
                  <a:pt x="695325" y="0"/>
                </a:moveTo>
                <a:cubicBezTo>
                  <a:pt x="566737" y="38100"/>
                  <a:pt x="438150" y="76200"/>
                  <a:pt x="371475" y="161925"/>
                </a:cubicBezTo>
                <a:cubicBezTo>
                  <a:pt x="304800" y="247650"/>
                  <a:pt x="357188" y="414337"/>
                  <a:pt x="295275" y="514350"/>
                </a:cubicBezTo>
                <a:cubicBezTo>
                  <a:pt x="233362" y="614363"/>
                  <a:pt x="116681" y="688181"/>
                  <a:pt x="0" y="7620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0"/>
          <p:cNvSpPr txBox="1"/>
          <p:nvPr/>
        </p:nvSpPr>
        <p:spPr>
          <a:xfrm>
            <a:off x="304800" y="1905000"/>
            <a:ext cx="18288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Factories need to obey the Factory interface!</a:t>
            </a:r>
            <a:endParaRPr b="1" sz="1200">
              <a:solidFill>
                <a:srgbClr val="C00000"/>
              </a:solidFill>
              <a:latin typeface="Architects Daughter"/>
              <a:ea typeface="Architects Daughter"/>
              <a:cs typeface="Architects Daughter"/>
              <a:sym typeface="Architects Daughter"/>
            </a:endParaRPr>
          </a:p>
        </p:txBody>
      </p:sp>
      <p:sp>
        <p:nvSpPr>
          <p:cNvPr id="267" name="Google Shape;267;p10"/>
          <p:cNvSpPr/>
          <p:nvPr/>
        </p:nvSpPr>
        <p:spPr>
          <a:xfrm>
            <a:off x="1828800" y="1752600"/>
            <a:ext cx="609600" cy="514350"/>
          </a:xfrm>
          <a:custGeom>
            <a:rect b="b" l="l" r="r" t="t"/>
            <a:pathLst>
              <a:path extrusionOk="0" h="514350" w="1076325">
                <a:moveTo>
                  <a:pt x="0" y="495300"/>
                </a:moveTo>
                <a:cubicBezTo>
                  <a:pt x="176212" y="504825"/>
                  <a:pt x="352425" y="514350"/>
                  <a:pt x="476250" y="438150"/>
                </a:cubicBezTo>
                <a:cubicBezTo>
                  <a:pt x="600075" y="361950"/>
                  <a:pt x="642938" y="76200"/>
                  <a:pt x="742950" y="38100"/>
                </a:cubicBezTo>
                <a:cubicBezTo>
                  <a:pt x="842962" y="0"/>
                  <a:pt x="959643" y="104775"/>
                  <a:pt x="1076325" y="20955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273" name="Google Shape;273;p11"/>
          <p:cNvSpPr txBox="1"/>
          <p:nvPr>
            <p:ph idx="1" type="body"/>
          </p:nvPr>
        </p:nvSpPr>
        <p:spPr>
          <a:xfrm>
            <a:off x="457200" y="1371601"/>
            <a:ext cx="8229600" cy="609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Sample code for the displayComputer (…)method:</a:t>
            </a:r>
            <a:endParaRPr/>
          </a:p>
        </p:txBody>
      </p:sp>
      <p:sp>
        <p:nvSpPr>
          <p:cNvPr id="274" name="Google Shape;274;p1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275" name="Google Shape;275;p1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76" name="Google Shape;276;p1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7" name="Google Shape;277;p11"/>
          <p:cNvPicPr preferRelativeResize="0"/>
          <p:nvPr/>
        </p:nvPicPr>
        <p:blipFill rotWithShape="1">
          <a:blip r:embed="rId3">
            <a:alphaModFix/>
          </a:blip>
          <a:srcRect b="0" l="0" r="0" t="0"/>
          <a:stretch/>
        </p:blipFill>
        <p:spPr>
          <a:xfrm>
            <a:off x="2133600" y="2438400"/>
            <a:ext cx="4686300" cy="2743200"/>
          </a:xfrm>
          <a:prstGeom prst="rect">
            <a:avLst/>
          </a:prstGeom>
          <a:noFill/>
          <a:ln>
            <a:noFill/>
          </a:ln>
        </p:spPr>
      </p:pic>
      <p:pic>
        <p:nvPicPr>
          <p:cNvPr id="278" name="Google Shape;278;p11"/>
          <p:cNvPicPr preferRelativeResize="0"/>
          <p:nvPr/>
        </p:nvPicPr>
        <p:blipFill rotWithShape="1">
          <a:blip r:embed="rId4">
            <a:alphaModFix/>
          </a:blip>
          <a:srcRect b="0" l="0" r="0" t="0"/>
          <a:stretch/>
        </p:blipFill>
        <p:spPr>
          <a:xfrm>
            <a:off x="6553200" y="2286000"/>
            <a:ext cx="2143125" cy="695325"/>
          </a:xfrm>
          <a:prstGeom prst="rect">
            <a:avLst/>
          </a:prstGeom>
          <a:noFill/>
          <a:ln>
            <a:noFill/>
          </a:ln>
        </p:spPr>
      </p:pic>
      <p:sp>
        <p:nvSpPr>
          <p:cNvPr id="279" name="Google Shape;279;p11"/>
          <p:cNvSpPr txBox="1"/>
          <p:nvPr/>
        </p:nvSpPr>
        <p:spPr>
          <a:xfrm>
            <a:off x="228600" y="2590800"/>
            <a:ext cx="182880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Factory method!</a:t>
            </a:r>
            <a:endParaRPr b="1" sz="1200">
              <a:solidFill>
                <a:srgbClr val="C00000"/>
              </a:solidFill>
              <a:latin typeface="Architects Daughter"/>
              <a:ea typeface="Architects Daughter"/>
              <a:cs typeface="Architects Daughter"/>
              <a:sym typeface="Architects Daughter"/>
            </a:endParaRPr>
          </a:p>
        </p:txBody>
      </p:sp>
      <p:sp>
        <p:nvSpPr>
          <p:cNvPr id="280" name="Google Shape;280;p11"/>
          <p:cNvSpPr/>
          <p:nvPr/>
        </p:nvSpPr>
        <p:spPr>
          <a:xfrm>
            <a:off x="1704975" y="2819400"/>
            <a:ext cx="523875" cy="433387"/>
          </a:xfrm>
          <a:custGeom>
            <a:rect b="b" l="l" r="r" t="t"/>
            <a:pathLst>
              <a:path extrusionOk="0" h="433387" w="523875">
                <a:moveTo>
                  <a:pt x="0" y="0"/>
                </a:moveTo>
                <a:cubicBezTo>
                  <a:pt x="50006" y="76200"/>
                  <a:pt x="100013" y="152400"/>
                  <a:pt x="152400" y="219075"/>
                </a:cubicBezTo>
                <a:cubicBezTo>
                  <a:pt x="204787" y="285750"/>
                  <a:pt x="252413" y="366713"/>
                  <a:pt x="314325" y="400050"/>
                </a:cubicBezTo>
                <a:cubicBezTo>
                  <a:pt x="376237" y="433387"/>
                  <a:pt x="450056" y="426243"/>
                  <a:pt x="523875" y="4191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1"/>
          <p:cNvSpPr txBox="1"/>
          <p:nvPr/>
        </p:nvSpPr>
        <p:spPr>
          <a:xfrm>
            <a:off x="6858000" y="3581400"/>
            <a:ext cx="1219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Optional parameter</a:t>
            </a:r>
            <a:endParaRPr b="1" sz="1200">
              <a:solidFill>
                <a:srgbClr val="C00000"/>
              </a:solidFill>
              <a:latin typeface="Architects Daughter"/>
              <a:ea typeface="Architects Daughter"/>
              <a:cs typeface="Architects Daughter"/>
              <a:sym typeface="Architects Daughter"/>
            </a:endParaRPr>
          </a:p>
        </p:txBody>
      </p:sp>
      <p:sp>
        <p:nvSpPr>
          <p:cNvPr id="282" name="Google Shape;282;p11"/>
          <p:cNvSpPr/>
          <p:nvPr/>
        </p:nvSpPr>
        <p:spPr>
          <a:xfrm>
            <a:off x="4953000" y="3352800"/>
            <a:ext cx="2357437" cy="228600"/>
          </a:xfrm>
          <a:custGeom>
            <a:rect b="b" l="l" r="r" t="t"/>
            <a:pathLst>
              <a:path extrusionOk="0" h="428625" w="2357437">
                <a:moveTo>
                  <a:pt x="2357437" y="428625"/>
                </a:moveTo>
                <a:cubicBezTo>
                  <a:pt x="2197099" y="280987"/>
                  <a:pt x="2036762" y="133350"/>
                  <a:pt x="1690687" y="76200"/>
                </a:cubicBezTo>
                <a:cubicBezTo>
                  <a:pt x="1344612" y="19050"/>
                  <a:pt x="561975" y="98425"/>
                  <a:pt x="280987" y="85725"/>
                </a:cubicBezTo>
                <a:cubicBezTo>
                  <a:pt x="0" y="73025"/>
                  <a:pt x="2381" y="36512"/>
                  <a:pt x="4762" y="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1"/>
          <p:cNvSpPr/>
          <p:nvPr/>
        </p:nvSpPr>
        <p:spPr>
          <a:xfrm rot="10800000">
            <a:off x="4419600" y="3962400"/>
            <a:ext cx="76200" cy="609600"/>
          </a:xfrm>
          <a:prstGeom prst="leftBrace">
            <a:avLst>
              <a:gd fmla="val 16407" name="adj1"/>
              <a:gd fmla="val 50000" name="adj2"/>
            </a:avLst>
          </a:prstGeom>
          <a:no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84" name="Google Shape;284;p11"/>
          <p:cNvSpPr txBox="1"/>
          <p:nvPr/>
        </p:nvSpPr>
        <p:spPr>
          <a:xfrm>
            <a:off x="4419600" y="3962400"/>
            <a:ext cx="12192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This is what we expect to stay the same.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290" name="Google Shape;290;p1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291" name="Google Shape;291;p1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92" name="Google Shape;292;p1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3" name="Google Shape;293;p12"/>
          <p:cNvPicPr preferRelativeResize="0"/>
          <p:nvPr/>
        </p:nvPicPr>
        <p:blipFill rotWithShape="1">
          <a:blip r:embed="rId3">
            <a:alphaModFix/>
          </a:blip>
          <a:srcRect b="0" l="0" r="0" t="0"/>
          <a:stretch/>
        </p:blipFill>
        <p:spPr>
          <a:xfrm>
            <a:off x="2590800" y="1856601"/>
            <a:ext cx="5334000" cy="3333750"/>
          </a:xfrm>
          <a:prstGeom prst="rect">
            <a:avLst/>
          </a:prstGeom>
          <a:noFill/>
          <a:ln>
            <a:noFill/>
          </a:ln>
        </p:spPr>
      </p:pic>
      <p:sp>
        <p:nvSpPr>
          <p:cNvPr id="294" name="Google Shape;294;p12"/>
          <p:cNvSpPr txBox="1"/>
          <p:nvPr/>
        </p:nvSpPr>
        <p:spPr>
          <a:xfrm>
            <a:off x="533400" y="1323201"/>
            <a:ext cx="2286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Factory method implementation for standard computer store</a:t>
            </a:r>
            <a:endParaRPr b="1" sz="1200">
              <a:solidFill>
                <a:srgbClr val="C00000"/>
              </a:solidFill>
              <a:latin typeface="Architects Daughter"/>
              <a:ea typeface="Architects Daughter"/>
              <a:cs typeface="Architects Daughter"/>
              <a:sym typeface="Architects Daughter"/>
            </a:endParaRPr>
          </a:p>
        </p:txBody>
      </p:sp>
      <p:sp>
        <p:nvSpPr>
          <p:cNvPr id="295" name="Google Shape;295;p12"/>
          <p:cNvSpPr/>
          <p:nvPr/>
        </p:nvSpPr>
        <p:spPr>
          <a:xfrm>
            <a:off x="1971675" y="1780401"/>
            <a:ext cx="571500" cy="285750"/>
          </a:xfrm>
          <a:custGeom>
            <a:rect b="b" l="l" r="r" t="t"/>
            <a:pathLst>
              <a:path extrusionOk="0" h="361950" w="571500">
                <a:moveTo>
                  <a:pt x="0" y="0"/>
                </a:moveTo>
                <a:cubicBezTo>
                  <a:pt x="69850" y="39687"/>
                  <a:pt x="139700" y="79375"/>
                  <a:pt x="180975" y="133350"/>
                </a:cubicBezTo>
                <a:cubicBezTo>
                  <a:pt x="222250" y="187325"/>
                  <a:pt x="182563" y="285750"/>
                  <a:pt x="247650" y="323850"/>
                </a:cubicBezTo>
                <a:cubicBezTo>
                  <a:pt x="312737" y="361950"/>
                  <a:pt x="442118" y="361950"/>
                  <a:pt x="571500" y="36195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2"/>
          <p:cNvSpPr txBox="1"/>
          <p:nvPr/>
        </p:nvSpPr>
        <p:spPr>
          <a:xfrm>
            <a:off x="6553200" y="2237601"/>
            <a:ext cx="20574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Rarely a computer store will carry only one computer!</a:t>
            </a:r>
            <a:endParaRPr b="1" sz="1200">
              <a:solidFill>
                <a:srgbClr val="C00000"/>
              </a:solidFill>
              <a:latin typeface="Architects Daughter"/>
              <a:ea typeface="Architects Daughter"/>
              <a:cs typeface="Architects Daughter"/>
              <a:sym typeface="Architects Daughter"/>
            </a:endParaRPr>
          </a:p>
        </p:txBody>
      </p:sp>
      <p:sp>
        <p:nvSpPr>
          <p:cNvPr id="297" name="Google Shape;297;p12"/>
          <p:cNvSpPr txBox="1"/>
          <p:nvPr/>
        </p:nvSpPr>
        <p:spPr>
          <a:xfrm>
            <a:off x="2438400" y="5285601"/>
            <a:ext cx="40386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We use the optional parameter to support computers that may be carried in the future by the standard computer store</a:t>
            </a:r>
            <a:endParaRPr b="1" sz="1200">
              <a:solidFill>
                <a:srgbClr val="C00000"/>
              </a:solidFill>
              <a:latin typeface="Architects Daughter"/>
              <a:ea typeface="Architects Daughter"/>
              <a:cs typeface="Architects Daughter"/>
              <a:sym typeface="Architects Daughter"/>
            </a:endParaRPr>
          </a:p>
        </p:txBody>
      </p:sp>
      <p:sp>
        <p:nvSpPr>
          <p:cNvPr id="298" name="Google Shape;298;p12"/>
          <p:cNvSpPr/>
          <p:nvPr/>
        </p:nvSpPr>
        <p:spPr>
          <a:xfrm rot="3262088">
            <a:off x="6394387" y="2541560"/>
            <a:ext cx="247779" cy="486485"/>
          </a:xfrm>
          <a:custGeom>
            <a:rect b="b" l="l" r="r" t="t"/>
            <a:pathLst>
              <a:path extrusionOk="0" h="323850" w="198437">
                <a:moveTo>
                  <a:pt x="0" y="0"/>
                </a:moveTo>
                <a:cubicBezTo>
                  <a:pt x="91281" y="44450"/>
                  <a:pt x="182563" y="88900"/>
                  <a:pt x="190500" y="142875"/>
                </a:cubicBezTo>
                <a:cubicBezTo>
                  <a:pt x="198437" y="196850"/>
                  <a:pt x="123031" y="260350"/>
                  <a:pt x="47625" y="32385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2"/>
          <p:cNvSpPr txBox="1"/>
          <p:nvPr/>
        </p:nvSpPr>
        <p:spPr>
          <a:xfrm>
            <a:off x="4724400" y="5895201"/>
            <a:ext cx="381000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Let’s see how to support new standard computers…</a:t>
            </a:r>
            <a:endParaRPr b="1" sz="1200">
              <a:solidFill>
                <a:srgbClr val="C00000"/>
              </a:solidFill>
              <a:latin typeface="Architects Daughter"/>
              <a:ea typeface="Architects Daughter"/>
              <a:cs typeface="Architects Daughter"/>
              <a:sym typeface="Architects Daughter"/>
            </a:endParaRPr>
          </a:p>
        </p:txBody>
      </p:sp>
      <p:sp>
        <p:nvSpPr>
          <p:cNvPr id="300" name="Google Shape;300;p12"/>
          <p:cNvSpPr txBox="1"/>
          <p:nvPr/>
        </p:nvSpPr>
        <p:spPr>
          <a:xfrm>
            <a:off x="1143000" y="3304401"/>
            <a:ext cx="9144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A generic standard computer</a:t>
            </a:r>
            <a:endParaRPr b="1" sz="1200">
              <a:solidFill>
                <a:srgbClr val="C00000"/>
              </a:solidFill>
              <a:latin typeface="Architects Daughter"/>
              <a:ea typeface="Architects Daughter"/>
              <a:cs typeface="Architects Daughter"/>
              <a:sym typeface="Architects Daughter"/>
            </a:endParaRPr>
          </a:p>
        </p:txBody>
      </p:sp>
      <p:sp>
        <p:nvSpPr>
          <p:cNvPr id="301" name="Google Shape;301;p12"/>
          <p:cNvSpPr/>
          <p:nvPr/>
        </p:nvSpPr>
        <p:spPr>
          <a:xfrm>
            <a:off x="2000250" y="3056751"/>
            <a:ext cx="666750" cy="342900"/>
          </a:xfrm>
          <a:custGeom>
            <a:rect b="b" l="l" r="r" t="t"/>
            <a:pathLst>
              <a:path extrusionOk="0" h="342900" w="666750">
                <a:moveTo>
                  <a:pt x="0" y="342900"/>
                </a:moveTo>
                <a:cubicBezTo>
                  <a:pt x="69850" y="240506"/>
                  <a:pt x="139700" y="138112"/>
                  <a:pt x="209550" y="104775"/>
                </a:cubicBezTo>
                <a:cubicBezTo>
                  <a:pt x="279400" y="71438"/>
                  <a:pt x="342900" y="160338"/>
                  <a:pt x="419100" y="142875"/>
                </a:cubicBezTo>
                <a:cubicBezTo>
                  <a:pt x="495300" y="125413"/>
                  <a:pt x="581025" y="62706"/>
                  <a:pt x="666750" y="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2"/>
          <p:cNvSpPr/>
          <p:nvPr/>
        </p:nvSpPr>
        <p:spPr>
          <a:xfrm>
            <a:off x="6400800" y="5590401"/>
            <a:ext cx="220662" cy="342900"/>
          </a:xfrm>
          <a:custGeom>
            <a:rect b="b" l="l" r="r" t="t"/>
            <a:pathLst>
              <a:path extrusionOk="0" h="342900" w="220662">
                <a:moveTo>
                  <a:pt x="0" y="0"/>
                </a:moveTo>
                <a:cubicBezTo>
                  <a:pt x="89694" y="42862"/>
                  <a:pt x="179388" y="85725"/>
                  <a:pt x="200025" y="142875"/>
                </a:cubicBezTo>
                <a:cubicBezTo>
                  <a:pt x="220662" y="200025"/>
                  <a:pt x="172243" y="271462"/>
                  <a:pt x="123825" y="3429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2"/>
          <p:cNvSpPr txBox="1"/>
          <p:nvPr/>
        </p:nvSpPr>
        <p:spPr>
          <a:xfrm>
            <a:off x="6781800" y="1475601"/>
            <a:ext cx="1219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Optional parameter</a:t>
            </a:r>
            <a:endParaRPr b="1" sz="1200">
              <a:solidFill>
                <a:srgbClr val="C00000"/>
              </a:solidFill>
              <a:latin typeface="Architects Daughter"/>
              <a:ea typeface="Architects Daughter"/>
              <a:cs typeface="Architects Daughter"/>
              <a:sym typeface="Architects Daughter"/>
            </a:endParaRPr>
          </a:p>
        </p:txBody>
      </p:sp>
      <p:sp>
        <p:nvSpPr>
          <p:cNvPr id="304" name="Google Shape;304;p12"/>
          <p:cNvSpPr/>
          <p:nvPr/>
        </p:nvSpPr>
        <p:spPr>
          <a:xfrm>
            <a:off x="6353175" y="1647051"/>
            <a:ext cx="666750" cy="323850"/>
          </a:xfrm>
          <a:custGeom>
            <a:rect b="b" l="l" r="r" t="t"/>
            <a:pathLst>
              <a:path extrusionOk="0" h="323850" w="666750">
                <a:moveTo>
                  <a:pt x="666750" y="0"/>
                </a:moveTo>
                <a:cubicBezTo>
                  <a:pt x="548481" y="14287"/>
                  <a:pt x="430213" y="28575"/>
                  <a:pt x="352425" y="66675"/>
                </a:cubicBezTo>
                <a:cubicBezTo>
                  <a:pt x="274638" y="104775"/>
                  <a:pt x="258763" y="185737"/>
                  <a:pt x="200025" y="228600"/>
                </a:cubicBezTo>
                <a:cubicBezTo>
                  <a:pt x="141287" y="271463"/>
                  <a:pt x="70643" y="297656"/>
                  <a:pt x="0" y="32385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5" name="Google Shape;305;p12"/>
          <p:cNvGrpSpPr/>
          <p:nvPr/>
        </p:nvGrpSpPr>
        <p:grpSpPr>
          <a:xfrm>
            <a:off x="706211" y="4371201"/>
            <a:ext cx="1503589" cy="1170531"/>
            <a:chOff x="457200" y="4392069"/>
            <a:chExt cx="1503589" cy="1170531"/>
          </a:xfrm>
        </p:grpSpPr>
        <p:pic>
          <p:nvPicPr>
            <p:cNvPr id="306" name="Google Shape;306;p12"/>
            <p:cNvPicPr preferRelativeResize="0"/>
            <p:nvPr/>
          </p:nvPicPr>
          <p:blipFill rotWithShape="1">
            <a:blip r:embed="rId4">
              <a:alphaModFix/>
            </a:blip>
            <a:srcRect b="0" l="0" r="0" t="0"/>
            <a:stretch/>
          </p:blipFill>
          <p:spPr>
            <a:xfrm>
              <a:off x="457200" y="5181600"/>
              <a:ext cx="1503589" cy="381000"/>
            </a:xfrm>
            <a:prstGeom prst="rect">
              <a:avLst/>
            </a:prstGeom>
            <a:noFill/>
            <a:ln>
              <a:noFill/>
            </a:ln>
          </p:spPr>
        </p:pic>
        <p:pic>
          <p:nvPicPr>
            <p:cNvPr id="307" name="Google Shape;307;p12"/>
            <p:cNvPicPr preferRelativeResize="0"/>
            <p:nvPr/>
          </p:nvPicPr>
          <p:blipFill rotWithShape="1">
            <a:blip r:embed="rId5">
              <a:alphaModFix/>
            </a:blip>
            <a:srcRect b="0" l="0" r="0" t="0"/>
            <a:stretch/>
          </p:blipFill>
          <p:spPr>
            <a:xfrm>
              <a:off x="485776" y="4392069"/>
              <a:ext cx="1447800" cy="456156"/>
            </a:xfrm>
            <a:prstGeom prst="rect">
              <a:avLst/>
            </a:prstGeom>
            <a:noFill/>
            <a:ln>
              <a:noFill/>
            </a:ln>
          </p:spPr>
        </p:pic>
        <p:cxnSp>
          <p:nvCxnSpPr>
            <p:cNvPr id="308" name="Google Shape;308;p12"/>
            <p:cNvCxnSpPr>
              <a:stCxn id="306" idx="0"/>
              <a:endCxn id="307" idx="2"/>
            </p:cNvCxnSpPr>
            <p:nvPr/>
          </p:nvCxnSpPr>
          <p:spPr>
            <a:xfrm flipH="1" rot="10800000">
              <a:off x="1208994" y="4848300"/>
              <a:ext cx="600" cy="333300"/>
            </a:xfrm>
            <a:prstGeom prst="straightConnector1">
              <a:avLst/>
            </a:prstGeom>
            <a:noFill/>
            <a:ln cap="flat" cmpd="sng" w="9525">
              <a:solidFill>
                <a:schemeClr val="dk1"/>
              </a:solidFill>
              <a:prstDash val="solid"/>
              <a:round/>
              <a:headEnd len="sm" w="sm" type="none"/>
              <a:tailEnd len="sm" w="sm" type="none"/>
            </a:ln>
          </p:spPr>
        </p:cxnSp>
        <p:sp>
          <p:nvSpPr>
            <p:cNvPr id="309" name="Google Shape;309;p12"/>
            <p:cNvSpPr/>
            <p:nvPr/>
          </p:nvSpPr>
          <p:spPr>
            <a:xfrm>
              <a:off x="1133475" y="4848225"/>
              <a:ext cx="152400" cy="152400"/>
            </a:xfrm>
            <a:prstGeom prst="triangle">
              <a:avLst>
                <a:gd fmla="val 50000"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315" name="Google Shape;315;p1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316" name="Google Shape;316;p1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17" name="Google Shape;317;p1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8" name="Google Shape;318;p13"/>
          <p:cNvPicPr preferRelativeResize="0"/>
          <p:nvPr/>
        </p:nvPicPr>
        <p:blipFill rotWithShape="1">
          <a:blip r:embed="rId3">
            <a:alphaModFix/>
          </a:blip>
          <a:srcRect b="0" l="0" r="0" t="0"/>
          <a:stretch/>
        </p:blipFill>
        <p:spPr>
          <a:xfrm>
            <a:off x="676275" y="2286000"/>
            <a:ext cx="2105025" cy="533400"/>
          </a:xfrm>
          <a:prstGeom prst="rect">
            <a:avLst/>
          </a:prstGeom>
          <a:noFill/>
          <a:ln>
            <a:noFill/>
          </a:ln>
        </p:spPr>
      </p:pic>
      <p:sp>
        <p:nvSpPr>
          <p:cNvPr id="319" name="Google Shape;319;p13"/>
          <p:cNvSpPr txBox="1"/>
          <p:nvPr/>
        </p:nvSpPr>
        <p:spPr>
          <a:xfrm>
            <a:off x="600075" y="3163669"/>
            <a:ext cx="2286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The standard computer store now carries Dell Inspiron and Mac Book Air computers</a:t>
            </a:r>
            <a:endParaRPr b="1" sz="1200">
              <a:solidFill>
                <a:srgbClr val="C00000"/>
              </a:solidFill>
              <a:latin typeface="Architects Daughter"/>
              <a:ea typeface="Architects Daughter"/>
              <a:cs typeface="Architects Daughter"/>
              <a:sym typeface="Architects Daughter"/>
            </a:endParaRPr>
          </a:p>
        </p:txBody>
      </p:sp>
      <p:sp>
        <p:nvSpPr>
          <p:cNvPr id="320" name="Google Shape;320;p13"/>
          <p:cNvSpPr/>
          <p:nvPr/>
        </p:nvSpPr>
        <p:spPr>
          <a:xfrm>
            <a:off x="2590800" y="3681413"/>
            <a:ext cx="523875" cy="433387"/>
          </a:xfrm>
          <a:custGeom>
            <a:rect b="b" l="l" r="r" t="t"/>
            <a:pathLst>
              <a:path extrusionOk="0" h="433387" w="523875">
                <a:moveTo>
                  <a:pt x="0" y="0"/>
                </a:moveTo>
                <a:cubicBezTo>
                  <a:pt x="50006" y="76200"/>
                  <a:pt x="100013" y="152400"/>
                  <a:pt x="152400" y="219075"/>
                </a:cubicBezTo>
                <a:cubicBezTo>
                  <a:pt x="204787" y="285750"/>
                  <a:pt x="252413" y="366713"/>
                  <a:pt x="314325" y="400050"/>
                </a:cubicBezTo>
                <a:cubicBezTo>
                  <a:pt x="376237" y="433387"/>
                  <a:pt x="450056" y="426243"/>
                  <a:pt x="523875" y="4191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321" name="Google Shape;321;p13"/>
          <p:cNvPicPr preferRelativeResize="0"/>
          <p:nvPr/>
        </p:nvPicPr>
        <p:blipFill rotWithShape="1">
          <a:blip r:embed="rId4">
            <a:alphaModFix/>
          </a:blip>
          <a:srcRect b="0" l="0" r="0" t="0"/>
          <a:stretch/>
        </p:blipFill>
        <p:spPr>
          <a:xfrm>
            <a:off x="3124200" y="1143000"/>
            <a:ext cx="5334000" cy="5191125"/>
          </a:xfrm>
          <a:prstGeom prst="rect">
            <a:avLst/>
          </a:prstGeom>
          <a:noFill/>
          <a:ln>
            <a:noFill/>
          </a:ln>
        </p:spPr>
      </p:pic>
      <p:sp>
        <p:nvSpPr>
          <p:cNvPr id="322" name="Google Shape;322;p13"/>
          <p:cNvSpPr txBox="1"/>
          <p:nvPr/>
        </p:nvSpPr>
        <p:spPr>
          <a:xfrm>
            <a:off x="533400" y="4343400"/>
            <a:ext cx="2286000" cy="830997"/>
          </a:xfrm>
          <a:prstGeom prst="rect">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u="sng">
                <a:solidFill>
                  <a:srgbClr val="C00000"/>
                </a:solidFill>
                <a:latin typeface="Architects Daughter"/>
                <a:ea typeface="Architects Daughter"/>
                <a:cs typeface="Architects Daughter"/>
                <a:sym typeface="Architects Daughter"/>
              </a:rPr>
              <a:t>Important</a:t>
            </a:r>
            <a:r>
              <a:rPr b="1" lang="en-US" sz="1200">
                <a:solidFill>
                  <a:srgbClr val="C00000"/>
                </a:solidFill>
                <a:latin typeface="Architects Daughter"/>
                <a:ea typeface="Architects Daughter"/>
                <a:cs typeface="Architects Daughter"/>
                <a:sym typeface="Architects Daughter"/>
              </a:rPr>
              <a:t>:</a:t>
            </a:r>
            <a:endParaRPr/>
          </a:p>
          <a:p>
            <a:pPr indent="0" lvl="0" marL="0" marR="0" rtl="0" algn="l">
              <a:spcBef>
                <a:spcPts val="0"/>
              </a:spcBef>
              <a:spcAft>
                <a:spcPts val="0"/>
              </a:spcAft>
              <a:buNone/>
            </a:pPr>
            <a:r>
              <a:rPr b="1" lang="en-US" sz="1200">
                <a:solidFill>
                  <a:srgbClr val="C00000"/>
                </a:solidFill>
                <a:latin typeface="Architects Daughter"/>
                <a:ea typeface="Architects Daughter"/>
                <a:cs typeface="Architects Daughter"/>
                <a:sym typeface="Architects Daughter"/>
              </a:rPr>
              <a:t>Notice that these changes are independent from what happens in the AdvancedComputer Store!</a:t>
            </a:r>
            <a:endParaRPr b="1" sz="1200">
              <a:solidFill>
                <a:srgbClr val="C00000"/>
              </a:solidFill>
              <a:latin typeface="Architects Daughter"/>
              <a:ea typeface="Architects Daughter"/>
              <a:cs typeface="Architects Daughter"/>
              <a:sym typeface="Architects Daughter"/>
            </a:endParaRPr>
          </a:p>
        </p:txBody>
      </p:sp>
      <p:sp>
        <p:nvSpPr>
          <p:cNvPr id="323" name="Google Shape;323;p13"/>
          <p:cNvSpPr/>
          <p:nvPr/>
        </p:nvSpPr>
        <p:spPr>
          <a:xfrm>
            <a:off x="3114675" y="3105150"/>
            <a:ext cx="5181600" cy="1695450"/>
          </a:xfrm>
          <a:prstGeom prst="roundRect">
            <a:avLst>
              <a:gd fmla="val 16667" name="adj"/>
            </a:avLst>
          </a:pr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4" name="Google Shape;324;p13"/>
          <p:cNvPicPr preferRelativeResize="0"/>
          <p:nvPr/>
        </p:nvPicPr>
        <p:blipFill rotWithShape="1">
          <a:blip r:embed="rId5">
            <a:alphaModFix/>
          </a:blip>
          <a:srcRect b="0" l="0" r="0" t="0"/>
          <a:stretch/>
        </p:blipFill>
        <p:spPr>
          <a:xfrm>
            <a:off x="685800" y="1219200"/>
            <a:ext cx="2085975" cy="657225"/>
          </a:xfrm>
          <a:prstGeom prst="rect">
            <a:avLst/>
          </a:prstGeom>
          <a:noFill/>
          <a:ln>
            <a:noFill/>
          </a:ln>
        </p:spPr>
      </p:pic>
      <p:grpSp>
        <p:nvGrpSpPr>
          <p:cNvPr id="325" name="Google Shape;325;p13"/>
          <p:cNvGrpSpPr/>
          <p:nvPr/>
        </p:nvGrpSpPr>
        <p:grpSpPr>
          <a:xfrm>
            <a:off x="1657350" y="1876425"/>
            <a:ext cx="152400" cy="409500"/>
            <a:chOff x="1657350" y="1876425"/>
            <a:chExt cx="152400" cy="409500"/>
          </a:xfrm>
        </p:grpSpPr>
        <p:cxnSp>
          <p:nvCxnSpPr>
            <p:cNvPr id="326" name="Google Shape;326;p13"/>
            <p:cNvCxnSpPr>
              <a:stCxn id="324" idx="2"/>
              <a:endCxn id="318" idx="0"/>
            </p:cNvCxnSpPr>
            <p:nvPr/>
          </p:nvCxnSpPr>
          <p:spPr>
            <a:xfrm>
              <a:off x="1728788" y="1876425"/>
              <a:ext cx="0" cy="409500"/>
            </a:xfrm>
            <a:prstGeom prst="straightConnector1">
              <a:avLst/>
            </a:prstGeom>
            <a:noFill/>
            <a:ln cap="flat" cmpd="sng" w="9525">
              <a:solidFill>
                <a:schemeClr val="dk1"/>
              </a:solidFill>
              <a:prstDash val="solid"/>
              <a:round/>
              <a:headEnd len="sm" w="sm" type="none"/>
              <a:tailEnd len="sm" w="sm" type="none"/>
            </a:ln>
          </p:spPr>
        </p:cxnSp>
        <p:sp>
          <p:nvSpPr>
            <p:cNvPr id="327" name="Google Shape;327;p13"/>
            <p:cNvSpPr/>
            <p:nvPr/>
          </p:nvSpPr>
          <p:spPr>
            <a:xfrm>
              <a:off x="1657350" y="1876425"/>
              <a:ext cx="152400" cy="152400"/>
            </a:xfrm>
            <a:prstGeom prst="triangle">
              <a:avLst>
                <a:gd fmla="val 50000"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14"/>
          <p:cNvPicPr preferRelativeResize="0"/>
          <p:nvPr/>
        </p:nvPicPr>
        <p:blipFill rotWithShape="1">
          <a:blip r:embed="rId3">
            <a:alphaModFix/>
          </a:blip>
          <a:srcRect b="0" l="0" r="0" t="0"/>
          <a:stretch/>
        </p:blipFill>
        <p:spPr>
          <a:xfrm>
            <a:off x="3276600" y="1981200"/>
            <a:ext cx="5324475" cy="3200400"/>
          </a:xfrm>
          <a:prstGeom prst="rect">
            <a:avLst/>
          </a:prstGeom>
          <a:noFill/>
          <a:ln>
            <a:noFill/>
          </a:ln>
        </p:spPr>
      </p:pic>
      <p:sp>
        <p:nvSpPr>
          <p:cNvPr id="333" name="Google Shape;333;p14"/>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334" name="Google Shape;334;p14"/>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335" name="Google Shape;335;p14"/>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36" name="Google Shape;336;p14"/>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7" name="Google Shape;337;p14"/>
          <p:cNvPicPr preferRelativeResize="0"/>
          <p:nvPr/>
        </p:nvPicPr>
        <p:blipFill rotWithShape="1">
          <a:blip r:embed="rId4">
            <a:alphaModFix/>
          </a:blip>
          <a:srcRect b="0" l="0" r="0" t="0"/>
          <a:stretch/>
        </p:blipFill>
        <p:spPr>
          <a:xfrm>
            <a:off x="685800" y="2286000"/>
            <a:ext cx="2095500" cy="571500"/>
          </a:xfrm>
          <a:prstGeom prst="rect">
            <a:avLst/>
          </a:prstGeom>
          <a:noFill/>
          <a:ln>
            <a:noFill/>
          </a:ln>
        </p:spPr>
      </p:pic>
      <p:sp>
        <p:nvSpPr>
          <p:cNvPr id="338" name="Google Shape;338;p14"/>
          <p:cNvSpPr txBox="1"/>
          <p:nvPr/>
        </p:nvSpPr>
        <p:spPr>
          <a:xfrm>
            <a:off x="685800" y="2971800"/>
            <a:ext cx="20193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Currently, the advanced computer store only carries  Mac Book Pro computers</a:t>
            </a:r>
            <a:endParaRPr b="1" sz="1200">
              <a:solidFill>
                <a:srgbClr val="C00000"/>
              </a:solidFill>
              <a:latin typeface="Architects Daughter"/>
              <a:ea typeface="Architects Daughter"/>
              <a:cs typeface="Architects Daughter"/>
              <a:sym typeface="Architects Daughter"/>
            </a:endParaRPr>
          </a:p>
        </p:txBody>
      </p:sp>
      <p:sp>
        <p:nvSpPr>
          <p:cNvPr id="339" name="Google Shape;339;p14"/>
          <p:cNvSpPr txBox="1"/>
          <p:nvPr/>
        </p:nvSpPr>
        <p:spPr>
          <a:xfrm>
            <a:off x="7315200" y="1600200"/>
            <a:ext cx="1219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Optional parameter</a:t>
            </a:r>
            <a:endParaRPr b="1" sz="1200">
              <a:solidFill>
                <a:srgbClr val="C00000"/>
              </a:solidFill>
              <a:latin typeface="Architects Daughter"/>
              <a:ea typeface="Architects Daughter"/>
              <a:cs typeface="Architects Daughter"/>
              <a:sym typeface="Architects Daughter"/>
            </a:endParaRPr>
          </a:p>
        </p:txBody>
      </p:sp>
      <p:sp>
        <p:nvSpPr>
          <p:cNvPr id="340" name="Google Shape;340;p14"/>
          <p:cNvSpPr/>
          <p:nvPr/>
        </p:nvSpPr>
        <p:spPr>
          <a:xfrm>
            <a:off x="6886575" y="1771650"/>
            <a:ext cx="666750" cy="323850"/>
          </a:xfrm>
          <a:custGeom>
            <a:rect b="b" l="l" r="r" t="t"/>
            <a:pathLst>
              <a:path extrusionOk="0" h="323850" w="666750">
                <a:moveTo>
                  <a:pt x="666750" y="0"/>
                </a:moveTo>
                <a:cubicBezTo>
                  <a:pt x="548481" y="14287"/>
                  <a:pt x="430213" y="28575"/>
                  <a:pt x="352425" y="66675"/>
                </a:cubicBezTo>
                <a:cubicBezTo>
                  <a:pt x="274638" y="104775"/>
                  <a:pt x="258763" y="185737"/>
                  <a:pt x="200025" y="228600"/>
                </a:cubicBezTo>
                <a:cubicBezTo>
                  <a:pt x="141287" y="271463"/>
                  <a:pt x="70643" y="297656"/>
                  <a:pt x="0" y="32385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14"/>
          <p:cNvSpPr/>
          <p:nvPr/>
        </p:nvSpPr>
        <p:spPr>
          <a:xfrm>
            <a:off x="2590800" y="3200400"/>
            <a:ext cx="762000" cy="228599"/>
          </a:xfrm>
          <a:custGeom>
            <a:rect b="b" l="l" r="r" t="t"/>
            <a:pathLst>
              <a:path extrusionOk="0" h="433387" w="523875">
                <a:moveTo>
                  <a:pt x="0" y="0"/>
                </a:moveTo>
                <a:cubicBezTo>
                  <a:pt x="50006" y="76200"/>
                  <a:pt x="100013" y="152400"/>
                  <a:pt x="152400" y="219075"/>
                </a:cubicBezTo>
                <a:cubicBezTo>
                  <a:pt x="204787" y="285750"/>
                  <a:pt x="252413" y="366713"/>
                  <a:pt x="314325" y="400050"/>
                </a:cubicBezTo>
                <a:cubicBezTo>
                  <a:pt x="376237" y="433387"/>
                  <a:pt x="450056" y="426243"/>
                  <a:pt x="523875" y="4191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4"/>
          <p:cNvSpPr txBox="1"/>
          <p:nvPr/>
        </p:nvSpPr>
        <p:spPr>
          <a:xfrm>
            <a:off x="2819400" y="5562600"/>
            <a:ext cx="51816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Hopefully, by now, you are able to see how the pattern works to localize changes and support the addition of future computers with minimal impact!</a:t>
            </a:r>
            <a:endParaRPr b="1" sz="1200">
              <a:solidFill>
                <a:srgbClr val="C00000"/>
              </a:solidFill>
              <a:latin typeface="Architects Daughter"/>
              <a:ea typeface="Architects Daughter"/>
              <a:cs typeface="Architects Daughter"/>
              <a:sym typeface="Architects Daughter"/>
            </a:endParaRPr>
          </a:p>
        </p:txBody>
      </p:sp>
      <p:pic>
        <p:nvPicPr>
          <p:cNvPr id="343" name="Google Shape;343;p14"/>
          <p:cNvPicPr preferRelativeResize="0"/>
          <p:nvPr/>
        </p:nvPicPr>
        <p:blipFill rotWithShape="1">
          <a:blip r:embed="rId5">
            <a:alphaModFix/>
          </a:blip>
          <a:srcRect b="0" l="0" r="0" t="0"/>
          <a:stretch/>
        </p:blipFill>
        <p:spPr>
          <a:xfrm>
            <a:off x="685800" y="1219200"/>
            <a:ext cx="2085975" cy="657225"/>
          </a:xfrm>
          <a:prstGeom prst="rect">
            <a:avLst/>
          </a:prstGeom>
          <a:noFill/>
          <a:ln>
            <a:noFill/>
          </a:ln>
        </p:spPr>
      </p:pic>
      <p:grpSp>
        <p:nvGrpSpPr>
          <p:cNvPr id="344" name="Google Shape;344;p14"/>
          <p:cNvGrpSpPr/>
          <p:nvPr/>
        </p:nvGrpSpPr>
        <p:grpSpPr>
          <a:xfrm>
            <a:off x="1657350" y="1876425"/>
            <a:ext cx="152400" cy="409500"/>
            <a:chOff x="1657350" y="1876425"/>
            <a:chExt cx="152400" cy="409500"/>
          </a:xfrm>
        </p:grpSpPr>
        <p:cxnSp>
          <p:nvCxnSpPr>
            <p:cNvPr id="345" name="Google Shape;345;p14"/>
            <p:cNvCxnSpPr>
              <a:stCxn id="343" idx="2"/>
            </p:cNvCxnSpPr>
            <p:nvPr/>
          </p:nvCxnSpPr>
          <p:spPr>
            <a:xfrm>
              <a:off x="1728788" y="1876425"/>
              <a:ext cx="0" cy="409500"/>
            </a:xfrm>
            <a:prstGeom prst="straightConnector1">
              <a:avLst/>
            </a:prstGeom>
            <a:noFill/>
            <a:ln cap="flat" cmpd="sng" w="9525">
              <a:solidFill>
                <a:schemeClr val="dk1"/>
              </a:solidFill>
              <a:prstDash val="solid"/>
              <a:round/>
              <a:headEnd len="sm" w="sm" type="none"/>
              <a:tailEnd len="sm" w="sm" type="none"/>
            </a:ln>
          </p:spPr>
        </p:cxnSp>
        <p:sp>
          <p:nvSpPr>
            <p:cNvPr id="346" name="Google Shape;346;p14"/>
            <p:cNvSpPr/>
            <p:nvPr/>
          </p:nvSpPr>
          <p:spPr>
            <a:xfrm>
              <a:off x="1657350" y="1876425"/>
              <a:ext cx="152400" cy="152400"/>
            </a:xfrm>
            <a:prstGeom prst="triangle">
              <a:avLst>
                <a:gd fmla="val 50000"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352" name="Google Shape;352;p15"/>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353" name="Google Shape;353;p15"/>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54" name="Google Shape;354;p15"/>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55" name="Google Shape;355;p15"/>
          <p:cNvPicPr preferRelativeResize="0"/>
          <p:nvPr/>
        </p:nvPicPr>
        <p:blipFill rotWithShape="1">
          <a:blip r:embed="rId3">
            <a:alphaModFix/>
          </a:blip>
          <a:srcRect b="0" l="0" r="0" t="0"/>
          <a:stretch/>
        </p:blipFill>
        <p:spPr>
          <a:xfrm>
            <a:off x="1066800" y="1371600"/>
            <a:ext cx="3352800" cy="5029200"/>
          </a:xfrm>
          <a:prstGeom prst="rect">
            <a:avLst/>
          </a:prstGeom>
          <a:noFill/>
          <a:ln>
            <a:noFill/>
          </a:ln>
        </p:spPr>
      </p:pic>
      <p:sp>
        <p:nvSpPr>
          <p:cNvPr id="356" name="Google Shape;356;p15"/>
          <p:cNvSpPr txBox="1"/>
          <p:nvPr/>
        </p:nvSpPr>
        <p:spPr>
          <a:xfrm>
            <a:off x="4648200" y="5177135"/>
            <a:ext cx="2362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Just enough code to demonstrate the Factory Method in action!</a:t>
            </a:r>
            <a:endParaRPr b="1" sz="1200">
              <a:solidFill>
                <a:srgbClr val="C00000"/>
              </a:solidFill>
              <a:latin typeface="Architects Daughter"/>
              <a:ea typeface="Architects Daughter"/>
              <a:cs typeface="Architects Daughter"/>
              <a:sym typeface="Architects Daughter"/>
            </a:endParaRPr>
          </a:p>
        </p:txBody>
      </p:sp>
      <p:sp>
        <p:nvSpPr>
          <p:cNvPr id="357" name="Google Shape;357;p15"/>
          <p:cNvSpPr/>
          <p:nvPr/>
        </p:nvSpPr>
        <p:spPr>
          <a:xfrm>
            <a:off x="3743325" y="4377035"/>
            <a:ext cx="933450" cy="895350"/>
          </a:xfrm>
          <a:custGeom>
            <a:rect b="b" l="l" r="r" t="t"/>
            <a:pathLst>
              <a:path extrusionOk="0" h="895350" w="933450">
                <a:moveTo>
                  <a:pt x="933450" y="895350"/>
                </a:moveTo>
                <a:cubicBezTo>
                  <a:pt x="669131" y="855662"/>
                  <a:pt x="404813" y="815975"/>
                  <a:pt x="304800" y="704850"/>
                </a:cubicBezTo>
                <a:cubicBezTo>
                  <a:pt x="204788" y="593725"/>
                  <a:pt x="384175" y="346075"/>
                  <a:pt x="333375" y="228600"/>
                </a:cubicBezTo>
                <a:cubicBezTo>
                  <a:pt x="282575" y="111125"/>
                  <a:pt x="141287" y="55562"/>
                  <a:pt x="0" y="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5"/>
          <p:cNvSpPr txBox="1"/>
          <p:nvPr/>
        </p:nvSpPr>
        <p:spPr>
          <a:xfrm>
            <a:off x="5867400" y="4572000"/>
            <a:ext cx="236220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Sample output</a:t>
            </a:r>
            <a:endParaRPr b="1" sz="1200">
              <a:solidFill>
                <a:srgbClr val="C00000"/>
              </a:solidFill>
              <a:latin typeface="Architects Daughter"/>
              <a:ea typeface="Architects Daughter"/>
              <a:cs typeface="Architects Daughter"/>
              <a:sym typeface="Architects Daughter"/>
            </a:endParaRPr>
          </a:p>
        </p:txBody>
      </p:sp>
      <p:sp>
        <p:nvSpPr>
          <p:cNvPr id="359" name="Google Shape;359;p15"/>
          <p:cNvSpPr/>
          <p:nvPr/>
        </p:nvSpPr>
        <p:spPr>
          <a:xfrm>
            <a:off x="5943600" y="4343400"/>
            <a:ext cx="609600" cy="381000"/>
          </a:xfrm>
          <a:custGeom>
            <a:rect b="b" l="l" r="r" t="t"/>
            <a:pathLst>
              <a:path extrusionOk="0" h="895350" w="933450">
                <a:moveTo>
                  <a:pt x="933450" y="895350"/>
                </a:moveTo>
                <a:cubicBezTo>
                  <a:pt x="669131" y="855662"/>
                  <a:pt x="404813" y="815975"/>
                  <a:pt x="304800" y="704850"/>
                </a:cubicBezTo>
                <a:cubicBezTo>
                  <a:pt x="204788" y="593725"/>
                  <a:pt x="384175" y="346075"/>
                  <a:pt x="333375" y="228600"/>
                </a:cubicBezTo>
                <a:cubicBezTo>
                  <a:pt x="282575" y="111125"/>
                  <a:pt x="141287" y="55562"/>
                  <a:pt x="0" y="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360" name="Google Shape;360;p15"/>
          <p:cNvPicPr preferRelativeResize="0"/>
          <p:nvPr/>
        </p:nvPicPr>
        <p:blipFill rotWithShape="1">
          <a:blip r:embed="rId4">
            <a:alphaModFix/>
          </a:blip>
          <a:srcRect b="0" l="0" r="0" t="0"/>
          <a:stretch/>
        </p:blipFill>
        <p:spPr>
          <a:xfrm>
            <a:off x="4495800" y="1371600"/>
            <a:ext cx="4204570" cy="2895600"/>
          </a:xfrm>
          <a:prstGeom prst="rect">
            <a:avLst/>
          </a:prstGeom>
          <a:noFill/>
          <a:ln>
            <a:noFill/>
          </a:ln>
          <a:effectLst>
            <a:outerShdw blurRad="63500" sx="102000" rotWithShape="0" algn="ctr" sy="102000">
              <a:srgbClr val="000000">
                <a:alpha val="4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6"/>
          <p:cNvSpPr txBox="1"/>
          <p:nvPr>
            <p:ph type="title"/>
          </p:nvPr>
        </p:nvSpPr>
        <p:spPr>
          <a:xfrm>
            <a:off x="457200" y="503238"/>
            <a:ext cx="8229600" cy="6397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Example</a:t>
            </a:r>
            <a:endParaRPr/>
          </a:p>
        </p:txBody>
      </p:sp>
      <p:sp>
        <p:nvSpPr>
          <p:cNvPr id="366" name="Google Shape;366;p16"/>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367" name="Google Shape;367;p16"/>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68" name="Google Shape;368;p16"/>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69" name="Google Shape;369;p16"/>
          <p:cNvPicPr preferRelativeResize="0"/>
          <p:nvPr/>
        </p:nvPicPr>
        <p:blipFill rotWithShape="1">
          <a:blip r:embed="rId3">
            <a:alphaModFix/>
          </a:blip>
          <a:srcRect b="0" l="0" r="0" t="0"/>
          <a:stretch/>
        </p:blipFill>
        <p:spPr>
          <a:xfrm>
            <a:off x="457200" y="1371600"/>
            <a:ext cx="1600200" cy="3512819"/>
          </a:xfrm>
          <a:prstGeom prst="rect">
            <a:avLst/>
          </a:prstGeom>
          <a:noFill/>
          <a:ln>
            <a:noFill/>
          </a:ln>
        </p:spPr>
      </p:pic>
      <p:pic>
        <p:nvPicPr>
          <p:cNvPr id="370" name="Google Shape;370;p16"/>
          <p:cNvPicPr preferRelativeResize="0"/>
          <p:nvPr/>
        </p:nvPicPr>
        <p:blipFill rotWithShape="1">
          <a:blip r:embed="rId4">
            <a:alphaModFix/>
          </a:blip>
          <a:srcRect b="0" l="0" r="0" t="0"/>
          <a:stretch/>
        </p:blipFill>
        <p:spPr>
          <a:xfrm>
            <a:off x="2895600" y="1143000"/>
            <a:ext cx="4953000" cy="1867393"/>
          </a:xfrm>
          <a:prstGeom prst="rect">
            <a:avLst/>
          </a:prstGeom>
          <a:noFill/>
          <a:ln>
            <a:noFill/>
          </a:ln>
        </p:spPr>
      </p:pic>
      <p:sp>
        <p:nvSpPr>
          <p:cNvPr id="371" name="Google Shape;371;p16"/>
          <p:cNvSpPr txBox="1"/>
          <p:nvPr/>
        </p:nvSpPr>
        <p:spPr>
          <a:xfrm>
            <a:off x="609600" y="5334000"/>
            <a:ext cx="1524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Did you notice this NullComputer class?</a:t>
            </a:r>
            <a:endParaRPr b="1" sz="1200">
              <a:solidFill>
                <a:srgbClr val="C00000"/>
              </a:solidFill>
              <a:latin typeface="Architects Daughter"/>
              <a:ea typeface="Architects Daughter"/>
              <a:cs typeface="Architects Daughter"/>
              <a:sym typeface="Architects Daughter"/>
            </a:endParaRPr>
          </a:p>
        </p:txBody>
      </p:sp>
      <p:sp>
        <p:nvSpPr>
          <p:cNvPr id="372" name="Google Shape;372;p16"/>
          <p:cNvSpPr/>
          <p:nvPr/>
        </p:nvSpPr>
        <p:spPr>
          <a:xfrm>
            <a:off x="549275" y="4867275"/>
            <a:ext cx="127000" cy="590550"/>
          </a:xfrm>
          <a:custGeom>
            <a:rect b="b" l="l" r="r" t="t"/>
            <a:pathLst>
              <a:path extrusionOk="0" h="590550" w="127000">
                <a:moveTo>
                  <a:pt x="127000" y="590550"/>
                </a:moveTo>
                <a:cubicBezTo>
                  <a:pt x="66675" y="515937"/>
                  <a:pt x="6350" y="441325"/>
                  <a:pt x="3175" y="342900"/>
                </a:cubicBezTo>
                <a:cubicBezTo>
                  <a:pt x="0" y="244475"/>
                  <a:pt x="53975" y="122237"/>
                  <a:pt x="107950" y="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6"/>
          <p:cNvSpPr/>
          <p:nvPr/>
        </p:nvSpPr>
        <p:spPr>
          <a:xfrm>
            <a:off x="1914525" y="5762625"/>
            <a:ext cx="962025" cy="180975"/>
          </a:xfrm>
          <a:custGeom>
            <a:rect b="b" l="l" r="r" t="t"/>
            <a:pathLst>
              <a:path extrusionOk="0" h="396875" w="962025">
                <a:moveTo>
                  <a:pt x="0" y="0"/>
                </a:moveTo>
                <a:cubicBezTo>
                  <a:pt x="86518" y="192087"/>
                  <a:pt x="173037" y="384175"/>
                  <a:pt x="333375" y="390525"/>
                </a:cubicBezTo>
                <a:cubicBezTo>
                  <a:pt x="493713" y="396875"/>
                  <a:pt x="727869" y="217487"/>
                  <a:pt x="962025" y="381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6"/>
          <p:cNvSpPr/>
          <p:nvPr/>
        </p:nvSpPr>
        <p:spPr>
          <a:xfrm rot="-4871637">
            <a:off x="7228916" y="3186837"/>
            <a:ext cx="494583" cy="249236"/>
          </a:xfrm>
          <a:custGeom>
            <a:rect b="b" l="l" r="r" t="t"/>
            <a:pathLst>
              <a:path extrusionOk="0" h="396875" w="962025">
                <a:moveTo>
                  <a:pt x="0" y="0"/>
                </a:moveTo>
                <a:cubicBezTo>
                  <a:pt x="86518" y="192087"/>
                  <a:pt x="173037" y="384175"/>
                  <a:pt x="333375" y="390525"/>
                </a:cubicBezTo>
                <a:cubicBezTo>
                  <a:pt x="493713" y="396875"/>
                  <a:pt x="727869" y="217487"/>
                  <a:pt x="962025" y="381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375" name="Google Shape;375;p16"/>
          <p:cNvPicPr preferRelativeResize="0"/>
          <p:nvPr/>
        </p:nvPicPr>
        <p:blipFill rotWithShape="1">
          <a:blip r:embed="rId5">
            <a:alphaModFix/>
          </a:blip>
          <a:srcRect b="0" l="0" r="0" t="0"/>
          <a:stretch/>
        </p:blipFill>
        <p:spPr>
          <a:xfrm>
            <a:off x="3048000" y="5181600"/>
            <a:ext cx="4981575" cy="1000125"/>
          </a:xfrm>
          <a:prstGeom prst="rect">
            <a:avLst/>
          </a:prstGeom>
          <a:noFill/>
          <a:ln>
            <a:noFill/>
          </a:ln>
        </p:spPr>
      </p:pic>
      <p:pic>
        <p:nvPicPr>
          <p:cNvPr id="376" name="Google Shape;376;p16"/>
          <p:cNvPicPr preferRelativeResize="0"/>
          <p:nvPr/>
        </p:nvPicPr>
        <p:blipFill rotWithShape="1">
          <a:blip r:embed="rId6">
            <a:alphaModFix/>
          </a:blip>
          <a:srcRect b="0" l="0" r="0" t="0"/>
          <a:stretch/>
        </p:blipFill>
        <p:spPr>
          <a:xfrm>
            <a:off x="2971800" y="3200400"/>
            <a:ext cx="3077026" cy="609600"/>
          </a:xfrm>
          <a:prstGeom prst="rect">
            <a:avLst/>
          </a:prstGeom>
          <a:noFill/>
          <a:ln>
            <a:noFill/>
          </a:ln>
        </p:spPr>
      </p:pic>
      <p:sp>
        <p:nvSpPr>
          <p:cNvPr id="377" name="Google Shape;377;p16"/>
          <p:cNvSpPr/>
          <p:nvPr/>
        </p:nvSpPr>
        <p:spPr>
          <a:xfrm>
            <a:off x="2895600" y="5105400"/>
            <a:ext cx="5105400" cy="1219200"/>
          </a:xfrm>
          <a:prstGeom prst="foldedCorner">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p16"/>
          <p:cNvSpPr/>
          <p:nvPr/>
        </p:nvSpPr>
        <p:spPr>
          <a:xfrm rot="-5400000">
            <a:off x="7219771" y="4819829"/>
            <a:ext cx="385459" cy="194601"/>
          </a:xfrm>
          <a:custGeom>
            <a:rect b="b" l="l" r="r" t="t"/>
            <a:pathLst>
              <a:path extrusionOk="0" h="396875" w="962025">
                <a:moveTo>
                  <a:pt x="0" y="0"/>
                </a:moveTo>
                <a:cubicBezTo>
                  <a:pt x="86518" y="192087"/>
                  <a:pt x="173037" y="384175"/>
                  <a:pt x="333375" y="390525"/>
                </a:cubicBezTo>
                <a:cubicBezTo>
                  <a:pt x="493713" y="396875"/>
                  <a:pt x="727869" y="217487"/>
                  <a:pt x="962025" y="3810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6"/>
          <p:cNvSpPr txBox="1"/>
          <p:nvPr/>
        </p:nvSpPr>
        <p:spPr>
          <a:xfrm>
            <a:off x="7543800" y="3657600"/>
            <a:ext cx="1143000" cy="461665"/>
          </a:xfrm>
          <a:prstGeom prst="rect">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The Null Object Pattern!</a:t>
            </a:r>
            <a:endParaRPr b="1" sz="1200">
              <a:solidFill>
                <a:srgbClr val="C00000"/>
              </a:solidFill>
              <a:latin typeface="Architects Daughter"/>
              <a:ea typeface="Architects Daughter"/>
              <a:cs typeface="Architects Daughter"/>
              <a:sym typeface="Architects Daughter"/>
            </a:endParaRPr>
          </a:p>
        </p:txBody>
      </p:sp>
      <p:pic>
        <p:nvPicPr>
          <p:cNvPr id="380" name="Google Shape;380;p16"/>
          <p:cNvPicPr preferRelativeResize="0"/>
          <p:nvPr/>
        </p:nvPicPr>
        <p:blipFill rotWithShape="1">
          <a:blip r:embed="rId7">
            <a:alphaModFix/>
          </a:blip>
          <a:srcRect b="0" l="0" r="0" t="0"/>
          <a:stretch/>
        </p:blipFill>
        <p:spPr>
          <a:xfrm>
            <a:off x="3086100" y="3819525"/>
            <a:ext cx="3962400" cy="1177814"/>
          </a:xfrm>
          <a:prstGeom prst="rect">
            <a:avLst/>
          </a:prstGeom>
          <a:noFill/>
          <a:ln>
            <a:noFill/>
          </a:ln>
        </p:spPr>
      </p:pic>
      <p:cxnSp>
        <p:nvCxnSpPr>
          <p:cNvPr id="381" name="Google Shape;381;p16"/>
          <p:cNvCxnSpPr/>
          <p:nvPr/>
        </p:nvCxnSpPr>
        <p:spPr>
          <a:xfrm>
            <a:off x="2457450" y="4829175"/>
            <a:ext cx="685800" cy="0"/>
          </a:xfrm>
          <a:prstGeom prst="straightConnector1">
            <a:avLst/>
          </a:prstGeom>
          <a:noFill/>
          <a:ln cap="flat" cmpd="sng" w="9525">
            <a:solidFill>
              <a:srgbClr val="C00000"/>
            </a:solidFill>
            <a:prstDash val="dash"/>
            <a:round/>
            <a:headEnd len="sm" w="sm" type="none"/>
            <a:tailEnd len="med" w="med" type="stealth"/>
          </a:ln>
        </p:spPr>
      </p:cxnSp>
      <p:sp>
        <p:nvSpPr>
          <p:cNvPr id="382" name="Google Shape;382;p16"/>
          <p:cNvSpPr/>
          <p:nvPr/>
        </p:nvSpPr>
        <p:spPr>
          <a:xfrm>
            <a:off x="2895600" y="3124200"/>
            <a:ext cx="4419600" cy="1905000"/>
          </a:xfrm>
          <a:prstGeom prst="foldedCorner">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id="387" name="Google Shape;387;p17"/>
          <p:cNvPicPr preferRelativeResize="0"/>
          <p:nvPr/>
        </p:nvPicPr>
        <p:blipFill rotWithShape="1">
          <a:blip r:embed="rId3">
            <a:alphaModFix/>
          </a:blip>
          <a:srcRect b="0" l="0" r="0" t="0"/>
          <a:stretch/>
        </p:blipFill>
        <p:spPr>
          <a:xfrm>
            <a:off x="2514600" y="1143000"/>
            <a:ext cx="5334000" cy="5191125"/>
          </a:xfrm>
          <a:prstGeom prst="rect">
            <a:avLst/>
          </a:prstGeom>
          <a:noFill/>
          <a:ln>
            <a:noFill/>
          </a:ln>
        </p:spPr>
      </p:pic>
      <p:sp>
        <p:nvSpPr>
          <p:cNvPr id="388" name="Google Shape;388;p1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The Null Object Pattern Example</a:t>
            </a:r>
            <a:endParaRPr/>
          </a:p>
        </p:txBody>
      </p:sp>
      <p:sp>
        <p:nvSpPr>
          <p:cNvPr id="389" name="Google Shape;389;p17"/>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390" name="Google Shape;390;p17"/>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91" name="Google Shape;391;p17"/>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2" name="Google Shape;392;p17"/>
          <p:cNvSpPr txBox="1"/>
          <p:nvPr/>
        </p:nvSpPr>
        <p:spPr>
          <a:xfrm>
            <a:off x="7391400" y="1752600"/>
            <a:ext cx="1143000" cy="461665"/>
          </a:xfrm>
          <a:prstGeom prst="rect">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The Null Object Pattern!</a:t>
            </a:r>
            <a:endParaRPr b="1" sz="1200">
              <a:solidFill>
                <a:srgbClr val="C00000"/>
              </a:solidFill>
              <a:latin typeface="Architects Daughter"/>
              <a:ea typeface="Architects Daughter"/>
              <a:cs typeface="Architects Daughter"/>
              <a:sym typeface="Architects Daughter"/>
            </a:endParaRPr>
          </a:p>
        </p:txBody>
      </p:sp>
      <p:pic>
        <p:nvPicPr>
          <p:cNvPr id="393" name="Google Shape;393;p17"/>
          <p:cNvPicPr preferRelativeResize="0"/>
          <p:nvPr/>
        </p:nvPicPr>
        <p:blipFill rotWithShape="1">
          <a:blip r:embed="rId4">
            <a:alphaModFix/>
          </a:blip>
          <a:srcRect b="0" l="0" r="0" t="0"/>
          <a:stretch/>
        </p:blipFill>
        <p:spPr>
          <a:xfrm>
            <a:off x="457200" y="1371600"/>
            <a:ext cx="1600200" cy="3512819"/>
          </a:xfrm>
          <a:prstGeom prst="rect">
            <a:avLst/>
          </a:prstGeom>
          <a:noFill/>
          <a:ln>
            <a:noFill/>
          </a:ln>
        </p:spPr>
      </p:pic>
      <p:sp>
        <p:nvSpPr>
          <p:cNvPr id="394" name="Google Shape;394;p17"/>
          <p:cNvSpPr txBox="1"/>
          <p:nvPr/>
        </p:nvSpPr>
        <p:spPr>
          <a:xfrm>
            <a:off x="457200" y="5105400"/>
            <a:ext cx="190500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rgbClr val="C00000"/>
                </a:solidFill>
                <a:latin typeface="Architects Daughter"/>
                <a:ea typeface="Architects Daughter"/>
                <a:cs typeface="Architects Daughter"/>
                <a:sym typeface="Architects Daughter"/>
              </a:rPr>
              <a:t>With this pattern, we treat invalid inputs as objects, therefore allowing us to treat them as other valid expected objects!</a:t>
            </a:r>
            <a:endParaRPr b="1" sz="1200">
              <a:solidFill>
                <a:srgbClr val="C00000"/>
              </a:solidFill>
              <a:latin typeface="Architects Daughter"/>
              <a:ea typeface="Architects Daughter"/>
              <a:cs typeface="Architects Daughter"/>
              <a:sym typeface="Architects Daughter"/>
            </a:endParaRPr>
          </a:p>
        </p:txBody>
      </p:sp>
      <p:sp>
        <p:nvSpPr>
          <p:cNvPr id="395" name="Google Shape;395;p17"/>
          <p:cNvSpPr/>
          <p:nvPr/>
        </p:nvSpPr>
        <p:spPr>
          <a:xfrm>
            <a:off x="5095875" y="2247900"/>
            <a:ext cx="3009900" cy="3314700"/>
          </a:xfrm>
          <a:custGeom>
            <a:rect b="b" l="l" r="r" t="t"/>
            <a:pathLst>
              <a:path extrusionOk="0" h="2684463" w="3009900">
                <a:moveTo>
                  <a:pt x="3009900" y="0"/>
                </a:moveTo>
                <a:cubicBezTo>
                  <a:pt x="2889250" y="431800"/>
                  <a:pt x="2768600" y="863600"/>
                  <a:pt x="2743200" y="1247775"/>
                </a:cubicBezTo>
                <a:cubicBezTo>
                  <a:pt x="2717800" y="1631950"/>
                  <a:pt x="2951162" y="2071688"/>
                  <a:pt x="2857500" y="2305050"/>
                </a:cubicBezTo>
                <a:cubicBezTo>
                  <a:pt x="2763838" y="2538412"/>
                  <a:pt x="2657475" y="2611438"/>
                  <a:pt x="2181225" y="2647950"/>
                </a:cubicBezTo>
                <a:cubicBezTo>
                  <a:pt x="1704975" y="2684463"/>
                  <a:pt x="852487" y="2604294"/>
                  <a:pt x="0" y="2524125"/>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17"/>
          <p:cNvSpPr/>
          <p:nvPr/>
        </p:nvSpPr>
        <p:spPr>
          <a:xfrm>
            <a:off x="1797050" y="2257425"/>
            <a:ext cx="6889750" cy="4295775"/>
          </a:xfrm>
          <a:custGeom>
            <a:rect b="b" l="l" r="r" t="t"/>
            <a:pathLst>
              <a:path extrusionOk="0" h="4060825" w="6823075">
                <a:moveTo>
                  <a:pt x="6372225" y="0"/>
                </a:moveTo>
                <a:cubicBezTo>
                  <a:pt x="6597650" y="534987"/>
                  <a:pt x="6823075" y="1069975"/>
                  <a:pt x="6791325" y="1533525"/>
                </a:cubicBezTo>
                <a:cubicBezTo>
                  <a:pt x="6759575" y="1997075"/>
                  <a:pt x="6350000" y="2433638"/>
                  <a:pt x="6181725" y="2781300"/>
                </a:cubicBezTo>
                <a:cubicBezTo>
                  <a:pt x="6013450" y="3128963"/>
                  <a:pt x="6638925" y="3417888"/>
                  <a:pt x="5781675" y="3619500"/>
                </a:cubicBezTo>
                <a:cubicBezTo>
                  <a:pt x="4924425" y="3821112"/>
                  <a:pt x="1901825" y="4060825"/>
                  <a:pt x="1038225" y="3990975"/>
                </a:cubicBezTo>
                <a:cubicBezTo>
                  <a:pt x="174625" y="3921125"/>
                  <a:pt x="674688" y="3438525"/>
                  <a:pt x="600075" y="3200400"/>
                </a:cubicBezTo>
                <a:cubicBezTo>
                  <a:pt x="525462" y="2962275"/>
                  <a:pt x="690562" y="2711450"/>
                  <a:pt x="590550" y="2562225"/>
                </a:cubicBezTo>
                <a:cubicBezTo>
                  <a:pt x="490538" y="2413000"/>
                  <a:pt x="245269" y="2359025"/>
                  <a:pt x="0" y="2305050"/>
                </a:cubicBezTo>
              </a:path>
            </a:pathLst>
          </a:custGeom>
          <a:noFill/>
          <a:ln cap="flat" cmpd="sng" w="9525">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8"/>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Factory Method Design Pattern</a:t>
            </a:r>
            <a:endParaRPr/>
          </a:p>
        </p:txBody>
      </p:sp>
      <p:sp>
        <p:nvSpPr>
          <p:cNvPr id="402" name="Google Shape;402;p18"/>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850"/>
              <a:buFont typeface="Noto Sans Symbols"/>
              <a:buChar char="⮚"/>
            </a:pPr>
            <a:r>
              <a:rPr lang="en-US" sz="1850"/>
              <a:t>Steps for designing with the Factory Method:</a:t>
            </a:r>
            <a:endParaRPr/>
          </a:p>
          <a:p>
            <a:pPr indent="-342900" lvl="1" marL="800100" rtl="0" algn="l">
              <a:lnSpc>
                <a:spcPct val="90000"/>
              </a:lnSpc>
              <a:spcBef>
                <a:spcPts val="333"/>
              </a:spcBef>
              <a:spcAft>
                <a:spcPts val="0"/>
              </a:spcAft>
              <a:buClr>
                <a:schemeClr val="dk1"/>
              </a:buClr>
              <a:buSzPts val="1665"/>
              <a:buFont typeface="Calibri"/>
              <a:buAutoNum type="arabicPeriod"/>
            </a:pPr>
            <a:r>
              <a:rPr lang="en-US" sz="1665"/>
              <a:t>Identify and design the product interface (e.g., Computer)</a:t>
            </a:r>
            <a:endParaRPr/>
          </a:p>
          <a:p>
            <a:pPr indent="-342900" lvl="1" marL="800100" rtl="0" algn="l">
              <a:lnSpc>
                <a:spcPct val="90000"/>
              </a:lnSpc>
              <a:spcBef>
                <a:spcPts val="333"/>
              </a:spcBef>
              <a:spcAft>
                <a:spcPts val="0"/>
              </a:spcAft>
              <a:buClr>
                <a:schemeClr val="dk1"/>
              </a:buClr>
              <a:buSzPts val="1665"/>
              <a:buFont typeface="Calibri"/>
              <a:buAutoNum type="arabicPeriod"/>
            </a:pPr>
            <a:r>
              <a:rPr lang="en-US" sz="1665"/>
              <a:t>Identify and design the concrete products that realize the interface from step 1 (e.g., StandardComputer, AdvancedComputer, DellComputer, etc.)</a:t>
            </a:r>
            <a:endParaRPr/>
          </a:p>
          <a:p>
            <a:pPr indent="-342900" lvl="1" marL="800100" rtl="0" algn="l">
              <a:lnSpc>
                <a:spcPct val="90000"/>
              </a:lnSpc>
              <a:spcBef>
                <a:spcPts val="333"/>
              </a:spcBef>
              <a:spcAft>
                <a:spcPts val="0"/>
              </a:spcAft>
              <a:buClr>
                <a:schemeClr val="dk1"/>
              </a:buClr>
              <a:buSzPts val="1665"/>
              <a:buFont typeface="Calibri"/>
              <a:buAutoNum type="arabicPeriod"/>
            </a:pPr>
            <a:r>
              <a:rPr lang="en-US" sz="1665"/>
              <a:t>Design the factory interface (e.g., ComputerStore), which contains one abstract factory interface method for delegating product creation to derived classes.</a:t>
            </a:r>
            <a:endParaRPr/>
          </a:p>
          <a:p>
            <a:pPr indent="-342900" lvl="1" marL="800100" rtl="0" algn="l">
              <a:lnSpc>
                <a:spcPct val="90000"/>
              </a:lnSpc>
              <a:spcBef>
                <a:spcPts val="333"/>
              </a:spcBef>
              <a:spcAft>
                <a:spcPts val="0"/>
              </a:spcAft>
              <a:buClr>
                <a:schemeClr val="dk1"/>
              </a:buClr>
              <a:buSzPts val="1665"/>
              <a:buFont typeface="Calibri"/>
              <a:buAutoNum type="arabicPeriod"/>
            </a:pPr>
            <a:r>
              <a:rPr lang="en-US" sz="1665"/>
              <a:t>Design one or more concrete factories for each product identified in step 2.</a:t>
            </a:r>
            <a:endParaRPr/>
          </a:p>
          <a:p>
            <a:pPr indent="-342900" lvl="1" marL="800100" rtl="0" algn="l">
              <a:lnSpc>
                <a:spcPct val="90000"/>
              </a:lnSpc>
              <a:spcBef>
                <a:spcPts val="333"/>
              </a:spcBef>
              <a:spcAft>
                <a:spcPts val="0"/>
              </a:spcAft>
              <a:buClr>
                <a:schemeClr val="dk1"/>
              </a:buClr>
              <a:buSzPts val="1665"/>
              <a:buFont typeface="Calibri"/>
              <a:buAutoNum type="arabicPeriod"/>
            </a:pPr>
            <a:r>
              <a:rPr lang="en-US" sz="1665"/>
              <a:t>Associate each factory from step 4 with its respective product from step 2. </a:t>
            </a:r>
            <a:endParaRPr/>
          </a:p>
          <a:p>
            <a:pPr indent="-225425" lvl="0" marL="342900" rtl="0" algn="l">
              <a:lnSpc>
                <a:spcPct val="90000"/>
              </a:lnSpc>
              <a:spcBef>
                <a:spcPts val="370"/>
              </a:spcBef>
              <a:spcAft>
                <a:spcPts val="0"/>
              </a:spcAft>
              <a:buClr>
                <a:schemeClr val="dk1"/>
              </a:buClr>
              <a:buSzPts val="1850"/>
              <a:buFont typeface="Noto Sans Symbols"/>
              <a:buNone/>
            </a:pPr>
            <a:r>
              <a:t/>
            </a:r>
            <a:endParaRPr sz="1850"/>
          </a:p>
          <a:p>
            <a:pPr indent="-342900" lvl="0" marL="342900" rtl="0" algn="l">
              <a:lnSpc>
                <a:spcPct val="90000"/>
              </a:lnSpc>
              <a:spcBef>
                <a:spcPts val="370"/>
              </a:spcBef>
              <a:spcAft>
                <a:spcPts val="0"/>
              </a:spcAft>
              <a:buClr>
                <a:schemeClr val="dk1"/>
              </a:buClr>
              <a:buSzPts val="1850"/>
              <a:buFont typeface="Noto Sans Symbols"/>
              <a:buChar char="⮚"/>
            </a:pPr>
            <a:r>
              <a:rPr lang="en-US" sz="1850"/>
              <a:t>Benefits of the Factory Method pattern</a:t>
            </a:r>
            <a:endParaRPr/>
          </a:p>
          <a:p>
            <a:pPr indent="-285750" lvl="1" marL="742950" rtl="0" algn="l">
              <a:lnSpc>
                <a:spcPct val="90000"/>
              </a:lnSpc>
              <a:spcBef>
                <a:spcPts val="333"/>
              </a:spcBef>
              <a:spcAft>
                <a:spcPts val="0"/>
              </a:spcAft>
              <a:buClr>
                <a:schemeClr val="dk1"/>
              </a:buClr>
              <a:buSzPts val="1665"/>
              <a:buChar char="✔"/>
            </a:pPr>
            <a:r>
              <a:rPr lang="en-US" sz="1665"/>
              <a:t>Separates code from product-specific classes; therefore, the same code can work with various existing or newly created product classes.</a:t>
            </a:r>
            <a:endParaRPr/>
          </a:p>
          <a:p>
            <a:pPr indent="-285750" lvl="1" marL="742950" rtl="0" algn="l">
              <a:lnSpc>
                <a:spcPct val="90000"/>
              </a:lnSpc>
              <a:spcBef>
                <a:spcPts val="333"/>
              </a:spcBef>
              <a:spcAft>
                <a:spcPts val="0"/>
              </a:spcAft>
              <a:buClr>
                <a:schemeClr val="dk1"/>
              </a:buClr>
              <a:buSzPts val="1665"/>
              <a:buChar char="✔"/>
            </a:pPr>
            <a:r>
              <a:rPr lang="en-US" sz="1665"/>
              <a:t>By separating the code, development becomes efficient, since different developers can work on the different parts of the project at the same time.</a:t>
            </a:r>
            <a:endParaRPr/>
          </a:p>
          <a:p>
            <a:pPr indent="-285750" lvl="1" marL="742950" rtl="0" algn="l">
              <a:lnSpc>
                <a:spcPct val="90000"/>
              </a:lnSpc>
              <a:spcBef>
                <a:spcPts val="333"/>
              </a:spcBef>
              <a:spcAft>
                <a:spcPts val="0"/>
              </a:spcAft>
              <a:buClr>
                <a:schemeClr val="dk1"/>
              </a:buClr>
              <a:buSzPts val="1665"/>
              <a:buChar char="✔"/>
            </a:pPr>
            <a:r>
              <a:rPr lang="en-US" sz="1665"/>
              <a:t>By separating the code, it becomes easier to reuse and maintain specific parts of the code.</a:t>
            </a:r>
            <a:endParaRPr sz="1665"/>
          </a:p>
        </p:txBody>
      </p:sp>
      <p:sp>
        <p:nvSpPr>
          <p:cNvPr id="403" name="Google Shape;403;p18"/>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404" name="Google Shape;404;p18"/>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405" name="Google Shape;405;p18"/>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9"/>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What’s Next…</a:t>
            </a:r>
            <a:endParaRPr/>
          </a:p>
        </p:txBody>
      </p:sp>
      <p:sp>
        <p:nvSpPr>
          <p:cNvPr id="411" name="Google Shape;411;p19"/>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In this session, we continued the discussion on creational design patterns, including:</a:t>
            </a:r>
            <a:endParaRPr/>
          </a:p>
          <a:p>
            <a:pPr indent="-285750" lvl="1" marL="742950" rtl="0" algn="l">
              <a:spcBef>
                <a:spcPts val="360"/>
              </a:spcBef>
              <a:spcAft>
                <a:spcPts val="0"/>
              </a:spcAft>
              <a:buClr>
                <a:schemeClr val="dk1"/>
              </a:buClr>
              <a:buSzPts val="1800"/>
              <a:buChar char="✔"/>
            </a:pPr>
            <a:r>
              <a:rPr lang="en-US"/>
              <a:t>Factory Method</a:t>
            </a:r>
            <a:endParaRPr/>
          </a:p>
          <a:p>
            <a:pPr indent="-2857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In the next sessions, we will finalize the presentation on creational design patterns.  Specifically, we will cover:</a:t>
            </a:r>
            <a:endParaRPr/>
          </a:p>
          <a:p>
            <a:pPr indent="-285750" lvl="1" marL="742950" rtl="0" algn="l">
              <a:spcBef>
                <a:spcPts val="360"/>
              </a:spcBef>
              <a:spcAft>
                <a:spcPts val="0"/>
              </a:spcAft>
              <a:buClr>
                <a:schemeClr val="dk1"/>
              </a:buClr>
              <a:buSzPts val="1800"/>
              <a:buChar char="✔"/>
            </a:pPr>
            <a:r>
              <a:rPr lang="en-US"/>
              <a:t>Builder</a:t>
            </a:r>
            <a:endParaRPr/>
          </a:p>
          <a:p>
            <a:pPr indent="-285750" lvl="1" marL="742950" rtl="0" algn="l">
              <a:spcBef>
                <a:spcPts val="360"/>
              </a:spcBef>
              <a:spcAft>
                <a:spcPts val="0"/>
              </a:spcAft>
              <a:buClr>
                <a:schemeClr val="dk1"/>
              </a:buClr>
              <a:buSzPts val="1800"/>
              <a:buChar char="✔"/>
            </a:pPr>
            <a:r>
              <a:rPr lang="en-US"/>
              <a:t>Prototype</a:t>
            </a:r>
            <a:endParaRPr/>
          </a:p>
          <a:p>
            <a:pPr indent="-285750" lvl="1" marL="742950" rtl="0" algn="l">
              <a:spcBef>
                <a:spcPts val="360"/>
              </a:spcBef>
              <a:spcAft>
                <a:spcPts val="0"/>
              </a:spcAft>
              <a:buClr>
                <a:schemeClr val="dk1"/>
              </a:buClr>
              <a:buSzPts val="1800"/>
              <a:buChar char="✔"/>
            </a:pPr>
            <a:r>
              <a:rPr lang="en-US"/>
              <a:t>Singleton</a:t>
            </a:r>
            <a:endParaRPr/>
          </a:p>
        </p:txBody>
      </p:sp>
      <p:sp>
        <p:nvSpPr>
          <p:cNvPr id="412" name="Google Shape;412;p19"/>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413" name="Google Shape;413;p19"/>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414" name="Google Shape;414;p19"/>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0"/>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References</a:t>
            </a:r>
            <a:endParaRPr/>
          </a:p>
        </p:txBody>
      </p:sp>
      <p:sp>
        <p:nvSpPr>
          <p:cNvPr id="420" name="Google Shape;420;p20"/>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[1] Gamma, Erich, Richard Helm, Ralph Johnson, and John Vlissides.  </a:t>
            </a:r>
            <a:r>
              <a:rPr i="1" lang="en-US"/>
              <a:t>Design Patterns: Elements of Reusable Object-Oriented Software</a:t>
            </a:r>
            <a:r>
              <a:rPr lang="en-US"/>
              <a:t>.  Boston: Addison-Wesley, 1995.</a:t>
            </a:r>
            <a:endParaRPr/>
          </a:p>
        </p:txBody>
      </p:sp>
      <p:sp>
        <p:nvSpPr>
          <p:cNvPr id="421" name="Google Shape;421;p20"/>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6/16/2019</a:t>
            </a:r>
            <a:endParaRPr/>
          </a:p>
        </p:txBody>
      </p:sp>
      <p:sp>
        <p:nvSpPr>
          <p:cNvPr id="422" name="Google Shape;422;p20"/>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423" name="Google Shape;423;p20"/>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Va-Wise-Clean-BW">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Carlos E. Otero, Ph.D.</dc:creator>
</cp:coreProperties>
</file>