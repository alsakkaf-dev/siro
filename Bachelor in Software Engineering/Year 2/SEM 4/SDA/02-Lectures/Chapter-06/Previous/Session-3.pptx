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57" r:id="rId3"/>
    <p:sldId id="451" r:id="rId4"/>
    <p:sldId id="452" r:id="rId5"/>
    <p:sldId id="453" r:id="rId6"/>
    <p:sldId id="454" r:id="rId7"/>
    <p:sldId id="455" r:id="rId8"/>
    <p:sldId id="456" r:id="rId9"/>
    <p:sldId id="457" r:id="rId10"/>
    <p:sldId id="458" r:id="rId11"/>
    <p:sldId id="459" r:id="rId12"/>
    <p:sldId id="461" r:id="rId13"/>
    <p:sldId id="462" r:id="rId14"/>
    <p:sldId id="460" r:id="rId15"/>
    <p:sldId id="463" r:id="rId16"/>
    <p:sldId id="464" r:id="rId17"/>
    <p:sldId id="465" r:id="rId18"/>
    <p:sldId id="466" r:id="rId19"/>
    <p:sldId id="467" r:id="rId20"/>
    <p:sldId id="468" r:id="rId21"/>
    <p:sldId id="469" r:id="rId22"/>
    <p:sldId id="336" r:id="rId23"/>
    <p:sldId id="404" r:id="rId24"/>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13B5"/>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296" y="48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73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49B3061A-7F4E-4E3A-A627-E1FC384385A9}" type="datetimeFigureOut">
              <a:rPr lang="en-US" smtClean="0"/>
              <a:pPr/>
              <a:t>6/16/2019</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58D7772-57C4-43FE-B30D-FBB40B6BD3DC}" type="slidenum">
              <a:rPr lang="en-US" smtClean="0"/>
              <a:pPr/>
              <a:t>‹#›</a:t>
            </a:fld>
            <a:endParaRPr lang="en-US"/>
          </a:p>
        </p:txBody>
      </p:sp>
    </p:spTree>
    <p:extLst>
      <p:ext uri="{BB962C8B-B14F-4D97-AF65-F5344CB8AC3E}">
        <p14:creationId xmlns:p14="http://schemas.microsoft.com/office/powerpoint/2010/main" val="283706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10"/>
          </p:nvPr>
        </p:nvSpPr>
        <p:spPr/>
        <p:txBody>
          <a:bodyPr/>
          <a:lstStyle/>
          <a:p>
            <a:fld id="{C58D7772-57C4-43FE-B30D-FBB40B6BD3DC}" type="slidenum">
              <a:rPr lang="en-US" smtClean="0"/>
              <a:pPr/>
              <a:t>5</a:t>
            </a:fld>
            <a:endParaRPr lang="en-US"/>
          </a:p>
        </p:txBody>
      </p:sp>
    </p:spTree>
    <p:extLst>
      <p:ext uri="{BB962C8B-B14F-4D97-AF65-F5344CB8AC3E}">
        <p14:creationId xmlns:p14="http://schemas.microsoft.com/office/powerpoint/2010/main" val="12853625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685800"/>
            <a:ext cx="9144000" cy="1066800"/>
          </a:xfrm>
        </p:spPr>
        <p:txBody>
          <a:bodyPr>
            <a:normAutofit/>
          </a:bodyPr>
          <a:lstStyle>
            <a:lvl1pPr algn="ctr">
              <a:defRPr sz="2400" b="1" cap="small" baseline="0">
                <a:latin typeface="Times New Roman" pitchFamily="18" charset="0"/>
                <a:cs typeface="Times New Roman"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0" y="1752599"/>
            <a:ext cx="9144000" cy="457200"/>
          </a:xfrm>
        </p:spPr>
        <p:txBody>
          <a:bodyPr>
            <a:normAutofit/>
          </a:bodyPr>
          <a:lstStyle>
            <a:lvl1pPr marL="0" indent="0" algn="ctr">
              <a:spcBef>
                <a:spcPts val="0"/>
              </a:spcBef>
              <a:buNone/>
              <a:defRPr sz="2000" cap="small" baseline="0">
                <a:solidFill>
                  <a:srgbClr val="000000"/>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a:xfrm>
            <a:off x="457200" y="6584950"/>
            <a:ext cx="9906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8E146812-51FF-4609-8A40-02FC8C31783E}" type="datetime1">
              <a:rPr lang="en-US" smtClean="0"/>
              <a:pPr/>
              <a:t>6/16/2019</a:t>
            </a:fld>
            <a:endParaRPr lang="en-US"/>
          </a:p>
        </p:txBody>
      </p:sp>
      <p:sp>
        <p:nvSpPr>
          <p:cNvPr id="5"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333333"/>
                </a:solidFill>
                <a:latin typeface="Times New Roman" pitchFamily="18" charset="0"/>
                <a:cs typeface="Times New Roman" pitchFamily="18" charset="0"/>
              </a:defRPr>
            </a:lvl1pPr>
          </a:lstStyle>
          <a:p>
            <a:r>
              <a:rPr lang="en-US" dirty="0" smtClean="0"/>
              <a:t>Software Engineering Design: Theory and Practice. Copyright 2012 by Carlos E. Otero</a:t>
            </a:r>
          </a:p>
          <a:p>
            <a:endParaRPr lang="en-US" dirty="0"/>
          </a:p>
        </p:txBody>
      </p:sp>
      <p:sp>
        <p:nvSpPr>
          <p:cNvPr id="6" name="Slide Number Placeholder 5"/>
          <p:cNvSpPr>
            <a:spLocks noGrp="1"/>
          </p:cNvSpPr>
          <p:nvPr>
            <p:ph type="sldNum" sz="quarter" idx="12"/>
          </p:nvPr>
        </p:nvSpPr>
        <p:spPr>
          <a:xfrm>
            <a:off x="7543800" y="6553200"/>
            <a:ext cx="1143000" cy="30480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B6F15528-21DE-4FAA-801E-634DDDAF4B2B}" type="slidenum">
              <a:rPr lang="en-US" smtClean="0"/>
              <a:pPr/>
              <a:t>‹#›</a:t>
            </a:fld>
            <a:endParaRPr lang="en-US"/>
          </a:p>
        </p:txBody>
      </p:sp>
      <p:sp>
        <p:nvSpPr>
          <p:cNvPr id="9" name="Text Box 7"/>
          <p:cNvSpPr txBox="1">
            <a:spLocks noChangeArrowheads="1"/>
          </p:cNvSpPr>
          <p:nvPr userDrawn="1"/>
        </p:nvSpPr>
        <p:spPr bwMode="auto">
          <a:xfrm>
            <a:off x="1676400" y="2713434"/>
            <a:ext cx="6477000" cy="2800767"/>
          </a:xfrm>
          <a:prstGeom prst="rect">
            <a:avLst/>
          </a:prstGeom>
          <a:noFill/>
          <a:ln w="9525">
            <a:noFill/>
            <a:miter lim="800000"/>
            <a:headEnd/>
            <a:tailEnd/>
          </a:ln>
        </p:spPr>
        <p:txBody>
          <a:bodyPr>
            <a:spAutoFit/>
          </a:bodyPr>
          <a:lstStyle/>
          <a:p>
            <a:r>
              <a:rPr lang="en-US" sz="2000" i="1" dirty="0" smtClean="0">
                <a:solidFill>
                  <a:srgbClr val="C00000"/>
                </a:solidFill>
                <a:latin typeface="Times New Roman" pitchFamily="18" charset="0"/>
                <a:cs typeface="Times New Roman" pitchFamily="18" charset="0"/>
              </a:rPr>
              <a:t>Software Engineering Design: Theory and Practice</a:t>
            </a:r>
            <a:r>
              <a:rPr lang="en-US" i="1" dirty="0" smtClean="0">
                <a:solidFill>
                  <a:srgbClr val="C00000"/>
                </a:solidFill>
                <a:latin typeface="Times New Roman" pitchFamily="18" charset="0"/>
                <a:cs typeface="Times New Roman" pitchFamily="18" charset="0"/>
              </a:rPr>
              <a:t> </a:t>
            </a:r>
            <a:endParaRPr lang="en-US" i="1" dirty="0">
              <a:solidFill>
                <a:srgbClr val="C00000"/>
              </a:solidFill>
              <a:latin typeface="Times New Roman" pitchFamily="18" charset="0"/>
              <a:cs typeface="Times New Roman" pitchFamily="18" charset="0"/>
            </a:endParaRPr>
          </a:p>
          <a:p>
            <a:r>
              <a:rPr lang="en-US" sz="1600" b="0" dirty="0">
                <a:latin typeface="Times New Roman" pitchFamily="18" charset="0"/>
                <a:cs typeface="Times New Roman" pitchFamily="18" charset="0"/>
              </a:rPr>
              <a:t>by </a:t>
            </a:r>
            <a:r>
              <a:rPr lang="en-US" sz="1600" b="0" dirty="0" smtClean="0">
                <a:latin typeface="Times New Roman" pitchFamily="18" charset="0"/>
                <a:cs typeface="Times New Roman" pitchFamily="18" charset="0"/>
              </a:rPr>
              <a:t>Carlos</a:t>
            </a:r>
            <a:r>
              <a:rPr lang="en-US" sz="1600" b="0" baseline="0" dirty="0" smtClean="0">
                <a:latin typeface="Times New Roman" pitchFamily="18" charset="0"/>
                <a:cs typeface="Times New Roman" pitchFamily="18" charset="0"/>
              </a:rPr>
              <a:t> E. Otero</a:t>
            </a:r>
            <a:endParaRPr lang="en-US" sz="1200" b="0" dirty="0">
              <a:latin typeface="Times New Roman" pitchFamily="18" charset="0"/>
              <a:cs typeface="Times New Roman" pitchFamily="18" charset="0"/>
            </a:endParaRPr>
          </a:p>
          <a:p>
            <a:endParaRPr lang="en-US" sz="1200" b="1" dirty="0">
              <a:latin typeface="Times New Roman" pitchFamily="18" charset="0"/>
              <a:cs typeface="Times New Roman" pitchFamily="18" charset="0"/>
            </a:endParaRPr>
          </a:p>
          <a:p>
            <a:r>
              <a:rPr lang="en-US" sz="1200" b="1" dirty="0">
                <a:latin typeface="Times New Roman" pitchFamily="18" charset="0"/>
                <a:cs typeface="Times New Roman" pitchFamily="18" charset="0"/>
              </a:rPr>
              <a:t>Slides copyright © </a:t>
            </a:r>
            <a:r>
              <a:rPr lang="en-US" sz="1200" b="1" dirty="0" smtClean="0">
                <a:latin typeface="Times New Roman" pitchFamily="18" charset="0"/>
                <a:cs typeface="Times New Roman" pitchFamily="18" charset="0"/>
              </a:rPr>
              <a:t>2012</a:t>
            </a:r>
            <a:r>
              <a:rPr lang="en-US" sz="1800" dirty="0" smtClean="0">
                <a:latin typeface="Times New Roman" pitchFamily="18" charset="0"/>
                <a:cs typeface="Times New Roman" pitchFamily="18" charset="0"/>
              </a:rPr>
              <a:t> </a:t>
            </a:r>
            <a:r>
              <a:rPr lang="en-US" sz="1200" b="1" dirty="0">
                <a:latin typeface="Times New Roman" pitchFamily="18" charset="0"/>
                <a:cs typeface="Times New Roman" pitchFamily="18" charset="0"/>
              </a:rPr>
              <a:t>by </a:t>
            </a:r>
            <a:r>
              <a:rPr lang="en-US" sz="1200" b="1" dirty="0" smtClean="0">
                <a:latin typeface="Times New Roman" pitchFamily="18" charset="0"/>
                <a:cs typeface="Times New Roman" pitchFamily="18" charset="0"/>
              </a:rPr>
              <a:t>Carlos E. Otero</a:t>
            </a:r>
            <a:endParaRPr lang="en-US" sz="1800" dirty="0">
              <a:latin typeface="Times New Roman" pitchFamily="18" charset="0"/>
              <a:cs typeface="Times New Roman" pitchFamily="18" charset="0"/>
            </a:endParaRPr>
          </a:p>
          <a:p>
            <a:endParaRPr lang="en-US" sz="1800" b="1" i="1" dirty="0">
              <a:solidFill>
                <a:schemeClr val="tx2"/>
              </a:solidFill>
              <a:latin typeface="Times New Roman" pitchFamily="18" charset="0"/>
              <a:cs typeface="Times New Roman" pitchFamily="18" charset="0"/>
            </a:endParaRPr>
          </a:p>
          <a:p>
            <a:r>
              <a:rPr lang="en-US" sz="1800" b="1" i="1" dirty="0">
                <a:solidFill>
                  <a:srgbClr val="C00000"/>
                </a:solidFill>
                <a:latin typeface="Times New Roman" pitchFamily="18" charset="0"/>
                <a:cs typeface="Times New Roman" pitchFamily="18" charset="0"/>
              </a:rPr>
              <a:t>For non-profit educational use only</a:t>
            </a:r>
            <a:endParaRPr lang="en-US" sz="1800" b="1" dirty="0">
              <a:solidFill>
                <a:srgbClr val="C00000"/>
              </a:solidFill>
              <a:latin typeface="Times New Roman" pitchFamily="18" charset="0"/>
              <a:cs typeface="Times New Roman" pitchFamily="18" charset="0"/>
            </a:endParaRPr>
          </a:p>
          <a:p>
            <a:endParaRPr lang="en-US" sz="1400" dirty="0">
              <a:latin typeface="Times New Roman" pitchFamily="18" charset="0"/>
              <a:cs typeface="Times New Roman" pitchFamily="18" charset="0"/>
            </a:endParaRPr>
          </a:p>
          <a:p>
            <a:r>
              <a:rPr lang="en-US" sz="1200" dirty="0">
                <a:latin typeface="Times New Roman" pitchFamily="18" charset="0"/>
                <a:cs typeface="Times New Roman" pitchFamily="18" charset="0"/>
              </a:rPr>
              <a:t>May be reproduced </a:t>
            </a:r>
            <a:r>
              <a:rPr lang="en-US" sz="1200" dirty="0" smtClean="0">
                <a:latin typeface="Times New Roman" pitchFamily="18" charset="0"/>
                <a:cs typeface="Times New Roman" pitchFamily="18" charset="0"/>
              </a:rPr>
              <a:t>only for </a:t>
            </a:r>
            <a:r>
              <a:rPr lang="en-US" sz="1200" dirty="0">
                <a:latin typeface="Times New Roman" pitchFamily="18" charset="0"/>
                <a:cs typeface="Times New Roman" pitchFamily="18" charset="0"/>
              </a:rPr>
              <a:t>student use </a:t>
            </a:r>
            <a:r>
              <a:rPr lang="en-US" sz="1200" dirty="0" smtClean="0">
                <a:latin typeface="Times New Roman" pitchFamily="18" charset="0"/>
                <a:cs typeface="Times New Roman" pitchFamily="18" charset="0"/>
              </a:rPr>
              <a:t>when </a:t>
            </a:r>
            <a:r>
              <a:rPr lang="en-US" sz="1200" dirty="0">
                <a:latin typeface="Times New Roman" pitchFamily="18" charset="0"/>
                <a:cs typeface="Times New Roman" pitchFamily="18" charset="0"/>
              </a:rPr>
              <a:t>used in conjunction with </a:t>
            </a:r>
            <a:r>
              <a:rPr lang="en-US" sz="1200" i="1" dirty="0">
                <a:latin typeface="Times New Roman" pitchFamily="18" charset="0"/>
                <a:cs typeface="Times New Roman" pitchFamily="18" charset="0"/>
              </a:rPr>
              <a:t>Software </a:t>
            </a:r>
            <a:r>
              <a:rPr lang="en-US" sz="1200" i="1" dirty="0" smtClean="0">
                <a:latin typeface="Times New Roman" pitchFamily="18" charset="0"/>
                <a:cs typeface="Times New Roman" pitchFamily="18" charset="0"/>
              </a:rPr>
              <a:t>Engineering Design: Theory and Practice. </a:t>
            </a:r>
            <a:r>
              <a:rPr lang="en-US" sz="1200" dirty="0">
                <a:latin typeface="Times New Roman" pitchFamily="18" charset="0"/>
                <a:cs typeface="Times New Roman" pitchFamily="18" charset="0"/>
              </a:rPr>
              <a:t>Any other reproduction or use is prohibited without the express written permission of the author.</a:t>
            </a:r>
          </a:p>
          <a:p>
            <a:endParaRPr lang="en-US" sz="1200" dirty="0">
              <a:latin typeface="Times New Roman" pitchFamily="18" charset="0"/>
              <a:cs typeface="Times New Roman" pitchFamily="18" charset="0"/>
            </a:endParaRPr>
          </a:p>
          <a:p>
            <a:r>
              <a:rPr lang="en-US" sz="1200" dirty="0">
                <a:latin typeface="Times New Roman" pitchFamily="18" charset="0"/>
                <a:cs typeface="Times New Roman" pitchFamily="18" charset="0"/>
              </a:rPr>
              <a:t>All copyright information </a:t>
            </a:r>
            <a:r>
              <a:rPr lang="en-US" sz="1200" dirty="0" smtClean="0">
                <a:latin typeface="Times New Roman" pitchFamily="18" charset="0"/>
                <a:cs typeface="Times New Roman" pitchFamily="18" charset="0"/>
              </a:rPr>
              <a:t>must appear </a:t>
            </a:r>
            <a:r>
              <a:rPr lang="en-US" sz="1200" dirty="0">
                <a:latin typeface="Times New Roman" pitchFamily="18" charset="0"/>
                <a:cs typeface="Times New Roman" pitchFamily="18" charset="0"/>
              </a:rPr>
              <a:t>if these slides are posted on a website for student use.</a:t>
            </a:r>
          </a:p>
        </p:txBody>
      </p:sp>
      <p:pic>
        <p:nvPicPr>
          <p:cNvPr id="10" name="Picture 1"/>
          <p:cNvPicPr>
            <a:picLocks noChangeAspect="1" noChangeArrowheads="1"/>
          </p:cNvPicPr>
          <p:nvPr userDrawn="1"/>
        </p:nvPicPr>
        <p:blipFill>
          <a:blip r:embed="rId2" cstate="print"/>
          <a:srcRect/>
          <a:stretch>
            <a:fillRect/>
          </a:stretch>
        </p:blipFill>
        <p:spPr bwMode="auto">
          <a:xfrm>
            <a:off x="7162800" y="3200400"/>
            <a:ext cx="762000" cy="1102469"/>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371601"/>
            <a:ext cx="8229600" cy="4800599"/>
          </a:xfrm>
        </p:spPr>
        <p:txBody>
          <a:bodyPr/>
          <a:lstStyle>
            <a:lvl1pPr>
              <a:buFont typeface="Wingdings" pitchFamily="2" charset="2"/>
              <a:buChar char="Ø"/>
              <a:defRPr sz="2000"/>
            </a:lvl1pPr>
            <a:lvl2pPr>
              <a:buFont typeface="Wingdings" pitchFamily="2" charset="2"/>
              <a:buChar char="ü"/>
              <a:defRPr sz="1800"/>
            </a:lvl2pPr>
            <a:lvl3pPr>
              <a:buFont typeface="Wingdings" pitchFamily="2" charset="2"/>
              <a:buChar char="§"/>
              <a:defRPr sz="1600"/>
            </a:lvl3pPr>
            <a:lvl4pPr>
              <a:defRPr sz="14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Date Placeholder 3"/>
          <p:cNvSpPr>
            <a:spLocks noGrp="1"/>
          </p:cNvSpPr>
          <p:nvPr>
            <p:ph type="dt" sz="half" idx="10"/>
          </p:nvPr>
        </p:nvSpPr>
        <p:spPr>
          <a:xfrm>
            <a:off x="457200" y="6584950"/>
            <a:ext cx="990600" cy="273050"/>
          </a:xfrm>
          <a:prstGeom prst="rect">
            <a:avLst/>
          </a:prstGeom>
        </p:spPr>
        <p:txBody>
          <a:bodyPr/>
          <a:lstStyle>
            <a:lvl1pPr>
              <a:defRPr sz="1000" i="1">
                <a:latin typeface="Times New Roman" pitchFamily="18" charset="0"/>
                <a:cs typeface="Times New Roman" pitchFamily="18" charset="0"/>
              </a:defRPr>
            </a:lvl1pPr>
          </a:lstStyle>
          <a:p>
            <a:fld id="{F3FBCFF5-EE4F-4FFF-A0F1-127D95D6DEF9}" type="datetime1">
              <a:rPr lang="en-US" smtClean="0"/>
              <a:pPr/>
              <a:t>6/16/2019</a:t>
            </a:fld>
            <a:endParaRPr lang="en-US"/>
          </a:p>
        </p:txBody>
      </p:sp>
      <p:sp>
        <p:nvSpPr>
          <p:cNvPr id="16"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r>
              <a:rPr lang="en-US" dirty="0" smtClean="0"/>
              <a:t>Software Engineering Design: Theory and Practice</a:t>
            </a:r>
            <a:endParaRPr lang="en-US" dirty="0"/>
          </a:p>
        </p:txBody>
      </p:sp>
      <p:sp>
        <p:nvSpPr>
          <p:cNvPr id="17" name="Slide Number Placeholder 5"/>
          <p:cNvSpPr>
            <a:spLocks noGrp="1"/>
          </p:cNvSpPr>
          <p:nvPr>
            <p:ph type="sldNum" sz="quarter" idx="12"/>
          </p:nvPr>
        </p:nvSpPr>
        <p:spPr>
          <a:xfrm>
            <a:off x="7543800" y="6553200"/>
            <a:ext cx="1143000" cy="304800"/>
          </a:xfrm>
          <a:prstGeom prst="rect">
            <a:avLst/>
          </a:prstGeom>
        </p:spPr>
        <p:txBody>
          <a:bodyPr/>
          <a:lstStyle>
            <a:lvl1pPr>
              <a:defRPr sz="1000">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562078"/>
            <a:ext cx="990600" cy="304800"/>
          </a:xfrm>
          <a:prstGeom prst="rect">
            <a:avLst/>
          </a:prstGeom>
        </p:spPr>
        <p:txBody>
          <a:bodyPr/>
          <a:lstStyle/>
          <a:p>
            <a:fld id="{ED229BA3-A27B-42AB-9F31-42418016249D}" type="datetime1">
              <a:rPr lang="en-US" smtClean="0"/>
              <a:pPr/>
              <a:t>6/16/2019</a:t>
            </a:fld>
            <a:endParaRPr lang="en-US"/>
          </a:p>
        </p:txBody>
      </p:sp>
      <p:sp>
        <p:nvSpPr>
          <p:cNvPr id="5" name="Footer Placeholder 4"/>
          <p:cNvSpPr>
            <a:spLocks noGrp="1"/>
          </p:cNvSpPr>
          <p:nvPr>
            <p:ph type="ftr" sz="quarter" idx="11"/>
          </p:nvPr>
        </p:nvSpPr>
        <p:spPr>
          <a:xfrm>
            <a:off x="1447800" y="6562078"/>
            <a:ext cx="60960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7543800" y="6562078"/>
            <a:ext cx="11430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F0BB3435-0E9A-4626-BE17-A8762A108CF2}" type="datetime1">
              <a:rPr lang="en-US" smtClean="0"/>
              <a:pPr/>
              <a:t>6/16/2019</a:t>
            </a:fld>
            <a:endParaRPr lang="en-US"/>
          </a:p>
        </p:txBody>
      </p:sp>
      <p:sp>
        <p:nvSpPr>
          <p:cNvPr id="6" name="Footer Placeholder 5"/>
          <p:cNvSpPr>
            <a:spLocks noGrp="1"/>
          </p:cNvSpPr>
          <p:nvPr>
            <p:ph type="ftr" sz="quarter" idx="11"/>
          </p:nvPr>
        </p:nvSpPr>
        <p:spPr>
          <a:xfrm>
            <a:off x="32004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553200"/>
            <a:ext cx="2133600" cy="304800"/>
          </a:xfrm>
          <a:prstGeom prst="rect">
            <a:avLst/>
          </a:prstGeom>
        </p:spPr>
        <p:txBody>
          <a:bodyPr/>
          <a:lstStyle/>
          <a:p>
            <a:fld id="{A8E9BC6D-F3D4-4CAF-ACEC-494A57D202E4}" type="datetime1">
              <a:rPr lang="en-US" smtClean="0"/>
              <a:pPr/>
              <a:t>6/16/2019</a:t>
            </a:fld>
            <a:endParaRPr lang="en-US"/>
          </a:p>
        </p:txBody>
      </p:sp>
      <p:sp>
        <p:nvSpPr>
          <p:cNvPr id="8" name="Footer Placeholder 7"/>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9" name="Slide Number Placeholder 8"/>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553200"/>
            <a:ext cx="2133600" cy="304800"/>
          </a:xfrm>
          <a:prstGeom prst="rect">
            <a:avLst/>
          </a:prstGeom>
        </p:spPr>
        <p:txBody>
          <a:bodyPr/>
          <a:lstStyle/>
          <a:p>
            <a:fld id="{E15860A7-5D37-4EAC-8EFD-51F43FFA3B5E}" type="datetime1">
              <a:rPr lang="en-US" smtClean="0"/>
              <a:pPr/>
              <a:t>6/16/2019</a:t>
            </a:fld>
            <a:endParaRPr lang="en-US"/>
          </a:p>
        </p:txBody>
      </p:sp>
      <p:sp>
        <p:nvSpPr>
          <p:cNvPr id="4" name="Footer Placeholder 3"/>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5" name="Slide Number Placeholder 4"/>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553200"/>
            <a:ext cx="2133600" cy="304800"/>
          </a:xfrm>
          <a:prstGeom prst="rect">
            <a:avLst/>
          </a:prstGeom>
        </p:spPr>
        <p:txBody>
          <a:bodyPr/>
          <a:lstStyle/>
          <a:p>
            <a:fld id="{061ED6DB-E37C-45C5-85AA-C10B399F13E3}" type="datetime1">
              <a:rPr lang="en-US" smtClean="0"/>
              <a:pPr/>
              <a:t>6/16/2019</a:t>
            </a:fld>
            <a:endParaRPr lang="en-US"/>
          </a:p>
        </p:txBody>
      </p:sp>
      <p:sp>
        <p:nvSpPr>
          <p:cNvPr id="3" name="Footer Placeholder 2"/>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4" name="Slide Number Placeholder 3"/>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DA6BCD18-5551-42D7-A5DD-C6871E4D3FB5}" type="datetime1">
              <a:rPr lang="en-US" smtClean="0"/>
              <a:pPr/>
              <a:t>6/16/2019</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25C7B514-375B-4C9F-AB19-638794D6AC42}" type="datetime1">
              <a:rPr lang="en-US" smtClean="0"/>
              <a:pPr/>
              <a:t>6/16/2019</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41643C31-6BED-43CE-92EC-61FE9F1B16F6}" type="datetime1">
              <a:rPr lang="en-US" smtClean="0"/>
              <a:pPr/>
              <a:t>6/16/2019</a:t>
            </a:fld>
            <a:endParaRPr lang="en-US"/>
          </a:p>
        </p:txBody>
      </p:sp>
      <p:sp>
        <p:nvSpPr>
          <p:cNvPr id="5" name="Footer Placeholder 4"/>
          <p:cNvSpPr>
            <a:spLocks noGrp="1"/>
          </p:cNvSpPr>
          <p:nvPr>
            <p:ph type="ftr" sz="quarter" idx="11"/>
          </p:nvPr>
        </p:nvSpPr>
        <p:spPr>
          <a:xfrm>
            <a:off x="29718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999D3834-0217-485F-B8FA-819EC68F0E18}" type="datetime1">
              <a:rPr lang="en-US" smtClean="0"/>
              <a:pPr/>
              <a:t>6/16/2019</a:t>
            </a:fld>
            <a:endParaRPr lang="en-US"/>
          </a:p>
        </p:txBody>
      </p:sp>
      <p:sp>
        <p:nvSpPr>
          <p:cNvPr id="5" name="Footer Placeholder 4"/>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03238"/>
            <a:ext cx="8229600" cy="792162"/>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371600"/>
            <a:ext cx="8229600" cy="4754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Rounded Rectangle 8"/>
          <p:cNvSpPr/>
          <p:nvPr/>
        </p:nvSpPr>
        <p:spPr bwMode="auto">
          <a:xfrm>
            <a:off x="219722" y="228600"/>
            <a:ext cx="8686800" cy="6324600"/>
          </a:xfrm>
          <a:prstGeom prst="roundRect">
            <a:avLst/>
          </a:prstGeom>
          <a:noFill/>
          <a:ln w="19050"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2" name="Date Placeholder 3"/>
          <p:cNvSpPr>
            <a:spLocks noGrp="1"/>
          </p:cNvSpPr>
          <p:nvPr>
            <p:ph type="dt" sz="half" idx="2"/>
          </p:nvPr>
        </p:nvSpPr>
        <p:spPr>
          <a:xfrm>
            <a:off x="457200" y="6584950"/>
            <a:ext cx="990600" cy="273050"/>
          </a:xfrm>
          <a:prstGeom prst="rect">
            <a:avLst/>
          </a:prstGeom>
        </p:spPr>
        <p:txBody>
          <a:bodyPr/>
          <a:lstStyle>
            <a:lvl1pPr>
              <a:defRPr sz="1000" i="1">
                <a:solidFill>
                  <a:srgbClr val="333333"/>
                </a:solidFill>
                <a:latin typeface="Times New Roman" pitchFamily="18" charset="0"/>
                <a:cs typeface="Times New Roman" pitchFamily="18" charset="0"/>
              </a:defRPr>
            </a:lvl1pPr>
          </a:lstStyle>
          <a:p>
            <a:fld id="{714859E5-2B7A-4354-9302-A47E7090D679}" type="datetime1">
              <a:rPr lang="en-US" smtClean="0"/>
              <a:pPr/>
              <a:t>6/16/2019</a:t>
            </a:fld>
            <a:endParaRPr lang="en-US"/>
          </a:p>
        </p:txBody>
      </p:sp>
      <p:sp>
        <p:nvSpPr>
          <p:cNvPr id="13" name="Footer Placeholder 4"/>
          <p:cNvSpPr>
            <a:spLocks noGrp="1"/>
          </p:cNvSpPr>
          <p:nvPr>
            <p:ph type="ftr" sz="quarter" idx="3"/>
          </p:nvPr>
        </p:nvSpPr>
        <p:spPr>
          <a:xfrm>
            <a:off x="1447800" y="6584950"/>
            <a:ext cx="6096000" cy="273050"/>
          </a:xfrm>
          <a:prstGeom prst="rect">
            <a:avLst/>
          </a:prstGeom>
        </p:spPr>
        <p:txBody>
          <a:bodyPr/>
          <a:lstStyle>
            <a:lvl1pPr algn="ctr">
              <a:defRPr sz="1000" i="1">
                <a:solidFill>
                  <a:srgbClr val="333333"/>
                </a:solidFill>
                <a:latin typeface="Times New Roman" pitchFamily="18" charset="0"/>
                <a:cs typeface="Times New Roman" pitchFamily="18" charset="0"/>
              </a:defRPr>
            </a:lvl1pPr>
          </a:lstStyle>
          <a:p>
            <a:r>
              <a:rPr lang="en-US" smtClean="0"/>
              <a:t>Enterprise Software Architecture</a:t>
            </a:r>
            <a:endParaRPr lang="en-US" dirty="0"/>
          </a:p>
        </p:txBody>
      </p:sp>
      <p:sp>
        <p:nvSpPr>
          <p:cNvPr id="14" name="Slide Number Placeholder 5"/>
          <p:cNvSpPr>
            <a:spLocks noGrp="1"/>
          </p:cNvSpPr>
          <p:nvPr>
            <p:ph type="sldNum" sz="quarter" idx="4"/>
          </p:nvPr>
        </p:nvSpPr>
        <p:spPr>
          <a:xfrm>
            <a:off x="7543800" y="6553200"/>
            <a:ext cx="1143000" cy="304800"/>
          </a:xfrm>
          <a:prstGeom prst="rect">
            <a:avLst/>
          </a:prstGeom>
        </p:spPr>
        <p:txBody>
          <a:bodyPr/>
          <a:lstStyle>
            <a:lvl1pPr algn="r">
              <a:defRPr sz="1000" i="1">
                <a:solidFill>
                  <a:srgbClr val="333333"/>
                </a:solidFill>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2400" b="1" kern="1200" cap="small" baseline="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Chapter 6: Creational Design Patterns</a:t>
            </a:r>
            <a:endParaRPr lang="en-US" dirty="0"/>
          </a:p>
        </p:txBody>
      </p:sp>
      <p:sp>
        <p:nvSpPr>
          <p:cNvPr id="3" name="Subtitle 2"/>
          <p:cNvSpPr>
            <a:spLocks noGrp="1"/>
          </p:cNvSpPr>
          <p:nvPr>
            <p:ph type="subTitle" idx="1"/>
          </p:nvPr>
        </p:nvSpPr>
        <p:spPr>
          <a:xfrm>
            <a:off x="0" y="1752598"/>
            <a:ext cx="9144000" cy="838202"/>
          </a:xfrm>
        </p:spPr>
        <p:txBody>
          <a:bodyPr>
            <a:normAutofit/>
          </a:bodyPr>
          <a:lstStyle/>
          <a:p>
            <a:r>
              <a:rPr lang="en-US" dirty="0" smtClean="0"/>
              <a:t>Session III: Builder, Prototype, Singleton</a:t>
            </a:r>
            <a:endParaRPr lang="en-US" dirty="0"/>
          </a:p>
        </p:txBody>
      </p:sp>
      <p:sp>
        <p:nvSpPr>
          <p:cNvPr id="4" name="Date Placeholder 3"/>
          <p:cNvSpPr>
            <a:spLocks noGrp="1"/>
          </p:cNvSpPr>
          <p:nvPr>
            <p:ph type="dt" sz="half" idx="10"/>
          </p:nvPr>
        </p:nvSpPr>
        <p:spPr/>
        <p:txBody>
          <a:bodyPr/>
          <a:lstStyle/>
          <a:p>
            <a:fld id="{EFE05638-2204-47C5-8D02-0990D6B01040}" type="datetime1">
              <a:rPr lang="en-US" smtClean="0"/>
              <a:pPr/>
              <a:t>6/16/2019</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6" name="Footer Placeholder 5"/>
          <p:cNvSpPr>
            <a:spLocks noGrp="1"/>
          </p:cNvSpPr>
          <p:nvPr>
            <p:ph type="ftr" sz="quarter" idx="11"/>
          </p:nvPr>
        </p:nvSpPr>
        <p:spPr/>
        <p:txBody>
          <a:bodyPr/>
          <a:lstStyle/>
          <a:p>
            <a:r>
              <a:rPr lang="en-US" dirty="0" smtClean="0"/>
              <a:t>Software Engineering Design: Theory and Practice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Session’s Agenda</a:t>
            </a:r>
            <a:endParaRPr lang="en-US" dirty="0"/>
          </a:p>
        </p:txBody>
      </p:sp>
      <p:sp>
        <p:nvSpPr>
          <p:cNvPr id="3" name="Content Placeholder 2"/>
          <p:cNvSpPr>
            <a:spLocks noGrp="1"/>
          </p:cNvSpPr>
          <p:nvPr>
            <p:ph idx="1"/>
          </p:nvPr>
        </p:nvSpPr>
        <p:spPr>
          <a:xfrm>
            <a:off x="457200" y="1371601"/>
            <a:ext cx="8229600" cy="4648199"/>
          </a:xfrm>
        </p:spPr>
        <p:txBody>
          <a:bodyPr>
            <a:normAutofit/>
          </a:bodyPr>
          <a:lstStyle/>
          <a:p>
            <a:pPr lvl="2"/>
            <a:endParaRPr lang="en-US" dirty="0" smtClean="0"/>
          </a:p>
          <a:p>
            <a:r>
              <a:rPr lang="en-US" dirty="0" smtClean="0"/>
              <a:t>Creational Patterns in Detailed Design</a:t>
            </a:r>
          </a:p>
          <a:p>
            <a:pPr lvl="1"/>
            <a:endParaRPr lang="en-US" dirty="0" smtClean="0"/>
          </a:p>
          <a:p>
            <a:r>
              <a:rPr lang="en-US" dirty="0" smtClean="0"/>
              <a:t>Builder</a:t>
            </a:r>
          </a:p>
          <a:p>
            <a:pPr lvl="1"/>
            <a:r>
              <a:rPr lang="en-US" dirty="0" smtClean="0"/>
              <a:t>Code generator example</a:t>
            </a:r>
          </a:p>
          <a:p>
            <a:pPr lvl="1"/>
            <a:endParaRPr lang="en-US" dirty="0" smtClean="0"/>
          </a:p>
          <a:p>
            <a:r>
              <a:rPr lang="en-US" dirty="0" smtClean="0"/>
              <a:t>Prototype</a:t>
            </a:r>
          </a:p>
          <a:p>
            <a:pPr lvl="1"/>
            <a:r>
              <a:rPr lang="en-US" dirty="0" smtClean="0"/>
              <a:t>Character cloning example</a:t>
            </a:r>
          </a:p>
          <a:p>
            <a:pPr lvl="1"/>
            <a:endParaRPr lang="en-US" dirty="0" smtClean="0"/>
          </a:p>
          <a:p>
            <a:r>
              <a:rPr lang="en-US" dirty="0" smtClean="0"/>
              <a:t>Singleton</a:t>
            </a:r>
          </a:p>
          <a:p>
            <a:pPr lvl="1"/>
            <a:r>
              <a:rPr lang="en-US" dirty="0" smtClean="0"/>
              <a:t>Event manager example</a:t>
            </a:r>
          </a:p>
          <a:p>
            <a:pPr lvl="1"/>
            <a:endParaRPr lang="en-US" dirty="0" smtClean="0"/>
          </a:p>
          <a:p>
            <a:r>
              <a:rPr lang="en-US" dirty="0" smtClean="0"/>
              <a:t>What’s next…</a:t>
            </a:r>
          </a:p>
          <a:p>
            <a:pPr lvl="1">
              <a:buNone/>
            </a:pPr>
            <a:endParaRPr lang="en-US" dirty="0" smtClean="0"/>
          </a:p>
          <a:p>
            <a:pPr>
              <a:buNone/>
            </a:pPr>
            <a:endParaRPr lang="en-US" dirty="0" smtClean="0"/>
          </a:p>
          <a:p>
            <a:endParaRPr lang="en-US" dirty="0" smtClean="0"/>
          </a:p>
          <a:p>
            <a:pPr lvl="1">
              <a:buNone/>
            </a:pPr>
            <a:endParaRPr lang="en-US" dirty="0" smtClean="0"/>
          </a:p>
          <a:p>
            <a:pPr>
              <a:buNone/>
            </a:pPr>
            <a:endParaRPr lang="en-US" dirty="0" smtClean="0"/>
          </a:p>
          <a:p>
            <a:pPr lvl="1"/>
            <a:endParaRPr lang="en-US" dirty="0" smtClean="0"/>
          </a:p>
        </p:txBody>
      </p:sp>
      <p:sp>
        <p:nvSpPr>
          <p:cNvPr id="4" name="Date Placeholder 3"/>
          <p:cNvSpPr>
            <a:spLocks noGrp="1"/>
          </p:cNvSpPr>
          <p:nvPr>
            <p:ph type="dt" sz="half" idx="10"/>
          </p:nvPr>
        </p:nvSpPr>
        <p:spPr/>
        <p:txBody>
          <a:bodyPr/>
          <a:lstStyle/>
          <a:p>
            <a:fld id="{3F2E7354-941D-4A10-A419-5D3E5FF7573C}" type="datetime1">
              <a:rPr lang="en-US" smtClean="0"/>
              <a:pPr/>
              <a:t>6/16/2019</a:t>
            </a:fld>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Builder Design Pattern</a:t>
            </a:r>
            <a:endParaRPr lang="en-US" dirty="0"/>
          </a:p>
        </p:txBody>
      </p:sp>
      <p:sp>
        <p:nvSpPr>
          <p:cNvPr id="3" name="Content Placeholder 2"/>
          <p:cNvSpPr>
            <a:spLocks noGrp="1"/>
          </p:cNvSpPr>
          <p:nvPr>
            <p:ph idx="1"/>
          </p:nvPr>
        </p:nvSpPr>
        <p:spPr>
          <a:xfrm>
            <a:off x="457200" y="1371601"/>
            <a:ext cx="8229600" cy="2362199"/>
          </a:xfrm>
        </p:spPr>
        <p:txBody>
          <a:bodyPr>
            <a:normAutofit fontScale="85000" lnSpcReduction="20000"/>
          </a:bodyPr>
          <a:lstStyle/>
          <a:p>
            <a:r>
              <a:rPr lang="en-US" dirty="0" smtClean="0"/>
              <a:t>The Builder Design pattern is an object creational pattern that encapsulates both the creational process and the representation of product objects.</a:t>
            </a:r>
          </a:p>
          <a:p>
            <a:pPr lvl="1"/>
            <a:r>
              <a:rPr lang="en-US" dirty="0" smtClean="0"/>
              <a:t>Unlike the Abstract Factory, in which various product objects are created all at once, Builder allows clients to control the (multistep) creational process of a single product object, allowing them to dictate the creation of individual parts of the object at discrete points throughout software operations.</a:t>
            </a:r>
          </a:p>
          <a:p>
            <a:pPr lvl="1"/>
            <a:endParaRPr lang="en-US" dirty="0" smtClean="0"/>
          </a:p>
          <a:p>
            <a:r>
              <a:rPr lang="en-US" dirty="0" smtClean="0"/>
              <a:t>According to the </a:t>
            </a:r>
            <a:r>
              <a:rPr lang="en-US" dirty="0" err="1" smtClean="0"/>
              <a:t>GoF</a:t>
            </a:r>
            <a:r>
              <a:rPr lang="en-US" dirty="0" smtClean="0"/>
              <a:t>, the intent of the Builder is to [1]</a:t>
            </a:r>
          </a:p>
          <a:p>
            <a:pPr lvl="1"/>
            <a:r>
              <a:rPr lang="en-US" dirty="0" smtClean="0"/>
              <a:t>Separate the construction of a complex object from its representation </a:t>
            </a:r>
            <a:r>
              <a:rPr lang="en-US" u="sng" dirty="0" smtClean="0"/>
              <a:t>so that the same construction process can create different representations</a:t>
            </a:r>
            <a:r>
              <a:rPr lang="en-US" dirty="0" smtClean="0"/>
              <a:t>.</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6/16/2019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grpSp>
        <p:nvGrpSpPr>
          <p:cNvPr id="19" name="Group 18"/>
          <p:cNvGrpSpPr/>
          <p:nvPr/>
        </p:nvGrpSpPr>
        <p:grpSpPr>
          <a:xfrm>
            <a:off x="533400" y="3886200"/>
            <a:ext cx="8077200" cy="2209800"/>
            <a:chOff x="533400" y="3886200"/>
            <a:chExt cx="8077200" cy="2209800"/>
          </a:xfrm>
        </p:grpSpPr>
        <p:pic>
          <p:nvPicPr>
            <p:cNvPr id="6146" name="Picture 2"/>
            <p:cNvPicPr>
              <a:picLocks noChangeAspect="1" noChangeArrowheads="1"/>
            </p:cNvPicPr>
            <p:nvPr/>
          </p:nvPicPr>
          <p:blipFill>
            <a:blip r:embed="rId2" cstate="print"/>
            <a:srcRect/>
            <a:stretch>
              <a:fillRect/>
            </a:stretch>
          </p:blipFill>
          <p:spPr bwMode="auto">
            <a:xfrm>
              <a:off x="2590800" y="3886200"/>
              <a:ext cx="3943350" cy="2209800"/>
            </a:xfrm>
            <a:prstGeom prst="rect">
              <a:avLst/>
            </a:prstGeom>
            <a:noFill/>
            <a:ln w="9525">
              <a:noFill/>
              <a:miter lim="800000"/>
              <a:headEnd/>
              <a:tailEnd/>
            </a:ln>
          </p:spPr>
        </p:pic>
        <p:sp>
          <p:nvSpPr>
            <p:cNvPr id="8" name="TextBox 7"/>
            <p:cNvSpPr txBox="1"/>
            <p:nvPr/>
          </p:nvSpPr>
          <p:spPr>
            <a:xfrm>
              <a:off x="6705600" y="5486400"/>
              <a:ext cx="762000" cy="461665"/>
            </a:xfrm>
            <a:prstGeom prst="rect">
              <a:avLst/>
            </a:prstGeom>
            <a:noFill/>
          </p:spPr>
          <p:txBody>
            <a:bodyPr wrap="square" rtlCol="0">
              <a:spAutoFit/>
            </a:bodyPr>
            <a:lstStyle/>
            <a:p>
              <a:pPr algn="ctr"/>
              <a:r>
                <a:rPr lang="en-US" sz="1200" b="1" u="sng" dirty="0" smtClean="0">
                  <a:solidFill>
                    <a:srgbClr val="C00000"/>
                  </a:solidFill>
                  <a:latin typeface="Bradley Hand ITC" pitchFamily="66" charset="0"/>
                </a:rPr>
                <a:t>Product</a:t>
              </a:r>
            </a:p>
            <a:p>
              <a:pPr algn="ctr"/>
              <a:r>
                <a:rPr lang="en-US" sz="1200" b="1" dirty="0" smtClean="0">
                  <a:solidFill>
                    <a:srgbClr val="C00000"/>
                  </a:solidFill>
                  <a:latin typeface="Bradley Hand ITC" pitchFamily="66" charset="0"/>
                </a:rPr>
                <a:t> Class</a:t>
              </a:r>
              <a:endParaRPr lang="en-US" sz="1200" b="1" dirty="0">
                <a:solidFill>
                  <a:srgbClr val="C00000"/>
                </a:solidFill>
                <a:latin typeface="Bradley Hand ITC" pitchFamily="66" charset="0"/>
              </a:endParaRPr>
            </a:p>
          </p:txBody>
        </p:sp>
        <p:sp>
          <p:nvSpPr>
            <p:cNvPr id="9" name="Right Brace 8"/>
            <p:cNvSpPr/>
            <p:nvPr/>
          </p:nvSpPr>
          <p:spPr>
            <a:xfrm>
              <a:off x="6477000" y="5410200"/>
              <a:ext cx="152400" cy="609600"/>
            </a:xfrm>
            <a:prstGeom prst="rightBrace">
              <a:avLst/>
            </a:prstGeom>
            <a:ln w="6350">
              <a:solidFill>
                <a:srgbClr val="C0000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Left Brace 9"/>
            <p:cNvSpPr/>
            <p:nvPr/>
          </p:nvSpPr>
          <p:spPr>
            <a:xfrm>
              <a:off x="3657600" y="3962400"/>
              <a:ext cx="228600" cy="2133600"/>
            </a:xfrm>
            <a:prstGeom prst="leftBrace">
              <a:avLst/>
            </a:prstGeom>
            <a:ln w="63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2895600" y="4724400"/>
              <a:ext cx="685800" cy="461665"/>
            </a:xfrm>
            <a:prstGeom prst="rect">
              <a:avLst/>
            </a:prstGeom>
            <a:noFill/>
          </p:spPr>
          <p:txBody>
            <a:bodyPr wrap="square" rtlCol="0">
              <a:spAutoFit/>
            </a:bodyPr>
            <a:lstStyle/>
            <a:p>
              <a:pPr algn="ctr"/>
              <a:r>
                <a:rPr lang="en-US" sz="1200" b="1" u="sng" dirty="0" smtClean="0">
                  <a:solidFill>
                    <a:srgbClr val="C00000"/>
                  </a:solidFill>
                  <a:latin typeface="Bradley Hand ITC" pitchFamily="66" charset="0"/>
                </a:rPr>
                <a:t>Creator</a:t>
              </a:r>
            </a:p>
            <a:p>
              <a:pPr algn="ctr"/>
              <a:r>
                <a:rPr lang="en-US" sz="1200" b="1" dirty="0" smtClean="0">
                  <a:solidFill>
                    <a:srgbClr val="C00000"/>
                  </a:solidFill>
                  <a:latin typeface="Bradley Hand ITC" pitchFamily="66" charset="0"/>
                </a:rPr>
                <a:t>Classes</a:t>
              </a:r>
              <a:endParaRPr lang="en-US" sz="1200" b="1" dirty="0">
                <a:solidFill>
                  <a:srgbClr val="C00000"/>
                </a:solidFill>
                <a:latin typeface="Bradley Hand ITC" pitchFamily="66" charset="0"/>
              </a:endParaRPr>
            </a:p>
          </p:txBody>
        </p:sp>
        <p:sp>
          <p:nvSpPr>
            <p:cNvPr id="12" name="Right Brace 11"/>
            <p:cNvSpPr/>
            <p:nvPr/>
          </p:nvSpPr>
          <p:spPr>
            <a:xfrm>
              <a:off x="5105400" y="4419600"/>
              <a:ext cx="76200" cy="381000"/>
            </a:xfrm>
            <a:prstGeom prst="rightBrace">
              <a:avLst/>
            </a:prstGeom>
            <a:ln w="6350">
              <a:solidFill>
                <a:srgbClr val="C0000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5410200" y="3886200"/>
              <a:ext cx="3048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These interface methods specify the multistep creational process for the Product!</a:t>
              </a:r>
              <a:endParaRPr lang="en-US" sz="1200" b="1" dirty="0">
                <a:solidFill>
                  <a:srgbClr val="C00000"/>
                </a:solidFill>
                <a:latin typeface="Bradley Hand ITC" pitchFamily="66" charset="0"/>
              </a:endParaRPr>
            </a:p>
          </p:txBody>
        </p:sp>
        <p:sp>
          <p:nvSpPr>
            <p:cNvPr id="14" name="Freeform 13"/>
            <p:cNvSpPr/>
            <p:nvPr/>
          </p:nvSpPr>
          <p:spPr>
            <a:xfrm>
              <a:off x="5305425" y="4267200"/>
              <a:ext cx="285750" cy="342900"/>
            </a:xfrm>
            <a:custGeom>
              <a:avLst/>
              <a:gdLst>
                <a:gd name="connsiteX0" fmla="*/ 285750 w 285750"/>
                <a:gd name="connsiteY0" fmla="*/ 0 h 590550"/>
                <a:gd name="connsiteX1" fmla="*/ 133350 w 285750"/>
                <a:gd name="connsiteY1" fmla="*/ 171450 h 590550"/>
                <a:gd name="connsiteX2" fmla="*/ 114300 w 285750"/>
                <a:gd name="connsiteY2" fmla="*/ 514350 h 590550"/>
                <a:gd name="connsiteX3" fmla="*/ 0 w 285750"/>
                <a:gd name="connsiteY3" fmla="*/ 590550 h 590550"/>
              </a:gdLst>
              <a:ahLst/>
              <a:cxnLst>
                <a:cxn ang="0">
                  <a:pos x="connsiteX0" y="connsiteY0"/>
                </a:cxn>
                <a:cxn ang="0">
                  <a:pos x="connsiteX1" y="connsiteY1"/>
                </a:cxn>
                <a:cxn ang="0">
                  <a:pos x="connsiteX2" y="connsiteY2"/>
                </a:cxn>
                <a:cxn ang="0">
                  <a:pos x="connsiteX3" y="connsiteY3"/>
                </a:cxn>
              </a:cxnLst>
              <a:rect l="l" t="t" r="r" b="b"/>
              <a:pathLst>
                <a:path w="285750" h="590550">
                  <a:moveTo>
                    <a:pt x="285750" y="0"/>
                  </a:moveTo>
                  <a:cubicBezTo>
                    <a:pt x="223837" y="42862"/>
                    <a:pt x="161925" y="85725"/>
                    <a:pt x="133350" y="171450"/>
                  </a:cubicBezTo>
                  <a:cubicBezTo>
                    <a:pt x="104775" y="257175"/>
                    <a:pt x="136525" y="444500"/>
                    <a:pt x="114300" y="514350"/>
                  </a:cubicBezTo>
                  <a:cubicBezTo>
                    <a:pt x="92075" y="584200"/>
                    <a:pt x="46037" y="587375"/>
                    <a:pt x="0" y="5905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p:cNvSpPr txBox="1"/>
            <p:nvPr/>
          </p:nvSpPr>
          <p:spPr>
            <a:xfrm>
              <a:off x="5334000" y="4648200"/>
              <a:ext cx="3276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Concrete Builders must provide implementation for creational interface functions!</a:t>
              </a:r>
              <a:endParaRPr lang="en-US" sz="1200" b="1" dirty="0">
                <a:solidFill>
                  <a:srgbClr val="C00000"/>
                </a:solidFill>
                <a:latin typeface="Bradley Hand ITC" pitchFamily="66" charset="0"/>
              </a:endParaRPr>
            </a:p>
          </p:txBody>
        </p:sp>
        <p:sp>
          <p:nvSpPr>
            <p:cNvPr id="16" name="Freeform 15"/>
            <p:cNvSpPr/>
            <p:nvPr/>
          </p:nvSpPr>
          <p:spPr>
            <a:xfrm>
              <a:off x="5105400" y="4953000"/>
              <a:ext cx="590550" cy="533400"/>
            </a:xfrm>
            <a:custGeom>
              <a:avLst/>
              <a:gdLst>
                <a:gd name="connsiteX0" fmla="*/ 285750 w 285750"/>
                <a:gd name="connsiteY0" fmla="*/ 0 h 590550"/>
                <a:gd name="connsiteX1" fmla="*/ 133350 w 285750"/>
                <a:gd name="connsiteY1" fmla="*/ 171450 h 590550"/>
                <a:gd name="connsiteX2" fmla="*/ 114300 w 285750"/>
                <a:gd name="connsiteY2" fmla="*/ 514350 h 590550"/>
                <a:gd name="connsiteX3" fmla="*/ 0 w 285750"/>
                <a:gd name="connsiteY3" fmla="*/ 590550 h 590550"/>
              </a:gdLst>
              <a:ahLst/>
              <a:cxnLst>
                <a:cxn ang="0">
                  <a:pos x="connsiteX0" y="connsiteY0"/>
                </a:cxn>
                <a:cxn ang="0">
                  <a:pos x="connsiteX1" y="connsiteY1"/>
                </a:cxn>
                <a:cxn ang="0">
                  <a:pos x="connsiteX2" y="connsiteY2"/>
                </a:cxn>
                <a:cxn ang="0">
                  <a:pos x="connsiteX3" y="connsiteY3"/>
                </a:cxn>
              </a:cxnLst>
              <a:rect l="l" t="t" r="r" b="b"/>
              <a:pathLst>
                <a:path w="285750" h="590550">
                  <a:moveTo>
                    <a:pt x="285750" y="0"/>
                  </a:moveTo>
                  <a:cubicBezTo>
                    <a:pt x="223837" y="42862"/>
                    <a:pt x="161925" y="85725"/>
                    <a:pt x="133350" y="171450"/>
                  </a:cubicBezTo>
                  <a:cubicBezTo>
                    <a:pt x="104775" y="257175"/>
                    <a:pt x="136525" y="444500"/>
                    <a:pt x="114300" y="514350"/>
                  </a:cubicBezTo>
                  <a:cubicBezTo>
                    <a:pt x="92075" y="584200"/>
                    <a:pt x="46037" y="587375"/>
                    <a:pt x="0" y="5905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p:cNvSpPr txBox="1"/>
            <p:nvPr/>
          </p:nvSpPr>
          <p:spPr>
            <a:xfrm>
              <a:off x="533400" y="4648200"/>
              <a:ext cx="1828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This guy orchestrates the creational process!</a:t>
              </a:r>
              <a:endParaRPr lang="en-US" sz="1200" b="1" dirty="0">
                <a:solidFill>
                  <a:srgbClr val="C00000"/>
                </a:solidFill>
                <a:latin typeface="Bradley Hand ITC" pitchFamily="66" charset="0"/>
              </a:endParaRPr>
            </a:p>
          </p:txBody>
        </p:sp>
        <p:sp>
          <p:nvSpPr>
            <p:cNvPr id="18" name="Freeform 17"/>
            <p:cNvSpPr/>
            <p:nvPr/>
          </p:nvSpPr>
          <p:spPr>
            <a:xfrm>
              <a:off x="1971675" y="4276725"/>
              <a:ext cx="628650" cy="371475"/>
            </a:xfrm>
            <a:custGeom>
              <a:avLst/>
              <a:gdLst>
                <a:gd name="connsiteX0" fmla="*/ 0 w 628650"/>
                <a:gd name="connsiteY0" fmla="*/ 371475 h 371475"/>
                <a:gd name="connsiteX1" fmla="*/ 228600 w 628650"/>
                <a:gd name="connsiteY1" fmla="*/ 257175 h 371475"/>
                <a:gd name="connsiteX2" fmla="*/ 323850 w 628650"/>
                <a:gd name="connsiteY2" fmla="*/ 47625 h 371475"/>
                <a:gd name="connsiteX3" fmla="*/ 628650 w 628650"/>
                <a:gd name="connsiteY3" fmla="*/ 0 h 371475"/>
              </a:gdLst>
              <a:ahLst/>
              <a:cxnLst>
                <a:cxn ang="0">
                  <a:pos x="connsiteX0" y="connsiteY0"/>
                </a:cxn>
                <a:cxn ang="0">
                  <a:pos x="connsiteX1" y="connsiteY1"/>
                </a:cxn>
                <a:cxn ang="0">
                  <a:pos x="connsiteX2" y="connsiteY2"/>
                </a:cxn>
                <a:cxn ang="0">
                  <a:pos x="connsiteX3" y="connsiteY3"/>
                </a:cxn>
              </a:cxnLst>
              <a:rect l="l" t="t" r="r" b="b"/>
              <a:pathLst>
                <a:path w="628650" h="371475">
                  <a:moveTo>
                    <a:pt x="0" y="371475"/>
                  </a:moveTo>
                  <a:cubicBezTo>
                    <a:pt x="87312" y="341312"/>
                    <a:pt x="174625" y="311150"/>
                    <a:pt x="228600" y="257175"/>
                  </a:cubicBezTo>
                  <a:cubicBezTo>
                    <a:pt x="282575" y="203200"/>
                    <a:pt x="257175" y="90487"/>
                    <a:pt x="323850" y="47625"/>
                  </a:cubicBezTo>
                  <a:cubicBezTo>
                    <a:pt x="390525" y="4763"/>
                    <a:pt x="509587" y="2381"/>
                    <a:pt x="62865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Builder Design Pattern Example</a:t>
            </a:r>
            <a:endParaRPr lang="en-US" dirty="0"/>
          </a:p>
        </p:txBody>
      </p:sp>
      <p:sp>
        <p:nvSpPr>
          <p:cNvPr id="3" name="Content Placeholder 2"/>
          <p:cNvSpPr>
            <a:spLocks noGrp="1"/>
          </p:cNvSpPr>
          <p:nvPr>
            <p:ph idx="1"/>
          </p:nvPr>
        </p:nvSpPr>
        <p:spPr>
          <a:xfrm>
            <a:off x="457200" y="1371601"/>
            <a:ext cx="8229600" cy="2590799"/>
          </a:xfrm>
        </p:spPr>
        <p:txBody>
          <a:bodyPr>
            <a:normAutofit fontScale="85000" lnSpcReduction="10000"/>
          </a:bodyPr>
          <a:lstStyle/>
          <a:p>
            <a:r>
              <a:rPr lang="en-US" dirty="0" smtClean="0"/>
              <a:t>Consider a code generator:</a:t>
            </a:r>
          </a:p>
          <a:p>
            <a:pPr lvl="1"/>
            <a:r>
              <a:rPr lang="en-US" dirty="0" smtClean="0"/>
              <a:t>Code generated from an interface specification document (ICD) used to monitor and control custom developed hardware.</a:t>
            </a:r>
          </a:p>
          <a:p>
            <a:pPr lvl="1"/>
            <a:r>
              <a:rPr lang="en-US" dirty="0" smtClean="0"/>
              <a:t>Company sells hardware, but also includes library to monitor and control its hardware.</a:t>
            </a:r>
          </a:p>
          <a:p>
            <a:pPr lvl="1"/>
            <a:r>
              <a:rPr lang="en-US" dirty="0" smtClean="0"/>
              <a:t>Generator reads a text document containing information about a messaging specification.   It then generates C++ classes that can be used to monitor and control hardware.  This is also shipped to customers so that they can use the hardware easily.</a:t>
            </a:r>
          </a:p>
          <a:p>
            <a:pPr lvl="1"/>
            <a:r>
              <a:rPr lang="en-US" dirty="0" smtClean="0"/>
              <a:t>The ICD is quite complex, and customers are demanding support for other languages, such as Java and C#.</a:t>
            </a:r>
          </a:p>
        </p:txBody>
      </p:sp>
      <p:sp>
        <p:nvSpPr>
          <p:cNvPr id="4" name="Date Placeholder 3"/>
          <p:cNvSpPr>
            <a:spLocks noGrp="1"/>
          </p:cNvSpPr>
          <p:nvPr>
            <p:ph type="dt" sz="half" idx="10"/>
          </p:nvPr>
        </p:nvSpPr>
        <p:spPr/>
        <p:txBody>
          <a:bodyPr/>
          <a:lstStyle/>
          <a:p>
            <a:fld id="{F3FBCFF5-EE4F-4FFF-A0F1-127D95D6DEF9}" type="datetime1">
              <a:rPr lang="en-US" smtClean="0"/>
              <a:pPr/>
              <a:t>6/16/2019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grpSp>
        <p:nvGrpSpPr>
          <p:cNvPr id="25" name="Group 24"/>
          <p:cNvGrpSpPr/>
          <p:nvPr/>
        </p:nvGrpSpPr>
        <p:grpSpPr>
          <a:xfrm>
            <a:off x="1506970" y="3857625"/>
            <a:ext cx="1066800" cy="1981200"/>
            <a:chOff x="1066800" y="4038600"/>
            <a:chExt cx="1066800" cy="1981200"/>
          </a:xfrm>
        </p:grpSpPr>
        <p:pic>
          <p:nvPicPr>
            <p:cNvPr id="7170" name="Picture 2"/>
            <p:cNvPicPr>
              <a:picLocks noChangeAspect="1" noChangeArrowheads="1"/>
            </p:cNvPicPr>
            <p:nvPr/>
          </p:nvPicPr>
          <p:blipFill>
            <a:blip r:embed="rId2" cstate="print"/>
            <a:srcRect/>
            <a:stretch>
              <a:fillRect/>
            </a:stretch>
          </p:blipFill>
          <p:spPr bwMode="auto">
            <a:xfrm>
              <a:off x="1219200" y="4114800"/>
              <a:ext cx="709612" cy="1838718"/>
            </a:xfrm>
            <a:prstGeom prst="rect">
              <a:avLst/>
            </a:prstGeom>
            <a:noFill/>
            <a:ln w="9525">
              <a:noFill/>
              <a:miter lim="800000"/>
              <a:headEnd/>
              <a:tailEnd/>
            </a:ln>
          </p:spPr>
        </p:pic>
        <p:sp>
          <p:nvSpPr>
            <p:cNvPr id="8" name="Folded Corner 7"/>
            <p:cNvSpPr/>
            <p:nvPr/>
          </p:nvSpPr>
          <p:spPr>
            <a:xfrm>
              <a:off x="1066800" y="4038600"/>
              <a:ext cx="1066800" cy="1981200"/>
            </a:xfrm>
            <a:prstGeom prst="foldedCorner">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p:cNvSpPr/>
          <p:nvPr/>
        </p:nvSpPr>
        <p:spPr>
          <a:xfrm>
            <a:off x="3581400" y="4267200"/>
            <a:ext cx="2133600" cy="885825"/>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p:cNvGrpSpPr/>
          <p:nvPr/>
        </p:nvGrpSpPr>
        <p:grpSpPr>
          <a:xfrm>
            <a:off x="6764770" y="3810000"/>
            <a:ext cx="626630" cy="2105025"/>
            <a:chOff x="5181600" y="3914775"/>
            <a:chExt cx="626630" cy="2105025"/>
          </a:xfrm>
        </p:grpSpPr>
        <p:sp>
          <p:nvSpPr>
            <p:cNvPr id="10" name="Folded Corner 9"/>
            <p:cNvSpPr/>
            <p:nvPr/>
          </p:nvSpPr>
          <p:spPr>
            <a:xfrm>
              <a:off x="5334000" y="4143375"/>
              <a:ext cx="381000" cy="381000"/>
            </a:xfrm>
            <a:prstGeom prst="foldedCorner">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5181600" y="3914775"/>
              <a:ext cx="599844" cy="215444"/>
            </a:xfrm>
            <a:prstGeom prst="rect">
              <a:avLst/>
            </a:prstGeom>
            <a:noFill/>
          </p:spPr>
          <p:txBody>
            <a:bodyPr wrap="none" rtlCol="0">
              <a:spAutoFit/>
            </a:bodyPr>
            <a:lstStyle/>
            <a:p>
              <a:r>
                <a:rPr lang="en-US" sz="800" dirty="0" smtClean="0"/>
                <a:t>Java Code</a:t>
              </a:r>
              <a:endParaRPr lang="en-US" sz="800" dirty="0"/>
            </a:p>
          </p:txBody>
        </p:sp>
        <p:sp>
          <p:nvSpPr>
            <p:cNvPr id="16" name="Folded Corner 15"/>
            <p:cNvSpPr/>
            <p:nvPr/>
          </p:nvSpPr>
          <p:spPr>
            <a:xfrm>
              <a:off x="5334000" y="4876800"/>
              <a:ext cx="381000" cy="381000"/>
            </a:xfrm>
            <a:prstGeom prst="foldedCorner">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5229225" y="4648200"/>
              <a:ext cx="579005" cy="215444"/>
            </a:xfrm>
            <a:prstGeom prst="rect">
              <a:avLst/>
            </a:prstGeom>
            <a:noFill/>
          </p:spPr>
          <p:txBody>
            <a:bodyPr wrap="none" rtlCol="0">
              <a:spAutoFit/>
            </a:bodyPr>
            <a:lstStyle/>
            <a:p>
              <a:r>
                <a:rPr lang="en-US" sz="800" dirty="0" smtClean="0"/>
                <a:t>C++ Code</a:t>
              </a:r>
              <a:endParaRPr lang="en-US" sz="800" dirty="0"/>
            </a:p>
          </p:txBody>
        </p:sp>
        <p:sp>
          <p:nvSpPr>
            <p:cNvPr id="18" name="Folded Corner 17"/>
            <p:cNvSpPr/>
            <p:nvPr/>
          </p:nvSpPr>
          <p:spPr>
            <a:xfrm>
              <a:off x="5334000" y="5638800"/>
              <a:ext cx="381000" cy="381000"/>
            </a:xfrm>
            <a:prstGeom prst="foldedCorner">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5234916" y="5410200"/>
              <a:ext cx="527709" cy="215444"/>
            </a:xfrm>
            <a:prstGeom prst="rect">
              <a:avLst/>
            </a:prstGeom>
            <a:noFill/>
          </p:spPr>
          <p:txBody>
            <a:bodyPr wrap="none" rtlCol="0">
              <a:spAutoFit/>
            </a:bodyPr>
            <a:lstStyle/>
            <a:p>
              <a:r>
                <a:rPr lang="en-US" sz="800" dirty="0" smtClean="0"/>
                <a:t>C# Code</a:t>
              </a:r>
              <a:endParaRPr lang="en-US" sz="800" dirty="0"/>
            </a:p>
          </p:txBody>
        </p:sp>
      </p:grpSp>
      <p:sp>
        <p:nvSpPr>
          <p:cNvPr id="21" name="TextBox 20"/>
          <p:cNvSpPr txBox="1"/>
          <p:nvPr/>
        </p:nvSpPr>
        <p:spPr>
          <a:xfrm>
            <a:off x="3581400" y="4267200"/>
            <a:ext cx="2133600" cy="246221"/>
          </a:xfrm>
          <a:prstGeom prst="rect">
            <a:avLst/>
          </a:prstGeom>
          <a:noFill/>
        </p:spPr>
        <p:txBody>
          <a:bodyPr wrap="square" rtlCol="0">
            <a:spAutoFit/>
          </a:bodyPr>
          <a:lstStyle/>
          <a:p>
            <a:pPr algn="ctr"/>
            <a:r>
              <a:rPr lang="en-US" sz="1000" dirty="0" smtClean="0"/>
              <a:t>Code Generator</a:t>
            </a:r>
            <a:endParaRPr lang="en-US" sz="1000" dirty="0"/>
          </a:p>
        </p:txBody>
      </p:sp>
      <p:sp>
        <p:nvSpPr>
          <p:cNvPr id="23" name="Right Arrow 22"/>
          <p:cNvSpPr/>
          <p:nvPr/>
        </p:nvSpPr>
        <p:spPr>
          <a:xfrm>
            <a:off x="2802370" y="4619625"/>
            <a:ext cx="702830" cy="304800"/>
          </a:xfrm>
          <a:prstGeom prst="rightArrow">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ight Arrow 23"/>
          <p:cNvSpPr/>
          <p:nvPr/>
        </p:nvSpPr>
        <p:spPr>
          <a:xfrm>
            <a:off x="5867400" y="4619625"/>
            <a:ext cx="821170" cy="304800"/>
          </a:xfrm>
          <a:prstGeom prst="rightArrow">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2895600" y="4267200"/>
            <a:ext cx="391454" cy="369332"/>
          </a:xfrm>
          <a:prstGeom prst="rect">
            <a:avLst/>
          </a:prstGeom>
          <a:noFill/>
        </p:spPr>
        <p:txBody>
          <a:bodyPr wrap="none" rtlCol="0">
            <a:spAutoFit/>
          </a:bodyPr>
          <a:lstStyle/>
          <a:p>
            <a:r>
              <a:rPr lang="en-US" dirty="0" smtClean="0"/>
              <a:t>IN</a:t>
            </a:r>
            <a:endParaRPr lang="en-US" dirty="0"/>
          </a:p>
        </p:txBody>
      </p:sp>
      <p:sp>
        <p:nvSpPr>
          <p:cNvPr id="27" name="TextBox 26"/>
          <p:cNvSpPr txBox="1"/>
          <p:nvPr/>
        </p:nvSpPr>
        <p:spPr>
          <a:xfrm>
            <a:off x="5839916" y="4314825"/>
            <a:ext cx="596638" cy="369332"/>
          </a:xfrm>
          <a:prstGeom prst="rect">
            <a:avLst/>
          </a:prstGeom>
          <a:noFill/>
        </p:spPr>
        <p:txBody>
          <a:bodyPr wrap="none" rtlCol="0">
            <a:spAutoFit/>
          </a:bodyPr>
          <a:lstStyle/>
          <a:p>
            <a:r>
              <a:rPr lang="en-US" dirty="0" smtClean="0"/>
              <a:t>OUT</a:t>
            </a:r>
            <a:endParaRPr lang="en-US" dirty="0"/>
          </a:p>
        </p:txBody>
      </p:sp>
      <p:sp>
        <p:nvSpPr>
          <p:cNvPr id="29" name="TextBox 28"/>
          <p:cNvSpPr txBox="1"/>
          <p:nvPr/>
        </p:nvSpPr>
        <p:spPr>
          <a:xfrm>
            <a:off x="3886200" y="5486400"/>
            <a:ext cx="1828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Same construction process!</a:t>
            </a:r>
            <a:endParaRPr lang="en-US" sz="1200" b="1" dirty="0">
              <a:solidFill>
                <a:srgbClr val="C00000"/>
              </a:solidFill>
              <a:latin typeface="Bradley Hand ITC" pitchFamily="66" charset="0"/>
            </a:endParaRPr>
          </a:p>
        </p:txBody>
      </p:sp>
      <p:sp>
        <p:nvSpPr>
          <p:cNvPr id="30" name="Freeform 29"/>
          <p:cNvSpPr/>
          <p:nvPr/>
        </p:nvSpPr>
        <p:spPr>
          <a:xfrm>
            <a:off x="4745038" y="5048250"/>
            <a:ext cx="153987" cy="447675"/>
          </a:xfrm>
          <a:custGeom>
            <a:avLst/>
            <a:gdLst>
              <a:gd name="connsiteX0" fmla="*/ 93662 w 153987"/>
              <a:gd name="connsiteY0" fmla="*/ 447675 h 447675"/>
              <a:gd name="connsiteX1" fmla="*/ 7937 w 153987"/>
              <a:gd name="connsiteY1" fmla="*/ 304800 h 447675"/>
              <a:gd name="connsiteX2" fmla="*/ 141287 w 153987"/>
              <a:gd name="connsiteY2" fmla="*/ 180975 h 447675"/>
              <a:gd name="connsiteX3" fmla="*/ 84137 w 153987"/>
              <a:gd name="connsiteY3" fmla="*/ 0 h 447675"/>
            </a:gdLst>
            <a:ahLst/>
            <a:cxnLst>
              <a:cxn ang="0">
                <a:pos x="connsiteX0" y="connsiteY0"/>
              </a:cxn>
              <a:cxn ang="0">
                <a:pos x="connsiteX1" y="connsiteY1"/>
              </a:cxn>
              <a:cxn ang="0">
                <a:pos x="connsiteX2" y="connsiteY2"/>
              </a:cxn>
              <a:cxn ang="0">
                <a:pos x="connsiteX3" y="connsiteY3"/>
              </a:cxn>
            </a:cxnLst>
            <a:rect l="l" t="t" r="r" b="b"/>
            <a:pathLst>
              <a:path w="153987" h="447675">
                <a:moveTo>
                  <a:pt x="93662" y="447675"/>
                </a:moveTo>
                <a:cubicBezTo>
                  <a:pt x="46831" y="398462"/>
                  <a:pt x="0" y="349250"/>
                  <a:pt x="7937" y="304800"/>
                </a:cubicBezTo>
                <a:cubicBezTo>
                  <a:pt x="15874" y="260350"/>
                  <a:pt x="128587" y="231775"/>
                  <a:pt x="141287" y="180975"/>
                </a:cubicBezTo>
                <a:cubicBezTo>
                  <a:pt x="153987" y="130175"/>
                  <a:pt x="119062" y="65087"/>
                  <a:pt x="84137"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TextBox 30"/>
          <p:cNvSpPr txBox="1"/>
          <p:nvPr/>
        </p:nvSpPr>
        <p:spPr>
          <a:xfrm>
            <a:off x="7467600" y="4724400"/>
            <a:ext cx="1143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Different representation!</a:t>
            </a:r>
            <a:endParaRPr lang="en-US" sz="1200" b="1" dirty="0">
              <a:solidFill>
                <a:srgbClr val="C00000"/>
              </a:solidFill>
              <a:latin typeface="Bradley Hand ITC" pitchFamily="66" charset="0"/>
            </a:endParaRPr>
          </a:p>
        </p:txBody>
      </p:sp>
      <p:sp>
        <p:nvSpPr>
          <p:cNvPr id="32" name="Right Brace 31"/>
          <p:cNvSpPr/>
          <p:nvPr/>
        </p:nvSpPr>
        <p:spPr>
          <a:xfrm>
            <a:off x="7391400" y="3886200"/>
            <a:ext cx="152400" cy="2057400"/>
          </a:xfrm>
          <a:prstGeom prst="rightBrace">
            <a:avLst/>
          </a:prstGeom>
          <a:ln w="6350">
            <a:solidFill>
              <a:srgbClr val="C0000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TextBox 32"/>
          <p:cNvSpPr txBox="1"/>
          <p:nvPr/>
        </p:nvSpPr>
        <p:spPr>
          <a:xfrm>
            <a:off x="3657600" y="4503003"/>
            <a:ext cx="1967205" cy="830997"/>
          </a:xfrm>
          <a:prstGeom prst="rect">
            <a:avLst/>
          </a:prstGeom>
          <a:noFill/>
        </p:spPr>
        <p:txBody>
          <a:bodyPr wrap="square" rtlCol="0">
            <a:spAutoFit/>
          </a:bodyPr>
          <a:lstStyle/>
          <a:p>
            <a:r>
              <a:rPr lang="en-US" sz="800" dirty="0" smtClean="0"/>
              <a:t>Open and read file</a:t>
            </a:r>
          </a:p>
          <a:p>
            <a:r>
              <a:rPr lang="en-US" sz="800" dirty="0" smtClean="0"/>
              <a:t>Find message name, attributes, operations</a:t>
            </a:r>
          </a:p>
          <a:p>
            <a:r>
              <a:rPr lang="en-US" sz="800" dirty="0" smtClean="0"/>
              <a:t>Generate language-specific code</a:t>
            </a:r>
          </a:p>
          <a:p>
            <a:r>
              <a:rPr lang="en-US" sz="800" dirty="0" smtClean="0"/>
              <a:t>Close file</a:t>
            </a:r>
          </a:p>
          <a:p>
            <a:endParaRPr lang="en-US" sz="800" dirty="0" smtClean="0"/>
          </a:p>
          <a:p>
            <a:endParaRPr lang="en-US" sz="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Builder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6/16/2019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grpSp>
        <p:nvGrpSpPr>
          <p:cNvPr id="20" name="Group 19"/>
          <p:cNvGrpSpPr/>
          <p:nvPr/>
        </p:nvGrpSpPr>
        <p:grpSpPr>
          <a:xfrm>
            <a:off x="904875" y="1600200"/>
            <a:ext cx="6943725" cy="3934599"/>
            <a:chOff x="609600" y="1676400"/>
            <a:chExt cx="6943725" cy="3934599"/>
          </a:xfrm>
        </p:grpSpPr>
        <p:pic>
          <p:nvPicPr>
            <p:cNvPr id="8194" name="Picture 2"/>
            <p:cNvPicPr>
              <a:picLocks noChangeAspect="1" noChangeArrowheads="1"/>
            </p:cNvPicPr>
            <p:nvPr/>
          </p:nvPicPr>
          <p:blipFill>
            <a:blip r:embed="rId3" cstate="print"/>
            <a:srcRect/>
            <a:stretch>
              <a:fillRect/>
            </a:stretch>
          </p:blipFill>
          <p:spPr bwMode="auto">
            <a:xfrm>
              <a:off x="2438400" y="2362200"/>
              <a:ext cx="5114925" cy="2638425"/>
            </a:xfrm>
            <a:prstGeom prst="rect">
              <a:avLst/>
            </a:prstGeom>
            <a:noFill/>
            <a:ln w="9525">
              <a:noFill/>
              <a:miter lim="800000"/>
              <a:headEnd/>
              <a:tailEnd/>
            </a:ln>
          </p:spPr>
        </p:pic>
        <p:sp>
          <p:nvSpPr>
            <p:cNvPr id="8" name="TextBox 7"/>
            <p:cNvSpPr txBox="1"/>
            <p:nvPr/>
          </p:nvSpPr>
          <p:spPr>
            <a:xfrm>
              <a:off x="5257800" y="1676400"/>
              <a:ext cx="14478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Abstract Builder</a:t>
              </a:r>
              <a:endParaRPr lang="en-US" sz="1200" b="1" dirty="0">
                <a:solidFill>
                  <a:srgbClr val="C00000"/>
                </a:solidFill>
                <a:latin typeface="Bradley Hand ITC" pitchFamily="66" charset="0"/>
              </a:endParaRPr>
            </a:p>
          </p:txBody>
        </p:sp>
        <p:sp>
          <p:nvSpPr>
            <p:cNvPr id="9" name="Freeform 8"/>
            <p:cNvSpPr/>
            <p:nvPr/>
          </p:nvSpPr>
          <p:spPr>
            <a:xfrm>
              <a:off x="5613400" y="1885950"/>
              <a:ext cx="244475" cy="514350"/>
            </a:xfrm>
            <a:custGeom>
              <a:avLst/>
              <a:gdLst>
                <a:gd name="connsiteX0" fmla="*/ 244475 w 244475"/>
                <a:gd name="connsiteY0" fmla="*/ 0 h 514350"/>
                <a:gd name="connsiteX1" fmla="*/ 15875 w 244475"/>
                <a:gd name="connsiteY1" fmla="*/ 133350 h 514350"/>
                <a:gd name="connsiteX2" fmla="*/ 149225 w 244475"/>
                <a:gd name="connsiteY2" fmla="*/ 314325 h 514350"/>
                <a:gd name="connsiteX3" fmla="*/ 6350 w 244475"/>
                <a:gd name="connsiteY3" fmla="*/ 514350 h 514350"/>
              </a:gdLst>
              <a:ahLst/>
              <a:cxnLst>
                <a:cxn ang="0">
                  <a:pos x="connsiteX0" y="connsiteY0"/>
                </a:cxn>
                <a:cxn ang="0">
                  <a:pos x="connsiteX1" y="connsiteY1"/>
                </a:cxn>
                <a:cxn ang="0">
                  <a:pos x="connsiteX2" y="connsiteY2"/>
                </a:cxn>
                <a:cxn ang="0">
                  <a:pos x="connsiteX3" y="connsiteY3"/>
                </a:cxn>
              </a:cxnLst>
              <a:rect l="l" t="t" r="r" b="b"/>
              <a:pathLst>
                <a:path w="244475" h="514350">
                  <a:moveTo>
                    <a:pt x="244475" y="0"/>
                  </a:moveTo>
                  <a:cubicBezTo>
                    <a:pt x="138112" y="40481"/>
                    <a:pt x="31750" y="80963"/>
                    <a:pt x="15875" y="133350"/>
                  </a:cubicBezTo>
                  <a:cubicBezTo>
                    <a:pt x="0" y="185737"/>
                    <a:pt x="150812" y="250825"/>
                    <a:pt x="149225" y="314325"/>
                  </a:cubicBezTo>
                  <a:cubicBezTo>
                    <a:pt x="147638" y="377825"/>
                    <a:pt x="76994" y="446087"/>
                    <a:pt x="6350" y="5143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4343400" y="5334000"/>
              <a:ext cx="14478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Concrete Builders</a:t>
              </a:r>
              <a:endParaRPr lang="en-US" sz="1200" b="1" dirty="0">
                <a:solidFill>
                  <a:srgbClr val="C00000"/>
                </a:solidFill>
                <a:latin typeface="Bradley Hand ITC" pitchFamily="66" charset="0"/>
              </a:endParaRPr>
            </a:p>
          </p:txBody>
        </p:sp>
        <p:sp>
          <p:nvSpPr>
            <p:cNvPr id="11" name="Freeform 10"/>
            <p:cNvSpPr/>
            <p:nvPr/>
          </p:nvSpPr>
          <p:spPr>
            <a:xfrm>
              <a:off x="3981450" y="4943475"/>
              <a:ext cx="438150" cy="476250"/>
            </a:xfrm>
            <a:custGeom>
              <a:avLst/>
              <a:gdLst>
                <a:gd name="connsiteX0" fmla="*/ 438150 w 438150"/>
                <a:gd name="connsiteY0" fmla="*/ 476250 h 476250"/>
                <a:gd name="connsiteX1" fmla="*/ 104775 w 438150"/>
                <a:gd name="connsiteY1" fmla="*/ 428625 h 476250"/>
                <a:gd name="connsiteX2" fmla="*/ 152400 w 438150"/>
                <a:gd name="connsiteY2" fmla="*/ 209550 h 476250"/>
                <a:gd name="connsiteX3" fmla="*/ 0 w 438150"/>
                <a:gd name="connsiteY3" fmla="*/ 0 h 476250"/>
              </a:gdLst>
              <a:ahLst/>
              <a:cxnLst>
                <a:cxn ang="0">
                  <a:pos x="connsiteX0" y="connsiteY0"/>
                </a:cxn>
                <a:cxn ang="0">
                  <a:pos x="connsiteX1" y="connsiteY1"/>
                </a:cxn>
                <a:cxn ang="0">
                  <a:pos x="connsiteX2" y="connsiteY2"/>
                </a:cxn>
                <a:cxn ang="0">
                  <a:pos x="connsiteX3" y="connsiteY3"/>
                </a:cxn>
              </a:cxnLst>
              <a:rect l="l" t="t" r="r" b="b"/>
              <a:pathLst>
                <a:path w="438150" h="476250">
                  <a:moveTo>
                    <a:pt x="438150" y="476250"/>
                  </a:moveTo>
                  <a:cubicBezTo>
                    <a:pt x="295275" y="474662"/>
                    <a:pt x="152400" y="473075"/>
                    <a:pt x="104775" y="428625"/>
                  </a:cubicBezTo>
                  <a:cubicBezTo>
                    <a:pt x="57150" y="384175"/>
                    <a:pt x="169862" y="280987"/>
                    <a:pt x="152400" y="209550"/>
                  </a:cubicBezTo>
                  <a:cubicBezTo>
                    <a:pt x="134938" y="138113"/>
                    <a:pt x="67469" y="69056"/>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Freeform 11"/>
            <p:cNvSpPr/>
            <p:nvPr/>
          </p:nvSpPr>
          <p:spPr>
            <a:xfrm>
              <a:off x="5762625" y="4972050"/>
              <a:ext cx="533400" cy="447675"/>
            </a:xfrm>
            <a:custGeom>
              <a:avLst/>
              <a:gdLst>
                <a:gd name="connsiteX0" fmla="*/ 0 w 533400"/>
                <a:gd name="connsiteY0" fmla="*/ 438150 h 447675"/>
                <a:gd name="connsiteX1" fmla="*/ 238125 w 533400"/>
                <a:gd name="connsiteY1" fmla="*/ 409575 h 447675"/>
                <a:gd name="connsiteX2" fmla="*/ 333375 w 533400"/>
                <a:gd name="connsiteY2" fmla="*/ 209550 h 447675"/>
                <a:gd name="connsiteX3" fmla="*/ 533400 w 533400"/>
                <a:gd name="connsiteY3" fmla="*/ 0 h 447675"/>
              </a:gdLst>
              <a:ahLst/>
              <a:cxnLst>
                <a:cxn ang="0">
                  <a:pos x="connsiteX0" y="connsiteY0"/>
                </a:cxn>
                <a:cxn ang="0">
                  <a:pos x="connsiteX1" y="connsiteY1"/>
                </a:cxn>
                <a:cxn ang="0">
                  <a:pos x="connsiteX2" y="connsiteY2"/>
                </a:cxn>
                <a:cxn ang="0">
                  <a:pos x="connsiteX3" y="connsiteY3"/>
                </a:cxn>
              </a:cxnLst>
              <a:rect l="l" t="t" r="r" b="b"/>
              <a:pathLst>
                <a:path w="533400" h="447675">
                  <a:moveTo>
                    <a:pt x="0" y="438150"/>
                  </a:moveTo>
                  <a:cubicBezTo>
                    <a:pt x="91281" y="442912"/>
                    <a:pt x="182563" y="447675"/>
                    <a:pt x="238125" y="409575"/>
                  </a:cubicBezTo>
                  <a:cubicBezTo>
                    <a:pt x="293687" y="371475"/>
                    <a:pt x="284163" y="277813"/>
                    <a:pt x="333375" y="209550"/>
                  </a:cubicBezTo>
                  <a:cubicBezTo>
                    <a:pt x="382588" y="141288"/>
                    <a:pt x="457994" y="70644"/>
                    <a:pt x="53340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914400" y="2362200"/>
              <a:ext cx="14478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Director</a:t>
              </a:r>
              <a:endParaRPr lang="en-US" sz="1200" b="1" dirty="0">
                <a:solidFill>
                  <a:srgbClr val="C00000"/>
                </a:solidFill>
                <a:latin typeface="Bradley Hand ITC" pitchFamily="66" charset="0"/>
              </a:endParaRPr>
            </a:p>
          </p:txBody>
        </p:sp>
        <p:sp>
          <p:nvSpPr>
            <p:cNvPr id="15" name="Freeform 14"/>
            <p:cNvSpPr/>
            <p:nvPr/>
          </p:nvSpPr>
          <p:spPr>
            <a:xfrm>
              <a:off x="1962150" y="2581275"/>
              <a:ext cx="514350" cy="495300"/>
            </a:xfrm>
            <a:custGeom>
              <a:avLst/>
              <a:gdLst>
                <a:gd name="connsiteX0" fmla="*/ 0 w 514350"/>
                <a:gd name="connsiteY0" fmla="*/ 0 h 495300"/>
                <a:gd name="connsiteX1" fmla="*/ 266700 w 514350"/>
                <a:gd name="connsiteY1" fmla="*/ 161925 h 495300"/>
                <a:gd name="connsiteX2" fmla="*/ 304800 w 514350"/>
                <a:gd name="connsiteY2" fmla="*/ 428625 h 495300"/>
                <a:gd name="connsiteX3" fmla="*/ 514350 w 514350"/>
                <a:gd name="connsiteY3" fmla="*/ 495300 h 495300"/>
              </a:gdLst>
              <a:ahLst/>
              <a:cxnLst>
                <a:cxn ang="0">
                  <a:pos x="connsiteX0" y="connsiteY0"/>
                </a:cxn>
                <a:cxn ang="0">
                  <a:pos x="connsiteX1" y="connsiteY1"/>
                </a:cxn>
                <a:cxn ang="0">
                  <a:pos x="connsiteX2" y="connsiteY2"/>
                </a:cxn>
                <a:cxn ang="0">
                  <a:pos x="connsiteX3" y="connsiteY3"/>
                </a:cxn>
              </a:cxnLst>
              <a:rect l="l" t="t" r="r" b="b"/>
              <a:pathLst>
                <a:path w="514350" h="495300">
                  <a:moveTo>
                    <a:pt x="0" y="0"/>
                  </a:moveTo>
                  <a:cubicBezTo>
                    <a:pt x="107950" y="45244"/>
                    <a:pt x="215900" y="90488"/>
                    <a:pt x="266700" y="161925"/>
                  </a:cubicBezTo>
                  <a:cubicBezTo>
                    <a:pt x="317500" y="233362"/>
                    <a:pt x="263525" y="373063"/>
                    <a:pt x="304800" y="428625"/>
                  </a:cubicBezTo>
                  <a:cubicBezTo>
                    <a:pt x="346075" y="484188"/>
                    <a:pt x="430212" y="489744"/>
                    <a:pt x="514350" y="4953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p:cNvSpPr txBox="1"/>
            <p:nvPr/>
          </p:nvSpPr>
          <p:spPr>
            <a:xfrm>
              <a:off x="609600" y="3505200"/>
              <a:ext cx="1752600" cy="1015663"/>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Notice that we moved the getProduct (…)method one level up.  This may not be possible in other problems!</a:t>
              </a:r>
              <a:endParaRPr lang="en-US" sz="1200" b="1" dirty="0">
                <a:solidFill>
                  <a:srgbClr val="C00000"/>
                </a:solidFill>
                <a:latin typeface="Bradley Hand ITC" pitchFamily="66" charset="0"/>
              </a:endParaRPr>
            </a:p>
          </p:txBody>
        </p:sp>
        <p:sp>
          <p:nvSpPr>
            <p:cNvPr id="18" name="Freeform 17"/>
            <p:cNvSpPr/>
            <p:nvPr/>
          </p:nvSpPr>
          <p:spPr>
            <a:xfrm>
              <a:off x="2333625" y="3476625"/>
              <a:ext cx="1571625" cy="307975"/>
            </a:xfrm>
            <a:custGeom>
              <a:avLst/>
              <a:gdLst>
                <a:gd name="connsiteX0" fmla="*/ 0 w 1571625"/>
                <a:gd name="connsiteY0" fmla="*/ 295275 h 307975"/>
                <a:gd name="connsiteX1" fmla="*/ 619125 w 1571625"/>
                <a:gd name="connsiteY1" fmla="*/ 266700 h 307975"/>
                <a:gd name="connsiteX2" fmla="*/ 1066800 w 1571625"/>
                <a:gd name="connsiteY2" fmla="*/ 47625 h 307975"/>
                <a:gd name="connsiteX3" fmla="*/ 1571625 w 1571625"/>
                <a:gd name="connsiteY3" fmla="*/ 0 h 307975"/>
              </a:gdLst>
              <a:ahLst/>
              <a:cxnLst>
                <a:cxn ang="0">
                  <a:pos x="connsiteX0" y="connsiteY0"/>
                </a:cxn>
                <a:cxn ang="0">
                  <a:pos x="connsiteX1" y="connsiteY1"/>
                </a:cxn>
                <a:cxn ang="0">
                  <a:pos x="connsiteX2" y="connsiteY2"/>
                </a:cxn>
                <a:cxn ang="0">
                  <a:pos x="connsiteX3" y="connsiteY3"/>
                </a:cxn>
              </a:cxnLst>
              <a:rect l="l" t="t" r="r" b="b"/>
              <a:pathLst>
                <a:path w="1571625" h="307975">
                  <a:moveTo>
                    <a:pt x="0" y="295275"/>
                  </a:moveTo>
                  <a:cubicBezTo>
                    <a:pt x="220662" y="301625"/>
                    <a:pt x="441325" y="307975"/>
                    <a:pt x="619125" y="266700"/>
                  </a:cubicBezTo>
                  <a:cubicBezTo>
                    <a:pt x="796925" y="225425"/>
                    <a:pt x="908050" y="92075"/>
                    <a:pt x="1066800" y="47625"/>
                  </a:cubicBezTo>
                  <a:cubicBezTo>
                    <a:pt x="1225550" y="3175"/>
                    <a:pt x="1398587" y="1587"/>
                    <a:pt x="157162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Builder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6/16/2019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pic>
        <p:nvPicPr>
          <p:cNvPr id="9218" name="Picture 2"/>
          <p:cNvPicPr>
            <a:picLocks noChangeAspect="1" noChangeArrowheads="1"/>
          </p:cNvPicPr>
          <p:nvPr/>
        </p:nvPicPr>
        <p:blipFill>
          <a:blip r:embed="rId2" cstate="print"/>
          <a:srcRect/>
          <a:stretch>
            <a:fillRect/>
          </a:stretch>
        </p:blipFill>
        <p:spPr bwMode="auto">
          <a:xfrm>
            <a:off x="2286000" y="1371600"/>
            <a:ext cx="5638800" cy="4762500"/>
          </a:xfrm>
          <a:prstGeom prst="rect">
            <a:avLst/>
          </a:prstGeom>
          <a:noFill/>
          <a:ln w="9525">
            <a:noFill/>
            <a:miter lim="800000"/>
            <a:headEnd/>
            <a:tailEnd/>
          </a:ln>
        </p:spPr>
      </p:pic>
      <p:sp>
        <p:nvSpPr>
          <p:cNvPr id="8" name="TextBox 7"/>
          <p:cNvSpPr txBox="1"/>
          <p:nvPr/>
        </p:nvSpPr>
        <p:spPr>
          <a:xfrm>
            <a:off x="5867400" y="1600200"/>
            <a:ext cx="20574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Builder Interface for generating code!</a:t>
            </a:r>
            <a:endParaRPr lang="en-US" sz="1200" b="1" dirty="0">
              <a:solidFill>
                <a:srgbClr val="C00000"/>
              </a:solidFill>
              <a:latin typeface="Bradley Hand ITC" pitchFamily="66" charset="0"/>
            </a:endParaRPr>
          </a:p>
        </p:txBody>
      </p:sp>
      <p:sp>
        <p:nvSpPr>
          <p:cNvPr id="9" name="Right Brace 8"/>
          <p:cNvSpPr/>
          <p:nvPr/>
        </p:nvSpPr>
        <p:spPr>
          <a:xfrm flipH="1">
            <a:off x="2228850" y="2533650"/>
            <a:ext cx="152400" cy="2133600"/>
          </a:xfrm>
          <a:prstGeom prst="rightBrace">
            <a:avLst/>
          </a:prstGeom>
          <a:ln w="6350">
            <a:solidFill>
              <a:srgbClr val="C0000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304800" y="3124200"/>
            <a:ext cx="19812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same  steps used to create products in all target languages!</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92162"/>
          </a:xfrm>
        </p:spPr>
        <p:txBody>
          <a:bodyPr/>
          <a:lstStyle/>
          <a:p>
            <a:r>
              <a:rPr lang="en-US" dirty="0" smtClean="0"/>
              <a:t>Builder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6/16/2019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pic>
        <p:nvPicPr>
          <p:cNvPr id="10242" name="Picture 2"/>
          <p:cNvPicPr>
            <a:picLocks noChangeAspect="1" noChangeArrowheads="1"/>
          </p:cNvPicPr>
          <p:nvPr/>
        </p:nvPicPr>
        <p:blipFill>
          <a:blip r:embed="rId2" cstate="print"/>
          <a:srcRect/>
          <a:stretch>
            <a:fillRect/>
          </a:stretch>
        </p:blipFill>
        <p:spPr bwMode="auto">
          <a:xfrm>
            <a:off x="762000" y="762000"/>
            <a:ext cx="5015898" cy="5486400"/>
          </a:xfrm>
          <a:prstGeom prst="rect">
            <a:avLst/>
          </a:prstGeom>
          <a:noFill/>
          <a:ln w="9525">
            <a:noFill/>
            <a:miter lim="800000"/>
            <a:headEnd/>
            <a:tailEnd/>
          </a:ln>
        </p:spPr>
      </p:pic>
      <p:grpSp>
        <p:nvGrpSpPr>
          <p:cNvPr id="10" name="Group 9"/>
          <p:cNvGrpSpPr/>
          <p:nvPr/>
        </p:nvGrpSpPr>
        <p:grpSpPr>
          <a:xfrm>
            <a:off x="6130248" y="4924961"/>
            <a:ext cx="2499402" cy="1323439"/>
            <a:chOff x="5867400" y="5105400"/>
            <a:chExt cx="2499402" cy="1323439"/>
          </a:xfrm>
        </p:grpSpPr>
        <p:sp>
          <p:nvSpPr>
            <p:cNvPr id="8" name="Folded Corner 7"/>
            <p:cNvSpPr/>
            <p:nvPr/>
          </p:nvSpPr>
          <p:spPr>
            <a:xfrm>
              <a:off x="5905588" y="5133439"/>
              <a:ext cx="2438400" cy="1143000"/>
            </a:xfrm>
            <a:prstGeom prst="foldedCorner">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867400" y="5105400"/>
              <a:ext cx="2499402" cy="1323439"/>
            </a:xfrm>
            <a:prstGeom prst="rect">
              <a:avLst/>
            </a:prstGeom>
            <a:noFill/>
          </p:spPr>
          <p:txBody>
            <a:bodyPr wrap="square" rtlCol="0">
              <a:spAutoFit/>
            </a:bodyPr>
            <a:lstStyle/>
            <a:p>
              <a:r>
                <a:rPr lang="en-US" sz="800" dirty="0" smtClean="0">
                  <a:solidFill>
                    <a:srgbClr val="0B13B5"/>
                  </a:solidFill>
                  <a:latin typeface="Courier New" pitchFamily="49" charset="0"/>
                  <a:cs typeface="Courier New" pitchFamily="49" charset="0"/>
                </a:rPr>
                <a:t>class</a:t>
              </a:r>
              <a:r>
                <a:rPr lang="en-US" sz="800" dirty="0" smtClean="0">
                  <a:latin typeface="Courier New" pitchFamily="49" charset="0"/>
                  <a:cs typeface="Courier New" pitchFamily="49" charset="0"/>
                </a:rPr>
                <a:t> </a:t>
              </a:r>
              <a:r>
                <a:rPr lang="en-US" sz="800" dirty="0" err="1" smtClean="0">
                  <a:latin typeface="Courier New" pitchFamily="49" charset="0"/>
                  <a:cs typeface="Courier New" pitchFamily="49" charset="0"/>
                </a:rPr>
                <a:t>MessageOne</a:t>
              </a:r>
              <a:endParaRPr lang="en-US" sz="800" dirty="0" smtClean="0">
                <a:latin typeface="Courier New" pitchFamily="49" charset="0"/>
                <a:cs typeface="Courier New" pitchFamily="49" charset="0"/>
              </a:endParaRPr>
            </a:p>
            <a:p>
              <a:r>
                <a:rPr lang="en-US" sz="800" dirty="0" smtClean="0">
                  <a:latin typeface="Courier New" pitchFamily="49" charset="0"/>
                  <a:cs typeface="Courier New" pitchFamily="49" charset="0"/>
                </a:rPr>
                <a:t>{</a:t>
              </a:r>
            </a:p>
            <a:p>
              <a:r>
                <a:rPr lang="en-US" sz="800" dirty="0" smtClean="0">
                  <a:latin typeface="Courier New" pitchFamily="49" charset="0"/>
                  <a:cs typeface="Courier New" pitchFamily="49" charset="0"/>
                </a:rPr>
                <a:t>  private:</a:t>
              </a:r>
            </a:p>
            <a:p>
              <a:r>
                <a:rPr lang="en-US" sz="800" dirty="0" smtClean="0">
                  <a:latin typeface="Courier New" pitchFamily="49" charset="0"/>
                  <a:cs typeface="Courier New" pitchFamily="49" charset="0"/>
                </a:rPr>
                <a:t>    </a:t>
              </a:r>
              <a:r>
                <a:rPr lang="en-US" sz="800" dirty="0" err="1" smtClean="0">
                  <a:solidFill>
                    <a:srgbClr val="0B13B5"/>
                  </a:solidFill>
                  <a:latin typeface="Courier New" pitchFamily="49" charset="0"/>
                  <a:cs typeface="Courier New" pitchFamily="49" charset="0"/>
                </a:rPr>
                <a:t>int</a:t>
              </a:r>
              <a:r>
                <a:rPr lang="en-US" sz="800" dirty="0" smtClean="0">
                  <a:solidFill>
                    <a:srgbClr val="0B13B5"/>
                  </a:solidFill>
                  <a:latin typeface="Courier New" pitchFamily="49" charset="0"/>
                  <a:cs typeface="Courier New" pitchFamily="49" charset="0"/>
                </a:rPr>
                <a:t> </a:t>
              </a:r>
              <a:r>
                <a:rPr lang="en-US" sz="800" dirty="0" err="1" smtClean="0">
                  <a:latin typeface="Courier New" pitchFamily="49" charset="0"/>
                  <a:cs typeface="Courier New" pitchFamily="49" charset="0"/>
                </a:rPr>
                <a:t>attributeOne</a:t>
              </a:r>
              <a:r>
                <a:rPr lang="en-US" sz="800" dirty="0" smtClean="0">
                  <a:latin typeface="Courier New" pitchFamily="49" charset="0"/>
                  <a:cs typeface="Courier New" pitchFamily="49" charset="0"/>
                </a:rPr>
                <a:t>;</a:t>
              </a:r>
            </a:p>
            <a:p>
              <a:r>
                <a:rPr lang="en-US" sz="800" dirty="0" smtClean="0">
                  <a:latin typeface="Courier New" pitchFamily="49" charset="0"/>
                  <a:cs typeface="Courier New" pitchFamily="49" charset="0"/>
                </a:rPr>
                <a:t>    </a:t>
              </a:r>
              <a:r>
                <a:rPr lang="en-US" sz="800" dirty="0" err="1" smtClean="0">
                  <a:latin typeface="Courier New" pitchFamily="49" charset="0"/>
                  <a:cs typeface="Courier New" pitchFamily="49" charset="0"/>
                </a:rPr>
                <a:t>int</a:t>
              </a:r>
              <a:r>
                <a:rPr lang="en-US" sz="800" dirty="0" smtClean="0">
                  <a:latin typeface="Courier New" pitchFamily="49" charset="0"/>
                  <a:cs typeface="Courier New" pitchFamily="49" charset="0"/>
                </a:rPr>
                <a:t> </a:t>
              </a:r>
              <a:r>
                <a:rPr lang="en-US" sz="800" dirty="0" err="1" smtClean="0">
                  <a:latin typeface="Courier New" pitchFamily="49" charset="0"/>
                  <a:cs typeface="Courier New" pitchFamily="49" charset="0"/>
                </a:rPr>
                <a:t>attributeTwo</a:t>
              </a:r>
              <a:r>
                <a:rPr lang="en-US" sz="800" dirty="0" smtClean="0">
                  <a:latin typeface="Courier New" pitchFamily="49" charset="0"/>
                  <a:cs typeface="Courier New" pitchFamily="49" charset="0"/>
                </a:rPr>
                <a:t>;</a:t>
              </a:r>
            </a:p>
            <a:p>
              <a:endParaRPr lang="en-US" sz="800" dirty="0" smtClean="0">
                <a:latin typeface="Courier New" pitchFamily="49" charset="0"/>
                <a:cs typeface="Courier New" pitchFamily="49" charset="0"/>
              </a:endParaRPr>
            </a:p>
            <a:p>
              <a:r>
                <a:rPr lang="en-US" sz="800" dirty="0" smtClean="0">
                  <a:latin typeface="Courier New" pitchFamily="49" charset="0"/>
                  <a:cs typeface="Courier New" pitchFamily="49" charset="0"/>
                </a:rPr>
                <a:t>  public:</a:t>
              </a:r>
            </a:p>
            <a:p>
              <a:r>
                <a:rPr lang="en-US" sz="800" dirty="0" smtClean="0">
                  <a:latin typeface="Courier New" pitchFamily="49" charset="0"/>
                  <a:cs typeface="Courier New" pitchFamily="49" charset="0"/>
                </a:rPr>
                <a:t>    void </a:t>
              </a:r>
              <a:r>
                <a:rPr lang="en-US" sz="800" dirty="0" err="1" smtClean="0">
                  <a:latin typeface="Courier New" pitchFamily="49" charset="0"/>
                  <a:cs typeface="Courier New" pitchFamily="49" charset="0"/>
                </a:rPr>
                <a:t>setValueOne</a:t>
              </a:r>
              <a:r>
                <a:rPr lang="en-US" sz="800" dirty="0" smtClean="0">
                  <a:latin typeface="Courier New" pitchFamily="49" charset="0"/>
                  <a:cs typeface="Courier New" pitchFamily="49" charset="0"/>
                </a:rPr>
                <a:t>(unsigned char x);</a:t>
              </a:r>
            </a:p>
            <a:p>
              <a:r>
                <a:rPr lang="en-US" sz="800" dirty="0" smtClean="0">
                  <a:latin typeface="Courier New" pitchFamily="49" charset="0"/>
                  <a:cs typeface="Courier New" pitchFamily="49" charset="0"/>
                </a:rPr>
                <a:t>};</a:t>
              </a:r>
            </a:p>
            <a:p>
              <a:r>
                <a:rPr lang="en-US" sz="800" dirty="0" smtClean="0">
                  <a:latin typeface="Courier New" pitchFamily="49" charset="0"/>
                  <a:cs typeface="Courier New" pitchFamily="49" charset="0"/>
                </a:rPr>
                <a:t>		</a:t>
              </a:r>
              <a:endParaRPr lang="en-US" sz="800" dirty="0">
                <a:latin typeface="Courier New" pitchFamily="49" charset="0"/>
                <a:cs typeface="Courier New" pitchFamily="49" charset="0"/>
              </a:endParaRPr>
            </a:p>
          </p:txBody>
        </p:sp>
      </p:grpSp>
      <p:sp>
        <p:nvSpPr>
          <p:cNvPr id="11" name="Folded Corner 10"/>
          <p:cNvSpPr/>
          <p:nvPr/>
        </p:nvSpPr>
        <p:spPr>
          <a:xfrm>
            <a:off x="6172200" y="1524000"/>
            <a:ext cx="2438400" cy="381000"/>
          </a:xfrm>
          <a:prstGeom prst="foldedCorner">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6134012" y="1495961"/>
            <a:ext cx="2499402" cy="461665"/>
          </a:xfrm>
          <a:prstGeom prst="rect">
            <a:avLst/>
          </a:prstGeom>
          <a:noFill/>
        </p:spPr>
        <p:txBody>
          <a:bodyPr wrap="square" rtlCol="0">
            <a:spAutoFit/>
          </a:bodyPr>
          <a:lstStyle/>
          <a:p>
            <a:r>
              <a:rPr lang="en-US" sz="800" dirty="0" smtClean="0">
                <a:solidFill>
                  <a:srgbClr val="0B13B5"/>
                </a:solidFill>
                <a:latin typeface="Courier New" pitchFamily="49" charset="0"/>
                <a:cs typeface="Courier New" pitchFamily="49" charset="0"/>
              </a:rPr>
              <a:t>class</a:t>
            </a:r>
            <a:r>
              <a:rPr lang="en-US" sz="800" dirty="0" smtClean="0">
                <a:latin typeface="Courier New" pitchFamily="49" charset="0"/>
                <a:cs typeface="Courier New" pitchFamily="49" charset="0"/>
              </a:rPr>
              <a:t> </a:t>
            </a:r>
            <a:r>
              <a:rPr lang="en-US" sz="800" dirty="0" err="1" smtClean="0">
                <a:latin typeface="Courier New" pitchFamily="49" charset="0"/>
                <a:cs typeface="Courier New" pitchFamily="49" charset="0"/>
              </a:rPr>
              <a:t>MessageOne</a:t>
            </a:r>
            <a:endParaRPr lang="en-US" sz="800" dirty="0" smtClean="0">
              <a:latin typeface="Courier New" pitchFamily="49" charset="0"/>
              <a:cs typeface="Courier New" pitchFamily="49" charset="0"/>
            </a:endParaRPr>
          </a:p>
          <a:p>
            <a:r>
              <a:rPr lang="en-US" sz="800" dirty="0" smtClean="0">
                <a:latin typeface="Courier New" pitchFamily="49" charset="0"/>
                <a:cs typeface="Courier New" pitchFamily="49" charset="0"/>
              </a:rPr>
              <a:t>{</a:t>
            </a:r>
          </a:p>
          <a:p>
            <a:r>
              <a:rPr lang="en-US" sz="800" dirty="0" smtClean="0">
                <a:latin typeface="Courier New" pitchFamily="49" charset="0"/>
                <a:cs typeface="Courier New" pitchFamily="49" charset="0"/>
              </a:rPr>
              <a:t>		</a:t>
            </a:r>
            <a:endParaRPr lang="en-US" sz="800" dirty="0">
              <a:latin typeface="Courier New" pitchFamily="49" charset="0"/>
              <a:cs typeface="Courier New" pitchFamily="49" charset="0"/>
            </a:endParaRPr>
          </a:p>
        </p:txBody>
      </p:sp>
      <p:grpSp>
        <p:nvGrpSpPr>
          <p:cNvPr id="18" name="Group 17"/>
          <p:cNvGrpSpPr/>
          <p:nvPr/>
        </p:nvGrpSpPr>
        <p:grpSpPr>
          <a:xfrm>
            <a:off x="6134100" y="2286000"/>
            <a:ext cx="2499402" cy="762000"/>
            <a:chOff x="6172200" y="2057400"/>
            <a:chExt cx="2499402" cy="762000"/>
          </a:xfrm>
        </p:grpSpPr>
        <p:sp>
          <p:nvSpPr>
            <p:cNvPr id="13" name="Folded Corner 12"/>
            <p:cNvSpPr/>
            <p:nvPr/>
          </p:nvSpPr>
          <p:spPr>
            <a:xfrm>
              <a:off x="6210388" y="2085439"/>
              <a:ext cx="2438400" cy="733961"/>
            </a:xfrm>
            <a:prstGeom prst="foldedCorner">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6172200" y="2057400"/>
              <a:ext cx="2499402" cy="707886"/>
            </a:xfrm>
            <a:prstGeom prst="rect">
              <a:avLst/>
            </a:prstGeom>
            <a:noFill/>
          </p:spPr>
          <p:txBody>
            <a:bodyPr wrap="square" rtlCol="0">
              <a:spAutoFit/>
            </a:bodyPr>
            <a:lstStyle/>
            <a:p>
              <a:r>
                <a:rPr lang="en-US" sz="800" dirty="0" smtClean="0">
                  <a:solidFill>
                    <a:srgbClr val="0B13B5"/>
                  </a:solidFill>
                  <a:latin typeface="Courier New" pitchFamily="49" charset="0"/>
                  <a:cs typeface="Courier New" pitchFamily="49" charset="0"/>
                </a:rPr>
                <a:t>class</a:t>
              </a:r>
              <a:r>
                <a:rPr lang="en-US" sz="800" dirty="0" smtClean="0">
                  <a:latin typeface="Courier New" pitchFamily="49" charset="0"/>
                  <a:cs typeface="Courier New" pitchFamily="49" charset="0"/>
                </a:rPr>
                <a:t> </a:t>
              </a:r>
              <a:r>
                <a:rPr lang="en-US" sz="800" dirty="0" err="1" smtClean="0">
                  <a:latin typeface="Courier New" pitchFamily="49" charset="0"/>
                  <a:cs typeface="Courier New" pitchFamily="49" charset="0"/>
                </a:rPr>
                <a:t>MessageOne</a:t>
              </a:r>
              <a:endParaRPr lang="en-US" sz="800" dirty="0" smtClean="0">
                <a:latin typeface="Courier New" pitchFamily="49" charset="0"/>
                <a:cs typeface="Courier New" pitchFamily="49" charset="0"/>
              </a:endParaRPr>
            </a:p>
            <a:p>
              <a:r>
                <a:rPr lang="en-US" sz="800" dirty="0" smtClean="0">
                  <a:latin typeface="Courier New" pitchFamily="49" charset="0"/>
                  <a:cs typeface="Courier New" pitchFamily="49" charset="0"/>
                </a:rPr>
                <a:t>{</a:t>
              </a:r>
            </a:p>
            <a:p>
              <a:r>
                <a:rPr lang="en-US" sz="800" dirty="0" smtClean="0">
                  <a:latin typeface="Courier New" pitchFamily="49" charset="0"/>
                  <a:cs typeface="Courier New" pitchFamily="49" charset="0"/>
                </a:rPr>
                <a:t>  private:</a:t>
              </a:r>
            </a:p>
            <a:p>
              <a:r>
                <a:rPr lang="en-US" sz="800" dirty="0" smtClean="0">
                  <a:latin typeface="Courier New" pitchFamily="49" charset="0"/>
                  <a:cs typeface="Courier New" pitchFamily="49" charset="0"/>
                </a:rPr>
                <a:t>    </a:t>
              </a:r>
              <a:r>
                <a:rPr lang="en-US" sz="800" dirty="0" err="1" smtClean="0">
                  <a:solidFill>
                    <a:srgbClr val="0B13B5"/>
                  </a:solidFill>
                  <a:latin typeface="Courier New" pitchFamily="49" charset="0"/>
                  <a:cs typeface="Courier New" pitchFamily="49" charset="0"/>
                </a:rPr>
                <a:t>int</a:t>
              </a:r>
              <a:r>
                <a:rPr lang="en-US" sz="800" dirty="0" smtClean="0">
                  <a:solidFill>
                    <a:srgbClr val="0B13B5"/>
                  </a:solidFill>
                  <a:latin typeface="Courier New" pitchFamily="49" charset="0"/>
                  <a:cs typeface="Courier New" pitchFamily="49" charset="0"/>
                </a:rPr>
                <a:t> </a:t>
              </a:r>
              <a:r>
                <a:rPr lang="en-US" sz="800" dirty="0" err="1" smtClean="0">
                  <a:latin typeface="Courier New" pitchFamily="49" charset="0"/>
                  <a:cs typeface="Courier New" pitchFamily="49" charset="0"/>
                </a:rPr>
                <a:t>attributeOne</a:t>
              </a:r>
              <a:r>
                <a:rPr lang="en-US" sz="800" dirty="0" smtClean="0">
                  <a:latin typeface="Courier New" pitchFamily="49" charset="0"/>
                  <a:cs typeface="Courier New" pitchFamily="49" charset="0"/>
                </a:rPr>
                <a:t>;</a:t>
              </a:r>
            </a:p>
            <a:p>
              <a:r>
                <a:rPr lang="en-US" sz="800" dirty="0" smtClean="0">
                  <a:latin typeface="Courier New" pitchFamily="49" charset="0"/>
                  <a:cs typeface="Courier New" pitchFamily="49" charset="0"/>
                </a:rPr>
                <a:t>    </a:t>
              </a:r>
              <a:r>
                <a:rPr lang="en-US" sz="800" dirty="0" err="1" smtClean="0">
                  <a:solidFill>
                    <a:srgbClr val="0B13B5"/>
                  </a:solidFill>
                  <a:latin typeface="Courier New" pitchFamily="49" charset="0"/>
                  <a:cs typeface="Courier New" pitchFamily="49" charset="0"/>
                </a:rPr>
                <a:t>int</a:t>
              </a:r>
              <a:r>
                <a:rPr lang="en-US" sz="800" dirty="0" smtClean="0">
                  <a:latin typeface="Courier New" pitchFamily="49" charset="0"/>
                  <a:cs typeface="Courier New" pitchFamily="49" charset="0"/>
                </a:rPr>
                <a:t> </a:t>
              </a:r>
              <a:r>
                <a:rPr lang="en-US" sz="800" dirty="0" err="1" smtClean="0">
                  <a:latin typeface="Courier New" pitchFamily="49" charset="0"/>
                  <a:cs typeface="Courier New" pitchFamily="49" charset="0"/>
                </a:rPr>
                <a:t>attributeTwo</a:t>
              </a:r>
              <a:r>
                <a:rPr lang="en-US" sz="800" dirty="0" smtClean="0">
                  <a:latin typeface="Courier New" pitchFamily="49" charset="0"/>
                  <a:cs typeface="Courier New" pitchFamily="49" charset="0"/>
                </a:rPr>
                <a:t>;</a:t>
              </a:r>
              <a:endParaRPr lang="en-US" sz="800" dirty="0">
                <a:latin typeface="Courier New" pitchFamily="49" charset="0"/>
                <a:cs typeface="Courier New" pitchFamily="49" charset="0"/>
              </a:endParaRPr>
            </a:p>
          </p:txBody>
        </p:sp>
      </p:grpSp>
      <p:grpSp>
        <p:nvGrpSpPr>
          <p:cNvPr id="17" name="Group 16"/>
          <p:cNvGrpSpPr/>
          <p:nvPr/>
        </p:nvGrpSpPr>
        <p:grpSpPr>
          <a:xfrm>
            <a:off x="6130248" y="3429000"/>
            <a:ext cx="2499402" cy="1323439"/>
            <a:chOff x="6172200" y="2943761"/>
            <a:chExt cx="2499402" cy="1323439"/>
          </a:xfrm>
        </p:grpSpPr>
        <p:sp>
          <p:nvSpPr>
            <p:cNvPr id="15" name="Folded Corner 14"/>
            <p:cNvSpPr/>
            <p:nvPr/>
          </p:nvSpPr>
          <p:spPr>
            <a:xfrm>
              <a:off x="6210388" y="2971800"/>
              <a:ext cx="2438400" cy="1143000"/>
            </a:xfrm>
            <a:prstGeom prst="foldedCorner">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6172200" y="2943761"/>
              <a:ext cx="2499402" cy="1323439"/>
            </a:xfrm>
            <a:prstGeom prst="rect">
              <a:avLst/>
            </a:prstGeom>
            <a:noFill/>
          </p:spPr>
          <p:txBody>
            <a:bodyPr wrap="square" rtlCol="0">
              <a:spAutoFit/>
            </a:bodyPr>
            <a:lstStyle/>
            <a:p>
              <a:r>
                <a:rPr lang="en-US" sz="800" dirty="0" smtClean="0">
                  <a:solidFill>
                    <a:srgbClr val="0B13B5"/>
                  </a:solidFill>
                  <a:latin typeface="Courier New" pitchFamily="49" charset="0"/>
                  <a:cs typeface="Courier New" pitchFamily="49" charset="0"/>
                </a:rPr>
                <a:t>class</a:t>
              </a:r>
              <a:r>
                <a:rPr lang="en-US" sz="800" dirty="0" smtClean="0">
                  <a:latin typeface="Courier New" pitchFamily="49" charset="0"/>
                  <a:cs typeface="Courier New" pitchFamily="49" charset="0"/>
                </a:rPr>
                <a:t> </a:t>
              </a:r>
              <a:r>
                <a:rPr lang="en-US" sz="800" dirty="0" err="1" smtClean="0">
                  <a:latin typeface="Courier New" pitchFamily="49" charset="0"/>
                  <a:cs typeface="Courier New" pitchFamily="49" charset="0"/>
                </a:rPr>
                <a:t>MessageOne</a:t>
              </a:r>
              <a:endParaRPr lang="en-US" sz="800" dirty="0" smtClean="0">
                <a:latin typeface="Courier New" pitchFamily="49" charset="0"/>
                <a:cs typeface="Courier New" pitchFamily="49" charset="0"/>
              </a:endParaRPr>
            </a:p>
            <a:p>
              <a:r>
                <a:rPr lang="en-US" sz="800" dirty="0" smtClean="0">
                  <a:latin typeface="Courier New" pitchFamily="49" charset="0"/>
                  <a:cs typeface="Courier New" pitchFamily="49" charset="0"/>
                </a:rPr>
                <a:t>{</a:t>
              </a:r>
            </a:p>
            <a:p>
              <a:r>
                <a:rPr lang="en-US" sz="800" dirty="0" smtClean="0">
                  <a:latin typeface="Courier New" pitchFamily="49" charset="0"/>
                  <a:cs typeface="Courier New" pitchFamily="49" charset="0"/>
                </a:rPr>
                <a:t>  private:</a:t>
              </a:r>
            </a:p>
            <a:p>
              <a:r>
                <a:rPr lang="en-US" sz="800" dirty="0" smtClean="0">
                  <a:latin typeface="Courier New" pitchFamily="49" charset="0"/>
                  <a:cs typeface="Courier New" pitchFamily="49" charset="0"/>
                </a:rPr>
                <a:t>    </a:t>
              </a:r>
              <a:r>
                <a:rPr lang="en-US" sz="800" dirty="0" err="1" smtClean="0">
                  <a:solidFill>
                    <a:srgbClr val="0B13B5"/>
                  </a:solidFill>
                  <a:latin typeface="Courier New" pitchFamily="49" charset="0"/>
                  <a:cs typeface="Courier New" pitchFamily="49" charset="0"/>
                </a:rPr>
                <a:t>int</a:t>
              </a:r>
              <a:r>
                <a:rPr lang="en-US" sz="800" dirty="0" smtClean="0">
                  <a:solidFill>
                    <a:srgbClr val="0B13B5"/>
                  </a:solidFill>
                  <a:latin typeface="Courier New" pitchFamily="49" charset="0"/>
                  <a:cs typeface="Courier New" pitchFamily="49" charset="0"/>
                </a:rPr>
                <a:t> </a:t>
              </a:r>
              <a:r>
                <a:rPr lang="en-US" sz="800" dirty="0" err="1" smtClean="0">
                  <a:latin typeface="Courier New" pitchFamily="49" charset="0"/>
                  <a:cs typeface="Courier New" pitchFamily="49" charset="0"/>
                </a:rPr>
                <a:t>attributeOne</a:t>
              </a:r>
              <a:r>
                <a:rPr lang="en-US" sz="800" dirty="0" smtClean="0">
                  <a:latin typeface="Courier New" pitchFamily="49" charset="0"/>
                  <a:cs typeface="Courier New" pitchFamily="49" charset="0"/>
                </a:rPr>
                <a:t>;</a:t>
              </a:r>
            </a:p>
            <a:p>
              <a:r>
                <a:rPr lang="en-US" sz="800" dirty="0" smtClean="0">
                  <a:latin typeface="Courier New" pitchFamily="49" charset="0"/>
                  <a:cs typeface="Courier New" pitchFamily="49" charset="0"/>
                </a:rPr>
                <a:t>    </a:t>
              </a:r>
              <a:r>
                <a:rPr lang="en-US" sz="800" dirty="0" err="1" smtClean="0">
                  <a:latin typeface="Courier New" pitchFamily="49" charset="0"/>
                  <a:cs typeface="Courier New" pitchFamily="49" charset="0"/>
                </a:rPr>
                <a:t>int</a:t>
              </a:r>
              <a:r>
                <a:rPr lang="en-US" sz="800" dirty="0" smtClean="0">
                  <a:latin typeface="Courier New" pitchFamily="49" charset="0"/>
                  <a:cs typeface="Courier New" pitchFamily="49" charset="0"/>
                </a:rPr>
                <a:t> </a:t>
              </a:r>
              <a:r>
                <a:rPr lang="en-US" sz="800" dirty="0" err="1" smtClean="0">
                  <a:latin typeface="Courier New" pitchFamily="49" charset="0"/>
                  <a:cs typeface="Courier New" pitchFamily="49" charset="0"/>
                </a:rPr>
                <a:t>attributeTwo</a:t>
              </a:r>
              <a:r>
                <a:rPr lang="en-US" sz="800" dirty="0" smtClean="0">
                  <a:latin typeface="Courier New" pitchFamily="49" charset="0"/>
                  <a:cs typeface="Courier New" pitchFamily="49" charset="0"/>
                </a:rPr>
                <a:t>;</a:t>
              </a:r>
            </a:p>
            <a:p>
              <a:endParaRPr lang="en-US" sz="800" dirty="0" smtClean="0">
                <a:latin typeface="Courier New" pitchFamily="49" charset="0"/>
                <a:cs typeface="Courier New" pitchFamily="49" charset="0"/>
              </a:endParaRPr>
            </a:p>
            <a:p>
              <a:r>
                <a:rPr lang="en-US" sz="800" dirty="0" smtClean="0">
                  <a:latin typeface="Courier New" pitchFamily="49" charset="0"/>
                  <a:cs typeface="Courier New" pitchFamily="49" charset="0"/>
                </a:rPr>
                <a:t>  public:</a:t>
              </a:r>
            </a:p>
            <a:p>
              <a:r>
                <a:rPr lang="en-US" sz="800" dirty="0" smtClean="0">
                  <a:latin typeface="Courier New" pitchFamily="49" charset="0"/>
                  <a:cs typeface="Courier New" pitchFamily="49" charset="0"/>
                </a:rPr>
                <a:t>    </a:t>
              </a:r>
              <a:r>
                <a:rPr lang="en-US" sz="800" dirty="0" smtClean="0">
                  <a:solidFill>
                    <a:srgbClr val="0B13B5"/>
                  </a:solidFill>
                  <a:latin typeface="Courier New" pitchFamily="49" charset="0"/>
                  <a:cs typeface="Courier New" pitchFamily="49" charset="0"/>
                </a:rPr>
                <a:t>void</a:t>
              </a:r>
              <a:r>
                <a:rPr lang="en-US" sz="800" dirty="0" smtClean="0">
                  <a:latin typeface="Courier New" pitchFamily="49" charset="0"/>
                  <a:cs typeface="Courier New" pitchFamily="49" charset="0"/>
                </a:rPr>
                <a:t> </a:t>
              </a:r>
              <a:r>
                <a:rPr lang="en-US" sz="800" dirty="0" err="1" smtClean="0">
                  <a:latin typeface="Courier New" pitchFamily="49" charset="0"/>
                  <a:cs typeface="Courier New" pitchFamily="49" charset="0"/>
                </a:rPr>
                <a:t>setValueOne</a:t>
              </a:r>
              <a:r>
                <a:rPr lang="en-US" sz="800" dirty="0" smtClean="0">
                  <a:latin typeface="Courier New" pitchFamily="49" charset="0"/>
                  <a:cs typeface="Courier New" pitchFamily="49" charset="0"/>
                </a:rPr>
                <a:t>(</a:t>
              </a:r>
              <a:r>
                <a:rPr lang="en-US" sz="800" dirty="0" smtClean="0">
                  <a:solidFill>
                    <a:srgbClr val="0B13B5"/>
                  </a:solidFill>
                  <a:latin typeface="Courier New" pitchFamily="49" charset="0"/>
                  <a:cs typeface="Courier New" pitchFamily="49" charset="0"/>
                </a:rPr>
                <a:t>unsigned</a:t>
              </a:r>
              <a:r>
                <a:rPr lang="en-US" sz="800" dirty="0" smtClean="0">
                  <a:latin typeface="Courier New" pitchFamily="49" charset="0"/>
                  <a:cs typeface="Courier New" pitchFamily="49" charset="0"/>
                </a:rPr>
                <a:t> </a:t>
              </a:r>
              <a:r>
                <a:rPr lang="en-US" sz="800" dirty="0" smtClean="0">
                  <a:solidFill>
                    <a:srgbClr val="0B13B5"/>
                  </a:solidFill>
                  <a:latin typeface="Courier New" pitchFamily="49" charset="0"/>
                  <a:cs typeface="Courier New" pitchFamily="49" charset="0"/>
                </a:rPr>
                <a:t>char</a:t>
              </a:r>
              <a:r>
                <a:rPr lang="en-US" sz="800" dirty="0" smtClean="0">
                  <a:latin typeface="Courier New" pitchFamily="49" charset="0"/>
                  <a:cs typeface="Courier New" pitchFamily="49" charset="0"/>
                </a:rPr>
                <a:t> x);</a:t>
              </a:r>
            </a:p>
            <a:p>
              <a:endParaRPr lang="en-US" sz="800" dirty="0" smtClean="0">
                <a:latin typeface="Courier New" pitchFamily="49" charset="0"/>
                <a:cs typeface="Courier New" pitchFamily="49" charset="0"/>
              </a:endParaRPr>
            </a:p>
            <a:p>
              <a:r>
                <a:rPr lang="en-US" sz="800" dirty="0" smtClean="0">
                  <a:latin typeface="Courier New" pitchFamily="49" charset="0"/>
                  <a:cs typeface="Courier New" pitchFamily="49" charset="0"/>
                </a:rPr>
                <a:t>		</a:t>
              </a:r>
              <a:endParaRPr lang="en-US" sz="800" dirty="0">
                <a:latin typeface="Courier New" pitchFamily="49" charset="0"/>
                <a:cs typeface="Courier New" pitchFamily="49" charset="0"/>
              </a:endParaRPr>
            </a:p>
          </p:txBody>
        </p:sp>
      </p:grpSp>
      <p:sp>
        <p:nvSpPr>
          <p:cNvPr id="19" name="Freeform 18"/>
          <p:cNvSpPr/>
          <p:nvPr/>
        </p:nvSpPr>
        <p:spPr>
          <a:xfrm>
            <a:off x="4791075" y="1612900"/>
            <a:ext cx="1371600" cy="625475"/>
          </a:xfrm>
          <a:custGeom>
            <a:avLst/>
            <a:gdLst>
              <a:gd name="connsiteX0" fmla="*/ 0 w 1371600"/>
              <a:gd name="connsiteY0" fmla="*/ 625475 h 625475"/>
              <a:gd name="connsiteX1" fmla="*/ 647700 w 1371600"/>
              <a:gd name="connsiteY1" fmla="*/ 501650 h 625475"/>
              <a:gd name="connsiteX2" fmla="*/ 990600 w 1371600"/>
              <a:gd name="connsiteY2" fmla="*/ 82550 h 625475"/>
              <a:gd name="connsiteX3" fmla="*/ 1371600 w 1371600"/>
              <a:gd name="connsiteY3" fmla="*/ 6350 h 625475"/>
            </a:gdLst>
            <a:ahLst/>
            <a:cxnLst>
              <a:cxn ang="0">
                <a:pos x="connsiteX0" y="connsiteY0"/>
              </a:cxn>
              <a:cxn ang="0">
                <a:pos x="connsiteX1" y="connsiteY1"/>
              </a:cxn>
              <a:cxn ang="0">
                <a:pos x="connsiteX2" y="connsiteY2"/>
              </a:cxn>
              <a:cxn ang="0">
                <a:pos x="connsiteX3" y="connsiteY3"/>
              </a:cxn>
            </a:cxnLst>
            <a:rect l="l" t="t" r="r" b="b"/>
            <a:pathLst>
              <a:path w="1371600" h="625475">
                <a:moveTo>
                  <a:pt x="0" y="625475"/>
                </a:moveTo>
                <a:cubicBezTo>
                  <a:pt x="241300" y="608806"/>
                  <a:pt x="482600" y="592138"/>
                  <a:pt x="647700" y="501650"/>
                </a:cubicBezTo>
                <a:cubicBezTo>
                  <a:pt x="812800" y="411163"/>
                  <a:pt x="869950" y="165100"/>
                  <a:pt x="990600" y="82550"/>
                </a:cubicBezTo>
                <a:cubicBezTo>
                  <a:pt x="1111250" y="0"/>
                  <a:pt x="1241425" y="3175"/>
                  <a:pt x="1371600" y="63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Freeform 19"/>
          <p:cNvSpPr/>
          <p:nvPr/>
        </p:nvSpPr>
        <p:spPr>
          <a:xfrm>
            <a:off x="4505325" y="2838450"/>
            <a:ext cx="1933575" cy="663575"/>
          </a:xfrm>
          <a:custGeom>
            <a:avLst/>
            <a:gdLst>
              <a:gd name="connsiteX0" fmla="*/ 0 w 1933575"/>
              <a:gd name="connsiteY0" fmla="*/ 657225 h 663575"/>
              <a:gd name="connsiteX1" fmla="*/ 1076325 w 1933575"/>
              <a:gd name="connsiteY1" fmla="*/ 571500 h 663575"/>
              <a:gd name="connsiteX2" fmla="*/ 1485900 w 1933575"/>
              <a:gd name="connsiteY2" fmla="*/ 104775 h 663575"/>
              <a:gd name="connsiteX3" fmla="*/ 1933575 w 1933575"/>
              <a:gd name="connsiteY3" fmla="*/ 0 h 663575"/>
            </a:gdLst>
            <a:ahLst/>
            <a:cxnLst>
              <a:cxn ang="0">
                <a:pos x="connsiteX0" y="connsiteY0"/>
              </a:cxn>
              <a:cxn ang="0">
                <a:pos x="connsiteX1" y="connsiteY1"/>
              </a:cxn>
              <a:cxn ang="0">
                <a:pos x="connsiteX2" y="connsiteY2"/>
              </a:cxn>
              <a:cxn ang="0">
                <a:pos x="connsiteX3" y="connsiteY3"/>
              </a:cxn>
            </a:cxnLst>
            <a:rect l="l" t="t" r="r" b="b"/>
            <a:pathLst>
              <a:path w="1933575" h="663575">
                <a:moveTo>
                  <a:pt x="0" y="657225"/>
                </a:moveTo>
                <a:cubicBezTo>
                  <a:pt x="414337" y="660400"/>
                  <a:pt x="828675" y="663575"/>
                  <a:pt x="1076325" y="571500"/>
                </a:cubicBezTo>
                <a:cubicBezTo>
                  <a:pt x="1323975" y="479425"/>
                  <a:pt x="1343025" y="200025"/>
                  <a:pt x="1485900" y="104775"/>
                </a:cubicBezTo>
                <a:cubicBezTo>
                  <a:pt x="1628775" y="9525"/>
                  <a:pt x="1781175" y="4762"/>
                  <a:pt x="193357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Freeform 20"/>
          <p:cNvSpPr/>
          <p:nvPr/>
        </p:nvSpPr>
        <p:spPr>
          <a:xfrm>
            <a:off x="4543425" y="4419600"/>
            <a:ext cx="1895475" cy="352425"/>
          </a:xfrm>
          <a:custGeom>
            <a:avLst/>
            <a:gdLst>
              <a:gd name="connsiteX0" fmla="*/ 0 w 1895475"/>
              <a:gd name="connsiteY0" fmla="*/ 304800 h 304800"/>
              <a:gd name="connsiteX1" fmla="*/ 904875 w 1895475"/>
              <a:gd name="connsiteY1" fmla="*/ 219075 h 304800"/>
              <a:gd name="connsiteX2" fmla="*/ 1419225 w 1895475"/>
              <a:gd name="connsiteY2" fmla="*/ 38100 h 304800"/>
              <a:gd name="connsiteX3" fmla="*/ 1895475 w 1895475"/>
              <a:gd name="connsiteY3" fmla="*/ 0 h 304800"/>
            </a:gdLst>
            <a:ahLst/>
            <a:cxnLst>
              <a:cxn ang="0">
                <a:pos x="connsiteX0" y="connsiteY0"/>
              </a:cxn>
              <a:cxn ang="0">
                <a:pos x="connsiteX1" y="connsiteY1"/>
              </a:cxn>
              <a:cxn ang="0">
                <a:pos x="connsiteX2" y="connsiteY2"/>
              </a:cxn>
              <a:cxn ang="0">
                <a:pos x="connsiteX3" y="connsiteY3"/>
              </a:cxn>
            </a:cxnLst>
            <a:rect l="l" t="t" r="r" b="b"/>
            <a:pathLst>
              <a:path w="1895475" h="304800">
                <a:moveTo>
                  <a:pt x="0" y="304800"/>
                </a:moveTo>
                <a:cubicBezTo>
                  <a:pt x="334169" y="284162"/>
                  <a:pt x="668338" y="263525"/>
                  <a:pt x="904875" y="219075"/>
                </a:cubicBezTo>
                <a:cubicBezTo>
                  <a:pt x="1141412" y="174625"/>
                  <a:pt x="1254125" y="74612"/>
                  <a:pt x="1419225" y="38100"/>
                </a:cubicBezTo>
                <a:cubicBezTo>
                  <a:pt x="1584325" y="1588"/>
                  <a:pt x="1739900" y="794"/>
                  <a:pt x="189547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Freeform 21"/>
          <p:cNvSpPr/>
          <p:nvPr/>
        </p:nvSpPr>
        <p:spPr>
          <a:xfrm>
            <a:off x="4000500" y="6010275"/>
            <a:ext cx="2257425" cy="238125"/>
          </a:xfrm>
          <a:custGeom>
            <a:avLst/>
            <a:gdLst>
              <a:gd name="connsiteX0" fmla="*/ 0 w 2257425"/>
              <a:gd name="connsiteY0" fmla="*/ 0 h 352425"/>
              <a:gd name="connsiteX1" fmla="*/ 1152525 w 2257425"/>
              <a:gd name="connsiteY1" fmla="*/ 142875 h 352425"/>
              <a:gd name="connsiteX2" fmla="*/ 1943100 w 2257425"/>
              <a:gd name="connsiteY2" fmla="*/ 352425 h 352425"/>
              <a:gd name="connsiteX3" fmla="*/ 2257425 w 2257425"/>
              <a:gd name="connsiteY3" fmla="*/ 142875 h 352425"/>
            </a:gdLst>
            <a:ahLst/>
            <a:cxnLst>
              <a:cxn ang="0">
                <a:pos x="connsiteX0" y="connsiteY0"/>
              </a:cxn>
              <a:cxn ang="0">
                <a:pos x="connsiteX1" y="connsiteY1"/>
              </a:cxn>
              <a:cxn ang="0">
                <a:pos x="connsiteX2" y="connsiteY2"/>
              </a:cxn>
              <a:cxn ang="0">
                <a:pos x="connsiteX3" y="connsiteY3"/>
              </a:cxn>
            </a:cxnLst>
            <a:rect l="l" t="t" r="r" b="b"/>
            <a:pathLst>
              <a:path w="2257425" h="352425">
                <a:moveTo>
                  <a:pt x="0" y="0"/>
                </a:moveTo>
                <a:cubicBezTo>
                  <a:pt x="414337" y="42069"/>
                  <a:pt x="828675" y="84138"/>
                  <a:pt x="1152525" y="142875"/>
                </a:cubicBezTo>
                <a:cubicBezTo>
                  <a:pt x="1476375" y="201612"/>
                  <a:pt x="1758950" y="352425"/>
                  <a:pt x="1943100" y="352425"/>
                </a:cubicBezTo>
                <a:cubicBezTo>
                  <a:pt x="2127250" y="352425"/>
                  <a:pt x="2192337" y="247650"/>
                  <a:pt x="2257425" y="1428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TextBox 22"/>
          <p:cNvSpPr txBox="1"/>
          <p:nvPr/>
        </p:nvSpPr>
        <p:spPr>
          <a:xfrm>
            <a:off x="6172200" y="1219200"/>
            <a:ext cx="6858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Step 1</a:t>
            </a:r>
            <a:endParaRPr lang="en-US" sz="1200" b="1" dirty="0">
              <a:solidFill>
                <a:srgbClr val="C00000"/>
              </a:solidFill>
              <a:latin typeface="Bradley Hand ITC" pitchFamily="66" charset="0"/>
            </a:endParaRPr>
          </a:p>
        </p:txBody>
      </p:sp>
      <p:sp>
        <p:nvSpPr>
          <p:cNvPr id="24" name="TextBox 23"/>
          <p:cNvSpPr txBox="1"/>
          <p:nvPr/>
        </p:nvSpPr>
        <p:spPr>
          <a:xfrm>
            <a:off x="6172200" y="2009001"/>
            <a:ext cx="6858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Step 2</a:t>
            </a:r>
            <a:endParaRPr lang="en-US" sz="1200" b="1" dirty="0">
              <a:solidFill>
                <a:srgbClr val="C00000"/>
              </a:solidFill>
              <a:latin typeface="Bradley Hand ITC" pitchFamily="66" charset="0"/>
            </a:endParaRPr>
          </a:p>
        </p:txBody>
      </p:sp>
      <p:sp>
        <p:nvSpPr>
          <p:cNvPr id="25" name="TextBox 24"/>
          <p:cNvSpPr txBox="1"/>
          <p:nvPr/>
        </p:nvSpPr>
        <p:spPr>
          <a:xfrm>
            <a:off x="6172200" y="3124200"/>
            <a:ext cx="6858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Step 3</a:t>
            </a:r>
            <a:endParaRPr lang="en-US" sz="1200" b="1" dirty="0">
              <a:solidFill>
                <a:srgbClr val="C00000"/>
              </a:solidFill>
              <a:latin typeface="Bradley Hand ITC" pitchFamily="66" charset="0"/>
            </a:endParaRPr>
          </a:p>
        </p:txBody>
      </p:sp>
      <p:sp>
        <p:nvSpPr>
          <p:cNvPr id="26" name="TextBox 25"/>
          <p:cNvSpPr txBox="1"/>
          <p:nvPr/>
        </p:nvSpPr>
        <p:spPr>
          <a:xfrm>
            <a:off x="6172200" y="4676001"/>
            <a:ext cx="6858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Step 4</a:t>
            </a:r>
            <a:endParaRPr lang="en-US" sz="1200" b="1" dirty="0">
              <a:solidFill>
                <a:srgbClr val="C00000"/>
              </a:solidFill>
              <a:latin typeface="Bradley Hand ITC" pitchFamily="66" charset="0"/>
            </a:endParaRPr>
          </a:p>
        </p:txBody>
      </p:sp>
      <p:sp>
        <p:nvSpPr>
          <p:cNvPr id="27" name="TextBox 26"/>
          <p:cNvSpPr txBox="1"/>
          <p:nvPr/>
        </p:nvSpPr>
        <p:spPr>
          <a:xfrm>
            <a:off x="6248400" y="6172200"/>
            <a:ext cx="22098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 Product Created!</a:t>
            </a:r>
            <a:endParaRPr lang="en-US" sz="1200" b="1" dirty="0">
              <a:solidFill>
                <a:srgbClr val="C00000"/>
              </a:solidFill>
              <a:latin typeface="Bradley Hand ITC" pitchFamily="66" charset="0"/>
            </a:endParaRPr>
          </a:p>
        </p:txBody>
      </p:sp>
      <p:sp>
        <p:nvSpPr>
          <p:cNvPr id="28" name="TextBox 27"/>
          <p:cNvSpPr txBox="1"/>
          <p:nvPr/>
        </p:nvSpPr>
        <p:spPr>
          <a:xfrm>
            <a:off x="2819400" y="914400"/>
            <a:ext cx="13716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 Builder</a:t>
            </a:r>
            <a:endParaRPr lang="en-US" sz="1200" b="1" dirty="0">
              <a:solidFill>
                <a:srgbClr val="C00000"/>
              </a:solidFill>
              <a:latin typeface="Bradley Hand ITC" pitchFamily="66" charset="0"/>
            </a:endParaRPr>
          </a:p>
        </p:txBody>
      </p:sp>
      <p:sp>
        <p:nvSpPr>
          <p:cNvPr id="29" name="Freeform 28"/>
          <p:cNvSpPr/>
          <p:nvPr/>
        </p:nvSpPr>
        <p:spPr>
          <a:xfrm>
            <a:off x="1857375" y="952500"/>
            <a:ext cx="1076325" cy="214313"/>
          </a:xfrm>
          <a:custGeom>
            <a:avLst/>
            <a:gdLst>
              <a:gd name="connsiteX0" fmla="*/ 1076325 w 1076325"/>
              <a:gd name="connsiteY0" fmla="*/ 85725 h 214313"/>
              <a:gd name="connsiteX1" fmla="*/ 514350 w 1076325"/>
              <a:gd name="connsiteY1" fmla="*/ 200025 h 214313"/>
              <a:gd name="connsiteX2" fmla="*/ 0 w 1076325"/>
              <a:gd name="connsiteY2" fmla="*/ 0 h 214313"/>
            </a:gdLst>
            <a:ahLst/>
            <a:cxnLst>
              <a:cxn ang="0">
                <a:pos x="connsiteX0" y="connsiteY0"/>
              </a:cxn>
              <a:cxn ang="0">
                <a:pos x="connsiteX1" y="connsiteY1"/>
              </a:cxn>
              <a:cxn ang="0">
                <a:pos x="connsiteX2" y="connsiteY2"/>
              </a:cxn>
            </a:cxnLst>
            <a:rect l="l" t="t" r="r" b="b"/>
            <a:pathLst>
              <a:path w="1076325" h="214313">
                <a:moveTo>
                  <a:pt x="1076325" y="85725"/>
                </a:moveTo>
                <a:cubicBezTo>
                  <a:pt x="885031" y="150019"/>
                  <a:pt x="693738" y="214313"/>
                  <a:pt x="514350" y="200025"/>
                </a:cubicBezTo>
                <a:cubicBezTo>
                  <a:pt x="334963" y="185738"/>
                  <a:pt x="167481" y="92869"/>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8438"/>
            <a:ext cx="8229600" cy="792162"/>
          </a:xfrm>
        </p:spPr>
        <p:txBody>
          <a:bodyPr/>
          <a:lstStyle/>
          <a:p>
            <a:r>
              <a:rPr lang="en-US" dirty="0" smtClean="0"/>
              <a:t>Builder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6/16/2019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pic>
        <p:nvPicPr>
          <p:cNvPr id="11266" name="Picture 2"/>
          <p:cNvPicPr>
            <a:picLocks noChangeAspect="1" noChangeArrowheads="1"/>
          </p:cNvPicPr>
          <p:nvPr/>
        </p:nvPicPr>
        <p:blipFill>
          <a:blip r:embed="rId2" cstate="print"/>
          <a:srcRect/>
          <a:stretch>
            <a:fillRect/>
          </a:stretch>
        </p:blipFill>
        <p:spPr bwMode="auto">
          <a:xfrm>
            <a:off x="2590800" y="914400"/>
            <a:ext cx="4114800" cy="5515583"/>
          </a:xfrm>
          <a:prstGeom prst="rect">
            <a:avLst/>
          </a:prstGeom>
          <a:noFill/>
          <a:ln w="9525">
            <a:noFill/>
            <a:miter lim="800000"/>
            <a:headEnd/>
            <a:tailEnd/>
          </a:ln>
        </p:spPr>
      </p:pic>
      <p:sp>
        <p:nvSpPr>
          <p:cNvPr id="8" name="TextBox 7"/>
          <p:cNvSpPr txBox="1"/>
          <p:nvPr/>
        </p:nvSpPr>
        <p:spPr>
          <a:xfrm>
            <a:off x="5410200" y="838200"/>
            <a:ext cx="2743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In the previous slide, we presented how a C++ message builder could be created.  </a:t>
            </a:r>
            <a:endParaRPr lang="en-US" sz="1200" b="1" dirty="0">
              <a:solidFill>
                <a:srgbClr val="C00000"/>
              </a:solidFill>
              <a:latin typeface="Bradley Hand ITC" pitchFamily="66" charset="0"/>
            </a:endParaRPr>
          </a:p>
        </p:txBody>
      </p:sp>
      <p:sp>
        <p:nvSpPr>
          <p:cNvPr id="9" name="TextBox 8"/>
          <p:cNvSpPr txBox="1"/>
          <p:nvPr/>
        </p:nvSpPr>
        <p:spPr>
          <a:xfrm>
            <a:off x="6858000" y="1524000"/>
            <a:ext cx="1981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In similar fashion, C# or Java builders can be created. </a:t>
            </a:r>
            <a:endParaRPr lang="en-US" sz="1200" b="1" dirty="0">
              <a:solidFill>
                <a:srgbClr val="C00000"/>
              </a:solidFill>
              <a:latin typeface="Bradley Hand ITC" pitchFamily="66" charset="0"/>
            </a:endParaRPr>
          </a:p>
        </p:txBody>
      </p:sp>
      <p:sp>
        <p:nvSpPr>
          <p:cNvPr id="10" name="Freeform 9"/>
          <p:cNvSpPr/>
          <p:nvPr/>
        </p:nvSpPr>
        <p:spPr>
          <a:xfrm>
            <a:off x="8091488" y="1114425"/>
            <a:ext cx="187324" cy="438150"/>
          </a:xfrm>
          <a:custGeom>
            <a:avLst/>
            <a:gdLst>
              <a:gd name="connsiteX0" fmla="*/ 4762 w 187324"/>
              <a:gd name="connsiteY0" fmla="*/ 0 h 438150"/>
              <a:gd name="connsiteX1" fmla="*/ 185737 w 187324"/>
              <a:gd name="connsiteY1" fmla="*/ 152400 h 438150"/>
              <a:gd name="connsiteX2" fmla="*/ 14287 w 187324"/>
              <a:gd name="connsiteY2" fmla="*/ 314325 h 438150"/>
              <a:gd name="connsiteX3" fmla="*/ 100012 w 187324"/>
              <a:gd name="connsiteY3" fmla="*/ 438150 h 438150"/>
            </a:gdLst>
            <a:ahLst/>
            <a:cxnLst>
              <a:cxn ang="0">
                <a:pos x="connsiteX0" y="connsiteY0"/>
              </a:cxn>
              <a:cxn ang="0">
                <a:pos x="connsiteX1" y="connsiteY1"/>
              </a:cxn>
              <a:cxn ang="0">
                <a:pos x="connsiteX2" y="connsiteY2"/>
              </a:cxn>
              <a:cxn ang="0">
                <a:pos x="connsiteX3" y="connsiteY3"/>
              </a:cxn>
            </a:cxnLst>
            <a:rect l="l" t="t" r="r" b="b"/>
            <a:pathLst>
              <a:path w="187324" h="438150">
                <a:moveTo>
                  <a:pt x="4762" y="0"/>
                </a:moveTo>
                <a:cubicBezTo>
                  <a:pt x="94456" y="50006"/>
                  <a:pt x="184150" y="100013"/>
                  <a:pt x="185737" y="152400"/>
                </a:cubicBezTo>
                <a:cubicBezTo>
                  <a:pt x="187324" y="204787"/>
                  <a:pt x="28574" y="266700"/>
                  <a:pt x="14287" y="314325"/>
                </a:cubicBezTo>
                <a:cubicBezTo>
                  <a:pt x="0" y="361950"/>
                  <a:pt x="50006" y="400050"/>
                  <a:pt x="100012" y="4381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Right Brace 10"/>
          <p:cNvSpPr/>
          <p:nvPr/>
        </p:nvSpPr>
        <p:spPr>
          <a:xfrm flipH="1">
            <a:off x="2514600" y="2362200"/>
            <a:ext cx="152400" cy="3657600"/>
          </a:xfrm>
          <a:prstGeom prst="rightBrace">
            <a:avLst/>
          </a:prstGeom>
          <a:ln w="6350">
            <a:solidFill>
              <a:srgbClr val="C0000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533400" y="3657600"/>
            <a:ext cx="19812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same creational process is used for all target languages!</a:t>
            </a:r>
            <a:endParaRPr lang="en-US" sz="1200" b="1" dirty="0">
              <a:solidFill>
                <a:srgbClr val="C00000"/>
              </a:solidFill>
              <a:latin typeface="Bradley Hand ITC" pitchFamily="66" charset="0"/>
            </a:endParaRPr>
          </a:p>
        </p:txBody>
      </p:sp>
      <p:sp>
        <p:nvSpPr>
          <p:cNvPr id="13" name="TextBox 12"/>
          <p:cNvSpPr txBox="1"/>
          <p:nvPr/>
        </p:nvSpPr>
        <p:spPr>
          <a:xfrm>
            <a:off x="381000" y="1600200"/>
            <a:ext cx="22098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Product representation, i.e., generated code, depends on the Builder passed in as parameter!</a:t>
            </a:r>
            <a:endParaRPr lang="en-US" sz="1200" b="1" dirty="0">
              <a:solidFill>
                <a:srgbClr val="C00000"/>
              </a:solidFill>
              <a:latin typeface="Bradley Hand ITC" pitchFamily="66" charset="0"/>
            </a:endParaRPr>
          </a:p>
        </p:txBody>
      </p:sp>
      <p:sp>
        <p:nvSpPr>
          <p:cNvPr id="14" name="Freeform 13"/>
          <p:cNvSpPr/>
          <p:nvPr/>
        </p:nvSpPr>
        <p:spPr>
          <a:xfrm>
            <a:off x="2438400" y="1262062"/>
            <a:ext cx="1990725" cy="433388"/>
          </a:xfrm>
          <a:custGeom>
            <a:avLst/>
            <a:gdLst>
              <a:gd name="connsiteX0" fmla="*/ 0 w 1990725"/>
              <a:gd name="connsiteY0" fmla="*/ 433388 h 433388"/>
              <a:gd name="connsiteX1" fmla="*/ 114300 w 1990725"/>
              <a:gd name="connsiteY1" fmla="*/ 280988 h 433388"/>
              <a:gd name="connsiteX2" fmla="*/ 228600 w 1990725"/>
              <a:gd name="connsiteY2" fmla="*/ 61913 h 433388"/>
              <a:gd name="connsiteX3" fmla="*/ 552450 w 1990725"/>
              <a:gd name="connsiteY3" fmla="*/ 4763 h 433388"/>
              <a:gd name="connsiteX4" fmla="*/ 1123950 w 1990725"/>
              <a:gd name="connsiteY4" fmla="*/ 33338 h 433388"/>
              <a:gd name="connsiteX5" fmla="*/ 1323975 w 1990725"/>
              <a:gd name="connsiteY5" fmla="*/ 109538 h 433388"/>
              <a:gd name="connsiteX6" fmla="*/ 1571625 w 1990725"/>
              <a:gd name="connsiteY6" fmla="*/ 23813 h 433388"/>
              <a:gd name="connsiteX7" fmla="*/ 1990725 w 1990725"/>
              <a:gd name="connsiteY7" fmla="*/ 195263 h 433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90725" h="433388">
                <a:moveTo>
                  <a:pt x="0" y="433388"/>
                </a:moveTo>
                <a:cubicBezTo>
                  <a:pt x="38100" y="388144"/>
                  <a:pt x="76200" y="342901"/>
                  <a:pt x="114300" y="280988"/>
                </a:cubicBezTo>
                <a:cubicBezTo>
                  <a:pt x="152400" y="219075"/>
                  <a:pt x="155575" y="107951"/>
                  <a:pt x="228600" y="61913"/>
                </a:cubicBezTo>
                <a:cubicBezTo>
                  <a:pt x="301625" y="15876"/>
                  <a:pt x="403225" y="9526"/>
                  <a:pt x="552450" y="4763"/>
                </a:cubicBezTo>
                <a:cubicBezTo>
                  <a:pt x="701675" y="0"/>
                  <a:pt x="995363" y="15876"/>
                  <a:pt x="1123950" y="33338"/>
                </a:cubicBezTo>
                <a:cubicBezTo>
                  <a:pt x="1252537" y="50800"/>
                  <a:pt x="1249363" y="111125"/>
                  <a:pt x="1323975" y="109538"/>
                </a:cubicBezTo>
                <a:cubicBezTo>
                  <a:pt x="1398587" y="107951"/>
                  <a:pt x="1460500" y="9526"/>
                  <a:pt x="1571625" y="23813"/>
                </a:cubicBezTo>
                <a:cubicBezTo>
                  <a:pt x="1682750" y="38100"/>
                  <a:pt x="1836737" y="116681"/>
                  <a:pt x="1990725" y="195263"/>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p:cNvSpPr txBox="1"/>
          <p:nvPr/>
        </p:nvSpPr>
        <p:spPr>
          <a:xfrm>
            <a:off x="6248400" y="2667000"/>
            <a:ext cx="25908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process used for identifying names, attributes, and operations in the ICD could be quite complex!</a:t>
            </a:r>
            <a:endParaRPr lang="en-US" sz="1200" b="1" dirty="0">
              <a:solidFill>
                <a:srgbClr val="C00000"/>
              </a:solidFill>
              <a:latin typeface="Bradley Hand ITC" pitchFamily="66" charset="0"/>
            </a:endParaRPr>
          </a:p>
        </p:txBody>
      </p:sp>
      <p:sp>
        <p:nvSpPr>
          <p:cNvPr id="17" name="Freeform 16"/>
          <p:cNvSpPr/>
          <p:nvPr/>
        </p:nvSpPr>
        <p:spPr>
          <a:xfrm>
            <a:off x="5857875" y="3076575"/>
            <a:ext cx="581025" cy="304800"/>
          </a:xfrm>
          <a:custGeom>
            <a:avLst/>
            <a:gdLst>
              <a:gd name="connsiteX0" fmla="*/ 581025 w 581025"/>
              <a:gd name="connsiteY0" fmla="*/ 0 h 304800"/>
              <a:gd name="connsiteX1" fmla="*/ 495300 w 581025"/>
              <a:gd name="connsiteY1" fmla="*/ 171450 h 304800"/>
              <a:gd name="connsiteX2" fmla="*/ 200025 w 581025"/>
              <a:gd name="connsiteY2" fmla="*/ 171450 h 304800"/>
              <a:gd name="connsiteX3" fmla="*/ 0 w 581025"/>
              <a:gd name="connsiteY3" fmla="*/ 304800 h 304800"/>
            </a:gdLst>
            <a:ahLst/>
            <a:cxnLst>
              <a:cxn ang="0">
                <a:pos x="connsiteX0" y="connsiteY0"/>
              </a:cxn>
              <a:cxn ang="0">
                <a:pos x="connsiteX1" y="connsiteY1"/>
              </a:cxn>
              <a:cxn ang="0">
                <a:pos x="connsiteX2" y="connsiteY2"/>
              </a:cxn>
              <a:cxn ang="0">
                <a:pos x="connsiteX3" y="connsiteY3"/>
              </a:cxn>
            </a:cxnLst>
            <a:rect l="l" t="t" r="r" b="b"/>
            <a:pathLst>
              <a:path w="581025" h="304800">
                <a:moveTo>
                  <a:pt x="581025" y="0"/>
                </a:moveTo>
                <a:cubicBezTo>
                  <a:pt x="569912" y="71437"/>
                  <a:pt x="558800" y="142875"/>
                  <a:pt x="495300" y="171450"/>
                </a:cubicBezTo>
                <a:cubicBezTo>
                  <a:pt x="431800" y="200025"/>
                  <a:pt x="282575" y="149225"/>
                  <a:pt x="200025" y="171450"/>
                </a:cubicBezTo>
                <a:cubicBezTo>
                  <a:pt x="117475" y="193675"/>
                  <a:pt x="58737" y="249237"/>
                  <a:pt x="0" y="3048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p:cNvSpPr txBox="1"/>
          <p:nvPr/>
        </p:nvSpPr>
        <p:spPr>
          <a:xfrm>
            <a:off x="6324600" y="3733800"/>
            <a:ext cx="2590800" cy="120032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However, if we manage to separate this process from its ultimate product representation (e.g., java vs. </a:t>
            </a:r>
            <a:r>
              <a:rPr lang="en-US" sz="1200" b="1" dirty="0" err="1" smtClean="0">
                <a:solidFill>
                  <a:srgbClr val="C00000"/>
                </a:solidFill>
                <a:latin typeface="Bradley Hand ITC" pitchFamily="66" charset="0"/>
              </a:rPr>
              <a:t>c++</a:t>
            </a:r>
            <a:r>
              <a:rPr lang="en-US" sz="1200" b="1" dirty="0" smtClean="0">
                <a:solidFill>
                  <a:srgbClr val="C00000"/>
                </a:solidFill>
                <a:latin typeface="Bradley Hand ITC" pitchFamily="66" charset="0"/>
              </a:rPr>
              <a:t> code), we can reuse it to generate these and other future products by extension and NOT modification!</a:t>
            </a:r>
            <a:endParaRPr lang="en-US" sz="1200" b="1" dirty="0">
              <a:solidFill>
                <a:srgbClr val="C00000"/>
              </a:solidFill>
              <a:latin typeface="Bradley Hand ITC" pitchFamily="66" charset="0"/>
            </a:endParaRPr>
          </a:p>
        </p:txBody>
      </p:sp>
      <p:sp>
        <p:nvSpPr>
          <p:cNvPr id="19" name="Freeform 18"/>
          <p:cNvSpPr/>
          <p:nvPr/>
        </p:nvSpPr>
        <p:spPr>
          <a:xfrm>
            <a:off x="8591550" y="3162300"/>
            <a:ext cx="123825" cy="561975"/>
          </a:xfrm>
          <a:custGeom>
            <a:avLst/>
            <a:gdLst>
              <a:gd name="connsiteX0" fmla="*/ 0 w 123825"/>
              <a:gd name="connsiteY0" fmla="*/ 0 h 561975"/>
              <a:gd name="connsiteX1" fmla="*/ 123825 w 123825"/>
              <a:gd name="connsiteY1" fmla="*/ 285750 h 561975"/>
              <a:gd name="connsiteX2" fmla="*/ 0 w 123825"/>
              <a:gd name="connsiteY2" fmla="*/ 561975 h 561975"/>
            </a:gdLst>
            <a:ahLst/>
            <a:cxnLst>
              <a:cxn ang="0">
                <a:pos x="connsiteX0" y="connsiteY0"/>
              </a:cxn>
              <a:cxn ang="0">
                <a:pos x="connsiteX1" y="connsiteY1"/>
              </a:cxn>
              <a:cxn ang="0">
                <a:pos x="connsiteX2" y="connsiteY2"/>
              </a:cxn>
            </a:cxnLst>
            <a:rect l="l" t="t" r="r" b="b"/>
            <a:pathLst>
              <a:path w="123825" h="561975">
                <a:moveTo>
                  <a:pt x="0" y="0"/>
                </a:moveTo>
                <a:cubicBezTo>
                  <a:pt x="61912" y="96044"/>
                  <a:pt x="123825" y="192088"/>
                  <a:pt x="123825" y="285750"/>
                </a:cubicBezTo>
                <a:cubicBezTo>
                  <a:pt x="123825" y="379412"/>
                  <a:pt x="61912" y="470693"/>
                  <a:pt x="0" y="5619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Builder Design Pattern Example</a:t>
            </a:r>
            <a:endParaRPr lang="en-US" dirty="0"/>
          </a:p>
        </p:txBody>
      </p:sp>
      <p:sp>
        <p:nvSpPr>
          <p:cNvPr id="3" name="Content Placeholder 2"/>
          <p:cNvSpPr>
            <a:spLocks noGrp="1"/>
          </p:cNvSpPr>
          <p:nvPr>
            <p:ph idx="1"/>
          </p:nvPr>
        </p:nvSpPr>
        <p:spPr>
          <a:xfrm>
            <a:off x="457200" y="1371601"/>
            <a:ext cx="8229600" cy="4724399"/>
          </a:xfrm>
        </p:spPr>
        <p:txBody>
          <a:bodyPr>
            <a:normAutofit fontScale="92500" lnSpcReduction="20000"/>
          </a:bodyPr>
          <a:lstStyle/>
          <a:p>
            <a:r>
              <a:rPr lang="en-US" dirty="0" smtClean="0"/>
              <a:t>Steps for designing using the Builder pattern:</a:t>
            </a:r>
          </a:p>
          <a:p>
            <a:pPr marL="800100" lvl="1" indent="-342900">
              <a:buFont typeface="+mj-lt"/>
              <a:buAutoNum type="arabicPeriod"/>
            </a:pPr>
            <a:r>
              <a:rPr lang="en-US" dirty="0" smtClean="0"/>
              <a:t>Identify and design the product class (e.g., GeneratedProduct)</a:t>
            </a:r>
          </a:p>
          <a:p>
            <a:pPr marL="800100" lvl="1" indent="-342900">
              <a:buFont typeface="+mj-lt"/>
              <a:buAutoNum type="arabicPeriod"/>
            </a:pPr>
            <a:r>
              <a:rPr lang="en-US" dirty="0" smtClean="0"/>
              <a:t>Identify the product’s creational process and algorithm, and design a class for its execution (e.g., CodeGenerator).  </a:t>
            </a:r>
          </a:p>
          <a:p>
            <a:pPr marL="800100" lvl="1" indent="-342900">
              <a:buFont typeface="+mj-lt"/>
              <a:buAutoNum type="arabicPeriod"/>
            </a:pPr>
            <a:r>
              <a:rPr lang="en-US" dirty="0" smtClean="0"/>
              <a:t>Using the knowledge acquired from steps 1 and 2, design the builder interface, which specifies the parts that need to be created for the whole product to exist.  These are captured as abstract interface methods that need to be implemented by derived concrete builders.</a:t>
            </a:r>
          </a:p>
          <a:p>
            <a:pPr marL="800100" lvl="1" indent="-342900">
              <a:buFont typeface="+mj-lt"/>
              <a:buAutoNum type="arabicPeriod"/>
            </a:pPr>
            <a:r>
              <a:rPr lang="en-US" dirty="0" smtClean="0"/>
              <a:t>Identify and design classes for the different representations of the product (e.g., CppMessageBuilder, JavaMessageBuilder, etc.)</a:t>
            </a:r>
          </a:p>
          <a:p>
            <a:pPr lvl="1"/>
            <a:endParaRPr lang="en-US" dirty="0" smtClean="0"/>
          </a:p>
          <a:p>
            <a:r>
              <a:rPr lang="en-US" dirty="0" smtClean="0"/>
              <a:t>The Builder provides the following benefits:</a:t>
            </a:r>
          </a:p>
          <a:p>
            <a:pPr lvl="1"/>
            <a:r>
              <a:rPr lang="en-US" dirty="0" smtClean="0"/>
              <a:t>Separates an object’s construction process from its representation; therefore future representations can be added easily to the software.</a:t>
            </a:r>
          </a:p>
          <a:p>
            <a:pPr lvl="1"/>
            <a:r>
              <a:rPr lang="en-US" dirty="0" smtClean="0"/>
              <a:t>Changes to existing representations can be made without modifying the code for the creational process.</a:t>
            </a:r>
          </a:p>
          <a:p>
            <a:pPr lvl="1"/>
            <a:r>
              <a:rPr lang="en-US" dirty="0" smtClean="0"/>
              <a:t>Provides finer control over the construction process so that objects can be created at discrete points in time, which differs from the Abstract Factory pattern.</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6/16/2019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Prototype Design Pattern</a:t>
            </a:r>
            <a:endParaRPr lang="en-US" dirty="0"/>
          </a:p>
        </p:txBody>
      </p:sp>
      <p:sp>
        <p:nvSpPr>
          <p:cNvPr id="3" name="Content Placeholder 2"/>
          <p:cNvSpPr>
            <a:spLocks noGrp="1"/>
          </p:cNvSpPr>
          <p:nvPr>
            <p:ph idx="1"/>
          </p:nvPr>
        </p:nvSpPr>
        <p:spPr>
          <a:xfrm>
            <a:off x="457200" y="1371601"/>
            <a:ext cx="8229600" cy="1752599"/>
          </a:xfrm>
        </p:spPr>
        <p:txBody>
          <a:bodyPr>
            <a:normAutofit fontScale="85000" lnSpcReduction="10000"/>
          </a:bodyPr>
          <a:lstStyle/>
          <a:p>
            <a:r>
              <a:rPr lang="en-US" dirty="0" smtClean="0"/>
              <a:t>The Prototype design pattern is a class creational pattern that allows clients to create duplicates of prototype objects at run-time without knowing the objects’ specific type.</a:t>
            </a:r>
          </a:p>
          <a:p>
            <a:endParaRPr lang="en-US" dirty="0" smtClean="0"/>
          </a:p>
          <a:p>
            <a:r>
              <a:rPr lang="en-US" dirty="0" smtClean="0"/>
              <a:t>According to the </a:t>
            </a:r>
            <a:r>
              <a:rPr lang="en-US" dirty="0" err="1" smtClean="0"/>
              <a:t>GoF</a:t>
            </a:r>
            <a:r>
              <a:rPr lang="en-US" dirty="0" smtClean="0"/>
              <a:t>, the intent of the prototype design pattern is to [1]</a:t>
            </a:r>
          </a:p>
          <a:p>
            <a:pPr lvl="1"/>
            <a:r>
              <a:rPr lang="en-US" dirty="0" smtClean="0"/>
              <a:t>Specify the kinds of objects to create using a prototypical instance, and create new objects by copying this prototype.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6/16/2019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pic>
        <p:nvPicPr>
          <p:cNvPr id="12290" name="Picture 2"/>
          <p:cNvPicPr>
            <a:picLocks noChangeAspect="1" noChangeArrowheads="1"/>
          </p:cNvPicPr>
          <p:nvPr/>
        </p:nvPicPr>
        <p:blipFill>
          <a:blip r:embed="rId2" cstate="print"/>
          <a:srcRect/>
          <a:stretch>
            <a:fillRect/>
          </a:stretch>
        </p:blipFill>
        <p:spPr bwMode="auto">
          <a:xfrm>
            <a:off x="2971800" y="3505200"/>
            <a:ext cx="3238500" cy="1695450"/>
          </a:xfrm>
          <a:prstGeom prst="rect">
            <a:avLst/>
          </a:prstGeom>
          <a:noFill/>
          <a:ln w="9525">
            <a:noFill/>
            <a:miter lim="800000"/>
            <a:headEnd/>
            <a:tailEnd/>
          </a:ln>
        </p:spPr>
      </p:pic>
      <p:sp>
        <p:nvSpPr>
          <p:cNvPr id="8" name="TextBox 7"/>
          <p:cNvSpPr txBox="1"/>
          <p:nvPr/>
        </p:nvSpPr>
        <p:spPr>
          <a:xfrm>
            <a:off x="6324600" y="4114800"/>
            <a:ext cx="1600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Both </a:t>
            </a:r>
            <a:r>
              <a:rPr lang="en-US" sz="1200" b="1" u="sng" dirty="0" smtClean="0">
                <a:solidFill>
                  <a:srgbClr val="C00000"/>
                </a:solidFill>
                <a:latin typeface="Bradley Hand ITC" pitchFamily="66" charset="0"/>
              </a:rPr>
              <a:t>Product</a:t>
            </a:r>
            <a:r>
              <a:rPr lang="en-US" sz="1200" b="1" dirty="0" smtClean="0">
                <a:solidFill>
                  <a:srgbClr val="C00000"/>
                </a:solidFill>
                <a:latin typeface="Bradley Hand ITC" pitchFamily="66" charset="0"/>
              </a:rPr>
              <a:t> and </a:t>
            </a:r>
            <a:r>
              <a:rPr lang="en-US" sz="1200" b="1" u="sng" dirty="0" smtClean="0">
                <a:solidFill>
                  <a:srgbClr val="C00000"/>
                </a:solidFill>
                <a:latin typeface="Bradley Hand ITC" pitchFamily="66" charset="0"/>
              </a:rPr>
              <a:t>Creator </a:t>
            </a:r>
            <a:r>
              <a:rPr lang="en-US" sz="1200" b="1" dirty="0" smtClean="0">
                <a:solidFill>
                  <a:srgbClr val="C00000"/>
                </a:solidFill>
                <a:latin typeface="Bradley Hand ITC" pitchFamily="66" charset="0"/>
              </a:rPr>
              <a:t>Classes</a:t>
            </a:r>
            <a:endParaRPr lang="en-US" sz="1200" b="1" dirty="0">
              <a:solidFill>
                <a:srgbClr val="C00000"/>
              </a:solidFill>
              <a:latin typeface="Bradley Hand ITC" pitchFamily="66" charset="0"/>
            </a:endParaRPr>
          </a:p>
        </p:txBody>
      </p:sp>
      <p:sp>
        <p:nvSpPr>
          <p:cNvPr id="9" name="Right Brace 8"/>
          <p:cNvSpPr/>
          <p:nvPr/>
        </p:nvSpPr>
        <p:spPr>
          <a:xfrm>
            <a:off x="6248400" y="3810000"/>
            <a:ext cx="152400" cy="1371600"/>
          </a:xfrm>
          <a:prstGeom prst="rightBrace">
            <a:avLst/>
          </a:prstGeom>
          <a:ln w="6350">
            <a:solidFill>
              <a:srgbClr val="C0000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5791200" y="3200400"/>
            <a:ext cx="1905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Derived classes must obey the prototype interface!</a:t>
            </a:r>
            <a:endParaRPr lang="en-US" sz="1200" b="1" dirty="0">
              <a:solidFill>
                <a:srgbClr val="C00000"/>
              </a:solidFill>
              <a:latin typeface="Bradley Hand ITC" pitchFamily="66" charset="0"/>
            </a:endParaRPr>
          </a:p>
        </p:txBody>
      </p:sp>
      <p:sp>
        <p:nvSpPr>
          <p:cNvPr id="11" name="Freeform 10"/>
          <p:cNvSpPr/>
          <p:nvPr/>
        </p:nvSpPr>
        <p:spPr>
          <a:xfrm>
            <a:off x="5324475" y="3505200"/>
            <a:ext cx="600075" cy="581025"/>
          </a:xfrm>
          <a:custGeom>
            <a:avLst/>
            <a:gdLst>
              <a:gd name="connsiteX0" fmla="*/ 600075 w 600075"/>
              <a:gd name="connsiteY0" fmla="*/ 0 h 581025"/>
              <a:gd name="connsiteX1" fmla="*/ 304800 w 600075"/>
              <a:gd name="connsiteY1" fmla="*/ 152400 h 581025"/>
              <a:gd name="connsiteX2" fmla="*/ 228600 w 600075"/>
              <a:gd name="connsiteY2" fmla="*/ 485775 h 581025"/>
              <a:gd name="connsiteX3" fmla="*/ 0 w 600075"/>
              <a:gd name="connsiteY3" fmla="*/ 581025 h 581025"/>
            </a:gdLst>
            <a:ahLst/>
            <a:cxnLst>
              <a:cxn ang="0">
                <a:pos x="connsiteX0" y="connsiteY0"/>
              </a:cxn>
              <a:cxn ang="0">
                <a:pos x="connsiteX1" y="connsiteY1"/>
              </a:cxn>
              <a:cxn ang="0">
                <a:pos x="connsiteX2" y="connsiteY2"/>
              </a:cxn>
              <a:cxn ang="0">
                <a:pos x="connsiteX3" y="connsiteY3"/>
              </a:cxn>
            </a:cxnLst>
            <a:rect l="l" t="t" r="r" b="b"/>
            <a:pathLst>
              <a:path w="600075" h="581025">
                <a:moveTo>
                  <a:pt x="600075" y="0"/>
                </a:moveTo>
                <a:cubicBezTo>
                  <a:pt x="483393" y="35719"/>
                  <a:pt x="366712" y="71438"/>
                  <a:pt x="304800" y="152400"/>
                </a:cubicBezTo>
                <a:cubicBezTo>
                  <a:pt x="242888" y="233362"/>
                  <a:pt x="279400" y="414338"/>
                  <a:pt x="228600" y="485775"/>
                </a:cubicBezTo>
                <a:cubicBezTo>
                  <a:pt x="177800" y="557212"/>
                  <a:pt x="88900" y="569118"/>
                  <a:pt x="0" y="5810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457200" y="3581400"/>
            <a:ext cx="23622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Clients use the prototype interface to create objects without knowing their specific types!</a:t>
            </a:r>
            <a:endParaRPr lang="en-US" sz="1200" b="1" dirty="0">
              <a:solidFill>
                <a:srgbClr val="C00000"/>
              </a:solidFill>
              <a:latin typeface="Bradley Hand ITC" pitchFamily="66" charset="0"/>
            </a:endParaRPr>
          </a:p>
        </p:txBody>
      </p:sp>
      <p:sp>
        <p:nvSpPr>
          <p:cNvPr id="14" name="Freeform 13"/>
          <p:cNvSpPr/>
          <p:nvPr/>
        </p:nvSpPr>
        <p:spPr>
          <a:xfrm>
            <a:off x="2352675" y="4048125"/>
            <a:ext cx="876300" cy="323850"/>
          </a:xfrm>
          <a:custGeom>
            <a:avLst/>
            <a:gdLst>
              <a:gd name="connsiteX0" fmla="*/ 0 w 876300"/>
              <a:gd name="connsiteY0" fmla="*/ 0 h 323850"/>
              <a:gd name="connsiteX1" fmla="*/ 314325 w 876300"/>
              <a:gd name="connsiteY1" fmla="*/ 85725 h 323850"/>
              <a:gd name="connsiteX2" fmla="*/ 628650 w 876300"/>
              <a:gd name="connsiteY2" fmla="*/ 323850 h 323850"/>
              <a:gd name="connsiteX3" fmla="*/ 876300 w 876300"/>
              <a:gd name="connsiteY3" fmla="*/ 85725 h 323850"/>
            </a:gdLst>
            <a:ahLst/>
            <a:cxnLst>
              <a:cxn ang="0">
                <a:pos x="connsiteX0" y="connsiteY0"/>
              </a:cxn>
              <a:cxn ang="0">
                <a:pos x="connsiteX1" y="connsiteY1"/>
              </a:cxn>
              <a:cxn ang="0">
                <a:pos x="connsiteX2" y="connsiteY2"/>
              </a:cxn>
              <a:cxn ang="0">
                <a:pos x="connsiteX3" y="connsiteY3"/>
              </a:cxn>
            </a:cxnLst>
            <a:rect l="l" t="t" r="r" b="b"/>
            <a:pathLst>
              <a:path w="876300" h="323850">
                <a:moveTo>
                  <a:pt x="0" y="0"/>
                </a:moveTo>
                <a:cubicBezTo>
                  <a:pt x="104775" y="15875"/>
                  <a:pt x="209550" y="31750"/>
                  <a:pt x="314325" y="85725"/>
                </a:cubicBezTo>
                <a:cubicBezTo>
                  <a:pt x="419100" y="139700"/>
                  <a:pt x="534988" y="323850"/>
                  <a:pt x="628650" y="323850"/>
                </a:cubicBezTo>
                <a:cubicBezTo>
                  <a:pt x="722312" y="323850"/>
                  <a:pt x="799306" y="204787"/>
                  <a:pt x="876300" y="857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Prototype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6/16/2019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pic>
        <p:nvPicPr>
          <p:cNvPr id="14338" name="Picture 2"/>
          <p:cNvPicPr>
            <a:picLocks noChangeAspect="1" noChangeArrowheads="1"/>
          </p:cNvPicPr>
          <p:nvPr/>
        </p:nvPicPr>
        <p:blipFill>
          <a:blip r:embed="rId2" cstate="print"/>
          <a:srcRect/>
          <a:stretch>
            <a:fillRect/>
          </a:stretch>
        </p:blipFill>
        <p:spPr bwMode="auto">
          <a:xfrm>
            <a:off x="1557338" y="2062163"/>
            <a:ext cx="6029325" cy="27336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Prototype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6/16/2019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pic>
        <p:nvPicPr>
          <p:cNvPr id="15362" name="Picture 2"/>
          <p:cNvPicPr>
            <a:picLocks noChangeAspect="1" noChangeArrowheads="1"/>
          </p:cNvPicPr>
          <p:nvPr/>
        </p:nvPicPr>
        <p:blipFill>
          <a:blip r:embed="rId2" cstate="print"/>
          <a:srcRect/>
          <a:stretch>
            <a:fillRect/>
          </a:stretch>
        </p:blipFill>
        <p:spPr bwMode="auto">
          <a:xfrm>
            <a:off x="1752600" y="1295400"/>
            <a:ext cx="5257800" cy="5038725"/>
          </a:xfrm>
          <a:prstGeom prst="rect">
            <a:avLst/>
          </a:prstGeom>
          <a:noFill/>
          <a:ln w="9525">
            <a:noFill/>
            <a:miter lim="800000"/>
            <a:headEnd/>
            <a:tailEnd/>
          </a:ln>
        </p:spPr>
      </p:pic>
      <p:sp>
        <p:nvSpPr>
          <p:cNvPr id="9" name="Folded Corner 8"/>
          <p:cNvSpPr/>
          <p:nvPr/>
        </p:nvSpPr>
        <p:spPr>
          <a:xfrm>
            <a:off x="1676400" y="1219200"/>
            <a:ext cx="3886200" cy="1143000"/>
          </a:xfrm>
          <a:prstGeom prst="foldedCorner">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lded Corner 9"/>
          <p:cNvSpPr/>
          <p:nvPr/>
        </p:nvSpPr>
        <p:spPr>
          <a:xfrm>
            <a:off x="1676400" y="2438400"/>
            <a:ext cx="5410200" cy="1905000"/>
          </a:xfrm>
          <a:prstGeom prst="foldedCorner">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olded Corner 10"/>
          <p:cNvSpPr/>
          <p:nvPr/>
        </p:nvSpPr>
        <p:spPr>
          <a:xfrm>
            <a:off x="1676400" y="4419600"/>
            <a:ext cx="5334000" cy="1905000"/>
          </a:xfrm>
          <a:prstGeom prst="foldedCorner">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7162800" y="2362200"/>
            <a:ext cx="1752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Method to create copies of Terrestrial characters</a:t>
            </a:r>
            <a:endParaRPr lang="en-US" sz="1200" b="1" dirty="0">
              <a:solidFill>
                <a:srgbClr val="C00000"/>
              </a:solidFill>
              <a:latin typeface="Bradley Hand ITC" pitchFamily="66" charset="0"/>
            </a:endParaRPr>
          </a:p>
        </p:txBody>
      </p:sp>
      <p:sp>
        <p:nvSpPr>
          <p:cNvPr id="13" name="Freeform 12"/>
          <p:cNvSpPr/>
          <p:nvPr/>
        </p:nvSpPr>
        <p:spPr>
          <a:xfrm>
            <a:off x="6248400" y="2819400"/>
            <a:ext cx="1066800" cy="533400"/>
          </a:xfrm>
          <a:custGeom>
            <a:avLst/>
            <a:gdLst>
              <a:gd name="connsiteX0" fmla="*/ 600075 w 600075"/>
              <a:gd name="connsiteY0" fmla="*/ 0 h 581025"/>
              <a:gd name="connsiteX1" fmla="*/ 304800 w 600075"/>
              <a:gd name="connsiteY1" fmla="*/ 152400 h 581025"/>
              <a:gd name="connsiteX2" fmla="*/ 228600 w 600075"/>
              <a:gd name="connsiteY2" fmla="*/ 485775 h 581025"/>
              <a:gd name="connsiteX3" fmla="*/ 0 w 600075"/>
              <a:gd name="connsiteY3" fmla="*/ 581025 h 581025"/>
            </a:gdLst>
            <a:ahLst/>
            <a:cxnLst>
              <a:cxn ang="0">
                <a:pos x="connsiteX0" y="connsiteY0"/>
              </a:cxn>
              <a:cxn ang="0">
                <a:pos x="connsiteX1" y="connsiteY1"/>
              </a:cxn>
              <a:cxn ang="0">
                <a:pos x="connsiteX2" y="connsiteY2"/>
              </a:cxn>
              <a:cxn ang="0">
                <a:pos x="connsiteX3" y="connsiteY3"/>
              </a:cxn>
            </a:cxnLst>
            <a:rect l="l" t="t" r="r" b="b"/>
            <a:pathLst>
              <a:path w="600075" h="581025">
                <a:moveTo>
                  <a:pt x="600075" y="0"/>
                </a:moveTo>
                <a:cubicBezTo>
                  <a:pt x="483393" y="35719"/>
                  <a:pt x="366712" y="71438"/>
                  <a:pt x="304800" y="152400"/>
                </a:cubicBezTo>
                <a:cubicBezTo>
                  <a:pt x="242888" y="233362"/>
                  <a:pt x="279400" y="414338"/>
                  <a:pt x="228600" y="485775"/>
                </a:cubicBezTo>
                <a:cubicBezTo>
                  <a:pt x="177800" y="557212"/>
                  <a:pt x="88900" y="569118"/>
                  <a:pt x="0" y="5810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7010400" y="4267200"/>
            <a:ext cx="1752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Method to create copies of Aerial characters</a:t>
            </a:r>
            <a:endParaRPr lang="en-US" sz="1200" b="1" dirty="0">
              <a:solidFill>
                <a:srgbClr val="C00000"/>
              </a:solidFill>
              <a:latin typeface="Bradley Hand ITC" pitchFamily="66" charset="0"/>
            </a:endParaRPr>
          </a:p>
        </p:txBody>
      </p:sp>
      <p:sp>
        <p:nvSpPr>
          <p:cNvPr id="15" name="Freeform 14"/>
          <p:cNvSpPr/>
          <p:nvPr/>
        </p:nvSpPr>
        <p:spPr>
          <a:xfrm>
            <a:off x="6248400" y="4495800"/>
            <a:ext cx="990600" cy="1371600"/>
          </a:xfrm>
          <a:custGeom>
            <a:avLst/>
            <a:gdLst>
              <a:gd name="connsiteX0" fmla="*/ 600075 w 600075"/>
              <a:gd name="connsiteY0" fmla="*/ 0 h 581025"/>
              <a:gd name="connsiteX1" fmla="*/ 304800 w 600075"/>
              <a:gd name="connsiteY1" fmla="*/ 152400 h 581025"/>
              <a:gd name="connsiteX2" fmla="*/ 228600 w 600075"/>
              <a:gd name="connsiteY2" fmla="*/ 485775 h 581025"/>
              <a:gd name="connsiteX3" fmla="*/ 0 w 600075"/>
              <a:gd name="connsiteY3" fmla="*/ 581025 h 581025"/>
            </a:gdLst>
            <a:ahLst/>
            <a:cxnLst>
              <a:cxn ang="0">
                <a:pos x="connsiteX0" y="connsiteY0"/>
              </a:cxn>
              <a:cxn ang="0">
                <a:pos x="connsiteX1" y="connsiteY1"/>
              </a:cxn>
              <a:cxn ang="0">
                <a:pos x="connsiteX2" y="connsiteY2"/>
              </a:cxn>
              <a:cxn ang="0">
                <a:pos x="connsiteX3" y="connsiteY3"/>
              </a:cxn>
            </a:cxnLst>
            <a:rect l="l" t="t" r="r" b="b"/>
            <a:pathLst>
              <a:path w="600075" h="581025">
                <a:moveTo>
                  <a:pt x="600075" y="0"/>
                </a:moveTo>
                <a:cubicBezTo>
                  <a:pt x="483393" y="35719"/>
                  <a:pt x="366712" y="71438"/>
                  <a:pt x="304800" y="152400"/>
                </a:cubicBezTo>
                <a:cubicBezTo>
                  <a:pt x="242888" y="233362"/>
                  <a:pt x="279400" y="414338"/>
                  <a:pt x="228600" y="485775"/>
                </a:cubicBezTo>
                <a:cubicBezTo>
                  <a:pt x="177800" y="557212"/>
                  <a:pt x="88900" y="569118"/>
                  <a:pt x="0" y="5810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p:cNvSpPr txBox="1"/>
          <p:nvPr/>
        </p:nvSpPr>
        <p:spPr>
          <a:xfrm>
            <a:off x="7086600" y="5029200"/>
            <a:ext cx="16002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Consider how client code would look like when programmed against this design…</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Prototype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6/16/2019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pic>
        <p:nvPicPr>
          <p:cNvPr id="16386" name="Picture 2"/>
          <p:cNvPicPr>
            <a:picLocks noChangeAspect="1" noChangeArrowheads="1"/>
          </p:cNvPicPr>
          <p:nvPr/>
        </p:nvPicPr>
        <p:blipFill>
          <a:blip r:embed="rId2" cstate="print"/>
          <a:srcRect/>
          <a:stretch>
            <a:fillRect/>
          </a:stretch>
        </p:blipFill>
        <p:spPr bwMode="auto">
          <a:xfrm>
            <a:off x="2514600" y="1143000"/>
            <a:ext cx="4663440" cy="5334000"/>
          </a:xfrm>
          <a:prstGeom prst="rect">
            <a:avLst/>
          </a:prstGeom>
          <a:noFill/>
          <a:ln w="9525">
            <a:noFill/>
            <a:miter lim="800000"/>
            <a:headEnd/>
            <a:tailEnd/>
          </a:ln>
        </p:spPr>
      </p:pic>
      <p:sp>
        <p:nvSpPr>
          <p:cNvPr id="8" name="Right Brace 7"/>
          <p:cNvSpPr/>
          <p:nvPr/>
        </p:nvSpPr>
        <p:spPr>
          <a:xfrm flipH="1">
            <a:off x="2362200" y="2743200"/>
            <a:ext cx="228600" cy="3505200"/>
          </a:xfrm>
          <a:prstGeom prst="rightBrace">
            <a:avLst/>
          </a:prstGeom>
          <a:ln w="6350">
            <a:solidFill>
              <a:srgbClr val="C0000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p:cNvSpPr txBox="1"/>
          <p:nvPr/>
        </p:nvSpPr>
        <p:spPr>
          <a:xfrm>
            <a:off x="381000" y="3886200"/>
            <a:ext cx="2057400" cy="1754326"/>
          </a:xfrm>
          <a:prstGeom prst="rect">
            <a:avLst/>
          </a:prstGeom>
          <a:noFill/>
        </p:spPr>
        <p:txBody>
          <a:bodyPr wrap="square" rtlCol="0">
            <a:spAutoFit/>
          </a:bodyPr>
          <a:lstStyle/>
          <a:p>
            <a:r>
              <a:rPr lang="en-US" sz="1200" b="1" dirty="0" smtClean="0">
                <a:solidFill>
                  <a:srgbClr val="C00000"/>
                </a:solidFill>
                <a:latin typeface="Bradley Hand ITC" pitchFamily="66" charset="0"/>
              </a:rPr>
              <a:t>Yikes! </a:t>
            </a:r>
          </a:p>
          <a:p>
            <a:endParaRPr lang="en-US" sz="1200" b="1" dirty="0" smtClean="0">
              <a:solidFill>
                <a:srgbClr val="C00000"/>
              </a:solidFill>
              <a:latin typeface="Bradley Hand ITC" pitchFamily="66" charset="0"/>
            </a:endParaRPr>
          </a:p>
          <a:p>
            <a:endParaRPr lang="en-US" sz="1200" b="1" dirty="0" smtClean="0">
              <a:solidFill>
                <a:srgbClr val="C00000"/>
              </a:solidFill>
              <a:latin typeface="Bradley Hand ITC" pitchFamily="66" charset="0"/>
            </a:endParaRPr>
          </a:p>
          <a:p>
            <a:pPr algn="ctr"/>
            <a:r>
              <a:rPr lang="en-US" sz="1200" b="1" dirty="0" smtClean="0">
                <a:solidFill>
                  <a:srgbClr val="C00000"/>
                </a:solidFill>
                <a:latin typeface="Bradley Hand ITC" pitchFamily="66" charset="0"/>
              </a:rPr>
              <a:t>What happens if we introduce a new character to the game?  </a:t>
            </a:r>
          </a:p>
          <a:p>
            <a:pPr algn="ctr"/>
            <a:endParaRPr lang="en-US" sz="1200" b="1" dirty="0" smtClean="0">
              <a:solidFill>
                <a:srgbClr val="C00000"/>
              </a:solidFill>
              <a:latin typeface="Bradley Hand ITC" pitchFamily="66" charset="0"/>
            </a:endParaRPr>
          </a:p>
          <a:p>
            <a:pPr algn="ctr"/>
            <a:endParaRPr lang="en-US" sz="1200" b="1" dirty="0" smtClean="0">
              <a:solidFill>
                <a:srgbClr val="C00000"/>
              </a:solidFill>
              <a:latin typeface="Bradley Hand ITC" pitchFamily="66" charset="0"/>
            </a:endParaRPr>
          </a:p>
          <a:p>
            <a:pPr algn="r"/>
            <a:r>
              <a:rPr lang="en-US" sz="1200" b="1" dirty="0" smtClean="0">
                <a:solidFill>
                  <a:srgbClr val="C00000"/>
                </a:solidFill>
                <a:latin typeface="Bradley Hand ITC" pitchFamily="66" charset="0"/>
              </a:rPr>
              <a:t>This violates OCP!</a:t>
            </a:r>
            <a:endParaRPr lang="en-US" sz="1200" b="1" dirty="0">
              <a:solidFill>
                <a:srgbClr val="C00000"/>
              </a:solidFill>
              <a:latin typeface="Bradley Hand ITC" pitchFamily="66" charset="0"/>
            </a:endParaRPr>
          </a:p>
        </p:txBody>
      </p:sp>
      <p:sp>
        <p:nvSpPr>
          <p:cNvPr id="10" name="TextBox 9"/>
          <p:cNvSpPr txBox="1"/>
          <p:nvPr/>
        </p:nvSpPr>
        <p:spPr>
          <a:xfrm>
            <a:off x="5791200" y="5715000"/>
            <a:ext cx="2514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Let’s see how we can improve things with the Prototype design pattern…</a:t>
            </a:r>
            <a:endParaRPr lang="en-US" sz="1200" b="1" dirty="0">
              <a:solidFill>
                <a:srgbClr val="C00000"/>
              </a:solidFill>
              <a:latin typeface="Bradley Hand ITC" pitchFamily="66" charset="0"/>
            </a:endParaRPr>
          </a:p>
        </p:txBody>
      </p:sp>
      <p:cxnSp>
        <p:nvCxnSpPr>
          <p:cNvPr id="12" name="Straight Arrow Connector 11"/>
          <p:cNvCxnSpPr/>
          <p:nvPr/>
        </p:nvCxnSpPr>
        <p:spPr>
          <a:xfrm flipH="1">
            <a:off x="6096000" y="4114800"/>
            <a:ext cx="990600" cy="0"/>
          </a:xfrm>
          <a:prstGeom prst="straightConnector1">
            <a:avLst/>
          </a:pr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5562600" y="5486400"/>
            <a:ext cx="1524000" cy="0"/>
          </a:xfrm>
          <a:prstGeom prst="straightConnector1">
            <a:avLst/>
          </a:pr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Prototype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6/16/2019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pic>
        <p:nvPicPr>
          <p:cNvPr id="13314" name="Picture 2"/>
          <p:cNvPicPr>
            <a:picLocks noChangeAspect="1" noChangeArrowheads="1"/>
          </p:cNvPicPr>
          <p:nvPr/>
        </p:nvPicPr>
        <p:blipFill>
          <a:blip r:embed="rId2" cstate="print"/>
          <a:srcRect/>
          <a:stretch>
            <a:fillRect/>
          </a:stretch>
        </p:blipFill>
        <p:spPr bwMode="auto">
          <a:xfrm>
            <a:off x="2486025" y="2486025"/>
            <a:ext cx="4171950" cy="1885950"/>
          </a:xfrm>
          <a:prstGeom prst="rect">
            <a:avLst/>
          </a:prstGeom>
          <a:noFill/>
          <a:ln w="9525">
            <a:noFill/>
            <a:miter lim="800000"/>
            <a:headEnd/>
            <a:tailEnd/>
          </a:ln>
        </p:spPr>
      </p:pic>
      <p:sp>
        <p:nvSpPr>
          <p:cNvPr id="8" name="TextBox 7"/>
          <p:cNvSpPr txBox="1"/>
          <p:nvPr/>
        </p:nvSpPr>
        <p:spPr>
          <a:xfrm>
            <a:off x="6248400" y="2133600"/>
            <a:ext cx="2514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Add the prototype clone interface method to the Character interface</a:t>
            </a:r>
            <a:endParaRPr lang="en-US" sz="1200" b="1" dirty="0">
              <a:solidFill>
                <a:srgbClr val="C00000"/>
              </a:solidFill>
              <a:latin typeface="Bradley Hand ITC" pitchFamily="66" charset="0"/>
            </a:endParaRPr>
          </a:p>
        </p:txBody>
      </p:sp>
      <p:sp>
        <p:nvSpPr>
          <p:cNvPr id="9" name="Freeform 8"/>
          <p:cNvSpPr/>
          <p:nvPr/>
        </p:nvSpPr>
        <p:spPr>
          <a:xfrm>
            <a:off x="5838825" y="2419350"/>
            <a:ext cx="552450" cy="619125"/>
          </a:xfrm>
          <a:custGeom>
            <a:avLst/>
            <a:gdLst>
              <a:gd name="connsiteX0" fmla="*/ 552450 w 552450"/>
              <a:gd name="connsiteY0" fmla="*/ 0 h 619125"/>
              <a:gd name="connsiteX1" fmla="*/ 304800 w 552450"/>
              <a:gd name="connsiteY1" fmla="*/ 142875 h 619125"/>
              <a:gd name="connsiteX2" fmla="*/ 209550 w 552450"/>
              <a:gd name="connsiteY2" fmla="*/ 533400 h 619125"/>
              <a:gd name="connsiteX3" fmla="*/ 0 w 552450"/>
              <a:gd name="connsiteY3" fmla="*/ 619125 h 619125"/>
            </a:gdLst>
            <a:ahLst/>
            <a:cxnLst>
              <a:cxn ang="0">
                <a:pos x="connsiteX0" y="connsiteY0"/>
              </a:cxn>
              <a:cxn ang="0">
                <a:pos x="connsiteX1" y="connsiteY1"/>
              </a:cxn>
              <a:cxn ang="0">
                <a:pos x="connsiteX2" y="connsiteY2"/>
              </a:cxn>
              <a:cxn ang="0">
                <a:pos x="connsiteX3" y="connsiteY3"/>
              </a:cxn>
            </a:cxnLst>
            <a:rect l="l" t="t" r="r" b="b"/>
            <a:pathLst>
              <a:path w="552450" h="619125">
                <a:moveTo>
                  <a:pt x="552450" y="0"/>
                </a:moveTo>
                <a:cubicBezTo>
                  <a:pt x="457200" y="26987"/>
                  <a:pt x="361950" y="53975"/>
                  <a:pt x="304800" y="142875"/>
                </a:cubicBezTo>
                <a:cubicBezTo>
                  <a:pt x="247650" y="231775"/>
                  <a:pt x="260350" y="454025"/>
                  <a:pt x="209550" y="533400"/>
                </a:cubicBezTo>
                <a:cubicBezTo>
                  <a:pt x="158750" y="612775"/>
                  <a:pt x="79375" y="615950"/>
                  <a:pt x="0" y="6191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3886200" y="4495800"/>
            <a:ext cx="2514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Concrete Characters must obey the Character interface!</a:t>
            </a:r>
            <a:endParaRPr lang="en-US" sz="1200" b="1" dirty="0">
              <a:solidFill>
                <a:srgbClr val="C00000"/>
              </a:solidFill>
              <a:latin typeface="Bradley Hand ITC" pitchFamily="66" charset="0"/>
            </a:endParaRPr>
          </a:p>
        </p:txBody>
      </p:sp>
      <p:sp>
        <p:nvSpPr>
          <p:cNvPr id="11" name="TextBox 10"/>
          <p:cNvSpPr txBox="1"/>
          <p:nvPr/>
        </p:nvSpPr>
        <p:spPr>
          <a:xfrm>
            <a:off x="457200" y="3352800"/>
            <a:ext cx="25146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client can now rely on the clone interface to create Character objects, regardless of which Character subtype is actually active!</a:t>
            </a:r>
            <a:endParaRPr lang="en-US" sz="1200" b="1" dirty="0">
              <a:solidFill>
                <a:srgbClr val="C00000"/>
              </a:solidFill>
              <a:latin typeface="Bradley Hand ITC" pitchFamily="66" charset="0"/>
            </a:endParaRPr>
          </a:p>
        </p:txBody>
      </p:sp>
      <p:sp>
        <p:nvSpPr>
          <p:cNvPr id="12" name="Freeform 11"/>
          <p:cNvSpPr/>
          <p:nvPr/>
        </p:nvSpPr>
        <p:spPr>
          <a:xfrm>
            <a:off x="2800350" y="3086100"/>
            <a:ext cx="538162" cy="876300"/>
          </a:xfrm>
          <a:custGeom>
            <a:avLst/>
            <a:gdLst>
              <a:gd name="connsiteX0" fmla="*/ 0 w 538162"/>
              <a:gd name="connsiteY0" fmla="*/ 876300 h 876300"/>
              <a:gd name="connsiteX1" fmla="*/ 485775 w 538162"/>
              <a:gd name="connsiteY1" fmla="*/ 657225 h 876300"/>
              <a:gd name="connsiteX2" fmla="*/ 314325 w 538162"/>
              <a:gd name="connsiteY2" fmla="*/ 285750 h 876300"/>
              <a:gd name="connsiteX3" fmla="*/ 485775 w 538162"/>
              <a:gd name="connsiteY3" fmla="*/ 0 h 876300"/>
            </a:gdLst>
            <a:ahLst/>
            <a:cxnLst>
              <a:cxn ang="0">
                <a:pos x="connsiteX0" y="connsiteY0"/>
              </a:cxn>
              <a:cxn ang="0">
                <a:pos x="connsiteX1" y="connsiteY1"/>
              </a:cxn>
              <a:cxn ang="0">
                <a:pos x="connsiteX2" y="connsiteY2"/>
              </a:cxn>
              <a:cxn ang="0">
                <a:pos x="connsiteX3" y="connsiteY3"/>
              </a:cxn>
            </a:cxnLst>
            <a:rect l="l" t="t" r="r" b="b"/>
            <a:pathLst>
              <a:path w="538162" h="876300">
                <a:moveTo>
                  <a:pt x="0" y="876300"/>
                </a:moveTo>
                <a:cubicBezTo>
                  <a:pt x="216694" y="815975"/>
                  <a:pt x="433388" y="755650"/>
                  <a:pt x="485775" y="657225"/>
                </a:cubicBezTo>
                <a:cubicBezTo>
                  <a:pt x="538162" y="558800"/>
                  <a:pt x="314325" y="395287"/>
                  <a:pt x="314325" y="285750"/>
                </a:cubicBezTo>
                <a:cubicBezTo>
                  <a:pt x="314325" y="176213"/>
                  <a:pt x="400050" y="88106"/>
                  <a:pt x="48577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Prototype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6/16/2019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grpSp>
        <p:nvGrpSpPr>
          <p:cNvPr id="15" name="Group 14"/>
          <p:cNvGrpSpPr/>
          <p:nvPr/>
        </p:nvGrpSpPr>
        <p:grpSpPr>
          <a:xfrm>
            <a:off x="533400" y="3352800"/>
            <a:ext cx="3967646" cy="2590800"/>
            <a:chOff x="609600" y="3429000"/>
            <a:chExt cx="3967646" cy="2590800"/>
          </a:xfrm>
        </p:grpSpPr>
        <p:pic>
          <p:nvPicPr>
            <p:cNvPr id="17411" name="Picture 3"/>
            <p:cNvPicPr>
              <a:picLocks noChangeAspect="1" noChangeArrowheads="1"/>
            </p:cNvPicPr>
            <p:nvPr/>
          </p:nvPicPr>
          <p:blipFill>
            <a:blip r:embed="rId2" cstate="print"/>
            <a:srcRect/>
            <a:stretch>
              <a:fillRect/>
            </a:stretch>
          </p:blipFill>
          <p:spPr bwMode="auto">
            <a:xfrm>
              <a:off x="685800" y="3505200"/>
              <a:ext cx="3891446" cy="2514600"/>
            </a:xfrm>
            <a:prstGeom prst="rect">
              <a:avLst/>
            </a:prstGeom>
            <a:solidFill>
              <a:schemeClr val="bg1"/>
            </a:solidFill>
            <a:ln w="9525">
              <a:noFill/>
              <a:miter lim="800000"/>
              <a:headEnd/>
              <a:tailEnd/>
            </a:ln>
          </p:spPr>
        </p:pic>
        <p:sp>
          <p:nvSpPr>
            <p:cNvPr id="11" name="Folded Corner 10"/>
            <p:cNvSpPr/>
            <p:nvPr/>
          </p:nvSpPr>
          <p:spPr>
            <a:xfrm>
              <a:off x="609600" y="3429000"/>
              <a:ext cx="3962400" cy="2590800"/>
            </a:xfrm>
            <a:prstGeom prst="foldedCorner">
              <a:avLst/>
            </a:prstGeom>
            <a:no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p:cNvGrpSpPr/>
          <p:nvPr/>
        </p:nvGrpSpPr>
        <p:grpSpPr>
          <a:xfrm>
            <a:off x="4876800" y="3352800"/>
            <a:ext cx="3810000" cy="2595562"/>
            <a:chOff x="4876800" y="3429000"/>
            <a:chExt cx="3810000" cy="2595562"/>
          </a:xfrm>
        </p:grpSpPr>
        <p:pic>
          <p:nvPicPr>
            <p:cNvPr id="17412" name="Picture 4"/>
            <p:cNvPicPr>
              <a:picLocks noChangeAspect="1" noChangeArrowheads="1"/>
            </p:cNvPicPr>
            <p:nvPr/>
          </p:nvPicPr>
          <p:blipFill>
            <a:blip r:embed="rId3" cstate="print"/>
            <a:srcRect/>
            <a:stretch>
              <a:fillRect/>
            </a:stretch>
          </p:blipFill>
          <p:spPr bwMode="auto">
            <a:xfrm>
              <a:off x="4953000" y="3505200"/>
              <a:ext cx="3712331" cy="2519362"/>
            </a:xfrm>
            <a:prstGeom prst="rect">
              <a:avLst/>
            </a:prstGeom>
            <a:noFill/>
            <a:ln w="9525">
              <a:noFill/>
              <a:miter lim="800000"/>
              <a:headEnd/>
              <a:tailEnd/>
            </a:ln>
          </p:spPr>
        </p:pic>
        <p:sp>
          <p:nvSpPr>
            <p:cNvPr id="12" name="Folded Corner 11"/>
            <p:cNvSpPr/>
            <p:nvPr/>
          </p:nvSpPr>
          <p:spPr>
            <a:xfrm>
              <a:off x="4876800" y="3429000"/>
              <a:ext cx="3810000" cy="2590800"/>
            </a:xfrm>
            <a:prstGeom prst="foldedCorner">
              <a:avLst/>
            </a:prstGeom>
            <a:no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p:cNvGrpSpPr/>
          <p:nvPr/>
        </p:nvGrpSpPr>
        <p:grpSpPr>
          <a:xfrm>
            <a:off x="3200400" y="1295400"/>
            <a:ext cx="3505200" cy="1752600"/>
            <a:chOff x="533400" y="1371600"/>
            <a:chExt cx="3505200" cy="1752600"/>
          </a:xfrm>
        </p:grpSpPr>
        <p:pic>
          <p:nvPicPr>
            <p:cNvPr id="17410" name="Picture 2"/>
            <p:cNvPicPr>
              <a:picLocks noChangeAspect="1" noChangeArrowheads="1"/>
            </p:cNvPicPr>
            <p:nvPr/>
          </p:nvPicPr>
          <p:blipFill>
            <a:blip r:embed="rId4" cstate="print"/>
            <a:srcRect/>
            <a:stretch>
              <a:fillRect/>
            </a:stretch>
          </p:blipFill>
          <p:spPr bwMode="auto">
            <a:xfrm>
              <a:off x="609600" y="1447800"/>
              <a:ext cx="3429000" cy="1621596"/>
            </a:xfrm>
            <a:prstGeom prst="rect">
              <a:avLst/>
            </a:prstGeom>
            <a:noFill/>
            <a:ln w="9525">
              <a:noFill/>
              <a:miter lim="800000"/>
              <a:headEnd/>
              <a:tailEnd/>
            </a:ln>
          </p:spPr>
        </p:pic>
        <p:sp>
          <p:nvSpPr>
            <p:cNvPr id="13" name="Folded Corner 12"/>
            <p:cNvSpPr/>
            <p:nvPr/>
          </p:nvSpPr>
          <p:spPr>
            <a:xfrm>
              <a:off x="533400" y="1371600"/>
              <a:ext cx="3505200" cy="1752600"/>
            </a:xfrm>
            <a:prstGeom prst="foldedCorner">
              <a:avLst/>
            </a:prstGeom>
            <a:no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Prototype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6/16/2019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grpSp>
        <p:nvGrpSpPr>
          <p:cNvPr id="8" name="Group 7"/>
          <p:cNvGrpSpPr/>
          <p:nvPr/>
        </p:nvGrpSpPr>
        <p:grpSpPr>
          <a:xfrm>
            <a:off x="4648200" y="1447800"/>
            <a:ext cx="4114800" cy="1752600"/>
            <a:chOff x="4648200" y="1447800"/>
            <a:chExt cx="4114800" cy="1752600"/>
          </a:xfrm>
        </p:grpSpPr>
        <p:pic>
          <p:nvPicPr>
            <p:cNvPr id="9" name="Picture 5"/>
            <p:cNvPicPr>
              <a:picLocks noChangeAspect="1" noChangeArrowheads="1"/>
            </p:cNvPicPr>
            <p:nvPr/>
          </p:nvPicPr>
          <p:blipFill>
            <a:blip r:embed="rId2" cstate="print"/>
            <a:srcRect/>
            <a:stretch>
              <a:fillRect/>
            </a:stretch>
          </p:blipFill>
          <p:spPr bwMode="auto">
            <a:xfrm>
              <a:off x="4724400" y="1524000"/>
              <a:ext cx="3985114" cy="1600200"/>
            </a:xfrm>
            <a:prstGeom prst="rect">
              <a:avLst/>
            </a:prstGeom>
            <a:noFill/>
            <a:ln w="9525">
              <a:noFill/>
              <a:miter lim="800000"/>
              <a:headEnd/>
              <a:tailEnd/>
            </a:ln>
          </p:spPr>
        </p:pic>
        <p:sp>
          <p:nvSpPr>
            <p:cNvPr id="10" name="Folded Corner 9"/>
            <p:cNvSpPr/>
            <p:nvPr/>
          </p:nvSpPr>
          <p:spPr>
            <a:xfrm>
              <a:off x="4648200" y="1447800"/>
              <a:ext cx="4114800" cy="1752600"/>
            </a:xfrm>
            <a:prstGeom prst="foldedCorner">
              <a:avLst/>
            </a:prstGeom>
            <a:no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p:cNvGrpSpPr/>
          <p:nvPr/>
        </p:nvGrpSpPr>
        <p:grpSpPr>
          <a:xfrm>
            <a:off x="533400" y="1447800"/>
            <a:ext cx="3816531" cy="4343400"/>
            <a:chOff x="381000" y="1295400"/>
            <a:chExt cx="3816531" cy="4343400"/>
          </a:xfrm>
        </p:grpSpPr>
        <p:pic>
          <p:nvPicPr>
            <p:cNvPr id="7" name="Picture 2"/>
            <p:cNvPicPr>
              <a:picLocks noChangeAspect="1" noChangeArrowheads="1"/>
            </p:cNvPicPr>
            <p:nvPr/>
          </p:nvPicPr>
          <p:blipFill>
            <a:blip r:embed="rId3" cstate="print"/>
            <a:srcRect/>
            <a:stretch>
              <a:fillRect/>
            </a:stretch>
          </p:blipFill>
          <p:spPr bwMode="auto">
            <a:xfrm>
              <a:off x="533400" y="1371600"/>
              <a:ext cx="3664131" cy="4191000"/>
            </a:xfrm>
            <a:prstGeom prst="rect">
              <a:avLst/>
            </a:prstGeom>
            <a:noFill/>
            <a:ln w="9525">
              <a:noFill/>
              <a:miter lim="800000"/>
              <a:headEnd/>
              <a:tailEnd/>
            </a:ln>
          </p:spPr>
        </p:pic>
        <p:sp>
          <p:nvSpPr>
            <p:cNvPr id="11" name="Folded Corner 10"/>
            <p:cNvSpPr/>
            <p:nvPr/>
          </p:nvSpPr>
          <p:spPr>
            <a:xfrm>
              <a:off x="381000" y="1295400"/>
              <a:ext cx="3810000" cy="4343400"/>
            </a:xfrm>
            <a:prstGeom prst="foldedCorner">
              <a:avLst/>
            </a:prstGeom>
            <a:no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p:cNvSpPr txBox="1"/>
          <p:nvPr/>
        </p:nvSpPr>
        <p:spPr>
          <a:xfrm>
            <a:off x="4800600" y="4114800"/>
            <a:ext cx="25146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We can now replace this with that!</a:t>
            </a:r>
            <a:endParaRPr lang="en-US" sz="1200" b="1" dirty="0">
              <a:solidFill>
                <a:srgbClr val="C00000"/>
              </a:solidFill>
              <a:latin typeface="Bradley Hand ITC" pitchFamily="66" charset="0"/>
            </a:endParaRPr>
          </a:p>
        </p:txBody>
      </p:sp>
      <p:sp>
        <p:nvSpPr>
          <p:cNvPr id="15" name="Freeform 14"/>
          <p:cNvSpPr/>
          <p:nvPr/>
        </p:nvSpPr>
        <p:spPr>
          <a:xfrm>
            <a:off x="4229100" y="4114800"/>
            <a:ext cx="2286000" cy="428625"/>
          </a:xfrm>
          <a:custGeom>
            <a:avLst/>
            <a:gdLst>
              <a:gd name="connsiteX0" fmla="*/ 2314575 w 2314575"/>
              <a:gd name="connsiteY0" fmla="*/ 333375 h 722312"/>
              <a:gd name="connsiteX1" fmla="*/ 2000250 w 2314575"/>
              <a:gd name="connsiteY1" fmla="*/ 619125 h 722312"/>
              <a:gd name="connsiteX2" fmla="*/ 476250 w 2314575"/>
              <a:gd name="connsiteY2" fmla="*/ 619125 h 722312"/>
              <a:gd name="connsiteX3" fmla="*/ 0 w 2314575"/>
              <a:gd name="connsiteY3" fmla="*/ 0 h 722312"/>
            </a:gdLst>
            <a:ahLst/>
            <a:cxnLst>
              <a:cxn ang="0">
                <a:pos x="connsiteX0" y="connsiteY0"/>
              </a:cxn>
              <a:cxn ang="0">
                <a:pos x="connsiteX1" y="connsiteY1"/>
              </a:cxn>
              <a:cxn ang="0">
                <a:pos x="connsiteX2" y="connsiteY2"/>
              </a:cxn>
              <a:cxn ang="0">
                <a:pos x="connsiteX3" y="connsiteY3"/>
              </a:cxn>
            </a:cxnLst>
            <a:rect l="l" t="t" r="r" b="b"/>
            <a:pathLst>
              <a:path w="2314575" h="722312">
                <a:moveTo>
                  <a:pt x="2314575" y="333375"/>
                </a:moveTo>
                <a:cubicBezTo>
                  <a:pt x="2310606" y="452437"/>
                  <a:pt x="2306637" y="571500"/>
                  <a:pt x="2000250" y="619125"/>
                </a:cubicBezTo>
                <a:cubicBezTo>
                  <a:pt x="1693863" y="666750"/>
                  <a:pt x="809625" y="722312"/>
                  <a:pt x="476250" y="619125"/>
                </a:cubicBezTo>
                <a:cubicBezTo>
                  <a:pt x="142875" y="515938"/>
                  <a:pt x="71437" y="257969"/>
                  <a:pt x="0" y="0"/>
                </a:cubicBezTo>
              </a:path>
            </a:pathLst>
          </a:custGeom>
          <a:ln w="6350">
            <a:solidFill>
              <a:srgbClr val="C00000"/>
            </a:solidFill>
            <a:prstDash val="dash"/>
            <a:headEnd type="diamond"/>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Freeform 15"/>
          <p:cNvSpPr/>
          <p:nvPr/>
        </p:nvSpPr>
        <p:spPr>
          <a:xfrm>
            <a:off x="7010400" y="3124200"/>
            <a:ext cx="906462" cy="990600"/>
          </a:xfrm>
          <a:custGeom>
            <a:avLst/>
            <a:gdLst>
              <a:gd name="connsiteX0" fmla="*/ 0 w 792162"/>
              <a:gd name="connsiteY0" fmla="*/ 1066800 h 1066800"/>
              <a:gd name="connsiteX1" fmla="*/ 333375 w 792162"/>
              <a:gd name="connsiteY1" fmla="*/ 742950 h 1066800"/>
              <a:gd name="connsiteX2" fmla="*/ 742950 w 792162"/>
              <a:gd name="connsiteY2" fmla="*/ 609600 h 1066800"/>
              <a:gd name="connsiteX3" fmla="*/ 628650 w 792162"/>
              <a:gd name="connsiteY3" fmla="*/ 285750 h 1066800"/>
              <a:gd name="connsiteX4" fmla="*/ 714375 w 792162"/>
              <a:gd name="connsiteY4" fmla="*/ 0 h 106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2162" h="1066800">
                <a:moveTo>
                  <a:pt x="0" y="1066800"/>
                </a:moveTo>
                <a:cubicBezTo>
                  <a:pt x="104775" y="942975"/>
                  <a:pt x="209550" y="819150"/>
                  <a:pt x="333375" y="742950"/>
                </a:cubicBezTo>
                <a:cubicBezTo>
                  <a:pt x="457200" y="666750"/>
                  <a:pt x="693738" y="685800"/>
                  <a:pt x="742950" y="609600"/>
                </a:cubicBezTo>
                <a:cubicBezTo>
                  <a:pt x="792162" y="533400"/>
                  <a:pt x="633413" y="387350"/>
                  <a:pt x="628650" y="285750"/>
                </a:cubicBezTo>
                <a:cubicBezTo>
                  <a:pt x="623888" y="184150"/>
                  <a:pt x="669131" y="92075"/>
                  <a:pt x="714375" y="0"/>
                </a:cubicBezTo>
              </a:path>
            </a:pathLst>
          </a:custGeom>
          <a:ln w="6350">
            <a:solidFill>
              <a:srgbClr val="C00000"/>
            </a:solidFill>
            <a:prstDash val="dash"/>
            <a:headEnd type="diamond"/>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Freeform 17"/>
          <p:cNvSpPr/>
          <p:nvPr/>
        </p:nvSpPr>
        <p:spPr>
          <a:xfrm>
            <a:off x="2628900" y="1685925"/>
            <a:ext cx="2057400" cy="266700"/>
          </a:xfrm>
          <a:custGeom>
            <a:avLst/>
            <a:gdLst>
              <a:gd name="connsiteX0" fmla="*/ 0 w 2057400"/>
              <a:gd name="connsiteY0" fmla="*/ 0 h 266700"/>
              <a:gd name="connsiteX1" fmla="*/ 1504950 w 2057400"/>
              <a:gd name="connsiteY1" fmla="*/ 47625 h 266700"/>
              <a:gd name="connsiteX2" fmla="*/ 1838325 w 2057400"/>
              <a:gd name="connsiteY2" fmla="*/ 209550 h 266700"/>
              <a:gd name="connsiteX3" fmla="*/ 2057400 w 2057400"/>
              <a:gd name="connsiteY3" fmla="*/ 266700 h 266700"/>
            </a:gdLst>
            <a:ahLst/>
            <a:cxnLst>
              <a:cxn ang="0">
                <a:pos x="connsiteX0" y="connsiteY0"/>
              </a:cxn>
              <a:cxn ang="0">
                <a:pos x="connsiteX1" y="connsiteY1"/>
              </a:cxn>
              <a:cxn ang="0">
                <a:pos x="connsiteX2" y="connsiteY2"/>
              </a:cxn>
              <a:cxn ang="0">
                <a:pos x="connsiteX3" y="connsiteY3"/>
              </a:cxn>
            </a:cxnLst>
            <a:rect l="l" t="t" r="r" b="b"/>
            <a:pathLst>
              <a:path w="2057400" h="266700">
                <a:moveTo>
                  <a:pt x="0" y="0"/>
                </a:moveTo>
                <a:cubicBezTo>
                  <a:pt x="599281" y="6350"/>
                  <a:pt x="1198563" y="12700"/>
                  <a:pt x="1504950" y="47625"/>
                </a:cubicBezTo>
                <a:cubicBezTo>
                  <a:pt x="1811337" y="82550"/>
                  <a:pt x="1746250" y="173038"/>
                  <a:pt x="1838325" y="209550"/>
                </a:cubicBezTo>
                <a:cubicBezTo>
                  <a:pt x="1930400" y="246062"/>
                  <a:pt x="1993900" y="256381"/>
                  <a:pt x="2057400" y="266700"/>
                </a:cubicBezTo>
              </a:path>
            </a:pathLst>
          </a:custGeom>
          <a:ln w="6350">
            <a:solidFill>
              <a:srgbClr val="C00000"/>
            </a:solidFill>
            <a:prstDash val="dash"/>
            <a:headEnd type="stealt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Prototype Design Pattern Example</a:t>
            </a:r>
            <a:endParaRPr lang="en-US" dirty="0"/>
          </a:p>
        </p:txBody>
      </p:sp>
      <p:sp>
        <p:nvSpPr>
          <p:cNvPr id="3" name="Content Placeholder 2"/>
          <p:cNvSpPr>
            <a:spLocks noGrp="1"/>
          </p:cNvSpPr>
          <p:nvPr>
            <p:ph idx="1"/>
          </p:nvPr>
        </p:nvSpPr>
        <p:spPr/>
        <p:txBody>
          <a:bodyPr/>
          <a:lstStyle/>
          <a:p>
            <a:r>
              <a:rPr lang="en-US" dirty="0" smtClean="0"/>
              <a:t>Steps to design using the Prototype design pattern include:</a:t>
            </a:r>
          </a:p>
          <a:p>
            <a:pPr marL="800100" lvl="1" indent="-342900">
              <a:buFont typeface="+mj-lt"/>
              <a:buAutoNum type="arabicPeriod"/>
            </a:pPr>
            <a:r>
              <a:rPr lang="en-US" dirty="0" smtClean="0"/>
              <a:t>Identify and design the common interface that needs duplication.  As part of the interface, the clone method (or equivalent) needs to be specified.</a:t>
            </a:r>
          </a:p>
          <a:p>
            <a:pPr marL="800100" lvl="1" indent="-342900">
              <a:buFont typeface="+mj-lt"/>
              <a:buAutoNum type="arabicPeriod"/>
            </a:pPr>
            <a:r>
              <a:rPr lang="en-US" dirty="0" smtClean="0"/>
              <a:t>Identify and design concrete products, which realize the interface created in Step 1.</a:t>
            </a:r>
          </a:p>
          <a:p>
            <a:pPr marL="800100" lvl="1" indent="-342900">
              <a:buFont typeface="+mj-lt"/>
              <a:buAutoNum type="arabicPeriod"/>
            </a:pPr>
            <a:r>
              <a:rPr lang="en-US" dirty="0" smtClean="0"/>
              <a:t>For each concrete product created in Step 2, implement the clone method in terms of that particular concrete product.</a:t>
            </a:r>
          </a:p>
          <a:p>
            <a:pPr lvl="1"/>
            <a:endParaRPr lang="en-US" dirty="0" smtClean="0"/>
          </a:p>
          <a:p>
            <a:r>
              <a:rPr lang="en-US" dirty="0" smtClean="0"/>
              <a:t>Benefits of the Prototype design pattern include:</a:t>
            </a:r>
          </a:p>
          <a:p>
            <a:pPr lvl="1"/>
            <a:r>
              <a:rPr lang="en-US" dirty="0" smtClean="0"/>
              <a:t>Clients are shielded from knowing the internal structure of objects; therefore, adding products at runtime becomes easier.  This reduces the client’s complexity.</a:t>
            </a:r>
          </a:p>
          <a:p>
            <a:pPr lvl="1"/>
            <a:r>
              <a:rPr lang="en-US" dirty="0" smtClean="0"/>
              <a:t>Reduced number of classes; instead of having two classes (i.e., creator and product classes), the prototype is both, therefore eliminating the need for one class for each product.</a:t>
            </a:r>
          </a:p>
          <a:p>
            <a:pPr lvl="1"/>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6/16/2019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Singleton Design Pattern</a:t>
            </a:r>
            <a:endParaRPr lang="en-US" dirty="0"/>
          </a:p>
        </p:txBody>
      </p:sp>
      <p:sp>
        <p:nvSpPr>
          <p:cNvPr id="3" name="Content Placeholder 2"/>
          <p:cNvSpPr>
            <a:spLocks noGrp="1"/>
          </p:cNvSpPr>
          <p:nvPr>
            <p:ph idx="1"/>
          </p:nvPr>
        </p:nvSpPr>
        <p:spPr>
          <a:xfrm>
            <a:off x="457200" y="1371601"/>
            <a:ext cx="8229600" cy="1447799"/>
          </a:xfrm>
        </p:spPr>
        <p:txBody>
          <a:bodyPr>
            <a:normAutofit fontScale="92500" lnSpcReduction="20000"/>
          </a:bodyPr>
          <a:lstStyle/>
          <a:p>
            <a:r>
              <a:rPr lang="en-US" dirty="0" smtClean="0"/>
              <a:t>The Singleton design pattern is an object creational design pattern used to prevent objects from being instantiated more than once in a running program.</a:t>
            </a:r>
          </a:p>
          <a:p>
            <a:endParaRPr lang="en-US" dirty="0" smtClean="0"/>
          </a:p>
          <a:p>
            <a:r>
              <a:rPr lang="en-US" dirty="0" smtClean="0"/>
              <a:t>According to the </a:t>
            </a:r>
            <a:r>
              <a:rPr lang="en-US" dirty="0" err="1" smtClean="0"/>
              <a:t>GoF</a:t>
            </a:r>
            <a:r>
              <a:rPr lang="en-US" dirty="0" smtClean="0"/>
              <a:t>, the intent of the Singleton is to [1]</a:t>
            </a:r>
          </a:p>
          <a:p>
            <a:pPr lvl="1"/>
            <a:r>
              <a:rPr lang="en-US" dirty="0" smtClean="0"/>
              <a:t>Ensure a class only has one instance, and provide a global point of access to it.</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6/16/2019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grpSp>
        <p:nvGrpSpPr>
          <p:cNvPr id="20" name="Group 19"/>
          <p:cNvGrpSpPr/>
          <p:nvPr/>
        </p:nvGrpSpPr>
        <p:grpSpPr>
          <a:xfrm>
            <a:off x="1066800" y="3581400"/>
            <a:ext cx="6858000" cy="1332131"/>
            <a:chOff x="1066800" y="3581400"/>
            <a:chExt cx="6858000" cy="1332131"/>
          </a:xfrm>
        </p:grpSpPr>
        <p:pic>
          <p:nvPicPr>
            <p:cNvPr id="18434" name="Picture 2"/>
            <p:cNvPicPr>
              <a:picLocks noChangeAspect="1" noChangeArrowheads="1"/>
            </p:cNvPicPr>
            <p:nvPr/>
          </p:nvPicPr>
          <p:blipFill>
            <a:blip r:embed="rId2" cstate="print"/>
            <a:srcRect/>
            <a:stretch>
              <a:fillRect/>
            </a:stretch>
          </p:blipFill>
          <p:spPr bwMode="auto">
            <a:xfrm>
              <a:off x="3581400" y="3657600"/>
              <a:ext cx="1419225" cy="971550"/>
            </a:xfrm>
            <a:prstGeom prst="rect">
              <a:avLst/>
            </a:prstGeom>
            <a:noFill/>
            <a:ln w="9525">
              <a:noFill/>
              <a:miter lim="800000"/>
              <a:headEnd/>
              <a:tailEnd/>
            </a:ln>
          </p:spPr>
        </p:pic>
        <p:cxnSp>
          <p:nvCxnSpPr>
            <p:cNvPr id="9" name="Straight Connector 8"/>
            <p:cNvCxnSpPr/>
            <p:nvPr/>
          </p:nvCxnSpPr>
          <p:spPr>
            <a:xfrm>
              <a:off x="3657600" y="4038600"/>
              <a:ext cx="10668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5105400" y="3581400"/>
              <a:ext cx="25146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Private static instance</a:t>
              </a:r>
              <a:endParaRPr lang="en-US" sz="1200" b="1" dirty="0">
                <a:solidFill>
                  <a:srgbClr val="C00000"/>
                </a:solidFill>
                <a:latin typeface="Bradley Hand ITC" pitchFamily="66" charset="0"/>
              </a:endParaRPr>
            </a:p>
          </p:txBody>
        </p:sp>
        <p:sp>
          <p:nvSpPr>
            <p:cNvPr id="12" name="Rectangle 11"/>
            <p:cNvSpPr/>
            <p:nvPr/>
          </p:nvSpPr>
          <p:spPr>
            <a:xfrm>
              <a:off x="4629150" y="3943350"/>
              <a:ext cx="76200" cy="76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4848225" y="4257675"/>
              <a:ext cx="76200" cy="76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4"/>
            <p:cNvSpPr/>
            <p:nvPr/>
          </p:nvSpPr>
          <p:spPr>
            <a:xfrm>
              <a:off x="4876800" y="3705225"/>
              <a:ext cx="723900" cy="323850"/>
            </a:xfrm>
            <a:custGeom>
              <a:avLst/>
              <a:gdLst>
                <a:gd name="connsiteX0" fmla="*/ 723900 w 723900"/>
                <a:gd name="connsiteY0" fmla="*/ 0 h 323850"/>
                <a:gd name="connsiteX1" fmla="*/ 542925 w 723900"/>
                <a:gd name="connsiteY1" fmla="*/ 95250 h 323850"/>
                <a:gd name="connsiteX2" fmla="*/ 457200 w 723900"/>
                <a:gd name="connsiteY2" fmla="*/ 285750 h 323850"/>
                <a:gd name="connsiteX3" fmla="*/ 0 w 723900"/>
                <a:gd name="connsiteY3" fmla="*/ 323850 h 323850"/>
              </a:gdLst>
              <a:ahLst/>
              <a:cxnLst>
                <a:cxn ang="0">
                  <a:pos x="connsiteX0" y="connsiteY0"/>
                </a:cxn>
                <a:cxn ang="0">
                  <a:pos x="connsiteX1" y="connsiteY1"/>
                </a:cxn>
                <a:cxn ang="0">
                  <a:pos x="connsiteX2" y="connsiteY2"/>
                </a:cxn>
                <a:cxn ang="0">
                  <a:pos x="connsiteX3" y="connsiteY3"/>
                </a:cxn>
              </a:cxnLst>
              <a:rect l="l" t="t" r="r" b="b"/>
              <a:pathLst>
                <a:path w="723900" h="323850">
                  <a:moveTo>
                    <a:pt x="723900" y="0"/>
                  </a:moveTo>
                  <a:cubicBezTo>
                    <a:pt x="655637" y="23812"/>
                    <a:pt x="587375" y="47625"/>
                    <a:pt x="542925" y="95250"/>
                  </a:cubicBezTo>
                  <a:cubicBezTo>
                    <a:pt x="498475" y="142875"/>
                    <a:pt x="547687" y="247650"/>
                    <a:pt x="457200" y="285750"/>
                  </a:cubicBezTo>
                  <a:cubicBezTo>
                    <a:pt x="366713" y="323850"/>
                    <a:pt x="183356" y="323850"/>
                    <a:pt x="0" y="3238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p:cNvSpPr txBox="1"/>
            <p:nvPr/>
          </p:nvSpPr>
          <p:spPr>
            <a:xfrm>
              <a:off x="1066800" y="3657600"/>
              <a:ext cx="2209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Private Constructor to restrict object instantiation</a:t>
              </a:r>
              <a:endParaRPr lang="en-US" sz="1200" b="1" dirty="0">
                <a:solidFill>
                  <a:srgbClr val="C00000"/>
                </a:solidFill>
                <a:latin typeface="Bradley Hand ITC" pitchFamily="66" charset="0"/>
              </a:endParaRPr>
            </a:p>
          </p:txBody>
        </p:sp>
        <p:sp>
          <p:nvSpPr>
            <p:cNvPr id="17" name="Freeform 16"/>
            <p:cNvSpPr/>
            <p:nvPr/>
          </p:nvSpPr>
          <p:spPr>
            <a:xfrm>
              <a:off x="2895600" y="3962400"/>
              <a:ext cx="685800" cy="276225"/>
            </a:xfrm>
            <a:custGeom>
              <a:avLst/>
              <a:gdLst>
                <a:gd name="connsiteX0" fmla="*/ 0 w 685800"/>
                <a:gd name="connsiteY0" fmla="*/ 0 h 276225"/>
                <a:gd name="connsiteX1" fmla="*/ 200025 w 685800"/>
                <a:gd name="connsiteY1" fmla="*/ 95250 h 276225"/>
                <a:gd name="connsiteX2" fmla="*/ 390525 w 685800"/>
                <a:gd name="connsiteY2" fmla="*/ 247650 h 276225"/>
                <a:gd name="connsiteX3" fmla="*/ 685800 w 685800"/>
                <a:gd name="connsiteY3" fmla="*/ 266700 h 276225"/>
              </a:gdLst>
              <a:ahLst/>
              <a:cxnLst>
                <a:cxn ang="0">
                  <a:pos x="connsiteX0" y="connsiteY0"/>
                </a:cxn>
                <a:cxn ang="0">
                  <a:pos x="connsiteX1" y="connsiteY1"/>
                </a:cxn>
                <a:cxn ang="0">
                  <a:pos x="connsiteX2" y="connsiteY2"/>
                </a:cxn>
                <a:cxn ang="0">
                  <a:pos x="connsiteX3" y="connsiteY3"/>
                </a:cxn>
              </a:cxnLst>
              <a:rect l="l" t="t" r="r" b="b"/>
              <a:pathLst>
                <a:path w="685800" h="276225">
                  <a:moveTo>
                    <a:pt x="0" y="0"/>
                  </a:moveTo>
                  <a:cubicBezTo>
                    <a:pt x="67469" y="26987"/>
                    <a:pt x="134938" y="53975"/>
                    <a:pt x="200025" y="95250"/>
                  </a:cubicBezTo>
                  <a:cubicBezTo>
                    <a:pt x="265113" y="136525"/>
                    <a:pt x="309563" y="219075"/>
                    <a:pt x="390525" y="247650"/>
                  </a:cubicBezTo>
                  <a:cubicBezTo>
                    <a:pt x="471488" y="276225"/>
                    <a:pt x="578644" y="271462"/>
                    <a:pt x="685800" y="2667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p:cNvSpPr txBox="1"/>
            <p:nvPr/>
          </p:nvSpPr>
          <p:spPr>
            <a:xfrm>
              <a:off x="5410200" y="4267200"/>
              <a:ext cx="25146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Public static getInstance() method to create and provide access to the one and only object instance</a:t>
              </a:r>
              <a:endParaRPr lang="en-US" sz="1200" b="1" dirty="0">
                <a:solidFill>
                  <a:srgbClr val="C00000"/>
                </a:solidFill>
                <a:latin typeface="Bradley Hand ITC" pitchFamily="66" charset="0"/>
              </a:endParaRPr>
            </a:p>
          </p:txBody>
        </p:sp>
        <p:sp>
          <p:nvSpPr>
            <p:cNvPr id="19" name="Freeform 18"/>
            <p:cNvSpPr/>
            <p:nvPr/>
          </p:nvSpPr>
          <p:spPr>
            <a:xfrm>
              <a:off x="4953000" y="4337050"/>
              <a:ext cx="609600" cy="234950"/>
            </a:xfrm>
            <a:custGeom>
              <a:avLst/>
              <a:gdLst>
                <a:gd name="connsiteX0" fmla="*/ 609600 w 609600"/>
                <a:gd name="connsiteY0" fmla="*/ 234950 h 234950"/>
                <a:gd name="connsiteX1" fmla="*/ 419100 w 609600"/>
                <a:gd name="connsiteY1" fmla="*/ 168275 h 234950"/>
                <a:gd name="connsiteX2" fmla="*/ 323850 w 609600"/>
                <a:gd name="connsiteY2" fmla="*/ 25400 h 234950"/>
                <a:gd name="connsiteX3" fmla="*/ 0 w 609600"/>
                <a:gd name="connsiteY3" fmla="*/ 15875 h 234950"/>
              </a:gdLst>
              <a:ahLst/>
              <a:cxnLst>
                <a:cxn ang="0">
                  <a:pos x="connsiteX0" y="connsiteY0"/>
                </a:cxn>
                <a:cxn ang="0">
                  <a:pos x="connsiteX1" y="connsiteY1"/>
                </a:cxn>
                <a:cxn ang="0">
                  <a:pos x="connsiteX2" y="connsiteY2"/>
                </a:cxn>
                <a:cxn ang="0">
                  <a:pos x="connsiteX3" y="connsiteY3"/>
                </a:cxn>
              </a:cxnLst>
              <a:rect l="l" t="t" r="r" b="b"/>
              <a:pathLst>
                <a:path w="609600" h="234950">
                  <a:moveTo>
                    <a:pt x="609600" y="234950"/>
                  </a:moveTo>
                  <a:cubicBezTo>
                    <a:pt x="538162" y="219075"/>
                    <a:pt x="466725" y="203200"/>
                    <a:pt x="419100" y="168275"/>
                  </a:cubicBezTo>
                  <a:cubicBezTo>
                    <a:pt x="371475" y="133350"/>
                    <a:pt x="393700" y="50800"/>
                    <a:pt x="323850" y="25400"/>
                  </a:cubicBezTo>
                  <a:cubicBezTo>
                    <a:pt x="254000" y="0"/>
                    <a:pt x="127000" y="7937"/>
                    <a:pt x="0" y="158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Singleton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6/16/2019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pic>
        <p:nvPicPr>
          <p:cNvPr id="19458" name="Picture 2"/>
          <p:cNvPicPr>
            <a:picLocks noChangeAspect="1" noChangeArrowheads="1"/>
          </p:cNvPicPr>
          <p:nvPr/>
        </p:nvPicPr>
        <p:blipFill>
          <a:blip r:embed="rId2" cstate="print"/>
          <a:srcRect/>
          <a:stretch>
            <a:fillRect/>
          </a:stretch>
        </p:blipFill>
        <p:spPr bwMode="auto">
          <a:xfrm>
            <a:off x="1600200" y="2133600"/>
            <a:ext cx="5981700" cy="27336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Singleton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6/16/2019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pic>
        <p:nvPicPr>
          <p:cNvPr id="20482" name="Picture 2"/>
          <p:cNvPicPr>
            <a:picLocks noChangeAspect="1" noChangeArrowheads="1"/>
          </p:cNvPicPr>
          <p:nvPr/>
        </p:nvPicPr>
        <p:blipFill>
          <a:blip r:embed="rId2" cstate="print"/>
          <a:srcRect/>
          <a:stretch>
            <a:fillRect/>
          </a:stretch>
        </p:blipFill>
        <p:spPr bwMode="auto">
          <a:xfrm>
            <a:off x="5524500" y="1828800"/>
            <a:ext cx="2066925" cy="1028700"/>
          </a:xfrm>
          <a:prstGeom prst="rect">
            <a:avLst/>
          </a:prstGeom>
          <a:noFill/>
          <a:ln w="9525">
            <a:noFill/>
            <a:miter lim="800000"/>
            <a:headEnd/>
            <a:tailEnd/>
          </a:ln>
        </p:spPr>
      </p:pic>
      <p:pic>
        <p:nvPicPr>
          <p:cNvPr id="20484" name="Picture 4"/>
          <p:cNvPicPr>
            <a:picLocks noChangeAspect="1" noChangeArrowheads="1"/>
          </p:cNvPicPr>
          <p:nvPr/>
        </p:nvPicPr>
        <p:blipFill>
          <a:blip r:embed="rId3" cstate="print"/>
          <a:srcRect/>
          <a:stretch>
            <a:fillRect/>
          </a:stretch>
        </p:blipFill>
        <p:spPr bwMode="auto">
          <a:xfrm>
            <a:off x="571500" y="1447801"/>
            <a:ext cx="3810000" cy="4029808"/>
          </a:xfrm>
          <a:prstGeom prst="rect">
            <a:avLst/>
          </a:prstGeom>
          <a:noFill/>
          <a:ln w="9525">
            <a:noFill/>
            <a:miter lim="800000"/>
            <a:headEnd/>
            <a:tailEnd/>
          </a:ln>
        </p:spPr>
      </p:pic>
      <p:sp>
        <p:nvSpPr>
          <p:cNvPr id="13" name="Folded Corner 12"/>
          <p:cNvSpPr/>
          <p:nvPr/>
        </p:nvSpPr>
        <p:spPr>
          <a:xfrm>
            <a:off x="419100" y="1371600"/>
            <a:ext cx="4038600" cy="4114800"/>
          </a:xfrm>
          <a:prstGeom prst="foldedCorner">
            <a:avLst/>
          </a:prstGeom>
          <a:no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p:cNvGrpSpPr/>
          <p:nvPr/>
        </p:nvGrpSpPr>
        <p:grpSpPr>
          <a:xfrm>
            <a:off x="4610100" y="3048000"/>
            <a:ext cx="4114800" cy="1295400"/>
            <a:chOff x="4724400" y="3505200"/>
            <a:chExt cx="4114800" cy="1295400"/>
          </a:xfrm>
        </p:grpSpPr>
        <p:pic>
          <p:nvPicPr>
            <p:cNvPr id="20485" name="Picture 5"/>
            <p:cNvPicPr>
              <a:picLocks noChangeAspect="1" noChangeArrowheads="1"/>
            </p:cNvPicPr>
            <p:nvPr/>
          </p:nvPicPr>
          <p:blipFill>
            <a:blip r:embed="rId4" cstate="print"/>
            <a:srcRect/>
            <a:stretch>
              <a:fillRect/>
            </a:stretch>
          </p:blipFill>
          <p:spPr bwMode="auto">
            <a:xfrm>
              <a:off x="4724400" y="3581400"/>
              <a:ext cx="4095750" cy="1095375"/>
            </a:xfrm>
            <a:prstGeom prst="rect">
              <a:avLst/>
            </a:prstGeom>
            <a:noFill/>
            <a:ln w="9525">
              <a:noFill/>
              <a:miter lim="800000"/>
              <a:headEnd/>
              <a:tailEnd/>
            </a:ln>
          </p:spPr>
        </p:pic>
        <p:sp>
          <p:nvSpPr>
            <p:cNvPr id="15" name="Folded Corner 14"/>
            <p:cNvSpPr/>
            <p:nvPr/>
          </p:nvSpPr>
          <p:spPr>
            <a:xfrm>
              <a:off x="4724400" y="3505200"/>
              <a:ext cx="4114800" cy="1295400"/>
            </a:xfrm>
            <a:prstGeom prst="foldedCorner">
              <a:avLst/>
            </a:prstGeom>
            <a:no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TextBox 16"/>
          <p:cNvSpPr txBox="1"/>
          <p:nvPr/>
        </p:nvSpPr>
        <p:spPr>
          <a:xfrm>
            <a:off x="5143500" y="4599801"/>
            <a:ext cx="2514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Sample code to log events using the Singleton design pattern</a:t>
            </a:r>
            <a:endParaRPr lang="en-US" sz="1200" b="1" dirty="0">
              <a:solidFill>
                <a:srgbClr val="C00000"/>
              </a:solidFill>
              <a:latin typeface="Bradley Hand ITC" pitchFamily="66" charset="0"/>
            </a:endParaRPr>
          </a:p>
        </p:txBody>
      </p:sp>
      <p:sp>
        <p:nvSpPr>
          <p:cNvPr id="18" name="Freeform 17"/>
          <p:cNvSpPr/>
          <p:nvPr/>
        </p:nvSpPr>
        <p:spPr>
          <a:xfrm>
            <a:off x="7448550" y="4248150"/>
            <a:ext cx="612775" cy="647700"/>
          </a:xfrm>
          <a:custGeom>
            <a:avLst/>
            <a:gdLst>
              <a:gd name="connsiteX0" fmla="*/ 0 w 612775"/>
              <a:gd name="connsiteY0" fmla="*/ 647700 h 647700"/>
              <a:gd name="connsiteX1" fmla="*/ 571500 w 612775"/>
              <a:gd name="connsiteY1" fmla="*/ 504825 h 647700"/>
              <a:gd name="connsiteX2" fmla="*/ 247650 w 612775"/>
              <a:gd name="connsiteY2" fmla="*/ 238125 h 647700"/>
              <a:gd name="connsiteX3" fmla="*/ 447675 w 612775"/>
              <a:gd name="connsiteY3" fmla="*/ 0 h 647700"/>
              <a:gd name="connsiteX4" fmla="*/ 447675 w 612775"/>
              <a:gd name="connsiteY4" fmla="*/ 0 h 647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2775" h="647700">
                <a:moveTo>
                  <a:pt x="0" y="647700"/>
                </a:moveTo>
                <a:cubicBezTo>
                  <a:pt x="265112" y="610394"/>
                  <a:pt x="530225" y="573088"/>
                  <a:pt x="571500" y="504825"/>
                </a:cubicBezTo>
                <a:cubicBezTo>
                  <a:pt x="612775" y="436563"/>
                  <a:pt x="268287" y="322262"/>
                  <a:pt x="247650" y="238125"/>
                </a:cubicBezTo>
                <a:cubicBezTo>
                  <a:pt x="227013" y="153988"/>
                  <a:pt x="447675" y="0"/>
                  <a:pt x="447675" y="0"/>
                </a:cubicBezTo>
                <a:lnTo>
                  <a:pt x="447675" y="0"/>
                </a:ln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TextBox 18"/>
          <p:cNvSpPr txBox="1"/>
          <p:nvPr/>
        </p:nvSpPr>
        <p:spPr>
          <a:xfrm>
            <a:off x="5410200" y="5334000"/>
            <a:ext cx="2362200" cy="830997"/>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dirty="0" smtClean="0">
                <a:solidFill>
                  <a:srgbClr val="C00000"/>
                </a:solidFill>
                <a:latin typeface="Bradley Hand ITC" pitchFamily="66" charset="0"/>
              </a:rPr>
              <a:t>Warning!</a:t>
            </a:r>
          </a:p>
          <a:p>
            <a:r>
              <a:rPr lang="en-US" sz="1200" b="1" dirty="0" smtClean="0">
                <a:solidFill>
                  <a:srgbClr val="C00000"/>
                </a:solidFill>
                <a:latin typeface="Bradley Hand ITC" pitchFamily="66" charset="0"/>
              </a:rPr>
              <a:t>Singleton has been documented to cause memory leaks in multi-threaded environments!</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Singleton Design Pattern Example</a:t>
            </a:r>
            <a:endParaRPr lang="en-US" dirty="0"/>
          </a:p>
        </p:txBody>
      </p:sp>
      <p:sp>
        <p:nvSpPr>
          <p:cNvPr id="3" name="Content Placeholder 2"/>
          <p:cNvSpPr>
            <a:spLocks noGrp="1"/>
          </p:cNvSpPr>
          <p:nvPr>
            <p:ph idx="1"/>
          </p:nvPr>
        </p:nvSpPr>
        <p:spPr/>
        <p:txBody>
          <a:bodyPr/>
          <a:lstStyle/>
          <a:p>
            <a:r>
              <a:rPr lang="en-US" dirty="0" smtClean="0"/>
              <a:t>Steps to design using the Singleton design pattern:</a:t>
            </a:r>
          </a:p>
          <a:p>
            <a:pPr marL="800100" lvl="1" indent="-342900">
              <a:buFont typeface="+mj-lt"/>
              <a:buAutoNum type="arabicPeriod"/>
            </a:pPr>
            <a:r>
              <a:rPr lang="en-US" dirty="0" smtClean="0"/>
              <a:t>Set the visibility of the constructor to private</a:t>
            </a:r>
          </a:p>
          <a:p>
            <a:pPr marL="800100" lvl="1" indent="-342900">
              <a:buFont typeface="+mj-lt"/>
              <a:buAutoNum type="arabicPeriod"/>
            </a:pPr>
            <a:r>
              <a:rPr lang="en-US" dirty="0" smtClean="0"/>
              <a:t>Define a private static member attribute that can store a reference (i.e., a pointer) to the one instance of the singleton.</a:t>
            </a:r>
          </a:p>
          <a:p>
            <a:pPr marL="800100" lvl="1" indent="-342900">
              <a:buFont typeface="+mj-lt"/>
              <a:buAutoNum type="arabicPeriod"/>
            </a:pPr>
            <a:r>
              <a:rPr lang="en-US" dirty="0" smtClean="0"/>
              <a:t>Create a public static getInstance() method that can access the private constructor to instantiate one object of the singleton type and return it to clients.</a:t>
            </a:r>
          </a:p>
          <a:p>
            <a:pPr lvl="1"/>
            <a:endParaRPr lang="en-US" dirty="0" smtClean="0"/>
          </a:p>
          <a:p>
            <a:r>
              <a:rPr lang="en-US" dirty="0" smtClean="0"/>
              <a:t>Benefits of the Singleton design pattern include:</a:t>
            </a:r>
          </a:p>
          <a:p>
            <a:pPr lvl="1"/>
            <a:r>
              <a:rPr lang="en-US" dirty="0" smtClean="0"/>
              <a:t>It provides controlled access to single a single instance of a given type.</a:t>
            </a:r>
          </a:p>
          <a:p>
            <a:pPr lvl="1"/>
            <a:r>
              <a:rPr lang="en-US" dirty="0" smtClean="0"/>
              <a:t>It has reduced namespace since it provides an alternatives to global variables.</a:t>
            </a:r>
          </a:p>
          <a:p>
            <a:pPr lvl="1"/>
            <a:r>
              <a:rPr lang="en-US" dirty="0" smtClean="0"/>
              <a:t>It can be customized to permit a variable number of instances.</a:t>
            </a:r>
          </a:p>
          <a:p>
            <a:pPr lvl="1"/>
            <a:endParaRPr lang="en-US" dirty="0" smtClean="0"/>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6/16/2019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What’s Next…</a:t>
            </a:r>
            <a:endParaRPr lang="en-US" dirty="0"/>
          </a:p>
        </p:txBody>
      </p:sp>
      <p:sp>
        <p:nvSpPr>
          <p:cNvPr id="3" name="Content Placeholder 2"/>
          <p:cNvSpPr>
            <a:spLocks noGrp="1"/>
          </p:cNvSpPr>
          <p:nvPr>
            <p:ph idx="1"/>
          </p:nvPr>
        </p:nvSpPr>
        <p:spPr/>
        <p:txBody>
          <a:bodyPr>
            <a:normAutofit/>
          </a:bodyPr>
          <a:lstStyle/>
          <a:p>
            <a:r>
              <a:rPr lang="en-US" dirty="0" smtClean="0"/>
              <a:t>In this session, we continued the discussion on creational design patterns, including:</a:t>
            </a:r>
          </a:p>
          <a:p>
            <a:pPr lvl="1"/>
            <a:r>
              <a:rPr lang="en-US" dirty="0" smtClean="0"/>
              <a:t>Builder</a:t>
            </a:r>
          </a:p>
          <a:p>
            <a:pPr lvl="1"/>
            <a:r>
              <a:rPr lang="en-US" dirty="0" smtClean="0"/>
              <a:t>Prototype</a:t>
            </a:r>
          </a:p>
          <a:p>
            <a:pPr lvl="1"/>
            <a:r>
              <a:rPr lang="en-US" dirty="0" smtClean="0"/>
              <a:t>Singleton</a:t>
            </a:r>
          </a:p>
          <a:p>
            <a:pPr lvl="1">
              <a:buNone/>
            </a:pPr>
            <a:endParaRPr lang="en-US" dirty="0" smtClean="0"/>
          </a:p>
          <a:p>
            <a:r>
              <a:rPr lang="en-US" dirty="0" smtClean="0"/>
              <a:t>This finalizes the discussion on creational design patterns.  In the next module, we will present structural and behavioral design patterns in detailed design.  Specifically, we will cover:</a:t>
            </a:r>
          </a:p>
          <a:p>
            <a:pPr lvl="1"/>
            <a:r>
              <a:rPr lang="en-US" dirty="0" smtClean="0"/>
              <a:t>Adapter</a:t>
            </a:r>
          </a:p>
          <a:p>
            <a:pPr lvl="1"/>
            <a:r>
              <a:rPr lang="en-US" dirty="0" smtClean="0"/>
              <a:t>Composite</a:t>
            </a:r>
          </a:p>
          <a:p>
            <a:pPr lvl="1"/>
            <a:r>
              <a:rPr lang="en-US" dirty="0" smtClean="0"/>
              <a:t>Façade</a:t>
            </a:r>
          </a:p>
          <a:p>
            <a:pPr lvl="1"/>
            <a:r>
              <a:rPr lang="en-US" dirty="0" err="1" smtClean="0"/>
              <a:t>Iterator</a:t>
            </a:r>
            <a:endParaRPr lang="en-US" dirty="0" smtClean="0"/>
          </a:p>
          <a:p>
            <a:pPr lvl="1"/>
            <a:r>
              <a:rPr lang="en-US" dirty="0" smtClean="0"/>
              <a:t>Observer</a:t>
            </a:r>
          </a:p>
        </p:txBody>
      </p:sp>
      <p:sp>
        <p:nvSpPr>
          <p:cNvPr id="4" name="Date Placeholder 3"/>
          <p:cNvSpPr>
            <a:spLocks noGrp="1"/>
          </p:cNvSpPr>
          <p:nvPr>
            <p:ph type="dt" sz="half" idx="10"/>
          </p:nvPr>
        </p:nvSpPr>
        <p:spPr/>
        <p:txBody>
          <a:bodyPr/>
          <a:lstStyle/>
          <a:p>
            <a:fld id="{F3FBCFF5-EE4F-4FFF-A0F1-127D95D6DEF9}" type="datetime1">
              <a:rPr lang="en-US" smtClean="0"/>
              <a:pPr/>
              <a:t>6/16/2019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r>
              <a:rPr lang="en-US" dirty="0" smtClean="0"/>
              <a:t>[1] Gamma, Erich, Richard Helm, Ralph Johnson, and John </a:t>
            </a:r>
            <a:r>
              <a:rPr lang="en-US" dirty="0" err="1" smtClean="0"/>
              <a:t>Vlissides</a:t>
            </a:r>
            <a:r>
              <a:rPr lang="en-US" dirty="0" smtClean="0"/>
              <a:t>.  </a:t>
            </a:r>
            <a:r>
              <a:rPr lang="en-US" i="1" dirty="0" smtClean="0"/>
              <a:t>Design Patterns: Elements of Reusable Object-Oriented Software</a:t>
            </a:r>
            <a:r>
              <a:rPr lang="en-US" dirty="0" smtClean="0"/>
              <a:t>.  Boston: Addison-Wesley, 1995.</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6/16/2019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UVa-Wise-Clean-B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UVa-Wise-Clean-BW</Template>
  <TotalTime>19034</TotalTime>
  <Words>1676</Words>
  <Application>Microsoft Office PowerPoint</Application>
  <PresentationFormat>On-screen Show (4:3)</PresentationFormat>
  <Paragraphs>257</Paragraphs>
  <Slides>23</Slides>
  <Notes>1</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UVa-Wise-Clean-BW</vt:lpstr>
      <vt:lpstr>Chapter 6: Creational Design Patterns</vt:lpstr>
      <vt:lpstr>Session’s Agenda</vt:lpstr>
      <vt:lpstr>Builder Design Pattern</vt:lpstr>
      <vt:lpstr>Builder Design Pattern Example</vt:lpstr>
      <vt:lpstr>Builder Design Pattern Example</vt:lpstr>
      <vt:lpstr>Builder Design Pattern Example</vt:lpstr>
      <vt:lpstr>Builder Design Pattern Example</vt:lpstr>
      <vt:lpstr>Builder Design Pattern Example</vt:lpstr>
      <vt:lpstr>Builder Design Pattern Example</vt:lpstr>
      <vt:lpstr>Prototype Design Pattern</vt:lpstr>
      <vt:lpstr>Prototype Design Pattern Example</vt:lpstr>
      <vt:lpstr>Prototype Design Pattern Example</vt:lpstr>
      <vt:lpstr>Prototype Design Pattern Example</vt:lpstr>
      <vt:lpstr>Prototype Design Pattern Example</vt:lpstr>
      <vt:lpstr>Prototype Design Pattern Example</vt:lpstr>
      <vt:lpstr>Prototype Design Pattern Example</vt:lpstr>
      <vt:lpstr>Prototype Design Pattern Example</vt:lpstr>
      <vt:lpstr>Singleton Design Pattern</vt:lpstr>
      <vt:lpstr>Singleton Design Pattern Example</vt:lpstr>
      <vt:lpstr>Singleton Design Pattern Example</vt:lpstr>
      <vt:lpstr>Singleton Design Pattern Example</vt:lpstr>
      <vt:lpstr>What’s Next…</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Design: Theory and Practice</dc:title>
  <dc:creator>Carlos E. Otero, Ph.D.</dc:creator>
  <dc:description>This slides may be reproduced only for student use when used in conjunction with Software Engineering Design: Theory and Practice. Any other reproduction or use is prohibited without express written permission of the author.</dc:description>
  <cp:lastModifiedBy>User</cp:lastModifiedBy>
  <cp:revision>990</cp:revision>
  <dcterms:created xsi:type="dcterms:W3CDTF">2006-08-16T00:00:00Z</dcterms:created>
  <dcterms:modified xsi:type="dcterms:W3CDTF">2019-06-18T04:36:48Z</dcterms:modified>
</cp:coreProperties>
</file>