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handoutMasterIdLst>
    <p:handoutMasterId r:id="rId39"/>
  </p:handoutMasterIdLst>
  <p:sldIdLst>
    <p:sldId id="256" r:id="rId2"/>
    <p:sldId id="257" r:id="rId3"/>
    <p:sldId id="470" r:id="rId4"/>
    <p:sldId id="471" r:id="rId5"/>
    <p:sldId id="472" r:id="rId6"/>
    <p:sldId id="473" r:id="rId7"/>
    <p:sldId id="474" r:id="rId8"/>
    <p:sldId id="476" r:id="rId9"/>
    <p:sldId id="477" r:id="rId10"/>
    <p:sldId id="478" r:id="rId11"/>
    <p:sldId id="475" r:id="rId12"/>
    <p:sldId id="499" r:id="rId13"/>
    <p:sldId id="500" r:id="rId14"/>
    <p:sldId id="480" r:id="rId15"/>
    <p:sldId id="481" r:id="rId16"/>
    <p:sldId id="483" r:id="rId17"/>
    <p:sldId id="482" r:id="rId18"/>
    <p:sldId id="484" r:id="rId19"/>
    <p:sldId id="485" r:id="rId20"/>
    <p:sldId id="486" r:id="rId21"/>
    <p:sldId id="487" r:id="rId22"/>
    <p:sldId id="488" r:id="rId23"/>
    <p:sldId id="489" r:id="rId24"/>
    <p:sldId id="490" r:id="rId25"/>
    <p:sldId id="491" r:id="rId26"/>
    <p:sldId id="501" r:id="rId27"/>
    <p:sldId id="493" r:id="rId28"/>
    <p:sldId id="494" r:id="rId29"/>
    <p:sldId id="496" r:id="rId30"/>
    <p:sldId id="495" r:id="rId31"/>
    <p:sldId id="497" r:id="rId32"/>
    <p:sldId id="498" r:id="rId33"/>
    <p:sldId id="502" r:id="rId34"/>
    <p:sldId id="503" r:id="rId35"/>
    <p:sldId id="336" r:id="rId36"/>
    <p:sldId id="404" r:id="rId37"/>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0131" cy="496468"/>
          </a:xfrm>
          <a:prstGeom prst="rect">
            <a:avLst/>
          </a:prstGeom>
        </p:spPr>
        <p:txBody>
          <a:bodyPr vert="horz" lIns="90882" tIns="45441" rIns="90882" bIns="45441" rtlCol="0"/>
          <a:lstStyle>
            <a:lvl1pPr algn="l">
              <a:defRPr sz="1200"/>
            </a:lvl1pPr>
          </a:lstStyle>
          <a:p>
            <a:endParaRPr lang="en-MY"/>
          </a:p>
        </p:txBody>
      </p:sp>
      <p:sp>
        <p:nvSpPr>
          <p:cNvPr id="3" name="Date Placeholder 2"/>
          <p:cNvSpPr>
            <a:spLocks noGrp="1"/>
          </p:cNvSpPr>
          <p:nvPr>
            <p:ph type="dt" sz="quarter" idx="1"/>
          </p:nvPr>
        </p:nvSpPr>
        <p:spPr>
          <a:xfrm>
            <a:off x="3829565" y="0"/>
            <a:ext cx="2930131" cy="496468"/>
          </a:xfrm>
          <a:prstGeom prst="rect">
            <a:avLst/>
          </a:prstGeom>
        </p:spPr>
        <p:txBody>
          <a:bodyPr vert="horz" lIns="90882" tIns="45441" rIns="90882" bIns="45441" rtlCol="0"/>
          <a:lstStyle>
            <a:lvl1pPr algn="r">
              <a:defRPr sz="1200"/>
            </a:lvl1pPr>
          </a:lstStyle>
          <a:p>
            <a:fld id="{375A9074-5951-43BD-BD83-EAC9B5F56ED1}" type="datetimeFigureOut">
              <a:rPr lang="en-MY" smtClean="0"/>
              <a:t>22/12/2024</a:t>
            </a:fld>
            <a:endParaRPr lang="en-MY"/>
          </a:p>
        </p:txBody>
      </p:sp>
      <p:sp>
        <p:nvSpPr>
          <p:cNvPr id="4" name="Footer Placeholder 3"/>
          <p:cNvSpPr>
            <a:spLocks noGrp="1"/>
          </p:cNvSpPr>
          <p:nvPr>
            <p:ph type="ftr" sz="quarter" idx="2"/>
          </p:nvPr>
        </p:nvSpPr>
        <p:spPr>
          <a:xfrm>
            <a:off x="0" y="9444402"/>
            <a:ext cx="2930131" cy="496468"/>
          </a:xfrm>
          <a:prstGeom prst="rect">
            <a:avLst/>
          </a:prstGeom>
        </p:spPr>
        <p:txBody>
          <a:bodyPr vert="horz" lIns="90882" tIns="45441" rIns="90882" bIns="45441" rtlCol="0" anchor="b"/>
          <a:lstStyle>
            <a:lvl1pPr algn="l">
              <a:defRPr sz="1200"/>
            </a:lvl1pPr>
          </a:lstStyle>
          <a:p>
            <a:endParaRPr lang="en-MY"/>
          </a:p>
        </p:txBody>
      </p:sp>
      <p:sp>
        <p:nvSpPr>
          <p:cNvPr id="5" name="Slide Number Placeholder 4"/>
          <p:cNvSpPr>
            <a:spLocks noGrp="1"/>
          </p:cNvSpPr>
          <p:nvPr>
            <p:ph type="sldNum" sz="quarter" idx="3"/>
          </p:nvPr>
        </p:nvSpPr>
        <p:spPr>
          <a:xfrm>
            <a:off x="3829565" y="9444402"/>
            <a:ext cx="2930131" cy="496468"/>
          </a:xfrm>
          <a:prstGeom prst="rect">
            <a:avLst/>
          </a:prstGeom>
        </p:spPr>
        <p:txBody>
          <a:bodyPr vert="horz" lIns="90882" tIns="45441" rIns="90882" bIns="45441" rtlCol="0" anchor="b"/>
          <a:lstStyle>
            <a:lvl1pPr algn="r">
              <a:defRPr sz="1200"/>
            </a:lvl1pPr>
          </a:lstStyle>
          <a:p>
            <a:fld id="{434D61ED-C4E4-4F3D-B02A-FFF0CF34FF3E}" type="slidenum">
              <a:rPr lang="en-MY" smtClean="0"/>
              <a:t>‹#›</a:t>
            </a:fld>
            <a:endParaRPr lang="en-MY"/>
          </a:p>
        </p:txBody>
      </p:sp>
    </p:spTree>
    <p:extLst>
      <p:ext uri="{BB962C8B-B14F-4D97-AF65-F5344CB8AC3E}">
        <p14:creationId xmlns:p14="http://schemas.microsoft.com/office/powerpoint/2010/main" val="30886957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6071" tIns="48036" rIns="96071" bIns="48036" rtlCol="0"/>
          <a:lstStyle>
            <a:lvl1pPr algn="l">
              <a:defRPr sz="1300"/>
            </a:lvl1pPr>
          </a:lstStyle>
          <a:p>
            <a:endParaRPr lang="en-US"/>
          </a:p>
        </p:txBody>
      </p:sp>
      <p:sp>
        <p:nvSpPr>
          <p:cNvPr id="3" name="Date Placeholder 2"/>
          <p:cNvSpPr>
            <a:spLocks noGrp="1"/>
          </p:cNvSpPr>
          <p:nvPr>
            <p:ph type="dt" idx="1"/>
          </p:nvPr>
        </p:nvSpPr>
        <p:spPr>
          <a:xfrm>
            <a:off x="3829761" y="0"/>
            <a:ext cx="2929837" cy="497126"/>
          </a:xfrm>
          <a:prstGeom prst="rect">
            <a:avLst/>
          </a:prstGeom>
        </p:spPr>
        <p:txBody>
          <a:bodyPr vert="horz" lIns="96071" tIns="48036" rIns="96071" bIns="48036" rtlCol="0"/>
          <a:lstStyle>
            <a:lvl1pPr algn="r">
              <a:defRPr sz="1300"/>
            </a:lvl1pPr>
          </a:lstStyle>
          <a:p>
            <a:fld id="{49B3061A-7F4E-4E3A-A627-E1FC384385A9}" type="datetimeFigureOut">
              <a:rPr lang="en-US" smtClean="0"/>
              <a:pPr/>
              <a:t>12/22/2024</a:t>
            </a:fld>
            <a:endParaRPr lang="en-US"/>
          </a:p>
        </p:txBody>
      </p:sp>
      <p:sp>
        <p:nvSpPr>
          <p:cNvPr id="4" name="Slide Image Placeholder 3"/>
          <p:cNvSpPr>
            <a:spLocks noGrp="1" noRot="1" noChangeAspect="1"/>
          </p:cNvSpPr>
          <p:nvPr>
            <p:ph type="sldImg" idx="2"/>
          </p:nvPr>
        </p:nvSpPr>
        <p:spPr>
          <a:xfrm>
            <a:off x="895350" y="746125"/>
            <a:ext cx="4972050" cy="3729038"/>
          </a:xfrm>
          <a:prstGeom prst="rect">
            <a:avLst/>
          </a:prstGeom>
          <a:noFill/>
          <a:ln w="12700">
            <a:solidFill>
              <a:prstClr val="black"/>
            </a:solidFill>
          </a:ln>
        </p:spPr>
        <p:txBody>
          <a:bodyPr vert="horz" lIns="96071" tIns="48036" rIns="96071" bIns="48036" rtlCol="0" anchor="ctr"/>
          <a:lstStyle/>
          <a:p>
            <a:endParaRPr lang="en-US"/>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6071" tIns="48036" rIns="96071" bIns="4803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29837" cy="497126"/>
          </a:xfrm>
          <a:prstGeom prst="rect">
            <a:avLst/>
          </a:prstGeom>
        </p:spPr>
        <p:txBody>
          <a:bodyPr vert="horz" lIns="96071" tIns="48036" rIns="96071" bIns="48036" rtlCol="0" anchor="b"/>
          <a:lstStyle>
            <a:lvl1pPr algn="l">
              <a:defRPr sz="1300"/>
            </a:lvl1pPr>
          </a:lstStyle>
          <a:p>
            <a:endParaRPr lang="en-US"/>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6071" tIns="48036" rIns="96071" bIns="48036"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123118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a:t>Click to edit Master title style</a:t>
            </a:r>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12/22/2024</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a:solidFill>
                  <a:srgbClr val="C00000"/>
                </a:solidFill>
                <a:latin typeface="Times New Roman" pitchFamily="18" charset="0"/>
                <a:cs typeface="Times New Roman" pitchFamily="18" charset="0"/>
              </a:rPr>
              <a:t>Software Engineering Design: Theory and Practice</a:t>
            </a:r>
            <a:r>
              <a:rPr lang="en-US" i="1" dirty="0">
                <a:solidFill>
                  <a:srgbClr val="C00000"/>
                </a:solidFill>
                <a:latin typeface="Times New Roman" pitchFamily="18" charset="0"/>
                <a:cs typeface="Times New Roman" pitchFamily="18" charset="0"/>
              </a:rPr>
              <a:t> </a:t>
            </a:r>
          </a:p>
          <a:p>
            <a:r>
              <a:rPr lang="en-US" sz="1600" b="0" dirty="0">
                <a:latin typeface="Times New Roman" pitchFamily="18" charset="0"/>
                <a:cs typeface="Times New Roman" pitchFamily="18" charset="0"/>
              </a:rPr>
              <a:t>by Carlos</a:t>
            </a:r>
            <a:r>
              <a:rPr lang="en-US" sz="1600" b="0" baseline="0" dirty="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2012</a:t>
            </a:r>
            <a:r>
              <a:rPr lang="en-US" sz="1800" dirty="0">
                <a:latin typeface="Times New Roman" pitchFamily="18" charset="0"/>
                <a:cs typeface="Times New Roman" pitchFamily="18" charset="0"/>
              </a:rPr>
              <a:t> </a:t>
            </a:r>
            <a:r>
              <a:rPr lang="en-US" sz="1200" b="1" dirty="0">
                <a:latin typeface="Times New Roman" pitchFamily="18" charset="0"/>
                <a:cs typeface="Times New Roman" pitchFamily="18" charset="0"/>
              </a:rPr>
              <a:t>by 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only for student use when used in conjunction with </a:t>
            </a:r>
            <a:r>
              <a:rPr lang="en-US" sz="1200" i="1" dirty="0">
                <a:latin typeface="Times New Roman" pitchFamily="18" charset="0"/>
                <a:cs typeface="Times New Roman" pitchFamily="18" charset="0"/>
              </a:rPr>
              <a:t>Software 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must appear 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12/22/2024</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a:t>Software Engineering Design: Theory and Practice</a:t>
            </a:r>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12/22/2024</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12/22/2024</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12/22/2024</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a:t>Software Engineering Design: Theory and Practice</a:t>
            </a:r>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12/22/2024</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12/22/2024</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a:t>Software Engineering Design: Theory and Practice</a:t>
            </a:r>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12/22/2024</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12/22/2024</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12/22/2024</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12/22/2024</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12/22/2024</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Chapter 7: Structural and Behavioral </a:t>
            </a:r>
            <a:br>
              <a:rPr lang="en-US" dirty="0"/>
            </a:br>
            <a:r>
              <a:rPr lang="en-US" dirty="0"/>
              <a:t>Design Patterns</a:t>
            </a:r>
          </a:p>
        </p:txBody>
      </p:sp>
      <p:sp>
        <p:nvSpPr>
          <p:cNvPr id="3" name="Subtitle 2"/>
          <p:cNvSpPr>
            <a:spLocks noGrp="1"/>
          </p:cNvSpPr>
          <p:nvPr>
            <p:ph type="subTitle" idx="1"/>
          </p:nvPr>
        </p:nvSpPr>
        <p:spPr>
          <a:xfrm>
            <a:off x="0" y="1752598"/>
            <a:ext cx="9144000" cy="838202"/>
          </a:xfrm>
        </p:spPr>
        <p:txBody>
          <a:bodyPr>
            <a:normAutofit/>
          </a:bodyPr>
          <a:lstStyle/>
          <a:p>
            <a:r>
              <a:rPr lang="en-US" dirty="0"/>
              <a:t>Session I: Adapter, Composite, Facade</a:t>
            </a:r>
          </a:p>
        </p:txBody>
      </p:sp>
      <p:sp>
        <p:nvSpPr>
          <p:cNvPr id="4" name="Date Placeholder 3"/>
          <p:cNvSpPr>
            <a:spLocks noGrp="1"/>
          </p:cNvSpPr>
          <p:nvPr>
            <p:ph type="dt" sz="half" idx="10"/>
          </p:nvPr>
        </p:nvSpPr>
        <p:spPr/>
        <p:txBody>
          <a:bodyPr/>
          <a:lstStyle/>
          <a:p>
            <a:fld id="{EFE05638-2204-47C5-8D02-0990D6B01040}" type="datetime1">
              <a:rPr lang="en-US" smtClean="0"/>
              <a:pPr/>
              <a:t>12/22/2024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a:t>Software Engineering Design: Theory and Practice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Session’s Agenda</a:t>
            </a:r>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a:p>
          <a:p>
            <a:r>
              <a:rPr lang="en-US" dirty="0"/>
              <a:t>Structural Patterns in Detailed Design</a:t>
            </a:r>
          </a:p>
          <a:p>
            <a:pPr lvl="1"/>
            <a:endParaRPr lang="en-US" dirty="0"/>
          </a:p>
          <a:p>
            <a:r>
              <a:rPr lang="en-US" dirty="0"/>
              <a:t>Adapter</a:t>
            </a:r>
          </a:p>
          <a:p>
            <a:pPr lvl="1"/>
            <a:r>
              <a:rPr lang="en-US" dirty="0"/>
              <a:t>Character adapter example</a:t>
            </a:r>
          </a:p>
          <a:p>
            <a:pPr lvl="1"/>
            <a:endParaRPr lang="en-US" dirty="0"/>
          </a:p>
          <a:p>
            <a:r>
              <a:rPr lang="en-US" dirty="0"/>
              <a:t>Composite</a:t>
            </a:r>
          </a:p>
          <a:p>
            <a:pPr lvl="1"/>
            <a:r>
              <a:rPr lang="en-US" dirty="0"/>
              <a:t>Message generator example</a:t>
            </a:r>
          </a:p>
          <a:p>
            <a:pPr lvl="1"/>
            <a:endParaRPr lang="en-US" dirty="0"/>
          </a:p>
          <a:p>
            <a:r>
              <a:rPr lang="en-US" dirty="0"/>
              <a:t>Facade</a:t>
            </a:r>
          </a:p>
          <a:p>
            <a:pPr lvl="1"/>
            <a:r>
              <a:rPr lang="en-US" dirty="0"/>
              <a:t>Subsystem interface example</a:t>
            </a:r>
          </a:p>
          <a:p>
            <a:pPr lvl="1"/>
            <a:endParaRPr lang="en-US" dirty="0"/>
          </a:p>
          <a:p>
            <a:r>
              <a:rPr lang="en-US" dirty="0"/>
              <a:t>What’s next…</a:t>
            </a:r>
          </a:p>
          <a:p>
            <a:pPr lvl="1">
              <a:buNone/>
            </a:pPr>
            <a:endParaRPr lang="en-US" dirty="0"/>
          </a:p>
          <a:p>
            <a:pPr>
              <a:buNone/>
            </a:pPr>
            <a:endParaRPr lang="en-US" dirty="0"/>
          </a:p>
          <a:p>
            <a:endParaRPr lang="en-US" dirty="0"/>
          </a:p>
          <a:p>
            <a:pPr lvl="1">
              <a:buNone/>
            </a:pPr>
            <a:endParaRPr lang="en-US" dirty="0"/>
          </a:p>
          <a:p>
            <a:pPr>
              <a:buNone/>
            </a:pPr>
            <a:endParaRPr lang="en-US" dirty="0"/>
          </a:p>
          <a:p>
            <a:pPr lvl="1"/>
            <a:endParaRPr lang="en-US" dirty="0"/>
          </a:p>
        </p:txBody>
      </p:sp>
      <p:sp>
        <p:nvSpPr>
          <p:cNvPr id="4" name="Date Placeholder 3"/>
          <p:cNvSpPr>
            <a:spLocks noGrp="1"/>
          </p:cNvSpPr>
          <p:nvPr>
            <p:ph type="dt" sz="half" idx="10"/>
          </p:nvPr>
        </p:nvSpPr>
        <p:spPr/>
        <p:txBody>
          <a:bodyPr/>
          <a:lstStyle/>
          <a:p>
            <a:fld id="{3F2E7354-941D-4A10-A419-5D3E5FF7573C}"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dirty="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Design Patterns</a:t>
            </a:r>
          </a:p>
        </p:txBody>
      </p:sp>
      <p:sp>
        <p:nvSpPr>
          <p:cNvPr id="3" name="Content Placeholder 2"/>
          <p:cNvSpPr>
            <a:spLocks noGrp="1"/>
          </p:cNvSpPr>
          <p:nvPr>
            <p:ph idx="1"/>
          </p:nvPr>
        </p:nvSpPr>
        <p:spPr/>
        <p:txBody>
          <a:bodyPr/>
          <a:lstStyle/>
          <a:p>
            <a:r>
              <a:rPr lang="en-US" dirty="0"/>
              <a:t>Structural design patterns are patterns that deal with designing larger structures from existing classes or objects at run time.</a:t>
            </a:r>
          </a:p>
          <a:p>
            <a:pPr lvl="1"/>
            <a:r>
              <a:rPr lang="en-US" dirty="0"/>
              <a:t>They play a key role in the design and evolution of systems by allowing integration of new designs with existing ones, via object composition (i.e., object structural) or inheritance (i.e., class structural).</a:t>
            </a:r>
          </a:p>
          <a:p>
            <a:pPr lvl="1"/>
            <a:endParaRPr lang="en-US" dirty="0"/>
          </a:p>
          <a:p>
            <a:r>
              <a:rPr lang="en-US" dirty="0"/>
              <a:t>Popular structural design patterns include:</a:t>
            </a:r>
          </a:p>
          <a:p>
            <a:pPr lvl="1"/>
            <a:r>
              <a:rPr lang="en-US" dirty="0"/>
              <a:t>Adapter</a:t>
            </a:r>
          </a:p>
          <a:p>
            <a:pPr lvl="1"/>
            <a:r>
              <a:rPr lang="en-US" dirty="0"/>
              <a:t>Composite</a:t>
            </a:r>
          </a:p>
          <a:p>
            <a:pPr lvl="1"/>
            <a:r>
              <a:rPr lang="en-US" dirty="0"/>
              <a:t>Facade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a:t>
            </a:r>
          </a:p>
        </p:txBody>
      </p:sp>
      <p:sp>
        <p:nvSpPr>
          <p:cNvPr id="3" name="Content Placeholder 2"/>
          <p:cNvSpPr>
            <a:spLocks noGrp="1"/>
          </p:cNvSpPr>
          <p:nvPr>
            <p:ph idx="1"/>
          </p:nvPr>
        </p:nvSpPr>
        <p:spPr>
          <a:xfrm>
            <a:off x="457200" y="1371601"/>
            <a:ext cx="8229600" cy="2362199"/>
          </a:xfrm>
        </p:spPr>
        <p:txBody>
          <a:bodyPr/>
          <a:lstStyle/>
          <a:p>
            <a:r>
              <a:rPr lang="en-US" dirty="0"/>
              <a:t>The Adapter design pattern is a class/</a:t>
            </a:r>
            <a:r>
              <a:rPr lang="en-US" dirty="0">
                <a:highlight>
                  <a:srgbClr val="FFFF00"/>
                </a:highlight>
              </a:rPr>
              <a:t>object</a:t>
            </a:r>
            <a:r>
              <a:rPr lang="en-US" dirty="0"/>
              <a:t> structural design pattern used </a:t>
            </a:r>
            <a:r>
              <a:rPr lang="en-US" dirty="0">
                <a:highlight>
                  <a:srgbClr val="FFFF00"/>
                </a:highlight>
              </a:rPr>
              <a:t>to adapt an existing interface </a:t>
            </a:r>
            <a:r>
              <a:rPr lang="en-US" dirty="0"/>
              <a:t>that is expected in a software system.</a:t>
            </a:r>
          </a:p>
          <a:p>
            <a:endParaRPr lang="en-US" dirty="0"/>
          </a:p>
          <a:p>
            <a:r>
              <a:rPr lang="en-US" dirty="0"/>
              <a:t>According to the </a:t>
            </a:r>
            <a:r>
              <a:rPr lang="en-US" dirty="0" err="1"/>
              <a:t>GoF</a:t>
            </a:r>
            <a:r>
              <a:rPr lang="en-US" dirty="0"/>
              <a:t>, the intent of the Adapter is to [1],</a:t>
            </a:r>
          </a:p>
          <a:p>
            <a:pPr lvl="1"/>
            <a:r>
              <a:rPr lang="en-US" dirty="0"/>
              <a:t>Convert the interface of a class into another interface clients expect.  Adapter lets classes work together that couldn’t otherwise because of incompatible interfaces.</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1066800" y="3962400"/>
            <a:ext cx="2914650" cy="1533525"/>
          </a:xfrm>
          <a:prstGeom prst="rect">
            <a:avLst/>
          </a:prstGeom>
          <a:noFill/>
          <a:ln w="9525">
            <a:noFill/>
            <a:miter lim="800000"/>
            <a:headEnd/>
            <a:tailEnd/>
          </a:ln>
        </p:spPr>
      </p:pic>
      <p:sp>
        <p:nvSpPr>
          <p:cNvPr id="9" name="TextBox 8"/>
          <p:cNvSpPr txBox="1"/>
          <p:nvPr/>
        </p:nvSpPr>
        <p:spPr>
          <a:xfrm>
            <a:off x="1066800" y="5638800"/>
            <a:ext cx="18288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Class Structural version of Adapter Pattern</a:t>
            </a:r>
          </a:p>
        </p:txBody>
      </p:sp>
      <p:sp>
        <p:nvSpPr>
          <p:cNvPr id="10" name="TextBox 9"/>
          <p:cNvSpPr txBox="1"/>
          <p:nvPr/>
        </p:nvSpPr>
        <p:spPr>
          <a:xfrm>
            <a:off x="5715000" y="5715000"/>
            <a:ext cx="18288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Object Structural version of Adapter Pattern</a:t>
            </a:r>
          </a:p>
        </p:txBody>
      </p:sp>
      <p:grpSp>
        <p:nvGrpSpPr>
          <p:cNvPr id="12" name="Group 11"/>
          <p:cNvGrpSpPr/>
          <p:nvPr/>
        </p:nvGrpSpPr>
        <p:grpSpPr>
          <a:xfrm>
            <a:off x="4981575" y="4038600"/>
            <a:ext cx="3324225" cy="1438275"/>
            <a:chOff x="4829175" y="4191000"/>
            <a:chExt cx="3324225" cy="1438275"/>
          </a:xfrm>
        </p:grpSpPr>
        <p:pic>
          <p:nvPicPr>
            <p:cNvPr id="1027" name="Picture 3"/>
            <p:cNvPicPr>
              <a:picLocks noChangeAspect="1" noChangeArrowheads="1"/>
            </p:cNvPicPr>
            <p:nvPr/>
          </p:nvPicPr>
          <p:blipFill>
            <a:blip r:embed="rId3" cstate="print"/>
            <a:srcRect/>
            <a:stretch>
              <a:fillRect/>
            </a:stretch>
          </p:blipFill>
          <p:spPr bwMode="auto">
            <a:xfrm>
              <a:off x="4829175" y="4229100"/>
              <a:ext cx="3324225" cy="1400175"/>
            </a:xfrm>
            <a:prstGeom prst="rect">
              <a:avLst/>
            </a:prstGeom>
            <a:noFill/>
            <a:ln w="9525">
              <a:noFill/>
              <a:miter lim="800000"/>
              <a:headEnd/>
              <a:tailEnd/>
            </a:ln>
          </p:spPr>
        </p:pic>
        <p:sp>
          <p:nvSpPr>
            <p:cNvPr id="11" name="Rectangle 10"/>
            <p:cNvSpPr/>
            <p:nvPr/>
          </p:nvSpPr>
          <p:spPr>
            <a:xfrm>
              <a:off x="7315200" y="41910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701"/>
            <a:ext cx="8229600" cy="792162"/>
          </a:xfrm>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981200" y="762000"/>
            <a:ext cx="5273358" cy="577399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grpSp>
        <p:nvGrpSpPr>
          <p:cNvPr id="16" name="Group 15"/>
          <p:cNvGrpSpPr/>
          <p:nvPr/>
        </p:nvGrpSpPr>
        <p:grpSpPr>
          <a:xfrm>
            <a:off x="2259807" y="1699583"/>
            <a:ext cx="3733800" cy="3286125"/>
            <a:chOff x="2438400" y="2362200"/>
            <a:chExt cx="3733800" cy="3286125"/>
          </a:xfrm>
        </p:grpSpPr>
        <p:pic>
          <p:nvPicPr>
            <p:cNvPr id="3074" name="Picture 2"/>
            <p:cNvPicPr>
              <a:picLocks noChangeAspect="1" noChangeArrowheads="1"/>
            </p:cNvPicPr>
            <p:nvPr/>
          </p:nvPicPr>
          <p:blipFill>
            <a:blip r:embed="rId2" cstate="print"/>
            <a:srcRect/>
            <a:stretch>
              <a:fillRect/>
            </a:stretch>
          </p:blipFill>
          <p:spPr bwMode="auto">
            <a:xfrm>
              <a:off x="2438400" y="2362200"/>
              <a:ext cx="3733800" cy="3286125"/>
            </a:xfrm>
            <a:prstGeom prst="rect">
              <a:avLst/>
            </a:prstGeom>
            <a:noFill/>
            <a:ln w="9525">
              <a:noFill/>
              <a:miter lim="800000"/>
              <a:headEnd/>
              <a:tailEnd/>
            </a:ln>
          </p:spPr>
        </p:pic>
        <p:sp>
          <p:nvSpPr>
            <p:cNvPr id="8" name="Rectangle 7"/>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5972965" y="4374183"/>
            <a:ext cx="2703670" cy="1483124"/>
            <a:chOff x="4829175" y="4191000"/>
            <a:chExt cx="3324225" cy="1438275"/>
          </a:xfrm>
        </p:grpSpPr>
        <p:pic>
          <p:nvPicPr>
            <p:cNvPr id="10" name="Picture 3"/>
            <p:cNvPicPr>
              <a:picLocks noChangeAspect="1" noChangeArrowheads="1"/>
            </p:cNvPicPr>
            <p:nvPr/>
          </p:nvPicPr>
          <p:blipFill>
            <a:blip r:embed="rId3" cstate="print"/>
            <a:srcRect/>
            <a:stretch>
              <a:fillRect/>
            </a:stretch>
          </p:blipFill>
          <p:spPr bwMode="auto">
            <a:xfrm>
              <a:off x="4829175" y="4229100"/>
              <a:ext cx="3324225" cy="1400175"/>
            </a:xfrm>
            <a:prstGeom prst="rect">
              <a:avLst/>
            </a:prstGeom>
            <a:noFill/>
            <a:ln w="9525">
              <a:noFill/>
              <a:miter lim="800000"/>
              <a:headEnd/>
              <a:tailEnd/>
            </a:ln>
          </p:spPr>
        </p:pic>
        <p:sp>
          <p:nvSpPr>
            <p:cNvPr id="11" name="Rectangle 10"/>
            <p:cNvSpPr/>
            <p:nvPr/>
          </p:nvSpPr>
          <p:spPr>
            <a:xfrm>
              <a:off x="7315200" y="41910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reeform 12"/>
          <p:cNvSpPr/>
          <p:nvPr/>
        </p:nvSpPr>
        <p:spPr>
          <a:xfrm rot="5187159">
            <a:off x="4259031" y="2505535"/>
            <a:ext cx="208244" cy="3280078"/>
          </a:xfrm>
          <a:custGeom>
            <a:avLst/>
            <a:gdLst>
              <a:gd name="connsiteX0" fmla="*/ 0 w 104775"/>
              <a:gd name="connsiteY0" fmla="*/ 409575 h 409575"/>
              <a:gd name="connsiteX1" fmla="*/ 104775 w 104775"/>
              <a:gd name="connsiteY1" fmla="*/ 200025 h 409575"/>
              <a:gd name="connsiteX2" fmla="*/ 0 w 104775"/>
              <a:gd name="connsiteY2" fmla="*/ 0 h 409575"/>
            </a:gdLst>
            <a:ahLst/>
            <a:cxnLst>
              <a:cxn ang="0">
                <a:pos x="connsiteX0" y="connsiteY0"/>
              </a:cxn>
              <a:cxn ang="0">
                <a:pos x="connsiteX1" y="connsiteY1"/>
              </a:cxn>
              <a:cxn ang="0">
                <a:pos x="connsiteX2" y="connsiteY2"/>
              </a:cxn>
            </a:cxnLst>
            <a:rect l="l" t="t" r="r" b="b"/>
            <a:pathLst>
              <a:path w="104775" h="409575">
                <a:moveTo>
                  <a:pt x="0" y="409575"/>
                </a:moveTo>
                <a:cubicBezTo>
                  <a:pt x="52387" y="338931"/>
                  <a:pt x="104775" y="268287"/>
                  <a:pt x="104775" y="200025"/>
                </a:cubicBezTo>
                <a:cubicBezTo>
                  <a:pt x="104775" y="131763"/>
                  <a:pt x="52387" y="6588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1" name="Group 20">
            <a:extLst>
              <a:ext uri="{FF2B5EF4-FFF2-40B4-BE49-F238E27FC236}">
                <a16:creationId xmlns:a16="http://schemas.microsoft.com/office/drawing/2014/main" id="{A9E14EF8-2EC2-9256-6CB7-25F9835257A3}"/>
              </a:ext>
            </a:extLst>
          </p:cNvPr>
          <p:cNvGrpSpPr/>
          <p:nvPr/>
        </p:nvGrpSpPr>
        <p:grpSpPr>
          <a:xfrm>
            <a:off x="5007770" y="1744275"/>
            <a:ext cx="1235867" cy="1038999"/>
            <a:chOff x="5007770" y="1744275"/>
            <a:chExt cx="1235867" cy="1038999"/>
          </a:xfrm>
        </p:grpSpPr>
        <p:sp>
          <p:nvSpPr>
            <p:cNvPr id="3" name="TextBox 2">
              <a:extLst>
                <a:ext uri="{FF2B5EF4-FFF2-40B4-BE49-F238E27FC236}">
                  <a16:creationId xmlns:a16="http://schemas.microsoft.com/office/drawing/2014/main" id="{80CA190E-7841-B554-79B3-169F50206C74}"/>
                </a:ext>
              </a:extLst>
            </p:cNvPr>
            <p:cNvSpPr txBox="1"/>
            <p:nvPr/>
          </p:nvSpPr>
          <p:spPr>
            <a:xfrm>
              <a:off x="5007770" y="1744275"/>
              <a:ext cx="1219200" cy="369332"/>
            </a:xfrm>
            <a:prstGeom prst="rect">
              <a:avLst/>
            </a:prstGeom>
            <a:noFill/>
          </p:spPr>
          <p:txBody>
            <a:bodyPr wrap="square" rtlCol="0">
              <a:spAutoFit/>
            </a:bodyPr>
            <a:lstStyle/>
            <a:p>
              <a:r>
                <a:rPr lang="en-US" dirty="0">
                  <a:solidFill>
                    <a:srgbClr val="FF0000"/>
                  </a:solidFill>
                </a:rPr>
                <a:t>Sensor</a:t>
              </a:r>
              <a:endParaRPr lang="en-MY" dirty="0">
                <a:solidFill>
                  <a:srgbClr val="FF0000"/>
                </a:solidFill>
              </a:endParaRPr>
            </a:p>
          </p:txBody>
        </p:sp>
        <p:sp>
          <p:nvSpPr>
            <p:cNvPr id="7" name="TextBox 6">
              <a:extLst>
                <a:ext uri="{FF2B5EF4-FFF2-40B4-BE49-F238E27FC236}">
                  <a16:creationId xmlns:a16="http://schemas.microsoft.com/office/drawing/2014/main" id="{AF7E6BB0-560E-9792-D9BC-130247434315}"/>
                </a:ext>
              </a:extLst>
            </p:cNvPr>
            <p:cNvSpPr txBox="1"/>
            <p:nvPr/>
          </p:nvSpPr>
          <p:spPr>
            <a:xfrm>
              <a:off x="5024437" y="2044610"/>
              <a:ext cx="1219200" cy="738664"/>
            </a:xfrm>
            <a:prstGeom prst="rect">
              <a:avLst/>
            </a:prstGeom>
            <a:noFill/>
          </p:spPr>
          <p:txBody>
            <a:bodyPr wrap="square" rtlCol="0">
              <a:spAutoFit/>
            </a:bodyPr>
            <a:lstStyle/>
            <a:p>
              <a:r>
                <a:rPr lang="en-US" sz="1400" dirty="0">
                  <a:solidFill>
                    <a:srgbClr val="FF0000"/>
                  </a:solidFill>
                </a:rPr>
                <a:t>+read()</a:t>
              </a:r>
              <a:br>
                <a:rPr lang="en-US" sz="1400" dirty="0">
                  <a:solidFill>
                    <a:srgbClr val="FF0000"/>
                  </a:solidFill>
                </a:rPr>
              </a:br>
              <a:r>
                <a:rPr lang="en-US" sz="1400" dirty="0">
                  <a:solidFill>
                    <a:srgbClr val="FF0000"/>
                  </a:solidFill>
                </a:rPr>
                <a:t>+send()</a:t>
              </a:r>
              <a:br>
                <a:rPr lang="en-US" sz="1400" dirty="0">
                  <a:solidFill>
                    <a:srgbClr val="FF0000"/>
                  </a:solidFill>
                </a:rPr>
              </a:br>
              <a:r>
                <a:rPr lang="en-US" sz="1400" dirty="0">
                  <a:solidFill>
                    <a:srgbClr val="FF0000"/>
                  </a:solidFill>
                </a:rPr>
                <a:t>+notify()</a:t>
              </a:r>
            </a:p>
          </p:txBody>
        </p:sp>
      </p:grpSp>
      <p:grpSp>
        <p:nvGrpSpPr>
          <p:cNvPr id="24" name="Group 23">
            <a:extLst>
              <a:ext uri="{FF2B5EF4-FFF2-40B4-BE49-F238E27FC236}">
                <a16:creationId xmlns:a16="http://schemas.microsoft.com/office/drawing/2014/main" id="{F84BBCEC-D299-30A1-AA11-95FC2F29CFB4}"/>
              </a:ext>
            </a:extLst>
          </p:cNvPr>
          <p:cNvGrpSpPr/>
          <p:nvPr/>
        </p:nvGrpSpPr>
        <p:grpSpPr>
          <a:xfrm>
            <a:off x="1447800" y="3028950"/>
            <a:ext cx="1671356" cy="1586444"/>
            <a:chOff x="3124200" y="3706957"/>
            <a:chExt cx="1671356" cy="1185283"/>
          </a:xfrm>
        </p:grpSpPr>
        <p:sp>
          <p:nvSpPr>
            <p:cNvPr id="22" name="TextBox 21">
              <a:extLst>
                <a:ext uri="{FF2B5EF4-FFF2-40B4-BE49-F238E27FC236}">
                  <a16:creationId xmlns:a16="http://schemas.microsoft.com/office/drawing/2014/main" id="{7E9A38D4-710B-9266-EDB4-A557CE1B29B1}"/>
                </a:ext>
              </a:extLst>
            </p:cNvPr>
            <p:cNvSpPr txBox="1"/>
            <p:nvPr/>
          </p:nvSpPr>
          <p:spPr>
            <a:xfrm>
              <a:off x="3124200" y="3706957"/>
              <a:ext cx="1659734" cy="369332"/>
            </a:xfrm>
            <a:prstGeom prst="rect">
              <a:avLst/>
            </a:prstGeom>
            <a:noFill/>
          </p:spPr>
          <p:txBody>
            <a:bodyPr wrap="square" rtlCol="0">
              <a:spAutoFit/>
            </a:bodyPr>
            <a:lstStyle/>
            <a:p>
              <a:r>
                <a:rPr lang="en-US" dirty="0" err="1">
                  <a:solidFill>
                    <a:srgbClr val="FF0000"/>
                  </a:solidFill>
                </a:rPr>
                <a:t>SensorAdapter</a:t>
              </a:r>
              <a:endParaRPr lang="en-MY" dirty="0">
                <a:solidFill>
                  <a:srgbClr val="FF0000"/>
                </a:solidFill>
              </a:endParaRPr>
            </a:p>
          </p:txBody>
        </p:sp>
        <p:sp>
          <p:nvSpPr>
            <p:cNvPr id="23" name="TextBox 22">
              <a:extLst>
                <a:ext uri="{FF2B5EF4-FFF2-40B4-BE49-F238E27FC236}">
                  <a16:creationId xmlns:a16="http://schemas.microsoft.com/office/drawing/2014/main" id="{B770003E-A555-E6A7-9C07-E0467AD5C762}"/>
                </a:ext>
              </a:extLst>
            </p:cNvPr>
            <p:cNvSpPr txBox="1"/>
            <p:nvPr/>
          </p:nvSpPr>
          <p:spPr>
            <a:xfrm>
              <a:off x="3135822" y="4018431"/>
              <a:ext cx="1659734" cy="873809"/>
            </a:xfrm>
            <a:prstGeom prst="rect">
              <a:avLst/>
            </a:prstGeom>
            <a:noFill/>
          </p:spPr>
          <p:txBody>
            <a:bodyPr wrap="square" rtlCol="0">
              <a:spAutoFit/>
            </a:bodyPr>
            <a:lstStyle/>
            <a:p>
              <a:r>
                <a:rPr lang="en-US" sz="1400" dirty="0">
                  <a:solidFill>
                    <a:srgbClr val="FF0000"/>
                  </a:solidFill>
                </a:rPr>
                <a:t>-</a:t>
              </a:r>
              <a:r>
                <a:rPr lang="en-US" sz="1400" dirty="0" err="1">
                  <a:solidFill>
                    <a:srgbClr val="FF0000"/>
                  </a:solidFill>
                </a:rPr>
                <a:t>NewSensor</a:t>
              </a:r>
              <a:r>
                <a:rPr lang="en-US" sz="1400" dirty="0">
                  <a:solidFill>
                    <a:srgbClr val="FF0000"/>
                  </a:solidFill>
                </a:rPr>
                <a:t> sensor</a:t>
              </a:r>
            </a:p>
            <a:p>
              <a:endParaRPr lang="en-US" sz="1400" dirty="0">
                <a:solidFill>
                  <a:srgbClr val="FF0000"/>
                </a:solidFill>
              </a:endParaRPr>
            </a:p>
            <a:p>
              <a:r>
                <a:rPr lang="en-US" sz="1400" dirty="0">
                  <a:solidFill>
                    <a:srgbClr val="FF0000"/>
                  </a:solidFill>
                </a:rPr>
                <a:t>+read()</a:t>
              </a:r>
              <a:br>
                <a:rPr lang="en-US" sz="1400" dirty="0">
                  <a:solidFill>
                    <a:srgbClr val="FF0000"/>
                  </a:solidFill>
                </a:rPr>
              </a:br>
              <a:r>
                <a:rPr lang="en-US" sz="1400" dirty="0">
                  <a:solidFill>
                    <a:srgbClr val="FF0000"/>
                  </a:solidFill>
                </a:rPr>
                <a:t>+send()</a:t>
              </a:r>
              <a:br>
                <a:rPr lang="en-US" sz="1400" dirty="0">
                  <a:solidFill>
                    <a:srgbClr val="FF0000"/>
                  </a:solidFill>
                </a:rPr>
              </a:br>
              <a:r>
                <a:rPr lang="en-US" sz="1400" dirty="0">
                  <a:solidFill>
                    <a:srgbClr val="FF0000"/>
                  </a:solidFill>
                </a:rPr>
                <a:t>+notify()</a:t>
              </a:r>
            </a:p>
          </p:txBody>
        </p:sp>
      </p:grpSp>
      <p:sp>
        <p:nvSpPr>
          <p:cNvPr id="27" name="TextBox 26">
            <a:extLst>
              <a:ext uri="{FF2B5EF4-FFF2-40B4-BE49-F238E27FC236}">
                <a16:creationId xmlns:a16="http://schemas.microsoft.com/office/drawing/2014/main" id="{B81125EC-C3C0-1D34-7DEF-9A0BF833BDB6}"/>
              </a:ext>
            </a:extLst>
          </p:cNvPr>
          <p:cNvSpPr txBox="1"/>
          <p:nvPr/>
        </p:nvSpPr>
        <p:spPr>
          <a:xfrm>
            <a:off x="5850734" y="2886123"/>
            <a:ext cx="1540666" cy="369332"/>
          </a:xfrm>
          <a:prstGeom prst="rect">
            <a:avLst/>
          </a:prstGeom>
          <a:noFill/>
        </p:spPr>
        <p:txBody>
          <a:bodyPr wrap="square" rtlCol="0">
            <a:spAutoFit/>
          </a:bodyPr>
          <a:lstStyle/>
          <a:p>
            <a:r>
              <a:rPr lang="en-US" dirty="0" err="1">
                <a:solidFill>
                  <a:srgbClr val="FF0000"/>
                </a:solidFill>
              </a:rPr>
              <a:t>NewSensor</a:t>
            </a:r>
            <a:endParaRPr lang="en-MY" dirty="0">
              <a:solidFill>
                <a:srgbClr val="FF0000"/>
              </a:solidFill>
            </a:endParaRPr>
          </a:p>
        </p:txBody>
      </p:sp>
      <p:sp>
        <p:nvSpPr>
          <p:cNvPr id="28" name="TextBox 27">
            <a:extLst>
              <a:ext uri="{FF2B5EF4-FFF2-40B4-BE49-F238E27FC236}">
                <a16:creationId xmlns:a16="http://schemas.microsoft.com/office/drawing/2014/main" id="{F9F8804B-581D-7590-08D0-370DAF83C63B}"/>
              </a:ext>
            </a:extLst>
          </p:cNvPr>
          <p:cNvSpPr txBox="1"/>
          <p:nvPr/>
        </p:nvSpPr>
        <p:spPr>
          <a:xfrm>
            <a:off x="5867401" y="3186458"/>
            <a:ext cx="1219200" cy="738664"/>
          </a:xfrm>
          <a:prstGeom prst="rect">
            <a:avLst/>
          </a:prstGeom>
          <a:noFill/>
        </p:spPr>
        <p:txBody>
          <a:bodyPr wrap="square" rtlCol="0">
            <a:spAutoFit/>
          </a:bodyPr>
          <a:lstStyle/>
          <a:p>
            <a:r>
              <a:rPr lang="en-US" sz="1400" dirty="0">
                <a:solidFill>
                  <a:srgbClr val="FF0000"/>
                </a:solidFill>
              </a:rPr>
              <a:t>+read()</a:t>
            </a:r>
            <a:br>
              <a:rPr lang="en-US" sz="1400" dirty="0">
                <a:solidFill>
                  <a:srgbClr val="FF0000"/>
                </a:solidFill>
              </a:rPr>
            </a:br>
            <a:r>
              <a:rPr lang="en-US" sz="1400" dirty="0">
                <a:solidFill>
                  <a:srgbClr val="FF0000"/>
                </a:solidFill>
              </a:rPr>
              <a:t>+display()</a:t>
            </a:r>
            <a:br>
              <a:rPr lang="en-US" sz="1400" dirty="0">
                <a:solidFill>
                  <a:srgbClr val="FF0000"/>
                </a:solidFill>
              </a:rPr>
            </a:br>
            <a:r>
              <a:rPr lang="en-US" sz="1400" dirty="0">
                <a:solidFill>
                  <a:srgbClr val="FF0000"/>
                </a:solidFill>
              </a:rPr>
              <a:t>+</a:t>
            </a:r>
            <a:r>
              <a:rPr lang="en-US" sz="1400" dirty="0" err="1">
                <a:solidFill>
                  <a:srgbClr val="FF0000"/>
                </a:solidFill>
              </a:rPr>
              <a:t>triger</a:t>
            </a:r>
            <a:r>
              <a:rPr lang="en-US" sz="1400" dirty="0">
                <a:solidFill>
                  <a:srgbClr val="FF0000"/>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723900" y="1533525"/>
            <a:ext cx="3162300" cy="2124075"/>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181600" y="1524000"/>
            <a:ext cx="3324225" cy="140017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4419600" y="4267200"/>
            <a:ext cx="4362450" cy="1371600"/>
          </a:xfrm>
          <a:prstGeom prst="rect">
            <a:avLst/>
          </a:prstGeom>
          <a:noFill/>
          <a:ln w="9525">
            <a:noFill/>
            <a:miter lim="800000"/>
            <a:headEnd/>
            <a:tailEnd/>
          </a:ln>
        </p:spPr>
      </p:pic>
      <p:grpSp>
        <p:nvGrpSpPr>
          <p:cNvPr id="10" name="Group 9"/>
          <p:cNvGrpSpPr/>
          <p:nvPr/>
        </p:nvGrpSpPr>
        <p:grpSpPr>
          <a:xfrm>
            <a:off x="990600" y="3962400"/>
            <a:ext cx="2438400" cy="1905000"/>
            <a:chOff x="2438400" y="2362200"/>
            <a:chExt cx="3733800" cy="3286125"/>
          </a:xfrm>
        </p:grpSpPr>
        <p:pic>
          <p:nvPicPr>
            <p:cNvPr id="11" name="Picture 2"/>
            <p:cNvPicPr>
              <a:picLocks noChangeAspect="1" noChangeArrowheads="1"/>
            </p:cNvPicPr>
            <p:nvPr/>
          </p:nvPicPr>
          <p:blipFill>
            <a:blip r:embed="rId5" cstate="print"/>
            <a:srcRect/>
            <a:stretch>
              <a:fillRect/>
            </a:stretch>
          </p:blipFill>
          <p:spPr bwMode="auto">
            <a:xfrm>
              <a:off x="2438400" y="2362200"/>
              <a:ext cx="3733800" cy="3286125"/>
            </a:xfrm>
            <a:prstGeom prst="rect">
              <a:avLst/>
            </a:prstGeom>
            <a:noFill/>
            <a:ln w="9525">
              <a:noFill/>
              <a:miter lim="800000"/>
              <a:headEnd/>
              <a:tailEnd/>
            </a:ln>
          </p:spPr>
        </p:pic>
        <p:sp>
          <p:nvSpPr>
            <p:cNvPr id="12" name="Rectangle 11"/>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p:cNvSpPr txBox="1"/>
          <p:nvPr/>
        </p:nvSpPr>
        <p:spPr>
          <a:xfrm>
            <a:off x="3886200" y="1447800"/>
            <a:ext cx="10668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Notice the incompatible interfaces!</a:t>
            </a:r>
          </a:p>
        </p:txBody>
      </p:sp>
      <p:sp>
        <p:nvSpPr>
          <p:cNvPr id="16" name="Freeform 15"/>
          <p:cNvSpPr/>
          <p:nvPr/>
        </p:nvSpPr>
        <p:spPr>
          <a:xfrm>
            <a:off x="4791075" y="1905000"/>
            <a:ext cx="371475" cy="685800"/>
          </a:xfrm>
          <a:custGeom>
            <a:avLst/>
            <a:gdLst>
              <a:gd name="connsiteX0" fmla="*/ 0 w 371475"/>
              <a:gd name="connsiteY0" fmla="*/ 0 h 525462"/>
              <a:gd name="connsiteX1" fmla="*/ 152400 w 371475"/>
              <a:gd name="connsiteY1" fmla="*/ 76200 h 525462"/>
              <a:gd name="connsiteX2" fmla="*/ 152400 w 371475"/>
              <a:gd name="connsiteY2" fmla="*/ 457200 h 525462"/>
              <a:gd name="connsiteX3" fmla="*/ 371475 w 371475"/>
              <a:gd name="connsiteY3" fmla="*/ 485775 h 525462"/>
            </a:gdLst>
            <a:ahLst/>
            <a:cxnLst>
              <a:cxn ang="0">
                <a:pos x="connsiteX0" y="connsiteY0"/>
              </a:cxn>
              <a:cxn ang="0">
                <a:pos x="connsiteX1" y="connsiteY1"/>
              </a:cxn>
              <a:cxn ang="0">
                <a:pos x="connsiteX2" y="connsiteY2"/>
              </a:cxn>
              <a:cxn ang="0">
                <a:pos x="connsiteX3" y="connsiteY3"/>
              </a:cxn>
            </a:cxnLst>
            <a:rect l="l" t="t" r="r" b="b"/>
            <a:pathLst>
              <a:path w="371475" h="525462">
                <a:moveTo>
                  <a:pt x="0" y="0"/>
                </a:moveTo>
                <a:cubicBezTo>
                  <a:pt x="63500" y="0"/>
                  <a:pt x="127000" y="0"/>
                  <a:pt x="152400" y="76200"/>
                </a:cubicBezTo>
                <a:cubicBezTo>
                  <a:pt x="177800" y="152400"/>
                  <a:pt x="115888" y="388938"/>
                  <a:pt x="152400" y="457200"/>
                </a:cubicBezTo>
                <a:cubicBezTo>
                  <a:pt x="188912" y="525462"/>
                  <a:pt x="280193" y="505618"/>
                  <a:pt x="3714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flipH="1">
            <a:off x="3657600" y="1905000"/>
            <a:ext cx="381000" cy="685800"/>
          </a:xfrm>
          <a:custGeom>
            <a:avLst/>
            <a:gdLst>
              <a:gd name="connsiteX0" fmla="*/ 0 w 371475"/>
              <a:gd name="connsiteY0" fmla="*/ 0 h 525462"/>
              <a:gd name="connsiteX1" fmla="*/ 152400 w 371475"/>
              <a:gd name="connsiteY1" fmla="*/ 76200 h 525462"/>
              <a:gd name="connsiteX2" fmla="*/ 152400 w 371475"/>
              <a:gd name="connsiteY2" fmla="*/ 457200 h 525462"/>
              <a:gd name="connsiteX3" fmla="*/ 371475 w 371475"/>
              <a:gd name="connsiteY3" fmla="*/ 485775 h 525462"/>
            </a:gdLst>
            <a:ahLst/>
            <a:cxnLst>
              <a:cxn ang="0">
                <a:pos x="connsiteX0" y="connsiteY0"/>
              </a:cxn>
              <a:cxn ang="0">
                <a:pos x="connsiteX1" y="connsiteY1"/>
              </a:cxn>
              <a:cxn ang="0">
                <a:pos x="connsiteX2" y="connsiteY2"/>
              </a:cxn>
              <a:cxn ang="0">
                <a:pos x="connsiteX3" y="connsiteY3"/>
              </a:cxn>
            </a:cxnLst>
            <a:rect l="l" t="t" r="r" b="b"/>
            <a:pathLst>
              <a:path w="371475" h="525462">
                <a:moveTo>
                  <a:pt x="0" y="0"/>
                </a:moveTo>
                <a:cubicBezTo>
                  <a:pt x="63500" y="0"/>
                  <a:pt x="127000" y="0"/>
                  <a:pt x="152400" y="76200"/>
                </a:cubicBezTo>
                <a:cubicBezTo>
                  <a:pt x="177800" y="152400"/>
                  <a:pt x="115888" y="388938"/>
                  <a:pt x="152400" y="457200"/>
                </a:cubicBezTo>
                <a:cubicBezTo>
                  <a:pt x="188912" y="525462"/>
                  <a:pt x="280193" y="505618"/>
                  <a:pt x="3714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029200" y="3200400"/>
            <a:ext cx="3048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Under this current conditions, you cannot use a ConcreteBorrowedCharacter in the gaming system without changing the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9" name="Group 28"/>
          <p:cNvGrpSpPr/>
          <p:nvPr/>
        </p:nvGrpSpPr>
        <p:grpSpPr>
          <a:xfrm>
            <a:off x="6019800" y="4267200"/>
            <a:ext cx="2438400" cy="1905000"/>
            <a:chOff x="2438400" y="2362200"/>
            <a:chExt cx="3733800" cy="3286125"/>
          </a:xfrm>
        </p:grpSpPr>
        <p:pic>
          <p:nvPicPr>
            <p:cNvPr id="30" name="Picture 2"/>
            <p:cNvPicPr>
              <a:picLocks noChangeAspect="1" noChangeArrowheads="1"/>
            </p:cNvPicPr>
            <p:nvPr/>
          </p:nvPicPr>
          <p:blipFill>
            <a:blip r:embed="rId2" cstate="print"/>
            <a:srcRect/>
            <a:stretch>
              <a:fillRect/>
            </a:stretch>
          </p:blipFill>
          <p:spPr bwMode="auto">
            <a:xfrm>
              <a:off x="2438400" y="2362200"/>
              <a:ext cx="3733800" cy="3286125"/>
            </a:xfrm>
            <a:prstGeom prst="rect">
              <a:avLst/>
            </a:prstGeom>
            <a:noFill/>
            <a:ln w="9525">
              <a:noFill/>
              <a:miter lim="800000"/>
              <a:headEnd/>
              <a:tailEnd/>
            </a:ln>
          </p:spPr>
        </p:pic>
        <p:sp>
          <p:nvSpPr>
            <p:cNvPr id="31" name="Rectangle 30"/>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pSp>
        <p:nvGrpSpPr>
          <p:cNvPr id="19" name="Group 18"/>
          <p:cNvGrpSpPr/>
          <p:nvPr/>
        </p:nvGrpSpPr>
        <p:grpSpPr>
          <a:xfrm>
            <a:off x="838200" y="1524000"/>
            <a:ext cx="7620000" cy="3858399"/>
            <a:chOff x="838200" y="1752600"/>
            <a:chExt cx="7620000" cy="3858399"/>
          </a:xfrm>
        </p:grpSpPr>
        <p:pic>
          <p:nvPicPr>
            <p:cNvPr id="5122" name="Picture 2"/>
            <p:cNvPicPr>
              <a:picLocks noChangeAspect="1" noChangeArrowheads="1"/>
            </p:cNvPicPr>
            <p:nvPr/>
          </p:nvPicPr>
          <p:blipFill>
            <a:blip r:embed="rId3" cstate="print"/>
            <a:srcRect/>
            <a:stretch>
              <a:fillRect/>
            </a:stretch>
          </p:blipFill>
          <p:spPr bwMode="auto">
            <a:xfrm>
              <a:off x="838200" y="2286000"/>
              <a:ext cx="4686300" cy="2762250"/>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5105400" y="2514600"/>
              <a:ext cx="3324225" cy="1400175"/>
            </a:xfrm>
            <a:prstGeom prst="rect">
              <a:avLst/>
            </a:prstGeom>
            <a:noFill/>
            <a:ln w="9525">
              <a:noFill/>
              <a:miter lim="800000"/>
              <a:headEnd/>
              <a:tailEnd/>
            </a:ln>
          </p:spPr>
        </p:pic>
        <p:sp>
          <p:nvSpPr>
            <p:cNvPr id="9" name="Rectangle 8"/>
            <p:cNvSpPr/>
            <p:nvPr/>
          </p:nvSpPr>
          <p:spPr>
            <a:xfrm>
              <a:off x="7620000" y="24384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3314700" y="1920875"/>
              <a:ext cx="3028950" cy="593725"/>
            </a:xfrm>
            <a:custGeom>
              <a:avLst/>
              <a:gdLst>
                <a:gd name="connsiteX0" fmla="*/ 3028950 w 3028950"/>
                <a:gd name="connsiteY0" fmla="*/ 593725 h 593725"/>
                <a:gd name="connsiteX1" fmla="*/ 2047875 w 3028950"/>
                <a:gd name="connsiteY1" fmla="*/ 146050 h 593725"/>
                <a:gd name="connsiteX2" fmla="*/ 1181100 w 3028950"/>
                <a:gd name="connsiteY2" fmla="*/ 174625 h 593725"/>
                <a:gd name="connsiteX3" fmla="*/ 371475 w 3028950"/>
                <a:gd name="connsiteY3" fmla="*/ 31750 h 593725"/>
                <a:gd name="connsiteX4" fmla="*/ 0 w 3028950"/>
                <a:gd name="connsiteY4" fmla="*/ 365125 h 59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8950" h="593725">
                  <a:moveTo>
                    <a:pt x="3028950" y="593725"/>
                  </a:moveTo>
                  <a:cubicBezTo>
                    <a:pt x="2692400" y="404812"/>
                    <a:pt x="2355850" y="215900"/>
                    <a:pt x="2047875" y="146050"/>
                  </a:cubicBezTo>
                  <a:cubicBezTo>
                    <a:pt x="1739900" y="76200"/>
                    <a:pt x="1460500" y="193675"/>
                    <a:pt x="1181100" y="174625"/>
                  </a:cubicBezTo>
                  <a:cubicBezTo>
                    <a:pt x="901700" y="155575"/>
                    <a:pt x="568325" y="0"/>
                    <a:pt x="371475" y="31750"/>
                  </a:cubicBezTo>
                  <a:cubicBezTo>
                    <a:pt x="174625" y="63500"/>
                    <a:pt x="87312" y="214312"/>
                    <a:pt x="0" y="365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reeform 10"/>
            <p:cNvSpPr/>
            <p:nvPr/>
          </p:nvSpPr>
          <p:spPr>
            <a:xfrm>
              <a:off x="2009775" y="2486025"/>
              <a:ext cx="4267200" cy="1042987"/>
            </a:xfrm>
            <a:custGeom>
              <a:avLst/>
              <a:gdLst>
                <a:gd name="connsiteX0" fmla="*/ 4267200 w 4267200"/>
                <a:gd name="connsiteY0" fmla="*/ 933450 h 1042987"/>
                <a:gd name="connsiteX1" fmla="*/ 3305175 w 4267200"/>
                <a:gd name="connsiteY1" fmla="*/ 933450 h 1042987"/>
                <a:gd name="connsiteX2" fmla="*/ 2590800 w 4267200"/>
                <a:gd name="connsiteY2" fmla="*/ 276225 h 1042987"/>
                <a:gd name="connsiteX3" fmla="*/ 523875 w 4267200"/>
                <a:gd name="connsiteY3" fmla="*/ 171450 h 1042987"/>
                <a:gd name="connsiteX4" fmla="*/ 0 w 4267200"/>
                <a:gd name="connsiteY4" fmla="*/ 0 h 1042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1042987">
                  <a:moveTo>
                    <a:pt x="4267200" y="933450"/>
                  </a:moveTo>
                  <a:cubicBezTo>
                    <a:pt x="3925887" y="988218"/>
                    <a:pt x="3584575" y="1042987"/>
                    <a:pt x="3305175" y="933450"/>
                  </a:cubicBezTo>
                  <a:cubicBezTo>
                    <a:pt x="3025775" y="823913"/>
                    <a:pt x="3054350" y="403225"/>
                    <a:pt x="2590800" y="276225"/>
                  </a:cubicBezTo>
                  <a:cubicBezTo>
                    <a:pt x="2127250" y="149225"/>
                    <a:pt x="955675" y="217487"/>
                    <a:pt x="523875" y="171450"/>
                  </a:cubicBezTo>
                  <a:cubicBezTo>
                    <a:pt x="92075" y="125413"/>
                    <a:pt x="46037" y="6270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a:off x="2514600" y="3857625"/>
              <a:ext cx="4905375" cy="1576387"/>
            </a:xfrm>
            <a:custGeom>
              <a:avLst/>
              <a:gdLst>
                <a:gd name="connsiteX0" fmla="*/ 4905375 w 4905375"/>
                <a:gd name="connsiteY0" fmla="*/ 0 h 1576387"/>
                <a:gd name="connsiteX1" fmla="*/ 3571875 w 4905375"/>
                <a:gd name="connsiteY1" fmla="*/ 438150 h 1576387"/>
                <a:gd name="connsiteX2" fmla="*/ 2628900 w 4905375"/>
                <a:gd name="connsiteY2" fmla="*/ 1428750 h 1576387"/>
                <a:gd name="connsiteX3" fmla="*/ 1333500 w 4905375"/>
                <a:gd name="connsiteY3" fmla="*/ 1323975 h 1576387"/>
                <a:gd name="connsiteX4" fmla="*/ 476250 w 4905375"/>
                <a:gd name="connsiteY4" fmla="*/ 1352550 h 1576387"/>
                <a:gd name="connsiteX5" fmla="*/ 0 w 4905375"/>
                <a:gd name="connsiteY5" fmla="*/ 1085850 h 157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5375" h="1576387">
                  <a:moveTo>
                    <a:pt x="4905375" y="0"/>
                  </a:moveTo>
                  <a:cubicBezTo>
                    <a:pt x="4428331" y="100012"/>
                    <a:pt x="3951287" y="200025"/>
                    <a:pt x="3571875" y="438150"/>
                  </a:cubicBezTo>
                  <a:cubicBezTo>
                    <a:pt x="3192463" y="676275"/>
                    <a:pt x="3001962" y="1281113"/>
                    <a:pt x="2628900" y="1428750"/>
                  </a:cubicBezTo>
                  <a:cubicBezTo>
                    <a:pt x="2255838" y="1576387"/>
                    <a:pt x="1692275" y="1336675"/>
                    <a:pt x="1333500" y="1323975"/>
                  </a:cubicBezTo>
                  <a:cubicBezTo>
                    <a:pt x="974725" y="1311275"/>
                    <a:pt x="698500" y="1392237"/>
                    <a:pt x="476250" y="1352550"/>
                  </a:cubicBezTo>
                  <a:cubicBezTo>
                    <a:pt x="254000" y="1312863"/>
                    <a:pt x="127000" y="1199356"/>
                    <a:pt x="0" y="1085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267200" y="1752600"/>
              <a:ext cx="20574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Character is the Target class</a:t>
              </a:r>
            </a:p>
          </p:txBody>
        </p:sp>
        <p:sp>
          <p:nvSpPr>
            <p:cNvPr id="17" name="TextBox 16"/>
            <p:cNvSpPr txBox="1"/>
            <p:nvPr/>
          </p:nvSpPr>
          <p:spPr>
            <a:xfrm>
              <a:off x="3048000" y="2438400"/>
              <a:ext cx="20574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CharacterAdapter</a:t>
              </a:r>
            </a:p>
          </p:txBody>
        </p:sp>
        <p:sp>
          <p:nvSpPr>
            <p:cNvPr id="18" name="TextBox 17"/>
            <p:cNvSpPr txBox="1"/>
            <p:nvPr/>
          </p:nvSpPr>
          <p:spPr>
            <a:xfrm>
              <a:off x="3276600" y="5334000"/>
              <a:ext cx="22860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class that we are adapting</a:t>
              </a:r>
            </a:p>
          </p:txBody>
        </p:sp>
      </p:grpSp>
      <p:sp>
        <p:nvSpPr>
          <p:cNvPr id="20" name="TextBox 19"/>
          <p:cNvSpPr txBox="1"/>
          <p:nvPr/>
        </p:nvSpPr>
        <p:spPr>
          <a:xfrm>
            <a:off x="3200400" y="3200400"/>
            <a:ext cx="17526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We configure the Adapter with its Adaptee</a:t>
            </a:r>
          </a:p>
        </p:txBody>
      </p:sp>
      <p:sp>
        <p:nvSpPr>
          <p:cNvPr id="21" name="Freeform 20"/>
          <p:cNvSpPr/>
          <p:nvPr/>
        </p:nvSpPr>
        <p:spPr>
          <a:xfrm>
            <a:off x="3127375" y="2876550"/>
            <a:ext cx="368300" cy="457200"/>
          </a:xfrm>
          <a:custGeom>
            <a:avLst/>
            <a:gdLst>
              <a:gd name="connsiteX0" fmla="*/ 368300 w 368300"/>
              <a:gd name="connsiteY0" fmla="*/ 457200 h 457200"/>
              <a:gd name="connsiteX1" fmla="*/ 34925 w 368300"/>
              <a:gd name="connsiteY1" fmla="*/ 304800 h 457200"/>
              <a:gd name="connsiteX2" fmla="*/ 158750 w 368300"/>
              <a:gd name="connsiteY2" fmla="*/ 114300 h 457200"/>
              <a:gd name="connsiteX3" fmla="*/ 44450 w 368300"/>
              <a:gd name="connsiteY3" fmla="*/ 0 h 457200"/>
            </a:gdLst>
            <a:ahLst/>
            <a:cxnLst>
              <a:cxn ang="0">
                <a:pos x="connsiteX0" y="connsiteY0"/>
              </a:cxn>
              <a:cxn ang="0">
                <a:pos x="connsiteX1" y="connsiteY1"/>
              </a:cxn>
              <a:cxn ang="0">
                <a:pos x="connsiteX2" y="connsiteY2"/>
              </a:cxn>
              <a:cxn ang="0">
                <a:pos x="connsiteX3" y="connsiteY3"/>
              </a:cxn>
            </a:cxnLst>
            <a:rect l="l" t="t" r="r" b="b"/>
            <a:pathLst>
              <a:path w="368300" h="457200">
                <a:moveTo>
                  <a:pt x="368300" y="457200"/>
                </a:moveTo>
                <a:cubicBezTo>
                  <a:pt x="219075" y="409575"/>
                  <a:pt x="69850" y="361950"/>
                  <a:pt x="34925" y="304800"/>
                </a:cubicBezTo>
                <a:cubicBezTo>
                  <a:pt x="0" y="247650"/>
                  <a:pt x="157163" y="165100"/>
                  <a:pt x="158750" y="114300"/>
                </a:cubicBezTo>
                <a:cubicBezTo>
                  <a:pt x="160338" y="63500"/>
                  <a:pt x="102394" y="31750"/>
                  <a:pt x="44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6146" name="Picture 2"/>
          <p:cNvPicPr>
            <a:picLocks noChangeAspect="1" noChangeArrowheads="1"/>
          </p:cNvPicPr>
          <p:nvPr/>
        </p:nvPicPr>
        <p:blipFill>
          <a:blip r:embed="rId2" cstate="print"/>
          <a:srcRect/>
          <a:stretch>
            <a:fillRect/>
          </a:stretch>
        </p:blipFill>
        <p:spPr bwMode="auto">
          <a:xfrm>
            <a:off x="3124200" y="1524000"/>
            <a:ext cx="4933950" cy="4133850"/>
          </a:xfrm>
          <a:prstGeom prst="rect">
            <a:avLst/>
          </a:prstGeom>
          <a:noFill/>
          <a:ln w="9525">
            <a:noFill/>
            <a:miter lim="800000"/>
            <a:headEnd/>
            <a:tailEnd/>
          </a:ln>
        </p:spPr>
      </p:pic>
      <p:sp>
        <p:nvSpPr>
          <p:cNvPr id="8" name="TextBox 7"/>
          <p:cNvSpPr txBox="1"/>
          <p:nvPr/>
        </p:nvSpPr>
        <p:spPr>
          <a:xfrm>
            <a:off x="6324600" y="2133600"/>
            <a:ext cx="17526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Step 1. Configure the Adapter with its Adaptee</a:t>
            </a:r>
          </a:p>
        </p:txBody>
      </p:sp>
      <p:sp>
        <p:nvSpPr>
          <p:cNvPr id="9" name="Freeform 8"/>
          <p:cNvSpPr/>
          <p:nvPr/>
        </p:nvSpPr>
        <p:spPr>
          <a:xfrm>
            <a:off x="4419600" y="2266950"/>
            <a:ext cx="2038350" cy="227013"/>
          </a:xfrm>
          <a:custGeom>
            <a:avLst/>
            <a:gdLst>
              <a:gd name="connsiteX0" fmla="*/ 2038350 w 2038350"/>
              <a:gd name="connsiteY0" fmla="*/ 0 h 227013"/>
              <a:gd name="connsiteX1" fmla="*/ 1524000 w 2038350"/>
              <a:gd name="connsiteY1" fmla="*/ 38100 h 227013"/>
              <a:gd name="connsiteX2" fmla="*/ 466725 w 2038350"/>
              <a:gd name="connsiteY2" fmla="*/ 219075 h 227013"/>
              <a:gd name="connsiteX3" fmla="*/ 0 w 2038350"/>
              <a:gd name="connsiteY3" fmla="*/ 85725 h 227013"/>
            </a:gdLst>
            <a:ahLst/>
            <a:cxnLst>
              <a:cxn ang="0">
                <a:pos x="connsiteX0" y="connsiteY0"/>
              </a:cxn>
              <a:cxn ang="0">
                <a:pos x="connsiteX1" y="connsiteY1"/>
              </a:cxn>
              <a:cxn ang="0">
                <a:pos x="connsiteX2" y="connsiteY2"/>
              </a:cxn>
              <a:cxn ang="0">
                <a:pos x="connsiteX3" y="connsiteY3"/>
              </a:cxn>
            </a:cxnLst>
            <a:rect l="l" t="t" r="r" b="b"/>
            <a:pathLst>
              <a:path w="2038350" h="227013">
                <a:moveTo>
                  <a:pt x="2038350" y="0"/>
                </a:moveTo>
                <a:cubicBezTo>
                  <a:pt x="1912144" y="794"/>
                  <a:pt x="1785938" y="1588"/>
                  <a:pt x="1524000" y="38100"/>
                </a:cubicBezTo>
                <a:cubicBezTo>
                  <a:pt x="1262063" y="74613"/>
                  <a:pt x="720725" y="211137"/>
                  <a:pt x="466725" y="219075"/>
                </a:cubicBezTo>
                <a:cubicBezTo>
                  <a:pt x="212725" y="227013"/>
                  <a:pt x="106362" y="156369"/>
                  <a:pt x="0" y="85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33400" y="2743200"/>
            <a:ext cx="1981200" cy="1015663"/>
          </a:xfrm>
          <a:prstGeom prst="rect">
            <a:avLst/>
          </a:prstGeom>
          <a:noFill/>
        </p:spPr>
        <p:txBody>
          <a:bodyPr wrap="square" rtlCol="0">
            <a:spAutoFit/>
          </a:bodyPr>
          <a:lstStyle/>
          <a:p>
            <a:pPr algn="ctr"/>
            <a:r>
              <a:rPr lang="en-US" sz="1200" b="1" dirty="0">
                <a:solidFill>
                  <a:srgbClr val="C00000"/>
                </a:solidFill>
                <a:latin typeface="Bradley Hand ITC" pitchFamily="66" charset="0"/>
              </a:rPr>
              <a:t>Step 2. Override each Character method to implement the behavior in terms of the Adaptee, in this case, the BorrowedChracter</a:t>
            </a:r>
          </a:p>
        </p:txBody>
      </p:sp>
      <p:sp>
        <p:nvSpPr>
          <p:cNvPr id="11" name="Freeform 10"/>
          <p:cNvSpPr/>
          <p:nvPr/>
        </p:nvSpPr>
        <p:spPr>
          <a:xfrm>
            <a:off x="2419350" y="2924175"/>
            <a:ext cx="809625" cy="404812"/>
          </a:xfrm>
          <a:custGeom>
            <a:avLst/>
            <a:gdLst>
              <a:gd name="connsiteX0" fmla="*/ 0 w 809625"/>
              <a:gd name="connsiteY0" fmla="*/ 0 h 404812"/>
              <a:gd name="connsiteX1" fmla="*/ 333375 w 809625"/>
              <a:gd name="connsiteY1" fmla="*/ 66675 h 404812"/>
              <a:gd name="connsiteX2" fmla="*/ 485775 w 809625"/>
              <a:gd name="connsiteY2" fmla="*/ 352425 h 404812"/>
              <a:gd name="connsiteX3" fmla="*/ 809625 w 809625"/>
              <a:gd name="connsiteY3" fmla="*/ 381000 h 404812"/>
            </a:gdLst>
            <a:ahLst/>
            <a:cxnLst>
              <a:cxn ang="0">
                <a:pos x="connsiteX0" y="connsiteY0"/>
              </a:cxn>
              <a:cxn ang="0">
                <a:pos x="connsiteX1" y="connsiteY1"/>
              </a:cxn>
              <a:cxn ang="0">
                <a:pos x="connsiteX2" y="connsiteY2"/>
              </a:cxn>
              <a:cxn ang="0">
                <a:pos x="connsiteX3" y="connsiteY3"/>
              </a:cxn>
            </a:cxnLst>
            <a:rect l="l" t="t" r="r" b="b"/>
            <a:pathLst>
              <a:path w="809625" h="404812">
                <a:moveTo>
                  <a:pt x="0" y="0"/>
                </a:moveTo>
                <a:cubicBezTo>
                  <a:pt x="126206" y="3969"/>
                  <a:pt x="252413" y="7938"/>
                  <a:pt x="333375" y="66675"/>
                </a:cubicBezTo>
                <a:cubicBezTo>
                  <a:pt x="414338" y="125413"/>
                  <a:pt x="406400" y="300038"/>
                  <a:pt x="485775" y="352425"/>
                </a:cubicBezTo>
                <a:cubicBezTo>
                  <a:pt x="565150" y="404812"/>
                  <a:pt x="687387" y="392906"/>
                  <a:pt x="809625"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2524125" y="3514725"/>
            <a:ext cx="733425" cy="876300"/>
          </a:xfrm>
          <a:custGeom>
            <a:avLst/>
            <a:gdLst>
              <a:gd name="connsiteX0" fmla="*/ 0 w 733425"/>
              <a:gd name="connsiteY0" fmla="*/ 0 h 876300"/>
              <a:gd name="connsiteX1" fmla="*/ 238125 w 733425"/>
              <a:gd name="connsiteY1" fmla="*/ 219075 h 876300"/>
              <a:gd name="connsiteX2" fmla="*/ 381000 w 733425"/>
              <a:gd name="connsiteY2" fmla="*/ 771525 h 876300"/>
              <a:gd name="connsiteX3" fmla="*/ 733425 w 733425"/>
              <a:gd name="connsiteY3" fmla="*/ 847725 h 876300"/>
            </a:gdLst>
            <a:ahLst/>
            <a:cxnLst>
              <a:cxn ang="0">
                <a:pos x="connsiteX0" y="connsiteY0"/>
              </a:cxn>
              <a:cxn ang="0">
                <a:pos x="connsiteX1" y="connsiteY1"/>
              </a:cxn>
              <a:cxn ang="0">
                <a:pos x="connsiteX2" y="connsiteY2"/>
              </a:cxn>
              <a:cxn ang="0">
                <a:pos x="connsiteX3" y="connsiteY3"/>
              </a:cxn>
            </a:cxnLst>
            <a:rect l="l" t="t" r="r" b="b"/>
            <a:pathLst>
              <a:path w="733425" h="876300">
                <a:moveTo>
                  <a:pt x="0" y="0"/>
                </a:moveTo>
                <a:cubicBezTo>
                  <a:pt x="87312" y="45244"/>
                  <a:pt x="174625" y="90488"/>
                  <a:pt x="238125" y="219075"/>
                </a:cubicBezTo>
                <a:cubicBezTo>
                  <a:pt x="301625" y="347663"/>
                  <a:pt x="298450" y="666750"/>
                  <a:pt x="381000" y="771525"/>
                </a:cubicBezTo>
                <a:cubicBezTo>
                  <a:pt x="463550" y="876300"/>
                  <a:pt x="598487" y="862012"/>
                  <a:pt x="733425" y="847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2324100" y="3752850"/>
            <a:ext cx="895350" cy="1730375"/>
          </a:xfrm>
          <a:custGeom>
            <a:avLst/>
            <a:gdLst>
              <a:gd name="connsiteX0" fmla="*/ 0 w 895350"/>
              <a:gd name="connsiteY0" fmla="*/ 0 h 1730375"/>
              <a:gd name="connsiteX1" fmla="*/ 219075 w 895350"/>
              <a:gd name="connsiteY1" fmla="*/ 285750 h 1730375"/>
              <a:gd name="connsiteX2" fmla="*/ 400050 w 895350"/>
              <a:gd name="connsiteY2" fmla="*/ 1495425 h 1730375"/>
              <a:gd name="connsiteX3" fmla="*/ 895350 w 895350"/>
              <a:gd name="connsiteY3" fmla="*/ 1695450 h 1730375"/>
            </a:gdLst>
            <a:ahLst/>
            <a:cxnLst>
              <a:cxn ang="0">
                <a:pos x="connsiteX0" y="connsiteY0"/>
              </a:cxn>
              <a:cxn ang="0">
                <a:pos x="connsiteX1" y="connsiteY1"/>
              </a:cxn>
              <a:cxn ang="0">
                <a:pos x="connsiteX2" y="connsiteY2"/>
              </a:cxn>
              <a:cxn ang="0">
                <a:pos x="connsiteX3" y="connsiteY3"/>
              </a:cxn>
            </a:cxnLst>
            <a:rect l="l" t="t" r="r" b="b"/>
            <a:pathLst>
              <a:path w="895350" h="1730375">
                <a:moveTo>
                  <a:pt x="0" y="0"/>
                </a:moveTo>
                <a:cubicBezTo>
                  <a:pt x="76200" y="18256"/>
                  <a:pt x="152400" y="36513"/>
                  <a:pt x="219075" y="285750"/>
                </a:cubicBezTo>
                <a:cubicBezTo>
                  <a:pt x="285750" y="534988"/>
                  <a:pt x="287337" y="1260475"/>
                  <a:pt x="400050" y="1495425"/>
                </a:cubicBezTo>
                <a:cubicBezTo>
                  <a:pt x="512763" y="1730375"/>
                  <a:pt x="704056" y="1712912"/>
                  <a:pt x="895350" y="1695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2743200" y="5791200"/>
            <a:ext cx="4648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With this design in place, you can now use CharacterAdapter to provide BorrowedCharacter services throughout the game!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16" name="Group 15"/>
          <p:cNvGrpSpPr/>
          <p:nvPr/>
        </p:nvGrpSpPr>
        <p:grpSpPr>
          <a:xfrm>
            <a:off x="762000" y="1219200"/>
            <a:ext cx="7620000" cy="4905375"/>
            <a:chOff x="762000" y="1219200"/>
            <a:chExt cx="7620000" cy="4905375"/>
          </a:xfrm>
        </p:grpSpPr>
        <p:pic>
          <p:nvPicPr>
            <p:cNvPr id="7170" name="Picture 2"/>
            <p:cNvPicPr>
              <a:picLocks noChangeAspect="1" noChangeArrowheads="1"/>
            </p:cNvPicPr>
            <p:nvPr/>
          </p:nvPicPr>
          <p:blipFill>
            <a:blip r:embed="rId2" cstate="print"/>
            <a:srcRect/>
            <a:stretch>
              <a:fillRect/>
            </a:stretch>
          </p:blipFill>
          <p:spPr bwMode="auto">
            <a:xfrm>
              <a:off x="914400" y="1219200"/>
              <a:ext cx="4714875" cy="3057525"/>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3657600" y="4114800"/>
              <a:ext cx="4495800" cy="2009775"/>
            </a:xfrm>
            <a:prstGeom prst="rect">
              <a:avLst/>
            </a:prstGeom>
            <a:noFill/>
            <a:ln w="9525">
              <a:noFill/>
              <a:miter lim="800000"/>
              <a:headEnd/>
              <a:tailEnd/>
            </a:ln>
          </p:spPr>
        </p:pic>
        <p:sp>
          <p:nvSpPr>
            <p:cNvPr id="10" name="TextBox 9"/>
            <p:cNvSpPr txBox="1"/>
            <p:nvPr/>
          </p:nvSpPr>
          <p:spPr>
            <a:xfrm>
              <a:off x="762000" y="4648200"/>
              <a:ext cx="22098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Assuming the gaming engine has code similar to this</a:t>
              </a:r>
            </a:p>
          </p:txBody>
        </p:sp>
        <p:sp>
          <p:nvSpPr>
            <p:cNvPr id="11" name="Freeform 10"/>
            <p:cNvSpPr/>
            <p:nvPr/>
          </p:nvSpPr>
          <p:spPr>
            <a:xfrm>
              <a:off x="2724150" y="3667125"/>
              <a:ext cx="609600" cy="1304925"/>
            </a:xfrm>
            <a:custGeom>
              <a:avLst/>
              <a:gdLst>
                <a:gd name="connsiteX0" fmla="*/ 0 w 609600"/>
                <a:gd name="connsiteY0" fmla="*/ 1304925 h 1304925"/>
                <a:gd name="connsiteX1" fmla="*/ 581025 w 609600"/>
                <a:gd name="connsiteY1" fmla="*/ 1066800 h 1304925"/>
                <a:gd name="connsiteX2" fmla="*/ 171450 w 609600"/>
                <a:gd name="connsiteY2" fmla="*/ 581025 h 1304925"/>
                <a:gd name="connsiteX3" fmla="*/ 428625 w 609600"/>
                <a:gd name="connsiteY3" fmla="*/ 228600 h 1304925"/>
                <a:gd name="connsiteX4" fmla="*/ 295275 w 609600"/>
                <a:gd name="connsiteY4" fmla="*/ 0 h 1304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1304925">
                  <a:moveTo>
                    <a:pt x="0" y="1304925"/>
                  </a:moveTo>
                  <a:cubicBezTo>
                    <a:pt x="276225" y="1246187"/>
                    <a:pt x="552450" y="1187450"/>
                    <a:pt x="581025" y="1066800"/>
                  </a:cubicBezTo>
                  <a:cubicBezTo>
                    <a:pt x="609600" y="946150"/>
                    <a:pt x="196850" y="720725"/>
                    <a:pt x="171450" y="581025"/>
                  </a:cubicBezTo>
                  <a:cubicBezTo>
                    <a:pt x="146050" y="441325"/>
                    <a:pt x="407988" y="325437"/>
                    <a:pt x="428625" y="228600"/>
                  </a:cubicBezTo>
                  <a:cubicBezTo>
                    <a:pt x="449262" y="131763"/>
                    <a:pt x="372268" y="65881"/>
                    <a:pt x="2952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5562600" y="1371600"/>
              <a:ext cx="1905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The GameEngine expects all characters to obey the Character interface </a:t>
              </a:r>
            </a:p>
          </p:txBody>
        </p:sp>
        <p:sp>
          <p:nvSpPr>
            <p:cNvPr id="13" name="Freeform 12"/>
            <p:cNvSpPr/>
            <p:nvPr/>
          </p:nvSpPr>
          <p:spPr>
            <a:xfrm>
              <a:off x="4257675" y="1484312"/>
              <a:ext cx="1432718" cy="420688"/>
            </a:xfrm>
            <a:custGeom>
              <a:avLst/>
              <a:gdLst>
                <a:gd name="connsiteX0" fmla="*/ 1371600 w 1432718"/>
                <a:gd name="connsiteY0" fmla="*/ 11113 h 420688"/>
                <a:gd name="connsiteX1" fmla="*/ 1314450 w 1432718"/>
                <a:gd name="connsiteY1" fmla="*/ 11113 h 420688"/>
                <a:gd name="connsiteX2" fmla="*/ 295275 w 1432718"/>
                <a:gd name="connsiteY2" fmla="*/ 144463 h 420688"/>
                <a:gd name="connsiteX3" fmla="*/ 0 w 1432718"/>
                <a:gd name="connsiteY3" fmla="*/ 420688 h 420688"/>
              </a:gdLst>
              <a:ahLst/>
              <a:cxnLst>
                <a:cxn ang="0">
                  <a:pos x="connsiteX0" y="connsiteY0"/>
                </a:cxn>
                <a:cxn ang="0">
                  <a:pos x="connsiteX1" y="connsiteY1"/>
                </a:cxn>
                <a:cxn ang="0">
                  <a:pos x="connsiteX2" y="connsiteY2"/>
                </a:cxn>
                <a:cxn ang="0">
                  <a:pos x="connsiteX3" y="connsiteY3"/>
                </a:cxn>
              </a:cxnLst>
              <a:rect l="l" t="t" r="r" b="b"/>
              <a:pathLst>
                <a:path w="1432718" h="420688">
                  <a:moveTo>
                    <a:pt x="1371600" y="11113"/>
                  </a:moveTo>
                  <a:cubicBezTo>
                    <a:pt x="1432718" y="0"/>
                    <a:pt x="1314450" y="11113"/>
                    <a:pt x="1314450" y="11113"/>
                  </a:cubicBezTo>
                  <a:cubicBezTo>
                    <a:pt x="1135063" y="33338"/>
                    <a:pt x="514350" y="76201"/>
                    <a:pt x="295275" y="144463"/>
                  </a:cubicBezTo>
                  <a:cubicBezTo>
                    <a:pt x="76200" y="212726"/>
                    <a:pt x="38100" y="316707"/>
                    <a:pt x="0" y="420688"/>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486400" y="3429000"/>
              <a:ext cx="28956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This is how you would adapt the borrowed character and use it in the GameEngine</a:t>
              </a:r>
            </a:p>
          </p:txBody>
        </p:sp>
        <p:sp>
          <p:nvSpPr>
            <p:cNvPr id="15" name="Freeform 14"/>
            <p:cNvSpPr/>
            <p:nvPr/>
          </p:nvSpPr>
          <p:spPr>
            <a:xfrm>
              <a:off x="6629400" y="3867150"/>
              <a:ext cx="209550" cy="533400"/>
            </a:xfrm>
            <a:custGeom>
              <a:avLst/>
              <a:gdLst>
                <a:gd name="connsiteX0" fmla="*/ 0 w 209550"/>
                <a:gd name="connsiteY0" fmla="*/ 0 h 533400"/>
                <a:gd name="connsiteX1" fmla="*/ 209550 w 209550"/>
                <a:gd name="connsiteY1" fmla="*/ 247650 h 533400"/>
                <a:gd name="connsiteX2" fmla="*/ 0 w 209550"/>
                <a:gd name="connsiteY2" fmla="*/ 533400 h 533400"/>
              </a:gdLst>
              <a:ahLst/>
              <a:cxnLst>
                <a:cxn ang="0">
                  <a:pos x="connsiteX0" y="connsiteY0"/>
                </a:cxn>
                <a:cxn ang="0">
                  <a:pos x="connsiteX1" y="connsiteY1"/>
                </a:cxn>
                <a:cxn ang="0">
                  <a:pos x="connsiteX2" y="connsiteY2"/>
                </a:cxn>
              </a:cxnLst>
              <a:rect l="l" t="t" r="r" b="b"/>
              <a:pathLst>
                <a:path w="209550" h="533400">
                  <a:moveTo>
                    <a:pt x="0" y="0"/>
                  </a:moveTo>
                  <a:cubicBezTo>
                    <a:pt x="104775" y="79375"/>
                    <a:pt x="209550" y="158750"/>
                    <a:pt x="209550" y="247650"/>
                  </a:cubicBezTo>
                  <a:cubicBezTo>
                    <a:pt x="209550" y="336550"/>
                    <a:pt x="104775" y="434975"/>
                    <a:pt x="0" y="533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a:t>
            </a:r>
          </a:p>
        </p:txBody>
      </p:sp>
      <p:sp>
        <p:nvSpPr>
          <p:cNvPr id="3" name="Content Placeholder 2"/>
          <p:cNvSpPr>
            <a:spLocks noGrp="1"/>
          </p:cNvSpPr>
          <p:nvPr>
            <p:ph idx="1"/>
          </p:nvPr>
        </p:nvSpPr>
        <p:spPr/>
        <p:txBody>
          <a:bodyPr>
            <a:normAutofit lnSpcReduction="10000"/>
          </a:bodyPr>
          <a:lstStyle/>
          <a:p>
            <a:r>
              <a:rPr lang="en-US" dirty="0"/>
              <a:t>The step-by-step approach for designing the object structural adapter design pattern is presented as follows:</a:t>
            </a:r>
          </a:p>
          <a:p>
            <a:pPr marL="800100" lvl="1" indent="-342900">
              <a:buFont typeface="+mj-lt"/>
              <a:buAutoNum type="arabicPeriod"/>
            </a:pPr>
            <a:r>
              <a:rPr lang="en-US" dirty="0"/>
              <a:t>Identify the source and destination interfaces that need adapting in the new system (e.g., Target and Adaptee or Character and SpecialCharacter).</a:t>
            </a:r>
          </a:p>
          <a:p>
            <a:pPr marL="800100" lvl="1" indent="-342900">
              <a:buFont typeface="+mj-lt"/>
              <a:buAutoNum type="arabicPeriod"/>
            </a:pPr>
            <a:r>
              <a:rPr lang="en-US" dirty="0"/>
              <a:t>Add a new class (e.g., Adapter or AdaptedCharacter) in the design that realizes the Target interface and implements it in terms of the Adaptee’s implementation.  This requires a realization relationship between the Adapter and Target, and an association between the Adapter and the Adaptee.</a:t>
            </a:r>
          </a:p>
          <a:p>
            <a:pPr marL="800100" lvl="1" indent="-342900">
              <a:buFont typeface="+mj-lt"/>
              <a:buAutoNum type="arabicPeriod"/>
            </a:pPr>
            <a:r>
              <a:rPr lang="en-US" dirty="0"/>
              <a:t>In the new system, whenever objects that share the Target interface are expected, it can now be possible to use the Adapter objects created in step 2.</a:t>
            </a:r>
          </a:p>
          <a:p>
            <a:endParaRPr lang="en-US" dirty="0"/>
          </a:p>
          <a:p>
            <a:r>
              <a:rPr lang="en-US" dirty="0"/>
              <a:t>Benefits of the Adapter design pattern include:</a:t>
            </a:r>
          </a:p>
          <a:p>
            <a:pPr lvl="1"/>
            <a:r>
              <a:rPr lang="en-US" dirty="0"/>
              <a:t>Allows classes with </a:t>
            </a:r>
            <a:r>
              <a:rPr lang="en-US" dirty="0">
                <a:highlight>
                  <a:srgbClr val="FFFF00"/>
                </a:highlight>
              </a:rPr>
              <a:t>incompatible interfaces to work together</a:t>
            </a:r>
            <a:r>
              <a:rPr lang="en-US" dirty="0"/>
              <a:t>,  therefore it increases </a:t>
            </a:r>
            <a:r>
              <a:rPr lang="en-US" dirty="0">
                <a:highlight>
                  <a:srgbClr val="FFFF00"/>
                </a:highlight>
              </a:rPr>
              <a:t>reusability and ease of code integration</a:t>
            </a:r>
            <a:r>
              <a:rPr lang="en-US" dirty="0"/>
              <a:t>.</a:t>
            </a:r>
          </a:p>
          <a:p>
            <a:pPr lvl="1"/>
            <a:r>
              <a:rPr lang="en-US" dirty="0"/>
              <a:t>Provides a s</a:t>
            </a:r>
            <a:r>
              <a:rPr lang="en-US" dirty="0">
                <a:highlight>
                  <a:srgbClr val="FFFF00"/>
                </a:highlight>
              </a:rPr>
              <a:t>tandard way for integrating a plurality of different types to existing software</a:t>
            </a:r>
            <a:r>
              <a:rPr lang="en-US" dirty="0"/>
              <a:t>.</a:t>
            </a:r>
          </a:p>
          <a:p>
            <a:pPr marL="800100" lvl="1" indent="-342900">
              <a:buFont typeface="+mj-lt"/>
              <a:buAutoNum type="arabicPeriod"/>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10" name="TextBox 9">
            <a:extLst>
              <a:ext uri="{FF2B5EF4-FFF2-40B4-BE49-F238E27FC236}">
                <a16:creationId xmlns:a16="http://schemas.microsoft.com/office/drawing/2014/main" id="{713BC7D6-C271-297A-C70A-66799B1A4FE2}"/>
              </a:ext>
            </a:extLst>
          </p:cNvPr>
          <p:cNvSpPr txBox="1"/>
          <p:nvPr/>
        </p:nvSpPr>
        <p:spPr>
          <a:xfrm>
            <a:off x="457200" y="1363726"/>
            <a:ext cx="8229600" cy="4801314"/>
          </a:xfrm>
          <a:prstGeom prst="rect">
            <a:avLst/>
          </a:prstGeom>
          <a:noFill/>
        </p:spPr>
        <p:txBody>
          <a:bodyPr wrap="square">
            <a:spAutoFit/>
          </a:bodyPr>
          <a:lstStyle/>
          <a:p>
            <a:pPr>
              <a:buFont typeface="Arial" panose="020B0604020202020204" pitchFamily="34" charset="0"/>
              <a:buChar char="•"/>
            </a:pPr>
            <a:r>
              <a:rPr lang="en-US" b="1" dirty="0"/>
              <a:t>Description</a:t>
            </a:r>
            <a:r>
              <a:rPr lang="en-US" dirty="0"/>
              <a:t>:</a:t>
            </a:r>
            <a:br>
              <a:rPr lang="en-US" dirty="0"/>
            </a:br>
            <a:r>
              <a:rPr lang="en-US" dirty="0"/>
              <a:t>The Adapter Pattern acts as a bridge between two incompatible interfaces by converting one interface into another that the client expects.</a:t>
            </a:r>
          </a:p>
          <a:p>
            <a:pPr>
              <a:buFont typeface="Arial" panose="020B0604020202020204" pitchFamily="34" charset="0"/>
              <a:buChar char="•"/>
            </a:pPr>
            <a:r>
              <a:rPr lang="en-US" b="1" dirty="0"/>
              <a:t>When to Use</a:t>
            </a:r>
            <a:r>
              <a:rPr lang="en-US" dirty="0"/>
              <a:t>:</a:t>
            </a:r>
          </a:p>
          <a:p>
            <a:pPr marL="742950" lvl="1" indent="-285750">
              <a:buFont typeface="Arial" panose="020B0604020202020204" pitchFamily="34" charset="0"/>
              <a:buChar char="•"/>
            </a:pPr>
            <a:r>
              <a:rPr lang="en-US" dirty="0"/>
              <a:t>When you want to integrate classes with incompatible interfaces.</a:t>
            </a:r>
          </a:p>
          <a:p>
            <a:pPr marL="742950" lvl="1" indent="-285750">
              <a:buFont typeface="Arial" panose="020B0604020202020204" pitchFamily="34" charset="0"/>
              <a:buChar char="•"/>
            </a:pPr>
            <a:r>
              <a:rPr lang="en-US" dirty="0"/>
              <a:t>To reuse existing code that doesn't work well with other parts of the system.</a:t>
            </a:r>
          </a:p>
          <a:p>
            <a:pPr>
              <a:buFont typeface="Arial" panose="020B0604020202020204" pitchFamily="34" charset="0"/>
              <a:buChar char="•"/>
            </a:pPr>
            <a:r>
              <a:rPr lang="en-US" b="1" dirty="0"/>
              <a:t>Why Use</a:t>
            </a:r>
            <a:r>
              <a:rPr lang="en-US" dirty="0"/>
              <a:t>:</a:t>
            </a:r>
            <a:br>
              <a:rPr lang="en-US" dirty="0"/>
            </a:br>
            <a:r>
              <a:rPr lang="en-US" dirty="0"/>
              <a:t>To promote code reuse and ensure compatibility between mismatched systems.</a:t>
            </a:r>
          </a:p>
          <a:p>
            <a:pPr>
              <a:buFont typeface="Arial" panose="020B0604020202020204" pitchFamily="34" charset="0"/>
              <a:buChar char="•"/>
            </a:pPr>
            <a:r>
              <a:rPr lang="en-US" b="1" dirty="0"/>
              <a:t>Scenarios</a:t>
            </a:r>
            <a:r>
              <a:rPr lang="en-US" dirty="0"/>
              <a:t>:</a:t>
            </a:r>
          </a:p>
          <a:p>
            <a:pPr marL="742950" lvl="1" indent="-285750">
              <a:buFont typeface="Arial" panose="020B0604020202020204" pitchFamily="34" charset="0"/>
              <a:buChar char="•"/>
            </a:pPr>
            <a:r>
              <a:rPr lang="en-US" dirty="0"/>
              <a:t>Integrating legacy systems with new systems.</a:t>
            </a:r>
          </a:p>
          <a:p>
            <a:pPr marL="742950" lvl="1" indent="-285750">
              <a:buFont typeface="Arial" panose="020B0604020202020204" pitchFamily="34" charset="0"/>
              <a:buChar char="•"/>
            </a:pPr>
            <a:r>
              <a:rPr lang="en-US" dirty="0"/>
              <a:t>Using third-party APIs in your application.</a:t>
            </a:r>
          </a:p>
          <a:p>
            <a:pPr>
              <a:buFont typeface="Arial" panose="020B0604020202020204" pitchFamily="34" charset="0"/>
              <a:buChar char="•"/>
            </a:pPr>
            <a:r>
              <a:rPr lang="en-US" b="1" dirty="0"/>
              <a:t>Pros</a:t>
            </a:r>
            <a:r>
              <a:rPr lang="en-US" dirty="0"/>
              <a:t>:</a:t>
            </a:r>
          </a:p>
          <a:p>
            <a:pPr marL="742950" lvl="1" indent="-285750">
              <a:buFont typeface="Arial" panose="020B0604020202020204" pitchFamily="34" charset="0"/>
              <a:buChar char="•"/>
            </a:pPr>
            <a:r>
              <a:rPr lang="en-US" dirty="0"/>
              <a:t>Simplifies integration between incompatible interfaces.</a:t>
            </a:r>
          </a:p>
          <a:p>
            <a:pPr marL="742950" lvl="1" indent="-285750">
              <a:buFont typeface="Arial" panose="020B0604020202020204" pitchFamily="34" charset="0"/>
              <a:buChar char="•"/>
            </a:pPr>
            <a:r>
              <a:rPr lang="en-US" dirty="0"/>
              <a:t>Promotes reusability.</a:t>
            </a:r>
          </a:p>
          <a:p>
            <a:pPr>
              <a:buFont typeface="Arial" panose="020B0604020202020204" pitchFamily="34" charset="0"/>
              <a:buChar char="•"/>
            </a:pPr>
            <a:r>
              <a:rPr lang="en-US" b="1" dirty="0"/>
              <a:t>Cons</a:t>
            </a:r>
            <a:r>
              <a:rPr lang="en-US" dirty="0"/>
              <a:t>:</a:t>
            </a:r>
          </a:p>
          <a:p>
            <a:pPr marL="742950" lvl="1" indent="-285750">
              <a:buFont typeface="Arial" panose="020B0604020202020204" pitchFamily="34" charset="0"/>
              <a:buChar char="•"/>
            </a:pPr>
            <a:r>
              <a:rPr lang="en-US" dirty="0"/>
              <a:t>Can add complexity.</a:t>
            </a:r>
          </a:p>
          <a:p>
            <a:pPr marL="742950" lvl="1" indent="-285750">
              <a:buFont typeface="Arial" panose="020B0604020202020204" pitchFamily="34" charset="0"/>
              <a:buChar char="•"/>
            </a:pPr>
            <a:r>
              <a:rPr lang="en-US" dirty="0"/>
              <a:t>May introduce extra layers of abstraction.</a:t>
            </a:r>
          </a:p>
        </p:txBody>
      </p:sp>
    </p:spTree>
    <p:extLst>
      <p:ext uri="{BB962C8B-B14F-4D97-AF65-F5344CB8AC3E}">
        <p14:creationId xmlns:p14="http://schemas.microsoft.com/office/powerpoint/2010/main" val="1546661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Adapter Design Pattern</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28199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a:t>
            </a:r>
          </a:p>
        </p:txBody>
      </p:sp>
      <p:sp>
        <p:nvSpPr>
          <p:cNvPr id="3" name="Content Placeholder 2"/>
          <p:cNvSpPr>
            <a:spLocks noGrp="1"/>
          </p:cNvSpPr>
          <p:nvPr>
            <p:ph idx="1"/>
          </p:nvPr>
        </p:nvSpPr>
        <p:spPr>
          <a:xfrm>
            <a:off x="457200" y="1371601"/>
            <a:ext cx="8229600" cy="1752599"/>
          </a:xfrm>
        </p:spPr>
        <p:txBody>
          <a:bodyPr>
            <a:normAutofit fontScale="85000" lnSpcReduction="20000"/>
          </a:bodyPr>
          <a:lstStyle/>
          <a:p>
            <a:r>
              <a:rPr lang="en-US" dirty="0"/>
              <a:t>The Composite design pattern is an object structural pattern that allows designers to compose (large) </a:t>
            </a:r>
            <a:r>
              <a:rPr lang="en-US" dirty="0">
                <a:highlight>
                  <a:srgbClr val="FFFF00"/>
                </a:highlight>
              </a:rPr>
              <a:t>tree-like designs structures by strategically structuring objects that share a whole-part relationship</a:t>
            </a:r>
            <a:r>
              <a:rPr lang="en-US" dirty="0"/>
              <a:t>.</a:t>
            </a:r>
          </a:p>
          <a:p>
            <a:endParaRPr lang="en-US" dirty="0"/>
          </a:p>
          <a:p>
            <a:r>
              <a:rPr lang="en-US" dirty="0"/>
              <a:t>According to the </a:t>
            </a:r>
            <a:r>
              <a:rPr lang="en-US" dirty="0" err="1"/>
              <a:t>GoF</a:t>
            </a:r>
            <a:r>
              <a:rPr lang="en-US" dirty="0"/>
              <a:t>, the intent of the Composite is to [1]</a:t>
            </a:r>
          </a:p>
          <a:p>
            <a:pPr lvl="1"/>
            <a:r>
              <a:rPr lang="en-US" dirty="0"/>
              <a:t>Compose objects into tree structures to represent whole-part hierarchies.  Composite  lets clients treat individual objects and composites of objects uniformly.</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9" name="Group 8"/>
          <p:cNvGrpSpPr/>
          <p:nvPr/>
        </p:nvGrpSpPr>
        <p:grpSpPr>
          <a:xfrm>
            <a:off x="2362200" y="3648075"/>
            <a:ext cx="4286250" cy="1914525"/>
            <a:chOff x="2362200" y="3648075"/>
            <a:chExt cx="4286250" cy="1914525"/>
          </a:xfrm>
        </p:grpSpPr>
        <p:pic>
          <p:nvPicPr>
            <p:cNvPr id="9218" name="Picture 2"/>
            <p:cNvPicPr>
              <a:picLocks noChangeAspect="1" noChangeArrowheads="1"/>
            </p:cNvPicPr>
            <p:nvPr/>
          </p:nvPicPr>
          <p:blipFill>
            <a:blip r:embed="rId2" cstate="print"/>
            <a:srcRect/>
            <a:stretch>
              <a:fillRect/>
            </a:stretch>
          </p:blipFill>
          <p:spPr bwMode="auto">
            <a:xfrm>
              <a:off x="2362200" y="3657600"/>
              <a:ext cx="4286250" cy="1905000"/>
            </a:xfrm>
            <a:prstGeom prst="rect">
              <a:avLst/>
            </a:prstGeom>
            <a:noFill/>
            <a:ln w="9525">
              <a:noFill/>
              <a:miter lim="800000"/>
              <a:headEnd/>
              <a:tailEnd/>
            </a:ln>
          </p:spPr>
        </p:pic>
        <p:sp>
          <p:nvSpPr>
            <p:cNvPr id="8" name="Rectangle 7"/>
            <p:cNvSpPr/>
            <p:nvPr/>
          </p:nvSpPr>
          <p:spPr>
            <a:xfrm>
              <a:off x="6096000" y="36480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2209799" y="1219200"/>
            <a:ext cx="4697265" cy="5105400"/>
          </a:xfrm>
          <a:prstGeom prst="rect">
            <a:avLst/>
          </a:prstGeom>
          <a:noFill/>
          <a:ln w="9525">
            <a:noFill/>
            <a:miter lim="800000"/>
            <a:headEnd/>
            <a:tailEnd/>
          </a:ln>
        </p:spPr>
      </p:pic>
      <p:cxnSp>
        <p:nvCxnSpPr>
          <p:cNvPr id="9" name="Straight Connector 8"/>
          <p:cNvCxnSpPr/>
          <p:nvPr/>
        </p:nvCxnSpPr>
        <p:spPr>
          <a:xfrm>
            <a:off x="3810000" y="6248400"/>
            <a:ext cx="5334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257800" y="5867400"/>
            <a:ext cx="1752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209800" y="6096000"/>
            <a:ext cx="22098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486400" y="5867400"/>
            <a:ext cx="24384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A graphical representation Is presented in the next slide…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grpSp>
        <p:nvGrpSpPr>
          <p:cNvPr id="19" name="Group 18"/>
          <p:cNvGrpSpPr/>
          <p:nvPr/>
        </p:nvGrpSpPr>
        <p:grpSpPr>
          <a:xfrm>
            <a:off x="228600" y="1524000"/>
            <a:ext cx="8686800" cy="4608731"/>
            <a:chOff x="228600" y="1524000"/>
            <a:chExt cx="8686800" cy="4608731"/>
          </a:xfrm>
        </p:grpSpPr>
        <p:pic>
          <p:nvPicPr>
            <p:cNvPr id="12290" name="Picture 2"/>
            <p:cNvPicPr>
              <a:picLocks noChangeAspect="1" noChangeArrowheads="1"/>
            </p:cNvPicPr>
            <p:nvPr/>
          </p:nvPicPr>
          <p:blipFill>
            <a:blip r:embed="rId2" cstate="print"/>
            <a:srcRect/>
            <a:stretch>
              <a:fillRect/>
            </a:stretch>
          </p:blipFill>
          <p:spPr bwMode="auto">
            <a:xfrm>
              <a:off x="2314575" y="1524000"/>
              <a:ext cx="4314825" cy="3781425"/>
            </a:xfrm>
            <a:prstGeom prst="rect">
              <a:avLst/>
            </a:prstGeom>
            <a:noFill/>
            <a:ln w="9525">
              <a:noFill/>
              <a:miter lim="800000"/>
              <a:headEnd/>
              <a:tailEnd/>
            </a:ln>
          </p:spPr>
        </p:pic>
        <p:sp>
          <p:nvSpPr>
            <p:cNvPr id="8" name="TextBox 7"/>
            <p:cNvSpPr txBox="1"/>
            <p:nvPr/>
          </p:nvSpPr>
          <p:spPr>
            <a:xfrm>
              <a:off x="6477000" y="1524000"/>
              <a:ext cx="22860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This is one message.  More specifically, it is a composite message composed of other messages</a:t>
              </a:r>
            </a:p>
          </p:txBody>
        </p:sp>
        <p:sp>
          <p:nvSpPr>
            <p:cNvPr id="9" name="Freeform 8"/>
            <p:cNvSpPr/>
            <p:nvPr/>
          </p:nvSpPr>
          <p:spPr>
            <a:xfrm>
              <a:off x="4876800" y="1882774"/>
              <a:ext cx="1828800" cy="174626"/>
            </a:xfrm>
            <a:custGeom>
              <a:avLst/>
              <a:gdLst>
                <a:gd name="connsiteX0" fmla="*/ 1905000 w 1905000"/>
                <a:gd name="connsiteY0" fmla="*/ 69850 h 146050"/>
                <a:gd name="connsiteX1" fmla="*/ 1219200 w 1905000"/>
                <a:gd name="connsiteY1" fmla="*/ 12700 h 146050"/>
                <a:gd name="connsiteX2" fmla="*/ 0 w 1905000"/>
                <a:gd name="connsiteY2" fmla="*/ 146050 h 146050"/>
              </a:gdLst>
              <a:ahLst/>
              <a:cxnLst>
                <a:cxn ang="0">
                  <a:pos x="connsiteX0" y="connsiteY0"/>
                </a:cxn>
                <a:cxn ang="0">
                  <a:pos x="connsiteX1" y="connsiteY1"/>
                </a:cxn>
                <a:cxn ang="0">
                  <a:pos x="connsiteX2" y="connsiteY2"/>
                </a:cxn>
              </a:cxnLst>
              <a:rect l="l" t="t" r="r" b="b"/>
              <a:pathLst>
                <a:path w="1905000" h="146050">
                  <a:moveTo>
                    <a:pt x="1905000" y="69850"/>
                  </a:moveTo>
                  <a:cubicBezTo>
                    <a:pt x="1720850" y="34925"/>
                    <a:pt x="1536700" y="0"/>
                    <a:pt x="1219200" y="12700"/>
                  </a:cubicBezTo>
                  <a:cubicBezTo>
                    <a:pt x="901700" y="25400"/>
                    <a:pt x="450850" y="85725"/>
                    <a:pt x="0" y="146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705600" y="2590800"/>
              <a:ext cx="22098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This is also a message, but, unlike the composite, this primitive message does not contain other messages!</a:t>
              </a:r>
            </a:p>
          </p:txBody>
        </p:sp>
        <p:sp>
          <p:nvSpPr>
            <p:cNvPr id="11" name="Freeform 10"/>
            <p:cNvSpPr/>
            <p:nvPr/>
          </p:nvSpPr>
          <p:spPr>
            <a:xfrm>
              <a:off x="5686425" y="2513013"/>
              <a:ext cx="1209675" cy="192087"/>
            </a:xfrm>
            <a:custGeom>
              <a:avLst/>
              <a:gdLst>
                <a:gd name="connsiteX0" fmla="*/ 1209675 w 1209675"/>
                <a:gd name="connsiteY0" fmla="*/ 192087 h 192087"/>
                <a:gd name="connsiteX1" fmla="*/ 438150 w 1209675"/>
                <a:gd name="connsiteY1" fmla="*/ 20637 h 192087"/>
                <a:gd name="connsiteX2" fmla="*/ 0 w 1209675"/>
                <a:gd name="connsiteY2" fmla="*/ 68262 h 192087"/>
              </a:gdLst>
              <a:ahLst/>
              <a:cxnLst>
                <a:cxn ang="0">
                  <a:pos x="connsiteX0" y="connsiteY0"/>
                </a:cxn>
                <a:cxn ang="0">
                  <a:pos x="connsiteX1" y="connsiteY1"/>
                </a:cxn>
                <a:cxn ang="0">
                  <a:pos x="connsiteX2" y="connsiteY2"/>
                </a:cxn>
              </a:cxnLst>
              <a:rect l="l" t="t" r="r" b="b"/>
              <a:pathLst>
                <a:path w="1209675" h="192087">
                  <a:moveTo>
                    <a:pt x="1209675" y="192087"/>
                  </a:moveTo>
                  <a:cubicBezTo>
                    <a:pt x="924718" y="116680"/>
                    <a:pt x="639762" y="41274"/>
                    <a:pt x="438150" y="20637"/>
                  </a:cubicBezTo>
                  <a:cubicBezTo>
                    <a:pt x="236538" y="0"/>
                    <a:pt x="118269" y="34131"/>
                    <a:pt x="0" y="682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228600" y="1600200"/>
              <a:ext cx="22098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A Mission Plan Message dictates what happens in the system.  It is a message composed of other messages.  </a:t>
              </a:r>
            </a:p>
          </p:txBody>
        </p:sp>
        <p:sp>
          <p:nvSpPr>
            <p:cNvPr id="13" name="TextBox 12"/>
            <p:cNvSpPr txBox="1"/>
            <p:nvPr/>
          </p:nvSpPr>
          <p:spPr>
            <a:xfrm>
              <a:off x="304800" y="2895600"/>
              <a:ext cx="1981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We want to use a GUI to allow operators to create Mission Plan messages</a:t>
              </a:r>
            </a:p>
          </p:txBody>
        </p:sp>
        <p:sp>
          <p:nvSpPr>
            <p:cNvPr id="14" name="TextBox 13"/>
            <p:cNvSpPr txBox="1"/>
            <p:nvPr/>
          </p:nvSpPr>
          <p:spPr>
            <a:xfrm>
              <a:off x="381000" y="3886200"/>
              <a:ext cx="1981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We want to use a GUI to allow operators to create Mission Plan messages</a:t>
              </a:r>
            </a:p>
          </p:txBody>
        </p:sp>
        <p:sp>
          <p:nvSpPr>
            <p:cNvPr id="15" name="Freeform 14"/>
            <p:cNvSpPr/>
            <p:nvPr/>
          </p:nvSpPr>
          <p:spPr>
            <a:xfrm>
              <a:off x="1800225" y="4581525"/>
              <a:ext cx="1009650" cy="601663"/>
            </a:xfrm>
            <a:custGeom>
              <a:avLst/>
              <a:gdLst>
                <a:gd name="connsiteX0" fmla="*/ 0 w 1009650"/>
                <a:gd name="connsiteY0" fmla="*/ 0 h 601663"/>
                <a:gd name="connsiteX1" fmla="*/ 342900 w 1009650"/>
                <a:gd name="connsiteY1" fmla="*/ 542925 h 601663"/>
                <a:gd name="connsiteX2" fmla="*/ 1009650 w 1009650"/>
                <a:gd name="connsiteY2" fmla="*/ 352425 h 601663"/>
              </a:gdLst>
              <a:ahLst/>
              <a:cxnLst>
                <a:cxn ang="0">
                  <a:pos x="connsiteX0" y="connsiteY0"/>
                </a:cxn>
                <a:cxn ang="0">
                  <a:pos x="connsiteX1" y="connsiteY1"/>
                </a:cxn>
                <a:cxn ang="0">
                  <a:pos x="connsiteX2" y="connsiteY2"/>
                </a:cxn>
              </a:cxnLst>
              <a:rect l="l" t="t" r="r" b="b"/>
              <a:pathLst>
                <a:path w="1009650" h="601663">
                  <a:moveTo>
                    <a:pt x="0" y="0"/>
                  </a:moveTo>
                  <a:cubicBezTo>
                    <a:pt x="87312" y="242094"/>
                    <a:pt x="174625" y="484188"/>
                    <a:pt x="342900" y="542925"/>
                  </a:cubicBezTo>
                  <a:cubicBezTo>
                    <a:pt x="511175" y="601663"/>
                    <a:pt x="760412" y="477044"/>
                    <a:pt x="1009650" y="352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6705600" y="3657600"/>
              <a:ext cx="1981200" cy="1015663"/>
            </a:xfrm>
            <a:prstGeom prst="rect">
              <a:avLst/>
            </a:prstGeom>
            <a:noFill/>
          </p:spPr>
          <p:txBody>
            <a:bodyPr wrap="square" rtlCol="0">
              <a:spAutoFit/>
            </a:bodyPr>
            <a:lstStyle/>
            <a:p>
              <a:pPr algn="ctr"/>
              <a:r>
                <a:rPr lang="en-US" sz="1200" b="1" dirty="0">
                  <a:solidFill>
                    <a:srgbClr val="C00000"/>
                  </a:solidFill>
                  <a:latin typeface="Bradley Hand ITC" pitchFamily="66" charset="0"/>
                </a:rPr>
                <a:t>In this example, Message 3 is a composite message.  We can include, e.g., Message 5 as part of the Message 3 composite message.</a:t>
              </a:r>
            </a:p>
          </p:txBody>
        </p:sp>
        <p:sp>
          <p:nvSpPr>
            <p:cNvPr id="17" name="Freeform 16"/>
            <p:cNvSpPr/>
            <p:nvPr/>
          </p:nvSpPr>
          <p:spPr>
            <a:xfrm>
              <a:off x="6543675" y="4495800"/>
              <a:ext cx="457200" cy="174625"/>
            </a:xfrm>
            <a:custGeom>
              <a:avLst/>
              <a:gdLst>
                <a:gd name="connsiteX0" fmla="*/ 457200 w 457200"/>
                <a:gd name="connsiteY0" fmla="*/ 0 h 174625"/>
                <a:gd name="connsiteX1" fmla="*/ 266700 w 457200"/>
                <a:gd name="connsiteY1" fmla="*/ 161925 h 174625"/>
                <a:gd name="connsiteX2" fmla="*/ 0 w 457200"/>
                <a:gd name="connsiteY2" fmla="*/ 76200 h 174625"/>
              </a:gdLst>
              <a:ahLst/>
              <a:cxnLst>
                <a:cxn ang="0">
                  <a:pos x="connsiteX0" y="connsiteY0"/>
                </a:cxn>
                <a:cxn ang="0">
                  <a:pos x="connsiteX1" y="connsiteY1"/>
                </a:cxn>
                <a:cxn ang="0">
                  <a:pos x="connsiteX2" y="connsiteY2"/>
                </a:cxn>
              </a:cxnLst>
              <a:rect l="l" t="t" r="r" b="b"/>
              <a:pathLst>
                <a:path w="457200" h="174625">
                  <a:moveTo>
                    <a:pt x="457200" y="0"/>
                  </a:moveTo>
                  <a:cubicBezTo>
                    <a:pt x="400050" y="74612"/>
                    <a:pt x="342900" y="149225"/>
                    <a:pt x="266700" y="161925"/>
                  </a:cubicBezTo>
                  <a:cubicBezTo>
                    <a:pt x="190500" y="174625"/>
                    <a:pt x="95250" y="125412"/>
                    <a:pt x="0" y="76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2133600" y="5486400"/>
              <a:ext cx="48006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Both </a:t>
              </a:r>
              <a:r>
                <a:rPr lang="en-US" sz="1200" b="1" u="sng" dirty="0">
                  <a:solidFill>
                    <a:srgbClr val="C00000"/>
                  </a:solidFill>
                  <a:latin typeface="Bradley Hand ITC" pitchFamily="66" charset="0"/>
                </a:rPr>
                <a:t>primitive</a:t>
              </a:r>
              <a:r>
                <a:rPr lang="en-US" sz="1200" b="1" dirty="0">
                  <a:solidFill>
                    <a:srgbClr val="C00000"/>
                  </a:solidFill>
                  <a:latin typeface="Bradley Hand ITC" pitchFamily="66" charset="0"/>
                </a:rPr>
                <a:t> and </a:t>
              </a:r>
              <a:r>
                <a:rPr lang="en-US" sz="1200" b="1" u="sng" dirty="0">
                  <a:solidFill>
                    <a:srgbClr val="C00000"/>
                  </a:solidFill>
                  <a:latin typeface="Bradley Hand ITC" pitchFamily="66" charset="0"/>
                </a:rPr>
                <a:t>composite</a:t>
              </a:r>
              <a:r>
                <a:rPr lang="en-US" sz="1200" b="1" dirty="0">
                  <a:solidFill>
                    <a:srgbClr val="C00000"/>
                  </a:solidFill>
                  <a:latin typeface="Bradley Hand ITC" pitchFamily="66" charset="0"/>
                </a:rPr>
                <a:t> messages ARE messages, so we want to treat them the same way to retrieve their IDs, print them, transform them to XML, etc., and transfer them through the system.</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grpSp>
        <p:nvGrpSpPr>
          <p:cNvPr id="18" name="Group 17"/>
          <p:cNvGrpSpPr/>
          <p:nvPr/>
        </p:nvGrpSpPr>
        <p:grpSpPr>
          <a:xfrm>
            <a:off x="609600" y="1676400"/>
            <a:ext cx="8077200" cy="4383822"/>
            <a:chOff x="762000" y="1676400"/>
            <a:chExt cx="8077200" cy="4383822"/>
          </a:xfrm>
        </p:grpSpPr>
        <p:grpSp>
          <p:nvGrpSpPr>
            <p:cNvPr id="9" name="Group 8"/>
            <p:cNvGrpSpPr/>
            <p:nvPr/>
          </p:nvGrpSpPr>
          <p:grpSpPr>
            <a:xfrm>
              <a:off x="2057400" y="1676400"/>
              <a:ext cx="5191125" cy="3276600"/>
              <a:chOff x="1905000" y="2009775"/>
              <a:chExt cx="5191125" cy="3276600"/>
            </a:xfrm>
          </p:grpSpPr>
          <p:pic>
            <p:nvPicPr>
              <p:cNvPr id="10242" name="Picture 2"/>
              <p:cNvPicPr>
                <a:picLocks noChangeAspect="1" noChangeArrowheads="1"/>
              </p:cNvPicPr>
              <p:nvPr/>
            </p:nvPicPr>
            <p:blipFill>
              <a:blip r:embed="rId2" cstate="print"/>
              <a:srcRect/>
              <a:stretch>
                <a:fillRect/>
              </a:stretch>
            </p:blipFill>
            <p:spPr bwMode="auto">
              <a:xfrm>
                <a:off x="1905000" y="2057400"/>
                <a:ext cx="5181600" cy="3228975"/>
              </a:xfrm>
              <a:prstGeom prst="rect">
                <a:avLst/>
              </a:prstGeom>
              <a:noFill/>
              <a:ln w="9525">
                <a:noFill/>
                <a:miter lim="800000"/>
                <a:headEnd/>
                <a:tailEnd/>
              </a:ln>
            </p:spPr>
          </p:pic>
          <p:sp>
            <p:nvSpPr>
              <p:cNvPr id="8" name="Rectangle 7"/>
              <p:cNvSpPr/>
              <p:nvPr/>
            </p:nvSpPr>
            <p:spPr>
              <a:xfrm>
                <a:off x="6548729" y="20097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p:cNvSpPr txBox="1"/>
            <p:nvPr/>
          </p:nvSpPr>
          <p:spPr>
            <a:xfrm>
              <a:off x="838200" y="3733800"/>
              <a:ext cx="10668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Example of primitive messages</a:t>
              </a:r>
            </a:p>
          </p:txBody>
        </p:sp>
        <p:sp>
          <p:nvSpPr>
            <p:cNvPr id="11" name="Left Brace 10"/>
            <p:cNvSpPr/>
            <p:nvPr/>
          </p:nvSpPr>
          <p:spPr>
            <a:xfrm>
              <a:off x="1905000" y="3248025"/>
              <a:ext cx="152400" cy="1676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762000" y="2486025"/>
              <a:ext cx="16764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Primitive message for video collection control</a:t>
              </a:r>
            </a:p>
            <a:p>
              <a:pPr algn="ctr"/>
              <a:r>
                <a:rPr lang="en-US" sz="1200" b="1" dirty="0">
                  <a:solidFill>
                    <a:srgbClr val="C00000"/>
                  </a:solidFill>
                  <a:latin typeface="Bradley Hand ITC" pitchFamily="66" charset="0"/>
                </a:rPr>
                <a:t>(Leaf )</a:t>
              </a:r>
            </a:p>
          </p:txBody>
        </p:sp>
        <p:sp>
          <p:nvSpPr>
            <p:cNvPr id="13" name="TextBox 12"/>
            <p:cNvSpPr txBox="1"/>
            <p:nvPr/>
          </p:nvSpPr>
          <p:spPr>
            <a:xfrm>
              <a:off x="762000" y="5229225"/>
              <a:ext cx="29718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Primitive message for executing a system test to ensure everything is working OK</a:t>
              </a:r>
            </a:p>
            <a:p>
              <a:pPr algn="ctr"/>
              <a:r>
                <a:rPr lang="en-US" sz="1200" b="1" dirty="0">
                  <a:solidFill>
                    <a:srgbClr val="C00000"/>
                  </a:solidFill>
                  <a:latin typeface="Bradley Hand ITC" pitchFamily="66" charset="0"/>
                </a:rPr>
                <a:t>(Leaf)</a:t>
              </a:r>
            </a:p>
            <a:p>
              <a:pPr algn="ctr"/>
              <a:endParaRPr lang="en-US" sz="1200" b="1" dirty="0">
                <a:solidFill>
                  <a:srgbClr val="C00000"/>
                </a:solidFill>
                <a:latin typeface="Bradley Hand ITC" pitchFamily="66" charset="0"/>
              </a:endParaRPr>
            </a:p>
          </p:txBody>
        </p:sp>
        <p:sp>
          <p:nvSpPr>
            <p:cNvPr id="14" name="Freeform 13"/>
            <p:cNvSpPr/>
            <p:nvPr/>
          </p:nvSpPr>
          <p:spPr>
            <a:xfrm>
              <a:off x="3200400" y="4914900"/>
              <a:ext cx="261938" cy="295275"/>
            </a:xfrm>
            <a:custGeom>
              <a:avLst/>
              <a:gdLst>
                <a:gd name="connsiteX0" fmla="*/ 0 w 261938"/>
                <a:gd name="connsiteY0" fmla="*/ 295275 h 295275"/>
                <a:gd name="connsiteX1" fmla="*/ 228600 w 261938"/>
                <a:gd name="connsiteY1" fmla="*/ 228600 h 295275"/>
                <a:gd name="connsiteX2" fmla="*/ 200025 w 261938"/>
                <a:gd name="connsiteY2" fmla="*/ 0 h 295275"/>
              </a:gdLst>
              <a:ahLst/>
              <a:cxnLst>
                <a:cxn ang="0">
                  <a:pos x="connsiteX0" y="connsiteY0"/>
                </a:cxn>
                <a:cxn ang="0">
                  <a:pos x="connsiteX1" y="connsiteY1"/>
                </a:cxn>
                <a:cxn ang="0">
                  <a:pos x="connsiteX2" y="connsiteY2"/>
                </a:cxn>
              </a:cxnLst>
              <a:rect l="l" t="t" r="r" b="b"/>
              <a:pathLst>
                <a:path w="261938" h="295275">
                  <a:moveTo>
                    <a:pt x="0" y="295275"/>
                  </a:moveTo>
                  <a:cubicBezTo>
                    <a:pt x="97631" y="286544"/>
                    <a:pt x="195262" y="277813"/>
                    <a:pt x="228600" y="228600"/>
                  </a:cubicBezTo>
                  <a:cubicBezTo>
                    <a:pt x="261938" y="179387"/>
                    <a:pt x="230981" y="89693"/>
                    <a:pt x="2000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a:off x="2438400" y="2819400"/>
              <a:ext cx="239713" cy="447675"/>
            </a:xfrm>
            <a:custGeom>
              <a:avLst/>
              <a:gdLst>
                <a:gd name="connsiteX0" fmla="*/ 0 w 239713"/>
                <a:gd name="connsiteY0" fmla="*/ 0 h 447675"/>
                <a:gd name="connsiteX1" fmla="*/ 209550 w 239713"/>
                <a:gd name="connsiteY1" fmla="*/ 171450 h 447675"/>
                <a:gd name="connsiteX2" fmla="*/ 180975 w 239713"/>
                <a:gd name="connsiteY2" fmla="*/ 447675 h 447675"/>
              </a:gdLst>
              <a:ahLst/>
              <a:cxnLst>
                <a:cxn ang="0">
                  <a:pos x="connsiteX0" y="connsiteY0"/>
                </a:cxn>
                <a:cxn ang="0">
                  <a:pos x="connsiteX1" y="connsiteY1"/>
                </a:cxn>
                <a:cxn ang="0">
                  <a:pos x="connsiteX2" y="connsiteY2"/>
                </a:cxn>
              </a:cxnLst>
              <a:rect l="l" t="t" r="r" b="b"/>
              <a:pathLst>
                <a:path w="239713" h="447675">
                  <a:moveTo>
                    <a:pt x="0" y="0"/>
                  </a:moveTo>
                  <a:cubicBezTo>
                    <a:pt x="89694" y="48419"/>
                    <a:pt x="179388" y="96838"/>
                    <a:pt x="209550" y="171450"/>
                  </a:cubicBezTo>
                  <a:cubicBezTo>
                    <a:pt x="239713" y="246063"/>
                    <a:pt x="210344" y="346869"/>
                    <a:pt x="180975" y="4476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6705600" y="2486025"/>
              <a:ext cx="21336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Composite message.  This one is used to create composite messages, e.g., the mission plan message</a:t>
              </a:r>
            </a:p>
          </p:txBody>
        </p:sp>
        <p:sp>
          <p:nvSpPr>
            <p:cNvPr id="17" name="Freeform 16"/>
            <p:cNvSpPr/>
            <p:nvPr/>
          </p:nvSpPr>
          <p:spPr>
            <a:xfrm>
              <a:off x="7267575" y="3314700"/>
              <a:ext cx="549275" cy="723900"/>
            </a:xfrm>
            <a:custGeom>
              <a:avLst/>
              <a:gdLst>
                <a:gd name="connsiteX0" fmla="*/ 323850 w 549275"/>
                <a:gd name="connsiteY0" fmla="*/ 0 h 723900"/>
                <a:gd name="connsiteX1" fmla="*/ 495300 w 549275"/>
                <a:gd name="connsiteY1" fmla="*/ 485775 h 723900"/>
                <a:gd name="connsiteX2" fmla="*/ 0 w 549275"/>
                <a:gd name="connsiteY2" fmla="*/ 723900 h 723900"/>
              </a:gdLst>
              <a:ahLst/>
              <a:cxnLst>
                <a:cxn ang="0">
                  <a:pos x="connsiteX0" y="connsiteY0"/>
                </a:cxn>
                <a:cxn ang="0">
                  <a:pos x="connsiteX1" y="connsiteY1"/>
                </a:cxn>
                <a:cxn ang="0">
                  <a:pos x="connsiteX2" y="connsiteY2"/>
                </a:cxn>
              </a:cxnLst>
              <a:rect l="l" t="t" r="r" b="b"/>
              <a:pathLst>
                <a:path w="549275" h="723900">
                  <a:moveTo>
                    <a:pt x="323850" y="0"/>
                  </a:moveTo>
                  <a:cubicBezTo>
                    <a:pt x="436562" y="182562"/>
                    <a:pt x="549275" y="365125"/>
                    <a:pt x="495300" y="485775"/>
                  </a:cubicBezTo>
                  <a:cubicBezTo>
                    <a:pt x="441325" y="606425"/>
                    <a:pt x="220662" y="665162"/>
                    <a:pt x="0" y="723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9" name="TextBox 18"/>
          <p:cNvSpPr txBox="1"/>
          <p:nvPr/>
        </p:nvSpPr>
        <p:spPr>
          <a:xfrm>
            <a:off x="914400" y="1676400"/>
            <a:ext cx="11430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client</a:t>
            </a:r>
          </a:p>
        </p:txBody>
      </p:sp>
      <p:sp>
        <p:nvSpPr>
          <p:cNvPr id="20" name="TextBox 19"/>
          <p:cNvSpPr txBox="1"/>
          <p:nvPr/>
        </p:nvSpPr>
        <p:spPr>
          <a:xfrm>
            <a:off x="6324600" y="1600200"/>
            <a:ext cx="12192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Component</a:t>
            </a:r>
          </a:p>
        </p:txBody>
      </p:sp>
      <p:sp>
        <p:nvSpPr>
          <p:cNvPr id="21" name="Freeform 20"/>
          <p:cNvSpPr/>
          <p:nvPr/>
        </p:nvSpPr>
        <p:spPr>
          <a:xfrm>
            <a:off x="5772150" y="1606550"/>
            <a:ext cx="476250" cy="117475"/>
          </a:xfrm>
          <a:custGeom>
            <a:avLst/>
            <a:gdLst>
              <a:gd name="connsiteX0" fmla="*/ 476250 w 476250"/>
              <a:gd name="connsiteY0" fmla="*/ 98425 h 117475"/>
              <a:gd name="connsiteX1" fmla="*/ 161925 w 476250"/>
              <a:gd name="connsiteY1" fmla="*/ 3175 h 117475"/>
              <a:gd name="connsiteX2" fmla="*/ 0 w 476250"/>
              <a:gd name="connsiteY2" fmla="*/ 117475 h 117475"/>
            </a:gdLst>
            <a:ahLst/>
            <a:cxnLst>
              <a:cxn ang="0">
                <a:pos x="connsiteX0" y="connsiteY0"/>
              </a:cxn>
              <a:cxn ang="0">
                <a:pos x="connsiteX1" y="connsiteY1"/>
              </a:cxn>
              <a:cxn ang="0">
                <a:pos x="connsiteX2" y="connsiteY2"/>
              </a:cxn>
            </a:cxnLst>
            <a:rect l="l" t="t" r="r" b="b"/>
            <a:pathLst>
              <a:path w="476250" h="117475">
                <a:moveTo>
                  <a:pt x="476250" y="98425"/>
                </a:moveTo>
                <a:cubicBezTo>
                  <a:pt x="358775" y="49212"/>
                  <a:pt x="241300" y="0"/>
                  <a:pt x="161925" y="3175"/>
                </a:cubicBezTo>
                <a:cubicBezTo>
                  <a:pt x="82550" y="6350"/>
                  <a:pt x="41275" y="61912"/>
                  <a:pt x="0" y="1174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1876425" y="1739900"/>
            <a:ext cx="609600" cy="203200"/>
          </a:xfrm>
          <a:custGeom>
            <a:avLst/>
            <a:gdLst>
              <a:gd name="connsiteX0" fmla="*/ 0 w 609600"/>
              <a:gd name="connsiteY0" fmla="*/ 69850 h 203200"/>
              <a:gd name="connsiteX1" fmla="*/ 314325 w 609600"/>
              <a:gd name="connsiteY1" fmla="*/ 22225 h 203200"/>
              <a:gd name="connsiteX2" fmla="*/ 609600 w 609600"/>
              <a:gd name="connsiteY2" fmla="*/ 203200 h 203200"/>
            </a:gdLst>
            <a:ahLst/>
            <a:cxnLst>
              <a:cxn ang="0">
                <a:pos x="connsiteX0" y="connsiteY0"/>
              </a:cxn>
              <a:cxn ang="0">
                <a:pos x="connsiteX1" y="connsiteY1"/>
              </a:cxn>
              <a:cxn ang="0">
                <a:pos x="connsiteX2" y="connsiteY2"/>
              </a:cxn>
            </a:cxnLst>
            <a:rect l="l" t="t" r="r" b="b"/>
            <a:pathLst>
              <a:path w="609600" h="203200">
                <a:moveTo>
                  <a:pt x="0" y="69850"/>
                </a:moveTo>
                <a:cubicBezTo>
                  <a:pt x="106362" y="34925"/>
                  <a:pt x="212725" y="0"/>
                  <a:pt x="314325" y="22225"/>
                </a:cubicBezTo>
                <a:cubicBezTo>
                  <a:pt x="415925" y="44450"/>
                  <a:pt x="512762" y="123825"/>
                  <a:pt x="609600" y="203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3" name="Group 22"/>
          <p:cNvGrpSpPr/>
          <p:nvPr/>
        </p:nvGrpSpPr>
        <p:grpSpPr>
          <a:xfrm>
            <a:off x="5943600" y="5257800"/>
            <a:ext cx="2438400" cy="838200"/>
            <a:chOff x="2362200" y="3648075"/>
            <a:chExt cx="4286250" cy="1914525"/>
          </a:xfrm>
        </p:grpSpPr>
        <p:pic>
          <p:nvPicPr>
            <p:cNvPr id="24" name="Picture 2"/>
            <p:cNvPicPr>
              <a:picLocks noChangeAspect="1" noChangeArrowheads="1"/>
            </p:cNvPicPr>
            <p:nvPr/>
          </p:nvPicPr>
          <p:blipFill>
            <a:blip r:embed="rId3" cstate="print"/>
            <a:srcRect/>
            <a:stretch>
              <a:fillRect/>
            </a:stretch>
          </p:blipFill>
          <p:spPr bwMode="auto">
            <a:xfrm>
              <a:off x="2362200" y="3657600"/>
              <a:ext cx="4286250" cy="1905000"/>
            </a:xfrm>
            <a:prstGeom prst="rect">
              <a:avLst/>
            </a:prstGeom>
            <a:noFill/>
            <a:ln w="9525">
              <a:noFill/>
              <a:miter lim="800000"/>
              <a:headEnd/>
              <a:tailEnd/>
            </a:ln>
          </p:spPr>
        </p:pic>
        <p:sp>
          <p:nvSpPr>
            <p:cNvPr id="25" name="Rectangle 24"/>
            <p:cNvSpPr/>
            <p:nvPr/>
          </p:nvSpPr>
          <p:spPr>
            <a:xfrm>
              <a:off x="6096000" y="36480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2819400" y="1223866"/>
            <a:ext cx="3923836" cy="5253134"/>
          </a:xfrm>
          <a:prstGeom prst="rect">
            <a:avLst/>
          </a:prstGeom>
          <a:noFill/>
          <a:ln w="9525">
            <a:noFill/>
            <a:miter lim="800000"/>
            <a:headEnd/>
            <a:tailEnd/>
          </a:ln>
        </p:spPr>
      </p:pic>
      <p:sp>
        <p:nvSpPr>
          <p:cNvPr id="7" name="Left Brace 6"/>
          <p:cNvSpPr/>
          <p:nvPr/>
        </p:nvSpPr>
        <p:spPr>
          <a:xfrm>
            <a:off x="2819400" y="1752600"/>
            <a:ext cx="152400" cy="3657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914400" y="3276600"/>
            <a:ext cx="18288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These apply to both primitive and composite messages</a:t>
            </a:r>
          </a:p>
        </p:txBody>
      </p:sp>
      <p:sp>
        <p:nvSpPr>
          <p:cNvPr id="9" name="TextBox 8"/>
          <p:cNvSpPr txBox="1"/>
          <p:nvPr/>
        </p:nvSpPr>
        <p:spPr>
          <a:xfrm>
            <a:off x="838200" y="4648200"/>
            <a:ext cx="18288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However, consider these four methods</a:t>
            </a:r>
          </a:p>
        </p:txBody>
      </p:sp>
      <p:sp>
        <p:nvSpPr>
          <p:cNvPr id="10" name="Left Brace 9"/>
          <p:cNvSpPr/>
          <p:nvPr/>
        </p:nvSpPr>
        <p:spPr>
          <a:xfrm>
            <a:off x="2667000" y="4038600"/>
            <a:ext cx="152400" cy="1371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943600" y="4038600"/>
            <a:ext cx="25146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What do you think should happen when executing a print, toXml, or Clone on composite messages?</a:t>
            </a:r>
          </a:p>
        </p:txBody>
      </p:sp>
      <p:sp>
        <p:nvSpPr>
          <p:cNvPr id="12" name="TextBox 11"/>
          <p:cNvSpPr txBox="1"/>
          <p:nvPr/>
        </p:nvSpPr>
        <p:spPr>
          <a:xfrm>
            <a:off x="5486400" y="5638800"/>
            <a:ext cx="20574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Remember the Prototype design pattern?</a:t>
            </a:r>
          </a:p>
        </p:txBody>
      </p:sp>
      <p:sp>
        <p:nvSpPr>
          <p:cNvPr id="13" name="Freeform 12"/>
          <p:cNvSpPr/>
          <p:nvPr/>
        </p:nvSpPr>
        <p:spPr>
          <a:xfrm>
            <a:off x="4524375" y="5514975"/>
            <a:ext cx="1182687" cy="295275"/>
          </a:xfrm>
          <a:custGeom>
            <a:avLst/>
            <a:gdLst>
              <a:gd name="connsiteX0" fmla="*/ 1114425 w 1182687"/>
              <a:gd name="connsiteY0" fmla="*/ 276225 h 295275"/>
              <a:gd name="connsiteX1" fmla="*/ 1057275 w 1182687"/>
              <a:gd name="connsiteY1" fmla="*/ 285750 h 295275"/>
              <a:gd name="connsiteX2" fmla="*/ 361950 w 1182687"/>
              <a:gd name="connsiteY2" fmla="*/ 247650 h 295275"/>
              <a:gd name="connsiteX3" fmla="*/ 0 w 1182687"/>
              <a:gd name="connsiteY3" fmla="*/ 0 h 295275"/>
            </a:gdLst>
            <a:ahLst/>
            <a:cxnLst>
              <a:cxn ang="0">
                <a:pos x="connsiteX0" y="connsiteY0"/>
              </a:cxn>
              <a:cxn ang="0">
                <a:pos x="connsiteX1" y="connsiteY1"/>
              </a:cxn>
              <a:cxn ang="0">
                <a:pos x="connsiteX2" y="connsiteY2"/>
              </a:cxn>
              <a:cxn ang="0">
                <a:pos x="connsiteX3" y="connsiteY3"/>
              </a:cxn>
            </a:cxnLst>
            <a:rect l="l" t="t" r="r" b="b"/>
            <a:pathLst>
              <a:path w="1182687" h="295275">
                <a:moveTo>
                  <a:pt x="1114425" y="276225"/>
                </a:moveTo>
                <a:cubicBezTo>
                  <a:pt x="1148556" y="283368"/>
                  <a:pt x="1182687" y="290512"/>
                  <a:pt x="1057275" y="285750"/>
                </a:cubicBezTo>
                <a:cubicBezTo>
                  <a:pt x="931863" y="280988"/>
                  <a:pt x="538163" y="295275"/>
                  <a:pt x="361950" y="247650"/>
                </a:cubicBezTo>
                <a:cubicBezTo>
                  <a:pt x="185738" y="200025"/>
                  <a:pt x="92869" y="1000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620000" y="4800600"/>
            <a:ext cx="1219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Stop and think about this!</a:t>
            </a:r>
          </a:p>
        </p:txBody>
      </p:sp>
      <p:sp>
        <p:nvSpPr>
          <p:cNvPr id="15" name="Freeform 14"/>
          <p:cNvSpPr/>
          <p:nvPr/>
        </p:nvSpPr>
        <p:spPr>
          <a:xfrm>
            <a:off x="7315200" y="4705350"/>
            <a:ext cx="409575" cy="342900"/>
          </a:xfrm>
          <a:custGeom>
            <a:avLst/>
            <a:gdLst>
              <a:gd name="connsiteX0" fmla="*/ 0 w 409575"/>
              <a:gd name="connsiteY0" fmla="*/ 0 h 342900"/>
              <a:gd name="connsiteX1" fmla="*/ 95250 w 409575"/>
              <a:gd name="connsiteY1" fmla="*/ 276225 h 342900"/>
              <a:gd name="connsiteX2" fmla="*/ 409575 w 409575"/>
              <a:gd name="connsiteY2" fmla="*/ 342900 h 342900"/>
            </a:gdLst>
            <a:ahLst/>
            <a:cxnLst>
              <a:cxn ang="0">
                <a:pos x="connsiteX0" y="connsiteY0"/>
              </a:cxn>
              <a:cxn ang="0">
                <a:pos x="connsiteX1" y="connsiteY1"/>
              </a:cxn>
              <a:cxn ang="0">
                <a:pos x="connsiteX2" y="connsiteY2"/>
              </a:cxn>
            </a:cxnLst>
            <a:rect l="l" t="t" r="r" b="b"/>
            <a:pathLst>
              <a:path w="409575" h="342900">
                <a:moveTo>
                  <a:pt x="0" y="0"/>
                </a:moveTo>
                <a:cubicBezTo>
                  <a:pt x="13494" y="109537"/>
                  <a:pt x="26988" y="219075"/>
                  <a:pt x="95250" y="276225"/>
                </a:cubicBezTo>
                <a:cubicBezTo>
                  <a:pt x="163512" y="333375"/>
                  <a:pt x="286543" y="338137"/>
                  <a:pt x="409575"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2895600" y="2562225"/>
            <a:ext cx="4829175" cy="2619375"/>
          </a:xfrm>
          <a:prstGeom prst="rect">
            <a:avLst/>
          </a:prstGeom>
          <a:noFill/>
          <a:ln w="9525">
            <a:noFill/>
            <a:miter lim="800000"/>
            <a:headEnd/>
            <a:tailEnd/>
          </a:ln>
        </p:spPr>
      </p:pic>
      <p:sp>
        <p:nvSpPr>
          <p:cNvPr id="7" name="TextBox 6"/>
          <p:cNvSpPr txBox="1"/>
          <p:nvPr/>
        </p:nvSpPr>
        <p:spPr>
          <a:xfrm>
            <a:off x="762000" y="1371600"/>
            <a:ext cx="32766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Let’s examine  two methods, the add and print for primitive messages…</a:t>
            </a:r>
          </a:p>
        </p:txBody>
      </p:sp>
      <p:sp>
        <p:nvSpPr>
          <p:cNvPr id="8" name="TextBox 7"/>
          <p:cNvSpPr txBox="1"/>
          <p:nvPr/>
        </p:nvSpPr>
        <p:spPr>
          <a:xfrm>
            <a:off x="457200" y="2105025"/>
            <a:ext cx="24384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For primitive messages, we don’t have to add any other messages, so we’ll have a default implementation for this</a:t>
            </a:r>
          </a:p>
        </p:txBody>
      </p:sp>
      <p:sp>
        <p:nvSpPr>
          <p:cNvPr id="9" name="Freeform 8"/>
          <p:cNvSpPr/>
          <p:nvPr/>
        </p:nvSpPr>
        <p:spPr>
          <a:xfrm>
            <a:off x="2533650" y="2638425"/>
            <a:ext cx="381000" cy="676275"/>
          </a:xfrm>
          <a:custGeom>
            <a:avLst/>
            <a:gdLst>
              <a:gd name="connsiteX0" fmla="*/ 0 w 381000"/>
              <a:gd name="connsiteY0" fmla="*/ 0 h 676275"/>
              <a:gd name="connsiteX1" fmla="*/ 123825 w 381000"/>
              <a:gd name="connsiteY1" fmla="*/ 190500 h 676275"/>
              <a:gd name="connsiteX2" fmla="*/ 123825 w 381000"/>
              <a:gd name="connsiteY2" fmla="*/ 590550 h 676275"/>
              <a:gd name="connsiteX3" fmla="*/ 381000 w 381000"/>
              <a:gd name="connsiteY3" fmla="*/ 676275 h 676275"/>
            </a:gdLst>
            <a:ahLst/>
            <a:cxnLst>
              <a:cxn ang="0">
                <a:pos x="connsiteX0" y="connsiteY0"/>
              </a:cxn>
              <a:cxn ang="0">
                <a:pos x="connsiteX1" y="connsiteY1"/>
              </a:cxn>
              <a:cxn ang="0">
                <a:pos x="connsiteX2" y="connsiteY2"/>
              </a:cxn>
              <a:cxn ang="0">
                <a:pos x="connsiteX3" y="connsiteY3"/>
              </a:cxn>
            </a:cxnLst>
            <a:rect l="l" t="t" r="r" b="b"/>
            <a:pathLst>
              <a:path w="381000" h="676275">
                <a:moveTo>
                  <a:pt x="0" y="0"/>
                </a:moveTo>
                <a:cubicBezTo>
                  <a:pt x="51594" y="46037"/>
                  <a:pt x="103188" y="92075"/>
                  <a:pt x="123825" y="190500"/>
                </a:cubicBezTo>
                <a:cubicBezTo>
                  <a:pt x="144462" y="288925"/>
                  <a:pt x="80963" y="509588"/>
                  <a:pt x="123825" y="590550"/>
                </a:cubicBezTo>
                <a:cubicBezTo>
                  <a:pt x="166687" y="671512"/>
                  <a:pt x="273843" y="673893"/>
                  <a:pt x="381000" y="676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477000" y="1800225"/>
            <a:ext cx="1905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We could also have a default implementation that throws an exception!</a:t>
            </a:r>
          </a:p>
        </p:txBody>
      </p:sp>
      <p:sp>
        <p:nvSpPr>
          <p:cNvPr id="11" name="Freeform 10"/>
          <p:cNvSpPr/>
          <p:nvPr/>
        </p:nvSpPr>
        <p:spPr>
          <a:xfrm>
            <a:off x="6934200" y="2466975"/>
            <a:ext cx="207962" cy="514350"/>
          </a:xfrm>
          <a:custGeom>
            <a:avLst/>
            <a:gdLst>
              <a:gd name="connsiteX0" fmla="*/ 47625 w 207962"/>
              <a:gd name="connsiteY0" fmla="*/ 0 h 514350"/>
              <a:gd name="connsiteX1" fmla="*/ 200025 w 207962"/>
              <a:gd name="connsiteY1" fmla="*/ 285750 h 514350"/>
              <a:gd name="connsiteX2" fmla="*/ 0 w 207962"/>
              <a:gd name="connsiteY2" fmla="*/ 514350 h 514350"/>
            </a:gdLst>
            <a:ahLst/>
            <a:cxnLst>
              <a:cxn ang="0">
                <a:pos x="connsiteX0" y="connsiteY0"/>
              </a:cxn>
              <a:cxn ang="0">
                <a:pos x="connsiteX1" y="connsiteY1"/>
              </a:cxn>
              <a:cxn ang="0">
                <a:pos x="connsiteX2" y="connsiteY2"/>
              </a:cxn>
            </a:cxnLst>
            <a:rect l="l" t="t" r="r" b="b"/>
            <a:pathLst>
              <a:path w="207962" h="514350">
                <a:moveTo>
                  <a:pt x="47625" y="0"/>
                </a:moveTo>
                <a:cubicBezTo>
                  <a:pt x="127793" y="100012"/>
                  <a:pt x="207962" y="200025"/>
                  <a:pt x="200025" y="285750"/>
                </a:cubicBezTo>
                <a:cubicBezTo>
                  <a:pt x="192088" y="371475"/>
                  <a:pt x="96044" y="442912"/>
                  <a:pt x="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4162425"/>
            <a:ext cx="24384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For primitive messages, printing a message entails printing its content, so we’ll have this as default implementation</a:t>
            </a:r>
          </a:p>
        </p:txBody>
      </p:sp>
      <p:sp>
        <p:nvSpPr>
          <p:cNvPr id="13" name="Freeform 12"/>
          <p:cNvSpPr/>
          <p:nvPr/>
        </p:nvSpPr>
        <p:spPr>
          <a:xfrm>
            <a:off x="2533650" y="4857750"/>
            <a:ext cx="381000" cy="112712"/>
          </a:xfrm>
          <a:custGeom>
            <a:avLst/>
            <a:gdLst>
              <a:gd name="connsiteX0" fmla="*/ 0 w 381000"/>
              <a:gd name="connsiteY0" fmla="*/ 0 h 112712"/>
              <a:gd name="connsiteX1" fmla="*/ 104775 w 381000"/>
              <a:gd name="connsiteY1" fmla="*/ 95250 h 112712"/>
              <a:gd name="connsiteX2" fmla="*/ 381000 w 381000"/>
              <a:gd name="connsiteY2" fmla="*/ 104775 h 112712"/>
            </a:gdLst>
            <a:ahLst/>
            <a:cxnLst>
              <a:cxn ang="0">
                <a:pos x="connsiteX0" y="connsiteY0"/>
              </a:cxn>
              <a:cxn ang="0">
                <a:pos x="connsiteX1" y="connsiteY1"/>
              </a:cxn>
              <a:cxn ang="0">
                <a:pos x="connsiteX2" y="connsiteY2"/>
              </a:cxn>
            </a:cxnLst>
            <a:rect l="l" t="t" r="r" b="b"/>
            <a:pathLst>
              <a:path w="381000" h="112712">
                <a:moveTo>
                  <a:pt x="0" y="0"/>
                </a:moveTo>
                <a:cubicBezTo>
                  <a:pt x="20637" y="38894"/>
                  <a:pt x="41275" y="77788"/>
                  <a:pt x="104775" y="95250"/>
                </a:cubicBezTo>
                <a:cubicBezTo>
                  <a:pt x="168275" y="112712"/>
                  <a:pt x="274637" y="108743"/>
                  <a:pt x="381000" y="104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2209800" y="1371600"/>
            <a:ext cx="4686300" cy="5038725"/>
          </a:xfrm>
          <a:prstGeom prst="rect">
            <a:avLst/>
          </a:prstGeom>
          <a:noFill/>
          <a:ln w="9525">
            <a:noFill/>
            <a:miter lim="800000"/>
            <a:headEnd/>
            <a:tailEnd/>
          </a:ln>
        </p:spPr>
      </p:pic>
      <p:sp>
        <p:nvSpPr>
          <p:cNvPr id="7" name="TextBox 6"/>
          <p:cNvSpPr txBox="1"/>
          <p:nvPr/>
        </p:nvSpPr>
        <p:spPr>
          <a:xfrm>
            <a:off x="6858000" y="5257800"/>
            <a:ext cx="16002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Composite contain other messages, so we’ll use a list to hold these other messages</a:t>
            </a:r>
          </a:p>
        </p:txBody>
      </p:sp>
      <p:sp>
        <p:nvSpPr>
          <p:cNvPr id="8" name="Freeform 7"/>
          <p:cNvSpPr/>
          <p:nvPr/>
        </p:nvSpPr>
        <p:spPr>
          <a:xfrm>
            <a:off x="5267325" y="5905500"/>
            <a:ext cx="1581150" cy="374650"/>
          </a:xfrm>
          <a:custGeom>
            <a:avLst/>
            <a:gdLst>
              <a:gd name="connsiteX0" fmla="*/ 1581150 w 1581150"/>
              <a:gd name="connsiteY0" fmla="*/ 0 h 374650"/>
              <a:gd name="connsiteX1" fmla="*/ 809625 w 1581150"/>
              <a:gd name="connsiteY1" fmla="*/ 314325 h 374650"/>
              <a:gd name="connsiteX2" fmla="*/ 0 w 1581150"/>
              <a:gd name="connsiteY2" fmla="*/ 361950 h 374650"/>
            </a:gdLst>
            <a:ahLst/>
            <a:cxnLst>
              <a:cxn ang="0">
                <a:pos x="connsiteX0" y="connsiteY0"/>
              </a:cxn>
              <a:cxn ang="0">
                <a:pos x="connsiteX1" y="connsiteY1"/>
              </a:cxn>
              <a:cxn ang="0">
                <a:pos x="connsiteX2" y="connsiteY2"/>
              </a:cxn>
            </a:cxnLst>
            <a:rect l="l" t="t" r="r" b="b"/>
            <a:pathLst>
              <a:path w="1581150" h="374650">
                <a:moveTo>
                  <a:pt x="1581150" y="0"/>
                </a:moveTo>
                <a:cubicBezTo>
                  <a:pt x="1327150" y="127000"/>
                  <a:pt x="1073150" y="254000"/>
                  <a:pt x="809625" y="314325"/>
                </a:cubicBezTo>
                <a:cubicBezTo>
                  <a:pt x="546100" y="374650"/>
                  <a:pt x="273050" y="368300"/>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7010400" y="2590800"/>
            <a:ext cx="1600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Nothing fancy here, simply realizing the Message interface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grpSp>
        <p:nvGrpSpPr>
          <p:cNvPr id="18" name="Group 17"/>
          <p:cNvGrpSpPr/>
          <p:nvPr/>
        </p:nvGrpSpPr>
        <p:grpSpPr>
          <a:xfrm>
            <a:off x="381000" y="1371600"/>
            <a:ext cx="8305800" cy="4612314"/>
            <a:chOff x="381000" y="1371600"/>
            <a:chExt cx="8305800" cy="4612314"/>
          </a:xfrm>
        </p:grpSpPr>
        <p:pic>
          <p:nvPicPr>
            <p:cNvPr id="16386" name="Picture 2"/>
            <p:cNvPicPr>
              <a:picLocks noChangeAspect="1" noChangeArrowheads="1"/>
            </p:cNvPicPr>
            <p:nvPr/>
          </p:nvPicPr>
          <p:blipFill>
            <a:blip r:embed="rId2" cstate="print"/>
            <a:srcRect/>
            <a:stretch>
              <a:fillRect/>
            </a:stretch>
          </p:blipFill>
          <p:spPr bwMode="auto">
            <a:xfrm>
              <a:off x="2133600" y="1600200"/>
              <a:ext cx="4953000" cy="3810000"/>
            </a:xfrm>
            <a:prstGeom prst="rect">
              <a:avLst/>
            </a:prstGeom>
            <a:noFill/>
            <a:ln w="9525">
              <a:noFill/>
              <a:miter lim="800000"/>
              <a:headEnd/>
              <a:tailEnd/>
            </a:ln>
          </p:spPr>
        </p:pic>
        <p:sp>
          <p:nvSpPr>
            <p:cNvPr id="7" name="Left Brace 6"/>
            <p:cNvSpPr/>
            <p:nvPr/>
          </p:nvSpPr>
          <p:spPr>
            <a:xfrm>
              <a:off x="1905000" y="2667000"/>
              <a:ext cx="152400" cy="2514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3" cstate="print"/>
            <a:srcRect/>
            <a:stretch>
              <a:fillRect/>
            </a:stretch>
          </p:blipFill>
          <p:spPr bwMode="auto">
            <a:xfrm>
              <a:off x="4724400" y="5248485"/>
              <a:ext cx="3276600" cy="735429"/>
            </a:xfrm>
            <a:prstGeom prst="rect">
              <a:avLst/>
            </a:prstGeom>
            <a:noFill/>
            <a:ln w="9525">
              <a:noFill/>
              <a:miter lim="800000"/>
              <a:headEnd/>
              <a:tailEnd/>
            </a:ln>
          </p:spPr>
        </p:pic>
        <p:sp>
          <p:nvSpPr>
            <p:cNvPr id="9" name="TextBox 8"/>
            <p:cNvSpPr txBox="1"/>
            <p:nvPr/>
          </p:nvSpPr>
          <p:spPr>
            <a:xfrm>
              <a:off x="381000" y="4495800"/>
              <a:ext cx="1600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Compare  this with the print for primitive messages! Yikes!</a:t>
              </a:r>
            </a:p>
          </p:txBody>
        </p:sp>
        <p:sp>
          <p:nvSpPr>
            <p:cNvPr id="10" name="Freeform 9"/>
            <p:cNvSpPr/>
            <p:nvPr/>
          </p:nvSpPr>
          <p:spPr>
            <a:xfrm>
              <a:off x="1179513" y="5181600"/>
              <a:ext cx="3440112" cy="723900"/>
            </a:xfrm>
            <a:custGeom>
              <a:avLst/>
              <a:gdLst>
                <a:gd name="connsiteX0" fmla="*/ 230187 w 3440112"/>
                <a:gd name="connsiteY0" fmla="*/ 0 h 2047875"/>
                <a:gd name="connsiteX1" fmla="*/ 534987 w 3440112"/>
                <a:gd name="connsiteY1" fmla="*/ 1724025 h 2047875"/>
                <a:gd name="connsiteX2" fmla="*/ 3440112 w 3440112"/>
                <a:gd name="connsiteY2" fmla="*/ 1943100 h 2047875"/>
              </a:gdLst>
              <a:ahLst/>
              <a:cxnLst>
                <a:cxn ang="0">
                  <a:pos x="connsiteX0" y="connsiteY0"/>
                </a:cxn>
                <a:cxn ang="0">
                  <a:pos x="connsiteX1" y="connsiteY1"/>
                </a:cxn>
                <a:cxn ang="0">
                  <a:pos x="connsiteX2" y="connsiteY2"/>
                </a:cxn>
              </a:cxnLst>
              <a:rect l="l" t="t" r="r" b="b"/>
              <a:pathLst>
                <a:path w="3440112" h="2047875">
                  <a:moveTo>
                    <a:pt x="230187" y="0"/>
                  </a:moveTo>
                  <a:cubicBezTo>
                    <a:pt x="115093" y="700087"/>
                    <a:pt x="0" y="1400175"/>
                    <a:pt x="534987" y="1724025"/>
                  </a:cubicBezTo>
                  <a:cubicBezTo>
                    <a:pt x="1069974" y="2047875"/>
                    <a:pt x="2255043" y="1995487"/>
                    <a:pt x="3440112" y="194310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019800" y="2057400"/>
              <a:ext cx="2667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When the print is called on  the composite message, it must call print on all of its contained messages!</a:t>
              </a:r>
            </a:p>
          </p:txBody>
        </p:sp>
        <p:sp>
          <p:nvSpPr>
            <p:cNvPr id="12" name="TextBox 11"/>
            <p:cNvSpPr txBox="1"/>
            <p:nvPr/>
          </p:nvSpPr>
          <p:spPr>
            <a:xfrm>
              <a:off x="6400800" y="3048000"/>
              <a:ext cx="22860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This same principle is employed on the toXml and clone methods!</a:t>
              </a:r>
            </a:p>
          </p:txBody>
        </p:sp>
        <p:sp>
          <p:nvSpPr>
            <p:cNvPr id="13" name="Freeform 12"/>
            <p:cNvSpPr/>
            <p:nvPr/>
          </p:nvSpPr>
          <p:spPr>
            <a:xfrm>
              <a:off x="8505825" y="2533650"/>
              <a:ext cx="152400" cy="514350"/>
            </a:xfrm>
            <a:custGeom>
              <a:avLst/>
              <a:gdLst>
                <a:gd name="connsiteX0" fmla="*/ 0 w 152400"/>
                <a:gd name="connsiteY0" fmla="*/ 0 h 514350"/>
                <a:gd name="connsiteX1" fmla="*/ 142875 w 152400"/>
                <a:gd name="connsiteY1" fmla="*/ 219075 h 514350"/>
                <a:gd name="connsiteX2" fmla="*/ 57150 w 152400"/>
                <a:gd name="connsiteY2" fmla="*/ 514350 h 514350"/>
              </a:gdLst>
              <a:ahLst/>
              <a:cxnLst>
                <a:cxn ang="0">
                  <a:pos x="connsiteX0" y="connsiteY0"/>
                </a:cxn>
                <a:cxn ang="0">
                  <a:pos x="connsiteX1" y="connsiteY1"/>
                </a:cxn>
                <a:cxn ang="0">
                  <a:pos x="connsiteX2" y="connsiteY2"/>
                </a:cxn>
              </a:cxnLst>
              <a:rect l="l" t="t" r="r" b="b"/>
              <a:pathLst>
                <a:path w="152400" h="514350">
                  <a:moveTo>
                    <a:pt x="0" y="0"/>
                  </a:moveTo>
                  <a:cubicBezTo>
                    <a:pt x="66675" y="66675"/>
                    <a:pt x="133350" y="133350"/>
                    <a:pt x="142875" y="219075"/>
                  </a:cubicBezTo>
                  <a:cubicBezTo>
                    <a:pt x="152400" y="304800"/>
                    <a:pt x="104775" y="409575"/>
                    <a:pt x="5715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81000" y="2773740"/>
              <a:ext cx="1600200" cy="1569660"/>
            </a:xfrm>
            <a:prstGeom prst="rect">
              <a:avLst/>
            </a:prstGeom>
            <a:noFill/>
          </p:spPr>
          <p:txBody>
            <a:bodyPr wrap="square" rtlCol="0">
              <a:spAutoFit/>
            </a:bodyPr>
            <a:lstStyle/>
            <a:p>
              <a:pPr algn="ctr"/>
              <a:r>
                <a:rPr lang="en-US" sz="1200" b="1" dirty="0">
                  <a:solidFill>
                    <a:srgbClr val="C00000"/>
                  </a:solidFill>
                  <a:latin typeface="Bradley Hand ITC" pitchFamily="66" charset="0"/>
                </a:rPr>
                <a:t>This code displays the composite message’s id and name, but also, it needs to iterate through the list of contained messages and calls print on each of them!</a:t>
              </a:r>
            </a:p>
          </p:txBody>
        </p:sp>
        <p:sp>
          <p:nvSpPr>
            <p:cNvPr id="15" name="TextBox 14"/>
            <p:cNvSpPr txBox="1"/>
            <p:nvPr/>
          </p:nvSpPr>
          <p:spPr>
            <a:xfrm>
              <a:off x="457200" y="1371600"/>
              <a:ext cx="1600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This code adds a message to the list of contained messages</a:t>
              </a:r>
            </a:p>
          </p:txBody>
        </p:sp>
        <p:sp>
          <p:nvSpPr>
            <p:cNvPr id="16" name="Freeform 15"/>
            <p:cNvSpPr/>
            <p:nvPr/>
          </p:nvSpPr>
          <p:spPr>
            <a:xfrm>
              <a:off x="1295400" y="1981200"/>
              <a:ext cx="819150" cy="295275"/>
            </a:xfrm>
            <a:custGeom>
              <a:avLst/>
              <a:gdLst>
                <a:gd name="connsiteX0" fmla="*/ 0 w 819150"/>
                <a:gd name="connsiteY0" fmla="*/ 0 h 495300"/>
                <a:gd name="connsiteX1" fmla="*/ 304800 w 819150"/>
                <a:gd name="connsiteY1" fmla="*/ 390525 h 495300"/>
                <a:gd name="connsiteX2" fmla="*/ 819150 w 819150"/>
                <a:gd name="connsiteY2" fmla="*/ 495300 h 495300"/>
              </a:gdLst>
              <a:ahLst/>
              <a:cxnLst>
                <a:cxn ang="0">
                  <a:pos x="connsiteX0" y="connsiteY0"/>
                </a:cxn>
                <a:cxn ang="0">
                  <a:pos x="connsiteX1" y="connsiteY1"/>
                </a:cxn>
                <a:cxn ang="0">
                  <a:pos x="connsiteX2" y="connsiteY2"/>
                </a:cxn>
              </a:cxnLst>
              <a:rect l="l" t="t" r="r" b="b"/>
              <a:pathLst>
                <a:path w="819150" h="495300">
                  <a:moveTo>
                    <a:pt x="0" y="0"/>
                  </a:moveTo>
                  <a:cubicBezTo>
                    <a:pt x="84137" y="153987"/>
                    <a:pt x="168275" y="307975"/>
                    <a:pt x="304800" y="390525"/>
                  </a:cubicBezTo>
                  <a:cubicBezTo>
                    <a:pt x="441325" y="473075"/>
                    <a:pt x="630237" y="484187"/>
                    <a:pt x="819150" y="495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grpSp>
        <p:nvGrpSpPr>
          <p:cNvPr id="15" name="Group 14"/>
          <p:cNvGrpSpPr/>
          <p:nvPr/>
        </p:nvGrpSpPr>
        <p:grpSpPr>
          <a:xfrm>
            <a:off x="609600" y="1524000"/>
            <a:ext cx="7848600" cy="4380131"/>
            <a:chOff x="609600" y="1981200"/>
            <a:chExt cx="7848600" cy="4380131"/>
          </a:xfrm>
        </p:grpSpPr>
        <p:pic>
          <p:nvPicPr>
            <p:cNvPr id="17410" name="Picture 2"/>
            <p:cNvPicPr>
              <a:picLocks noChangeAspect="1" noChangeArrowheads="1"/>
            </p:cNvPicPr>
            <p:nvPr/>
          </p:nvPicPr>
          <p:blipFill>
            <a:blip r:embed="rId2" cstate="print"/>
            <a:srcRect/>
            <a:stretch>
              <a:fillRect/>
            </a:stretch>
          </p:blipFill>
          <p:spPr bwMode="auto">
            <a:xfrm>
              <a:off x="2438400" y="1981200"/>
              <a:ext cx="4410075" cy="942975"/>
            </a:xfrm>
            <a:prstGeom prst="rect">
              <a:avLst/>
            </a:prstGeom>
            <a:noFill/>
            <a:ln w="9525">
              <a:noFill/>
              <a:miter lim="800000"/>
              <a:headEnd/>
              <a:tailEnd/>
            </a:ln>
          </p:spPr>
        </p:pic>
        <p:pic>
          <p:nvPicPr>
            <p:cNvPr id="17411" name="Picture 3"/>
            <p:cNvPicPr>
              <a:picLocks noChangeAspect="1" noChangeArrowheads="1"/>
            </p:cNvPicPr>
            <p:nvPr/>
          </p:nvPicPr>
          <p:blipFill>
            <a:blip r:embed="rId3" cstate="print"/>
            <a:srcRect/>
            <a:stretch>
              <a:fillRect/>
            </a:stretch>
          </p:blipFill>
          <p:spPr bwMode="auto">
            <a:xfrm>
              <a:off x="2438400" y="3048000"/>
              <a:ext cx="4476750" cy="2752725"/>
            </a:xfrm>
            <a:prstGeom prst="rect">
              <a:avLst/>
            </a:prstGeom>
            <a:noFill/>
            <a:ln w="9525">
              <a:noFill/>
              <a:miter lim="800000"/>
              <a:headEnd/>
              <a:tailEnd/>
            </a:ln>
          </p:spPr>
        </p:pic>
        <p:sp>
          <p:nvSpPr>
            <p:cNvPr id="8" name="TextBox 7"/>
            <p:cNvSpPr txBox="1"/>
            <p:nvPr/>
          </p:nvSpPr>
          <p:spPr>
            <a:xfrm>
              <a:off x="6172200" y="4648200"/>
              <a:ext cx="2286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A clone on the composite means cloning of all contained messages as well!</a:t>
              </a:r>
            </a:p>
          </p:txBody>
        </p:sp>
        <p:sp>
          <p:nvSpPr>
            <p:cNvPr id="9" name="Freeform 8"/>
            <p:cNvSpPr/>
            <p:nvPr/>
          </p:nvSpPr>
          <p:spPr>
            <a:xfrm>
              <a:off x="5924550" y="5105400"/>
              <a:ext cx="638175" cy="323850"/>
            </a:xfrm>
            <a:custGeom>
              <a:avLst/>
              <a:gdLst>
                <a:gd name="connsiteX0" fmla="*/ 638175 w 638175"/>
                <a:gd name="connsiteY0" fmla="*/ 0 h 323850"/>
                <a:gd name="connsiteX1" fmla="*/ 390525 w 638175"/>
                <a:gd name="connsiteY1" fmla="*/ 219075 h 323850"/>
                <a:gd name="connsiteX2" fmla="*/ 0 w 638175"/>
                <a:gd name="connsiteY2" fmla="*/ 323850 h 323850"/>
              </a:gdLst>
              <a:ahLst/>
              <a:cxnLst>
                <a:cxn ang="0">
                  <a:pos x="connsiteX0" y="connsiteY0"/>
                </a:cxn>
                <a:cxn ang="0">
                  <a:pos x="connsiteX1" y="connsiteY1"/>
                </a:cxn>
                <a:cxn ang="0">
                  <a:pos x="connsiteX2" y="connsiteY2"/>
                </a:cxn>
              </a:cxnLst>
              <a:rect l="l" t="t" r="r" b="b"/>
              <a:pathLst>
                <a:path w="638175" h="323850">
                  <a:moveTo>
                    <a:pt x="638175" y="0"/>
                  </a:moveTo>
                  <a:cubicBezTo>
                    <a:pt x="567531" y="82550"/>
                    <a:pt x="496887" y="165100"/>
                    <a:pt x="390525" y="219075"/>
                  </a:cubicBezTo>
                  <a:cubicBezTo>
                    <a:pt x="284163" y="273050"/>
                    <a:pt x="142081" y="298450"/>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334000" y="5715000"/>
              <a:ext cx="30480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Isn’t it nice to have the Prototype design pattern?  This way, we don’t need to know the actual specific object that we’re cloning!</a:t>
              </a:r>
            </a:p>
          </p:txBody>
        </p:sp>
        <p:sp>
          <p:nvSpPr>
            <p:cNvPr id="11" name="Left Brace 10"/>
            <p:cNvSpPr/>
            <p:nvPr/>
          </p:nvSpPr>
          <p:spPr>
            <a:xfrm>
              <a:off x="2209800" y="3124200"/>
              <a:ext cx="152400" cy="2514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09600" y="3644205"/>
              <a:ext cx="1600200" cy="1384995"/>
            </a:xfrm>
            <a:prstGeom prst="rect">
              <a:avLst/>
            </a:prstGeom>
            <a:noFill/>
          </p:spPr>
          <p:txBody>
            <a:bodyPr wrap="square" rtlCol="0">
              <a:spAutoFit/>
            </a:bodyPr>
            <a:lstStyle/>
            <a:p>
              <a:pPr algn="ctr"/>
              <a:r>
                <a:rPr lang="en-US" sz="1200" b="1" dirty="0">
                  <a:solidFill>
                    <a:srgbClr val="C00000"/>
                  </a:solidFill>
                  <a:latin typeface="Bradley Hand ITC" pitchFamily="66" charset="0"/>
                </a:rPr>
                <a:t>Iterate through the list of contained messages and calls clone on each of them to properly create a copy of the composite message!</a:t>
              </a:r>
            </a:p>
          </p:txBody>
        </p:sp>
        <p:sp>
          <p:nvSpPr>
            <p:cNvPr id="13" name="TextBox 12"/>
            <p:cNvSpPr txBox="1"/>
            <p:nvPr/>
          </p:nvSpPr>
          <p:spPr>
            <a:xfrm>
              <a:off x="6858000" y="2590800"/>
              <a:ext cx="1600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Override the copy constructor!</a:t>
              </a:r>
            </a:p>
          </p:txBody>
        </p:sp>
        <p:sp>
          <p:nvSpPr>
            <p:cNvPr id="14" name="Freeform 13"/>
            <p:cNvSpPr/>
            <p:nvPr/>
          </p:nvSpPr>
          <p:spPr>
            <a:xfrm>
              <a:off x="6867525" y="2952750"/>
              <a:ext cx="314325" cy="361950"/>
            </a:xfrm>
            <a:custGeom>
              <a:avLst/>
              <a:gdLst>
                <a:gd name="connsiteX0" fmla="*/ 314325 w 314325"/>
                <a:gd name="connsiteY0" fmla="*/ 0 h 361950"/>
                <a:gd name="connsiteX1" fmla="*/ 257175 w 314325"/>
                <a:gd name="connsiteY1" fmla="*/ 276225 h 361950"/>
                <a:gd name="connsiteX2" fmla="*/ 0 w 314325"/>
                <a:gd name="connsiteY2" fmla="*/ 361950 h 361950"/>
              </a:gdLst>
              <a:ahLst/>
              <a:cxnLst>
                <a:cxn ang="0">
                  <a:pos x="connsiteX0" y="connsiteY0"/>
                </a:cxn>
                <a:cxn ang="0">
                  <a:pos x="connsiteX1" y="connsiteY1"/>
                </a:cxn>
                <a:cxn ang="0">
                  <a:pos x="connsiteX2" y="connsiteY2"/>
                </a:cxn>
              </a:cxnLst>
              <a:rect l="l" t="t" r="r" b="b"/>
              <a:pathLst>
                <a:path w="314325" h="361950">
                  <a:moveTo>
                    <a:pt x="314325" y="0"/>
                  </a:moveTo>
                  <a:cubicBezTo>
                    <a:pt x="311943" y="107950"/>
                    <a:pt x="309562" y="215900"/>
                    <a:pt x="257175" y="276225"/>
                  </a:cubicBezTo>
                  <a:cubicBezTo>
                    <a:pt x="204788" y="336550"/>
                    <a:pt x="102394" y="349250"/>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18434" name="Picture 2"/>
          <p:cNvPicPr>
            <a:picLocks noChangeAspect="1" noChangeArrowheads="1"/>
          </p:cNvPicPr>
          <p:nvPr/>
        </p:nvPicPr>
        <p:blipFill>
          <a:blip r:embed="rId2" cstate="print"/>
          <a:srcRect/>
          <a:stretch>
            <a:fillRect/>
          </a:stretch>
        </p:blipFill>
        <p:spPr bwMode="auto">
          <a:xfrm>
            <a:off x="2590800" y="762000"/>
            <a:ext cx="4724400" cy="5643700"/>
          </a:xfrm>
          <a:prstGeom prst="rect">
            <a:avLst/>
          </a:prstGeom>
          <a:noFill/>
          <a:ln w="9525">
            <a:noFill/>
            <a:miter lim="800000"/>
            <a:headEnd/>
            <a:tailEnd/>
          </a:ln>
        </p:spPr>
      </p:pic>
      <p:sp>
        <p:nvSpPr>
          <p:cNvPr id="7" name="TextBox 6"/>
          <p:cNvSpPr txBox="1"/>
          <p:nvPr/>
        </p:nvSpPr>
        <p:spPr>
          <a:xfrm>
            <a:off x="533400" y="1066800"/>
            <a:ext cx="1600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Create primitive messages</a:t>
            </a:r>
          </a:p>
        </p:txBody>
      </p:sp>
      <p:sp>
        <p:nvSpPr>
          <p:cNvPr id="8" name="Freeform 7"/>
          <p:cNvSpPr/>
          <p:nvPr/>
        </p:nvSpPr>
        <p:spPr>
          <a:xfrm>
            <a:off x="1924050" y="1095375"/>
            <a:ext cx="628650" cy="276225"/>
          </a:xfrm>
          <a:custGeom>
            <a:avLst/>
            <a:gdLst>
              <a:gd name="connsiteX0" fmla="*/ 0 w 628650"/>
              <a:gd name="connsiteY0" fmla="*/ 276225 h 276225"/>
              <a:gd name="connsiteX1" fmla="*/ 276225 w 628650"/>
              <a:gd name="connsiteY1" fmla="*/ 66675 h 276225"/>
              <a:gd name="connsiteX2" fmla="*/ 628650 w 628650"/>
              <a:gd name="connsiteY2" fmla="*/ 0 h 276225"/>
            </a:gdLst>
            <a:ahLst/>
            <a:cxnLst>
              <a:cxn ang="0">
                <a:pos x="connsiteX0" y="connsiteY0"/>
              </a:cxn>
              <a:cxn ang="0">
                <a:pos x="connsiteX1" y="connsiteY1"/>
              </a:cxn>
              <a:cxn ang="0">
                <a:pos x="connsiteX2" y="connsiteY2"/>
              </a:cxn>
            </a:cxnLst>
            <a:rect l="l" t="t" r="r" b="b"/>
            <a:pathLst>
              <a:path w="628650" h="276225">
                <a:moveTo>
                  <a:pt x="0" y="276225"/>
                </a:moveTo>
                <a:cubicBezTo>
                  <a:pt x="85725" y="194469"/>
                  <a:pt x="171450" y="112713"/>
                  <a:pt x="276225" y="66675"/>
                </a:cubicBezTo>
                <a:cubicBezTo>
                  <a:pt x="381000" y="20638"/>
                  <a:pt x="504825" y="10319"/>
                  <a:pt x="6286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533400" y="1600200"/>
            <a:ext cx="16002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Add messages to the composite message to initialize the system</a:t>
            </a:r>
          </a:p>
        </p:txBody>
      </p:sp>
      <p:sp>
        <p:nvSpPr>
          <p:cNvPr id="10" name="Freeform 9"/>
          <p:cNvSpPr/>
          <p:nvPr/>
        </p:nvSpPr>
        <p:spPr>
          <a:xfrm>
            <a:off x="2105025" y="2085975"/>
            <a:ext cx="409575" cy="171450"/>
          </a:xfrm>
          <a:custGeom>
            <a:avLst/>
            <a:gdLst>
              <a:gd name="connsiteX0" fmla="*/ 0 w 409575"/>
              <a:gd name="connsiteY0" fmla="*/ 0 h 171450"/>
              <a:gd name="connsiteX1" fmla="*/ 114300 w 409575"/>
              <a:gd name="connsiteY1" fmla="*/ 142875 h 171450"/>
              <a:gd name="connsiteX2" fmla="*/ 409575 w 409575"/>
              <a:gd name="connsiteY2" fmla="*/ 171450 h 171450"/>
            </a:gdLst>
            <a:ahLst/>
            <a:cxnLst>
              <a:cxn ang="0">
                <a:pos x="connsiteX0" y="connsiteY0"/>
              </a:cxn>
              <a:cxn ang="0">
                <a:pos x="connsiteX1" y="connsiteY1"/>
              </a:cxn>
              <a:cxn ang="0">
                <a:pos x="connsiteX2" y="connsiteY2"/>
              </a:cxn>
            </a:cxnLst>
            <a:rect l="l" t="t" r="r" b="b"/>
            <a:pathLst>
              <a:path w="409575" h="171450">
                <a:moveTo>
                  <a:pt x="0" y="0"/>
                </a:moveTo>
                <a:cubicBezTo>
                  <a:pt x="23019" y="57150"/>
                  <a:pt x="46038" y="114300"/>
                  <a:pt x="114300" y="142875"/>
                </a:cubicBezTo>
                <a:cubicBezTo>
                  <a:pt x="182562" y="171450"/>
                  <a:pt x="296068" y="171450"/>
                  <a:pt x="409575" y="171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33400" y="2667000"/>
            <a:ext cx="1600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More primitive messages</a:t>
            </a:r>
          </a:p>
        </p:txBody>
      </p:sp>
      <p:sp>
        <p:nvSpPr>
          <p:cNvPr id="12" name="Freeform 11"/>
          <p:cNvSpPr/>
          <p:nvPr/>
        </p:nvSpPr>
        <p:spPr>
          <a:xfrm>
            <a:off x="1771650" y="2847975"/>
            <a:ext cx="771525" cy="195262"/>
          </a:xfrm>
          <a:custGeom>
            <a:avLst/>
            <a:gdLst>
              <a:gd name="connsiteX0" fmla="*/ 0 w 771525"/>
              <a:gd name="connsiteY0" fmla="*/ 142875 h 195262"/>
              <a:gd name="connsiteX1" fmla="*/ 428625 w 771525"/>
              <a:gd name="connsiteY1" fmla="*/ 171450 h 195262"/>
              <a:gd name="connsiteX2" fmla="*/ 771525 w 771525"/>
              <a:gd name="connsiteY2" fmla="*/ 0 h 195262"/>
            </a:gdLst>
            <a:ahLst/>
            <a:cxnLst>
              <a:cxn ang="0">
                <a:pos x="connsiteX0" y="connsiteY0"/>
              </a:cxn>
              <a:cxn ang="0">
                <a:pos x="connsiteX1" y="connsiteY1"/>
              </a:cxn>
              <a:cxn ang="0">
                <a:pos x="connsiteX2" y="connsiteY2"/>
              </a:cxn>
            </a:cxnLst>
            <a:rect l="l" t="t" r="r" b="b"/>
            <a:pathLst>
              <a:path w="771525" h="195262">
                <a:moveTo>
                  <a:pt x="0" y="142875"/>
                </a:moveTo>
                <a:cubicBezTo>
                  <a:pt x="150019" y="169068"/>
                  <a:pt x="300038" y="195262"/>
                  <a:pt x="428625" y="171450"/>
                </a:cubicBezTo>
                <a:cubicBezTo>
                  <a:pt x="557212" y="147638"/>
                  <a:pt x="664368" y="73819"/>
                  <a:pt x="7715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81000" y="3200400"/>
            <a:ext cx="1752600" cy="1200329"/>
          </a:xfrm>
          <a:prstGeom prst="rect">
            <a:avLst/>
          </a:prstGeom>
          <a:noFill/>
        </p:spPr>
        <p:txBody>
          <a:bodyPr wrap="square" rtlCol="0">
            <a:spAutoFit/>
          </a:bodyPr>
          <a:lstStyle/>
          <a:p>
            <a:pPr algn="ctr"/>
            <a:r>
              <a:rPr lang="en-US" sz="1200" b="1" dirty="0">
                <a:solidFill>
                  <a:srgbClr val="C00000"/>
                </a:solidFill>
                <a:latin typeface="Bradley Hand ITC" pitchFamily="66" charset="0"/>
              </a:rPr>
              <a:t>Another composite message.  This one is used for controlling the collection of information by the sensor system.</a:t>
            </a:r>
          </a:p>
        </p:txBody>
      </p:sp>
      <p:sp>
        <p:nvSpPr>
          <p:cNvPr id="14" name="Freeform 13"/>
          <p:cNvSpPr/>
          <p:nvPr/>
        </p:nvSpPr>
        <p:spPr>
          <a:xfrm>
            <a:off x="1952625" y="3362325"/>
            <a:ext cx="590550" cy="174625"/>
          </a:xfrm>
          <a:custGeom>
            <a:avLst/>
            <a:gdLst>
              <a:gd name="connsiteX0" fmla="*/ 0 w 590550"/>
              <a:gd name="connsiteY0" fmla="*/ 133350 h 174625"/>
              <a:gd name="connsiteX1" fmla="*/ 314325 w 590550"/>
              <a:gd name="connsiteY1" fmla="*/ 152400 h 174625"/>
              <a:gd name="connsiteX2" fmla="*/ 590550 w 590550"/>
              <a:gd name="connsiteY2" fmla="*/ 0 h 174625"/>
            </a:gdLst>
            <a:ahLst/>
            <a:cxnLst>
              <a:cxn ang="0">
                <a:pos x="connsiteX0" y="connsiteY0"/>
              </a:cxn>
              <a:cxn ang="0">
                <a:pos x="connsiteX1" y="connsiteY1"/>
              </a:cxn>
              <a:cxn ang="0">
                <a:pos x="connsiteX2" y="connsiteY2"/>
              </a:cxn>
            </a:cxnLst>
            <a:rect l="l" t="t" r="r" b="b"/>
            <a:pathLst>
              <a:path w="590550" h="174625">
                <a:moveTo>
                  <a:pt x="0" y="133350"/>
                </a:moveTo>
                <a:cubicBezTo>
                  <a:pt x="107950" y="153987"/>
                  <a:pt x="215900" y="174625"/>
                  <a:pt x="314325" y="152400"/>
                </a:cubicBezTo>
                <a:cubicBezTo>
                  <a:pt x="412750" y="130175"/>
                  <a:pt x="501650" y="65087"/>
                  <a:pt x="5905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705600" y="2971800"/>
            <a:ext cx="2057400"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Add messages to the composite message for scheduling data collection</a:t>
            </a:r>
          </a:p>
        </p:txBody>
      </p:sp>
      <p:sp>
        <p:nvSpPr>
          <p:cNvPr id="16" name="Freeform 15"/>
          <p:cNvSpPr/>
          <p:nvPr/>
        </p:nvSpPr>
        <p:spPr>
          <a:xfrm>
            <a:off x="6219825" y="3629025"/>
            <a:ext cx="666750" cy="295275"/>
          </a:xfrm>
          <a:custGeom>
            <a:avLst/>
            <a:gdLst>
              <a:gd name="connsiteX0" fmla="*/ 666750 w 666750"/>
              <a:gd name="connsiteY0" fmla="*/ 0 h 295275"/>
              <a:gd name="connsiteX1" fmla="*/ 314325 w 666750"/>
              <a:gd name="connsiteY1" fmla="*/ 247650 h 295275"/>
              <a:gd name="connsiteX2" fmla="*/ 0 w 666750"/>
              <a:gd name="connsiteY2" fmla="*/ 285750 h 295275"/>
            </a:gdLst>
            <a:ahLst/>
            <a:cxnLst>
              <a:cxn ang="0">
                <a:pos x="connsiteX0" y="connsiteY0"/>
              </a:cxn>
              <a:cxn ang="0">
                <a:pos x="connsiteX1" y="connsiteY1"/>
              </a:cxn>
              <a:cxn ang="0">
                <a:pos x="connsiteX2" y="connsiteY2"/>
              </a:cxn>
            </a:cxnLst>
            <a:rect l="l" t="t" r="r" b="b"/>
            <a:pathLst>
              <a:path w="666750" h="295275">
                <a:moveTo>
                  <a:pt x="666750" y="0"/>
                </a:moveTo>
                <a:cubicBezTo>
                  <a:pt x="546100" y="100012"/>
                  <a:pt x="425450" y="200025"/>
                  <a:pt x="314325" y="247650"/>
                </a:cubicBezTo>
                <a:cubicBezTo>
                  <a:pt x="203200" y="295275"/>
                  <a:pt x="101600" y="290512"/>
                  <a:pt x="0" y="285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858000" y="3733800"/>
            <a:ext cx="16002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Schedule a shutdown system message</a:t>
            </a:r>
          </a:p>
        </p:txBody>
      </p:sp>
      <p:sp>
        <p:nvSpPr>
          <p:cNvPr id="18" name="Freeform 17"/>
          <p:cNvSpPr/>
          <p:nvPr/>
        </p:nvSpPr>
        <p:spPr>
          <a:xfrm>
            <a:off x="4400550" y="4076700"/>
            <a:ext cx="2657475" cy="354012"/>
          </a:xfrm>
          <a:custGeom>
            <a:avLst/>
            <a:gdLst>
              <a:gd name="connsiteX0" fmla="*/ 2657475 w 2657475"/>
              <a:gd name="connsiteY0" fmla="*/ 0 h 354012"/>
              <a:gd name="connsiteX1" fmla="*/ 876300 w 2657475"/>
              <a:gd name="connsiteY1" fmla="*/ 304800 h 354012"/>
              <a:gd name="connsiteX2" fmla="*/ 0 w 2657475"/>
              <a:gd name="connsiteY2" fmla="*/ 295275 h 354012"/>
            </a:gdLst>
            <a:ahLst/>
            <a:cxnLst>
              <a:cxn ang="0">
                <a:pos x="connsiteX0" y="connsiteY0"/>
              </a:cxn>
              <a:cxn ang="0">
                <a:pos x="connsiteX1" y="connsiteY1"/>
              </a:cxn>
              <a:cxn ang="0">
                <a:pos x="connsiteX2" y="connsiteY2"/>
              </a:cxn>
            </a:cxnLst>
            <a:rect l="l" t="t" r="r" b="b"/>
            <a:pathLst>
              <a:path w="2657475" h="354012">
                <a:moveTo>
                  <a:pt x="2657475" y="0"/>
                </a:moveTo>
                <a:cubicBezTo>
                  <a:pt x="1988343" y="127794"/>
                  <a:pt x="1319212" y="255588"/>
                  <a:pt x="876300" y="304800"/>
                </a:cubicBezTo>
                <a:cubicBezTo>
                  <a:pt x="433388" y="354012"/>
                  <a:pt x="216694" y="324643"/>
                  <a:pt x="0" y="295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609600" y="4800600"/>
            <a:ext cx="1752600" cy="1015663"/>
          </a:xfrm>
          <a:prstGeom prst="rect">
            <a:avLst/>
          </a:prstGeom>
          <a:noFill/>
        </p:spPr>
        <p:txBody>
          <a:bodyPr wrap="square" rtlCol="0">
            <a:spAutoFit/>
          </a:bodyPr>
          <a:lstStyle/>
          <a:p>
            <a:pPr algn="ctr"/>
            <a:r>
              <a:rPr lang="en-US" sz="1200" b="1" dirty="0">
                <a:solidFill>
                  <a:srgbClr val="C00000"/>
                </a:solidFill>
                <a:latin typeface="Bradley Hand ITC" pitchFamily="66" charset="0"/>
              </a:rPr>
              <a:t>The mission plan message, which contains two composite messages and one primitive message</a:t>
            </a:r>
          </a:p>
        </p:txBody>
      </p:sp>
      <p:sp>
        <p:nvSpPr>
          <p:cNvPr id="20" name="Freeform 19"/>
          <p:cNvSpPr/>
          <p:nvPr/>
        </p:nvSpPr>
        <p:spPr>
          <a:xfrm>
            <a:off x="2114550" y="4686300"/>
            <a:ext cx="457200" cy="257175"/>
          </a:xfrm>
          <a:custGeom>
            <a:avLst/>
            <a:gdLst>
              <a:gd name="connsiteX0" fmla="*/ 0 w 457200"/>
              <a:gd name="connsiteY0" fmla="*/ 257175 h 257175"/>
              <a:gd name="connsiteX1" fmla="*/ 180975 w 457200"/>
              <a:gd name="connsiteY1" fmla="*/ 76200 h 257175"/>
              <a:gd name="connsiteX2" fmla="*/ 457200 w 457200"/>
              <a:gd name="connsiteY2" fmla="*/ 0 h 257175"/>
            </a:gdLst>
            <a:ahLst/>
            <a:cxnLst>
              <a:cxn ang="0">
                <a:pos x="connsiteX0" y="connsiteY0"/>
              </a:cxn>
              <a:cxn ang="0">
                <a:pos x="connsiteX1" y="connsiteY1"/>
              </a:cxn>
              <a:cxn ang="0">
                <a:pos x="connsiteX2" y="connsiteY2"/>
              </a:cxn>
            </a:cxnLst>
            <a:rect l="l" t="t" r="r" b="b"/>
            <a:pathLst>
              <a:path w="457200" h="257175">
                <a:moveTo>
                  <a:pt x="0" y="257175"/>
                </a:moveTo>
                <a:cubicBezTo>
                  <a:pt x="52387" y="188119"/>
                  <a:pt x="104775" y="119063"/>
                  <a:pt x="180975" y="76200"/>
                </a:cubicBezTo>
                <a:cubicBezTo>
                  <a:pt x="257175" y="33338"/>
                  <a:pt x="357187" y="16669"/>
                  <a:pt x="4572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6629400" y="5105400"/>
            <a:ext cx="1752600" cy="461665"/>
          </a:xfrm>
          <a:prstGeom prst="rect">
            <a:avLst/>
          </a:prstGeom>
          <a:noFill/>
        </p:spPr>
        <p:txBody>
          <a:bodyPr wrap="square" rtlCol="0">
            <a:spAutoFit/>
          </a:bodyPr>
          <a:lstStyle/>
          <a:p>
            <a:pPr algn="ctr"/>
            <a:r>
              <a:rPr lang="en-US" sz="1200" b="1" dirty="0">
                <a:solidFill>
                  <a:srgbClr val="C00000"/>
                </a:solidFill>
                <a:latin typeface="Bradley Hand ITC" pitchFamily="66" charset="0"/>
              </a:rPr>
              <a:t>Print to the console the mission plan message</a:t>
            </a:r>
          </a:p>
        </p:txBody>
      </p:sp>
      <p:sp>
        <p:nvSpPr>
          <p:cNvPr id="22" name="Freeform 21"/>
          <p:cNvSpPr/>
          <p:nvPr/>
        </p:nvSpPr>
        <p:spPr>
          <a:xfrm>
            <a:off x="4333875" y="5419725"/>
            <a:ext cx="2333625" cy="506412"/>
          </a:xfrm>
          <a:custGeom>
            <a:avLst/>
            <a:gdLst>
              <a:gd name="connsiteX0" fmla="*/ 2333625 w 2333625"/>
              <a:gd name="connsiteY0" fmla="*/ 0 h 506412"/>
              <a:gd name="connsiteX1" fmla="*/ 1657350 w 2333625"/>
              <a:gd name="connsiteY1" fmla="*/ 190500 h 506412"/>
              <a:gd name="connsiteX2" fmla="*/ 1247775 w 2333625"/>
              <a:gd name="connsiteY2" fmla="*/ 457200 h 506412"/>
              <a:gd name="connsiteX3" fmla="*/ 0 w 2333625"/>
              <a:gd name="connsiteY3" fmla="*/ 485775 h 506412"/>
            </a:gdLst>
            <a:ahLst/>
            <a:cxnLst>
              <a:cxn ang="0">
                <a:pos x="connsiteX0" y="connsiteY0"/>
              </a:cxn>
              <a:cxn ang="0">
                <a:pos x="connsiteX1" y="connsiteY1"/>
              </a:cxn>
              <a:cxn ang="0">
                <a:pos x="connsiteX2" y="connsiteY2"/>
              </a:cxn>
              <a:cxn ang="0">
                <a:pos x="connsiteX3" y="connsiteY3"/>
              </a:cxn>
            </a:cxnLst>
            <a:rect l="l" t="t" r="r" b="b"/>
            <a:pathLst>
              <a:path w="2333625" h="506412">
                <a:moveTo>
                  <a:pt x="2333625" y="0"/>
                </a:moveTo>
                <a:cubicBezTo>
                  <a:pt x="2085975" y="57150"/>
                  <a:pt x="1838325" y="114300"/>
                  <a:pt x="1657350" y="190500"/>
                </a:cubicBezTo>
                <a:cubicBezTo>
                  <a:pt x="1476375" y="266700"/>
                  <a:pt x="1524000" y="407988"/>
                  <a:pt x="1247775" y="457200"/>
                </a:cubicBezTo>
                <a:cubicBezTo>
                  <a:pt x="971550" y="506412"/>
                  <a:pt x="485775" y="496093"/>
                  <a:pt x="0"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19459" name="Picture 3"/>
          <p:cNvPicPr>
            <a:picLocks noChangeAspect="1" noChangeArrowheads="1"/>
          </p:cNvPicPr>
          <p:nvPr/>
        </p:nvPicPr>
        <p:blipFill>
          <a:blip r:embed="rId2" cstate="print"/>
          <a:srcRect/>
          <a:stretch>
            <a:fillRect/>
          </a:stretch>
        </p:blipFill>
        <p:spPr bwMode="auto">
          <a:xfrm>
            <a:off x="1752600" y="1524000"/>
            <a:ext cx="5629275" cy="1704975"/>
          </a:xfrm>
          <a:prstGeom prst="rect">
            <a:avLst/>
          </a:prstGeom>
          <a:noFill/>
          <a:ln w="9525">
            <a:noFill/>
            <a:miter lim="800000"/>
            <a:headEnd/>
            <a:tailEnd/>
          </a:ln>
        </p:spPr>
      </p:pic>
      <p:pic>
        <p:nvPicPr>
          <p:cNvPr id="19460" name="Picture 4"/>
          <p:cNvPicPr>
            <a:picLocks noChangeAspect="1" noChangeArrowheads="1"/>
          </p:cNvPicPr>
          <p:nvPr/>
        </p:nvPicPr>
        <p:blipFill>
          <a:blip r:embed="rId3" cstate="print"/>
          <a:srcRect/>
          <a:stretch>
            <a:fillRect/>
          </a:stretch>
        </p:blipFill>
        <p:spPr bwMode="auto">
          <a:xfrm>
            <a:off x="1371600" y="3733800"/>
            <a:ext cx="6448425" cy="2228850"/>
          </a:xfrm>
          <a:prstGeom prst="rect">
            <a:avLst/>
          </a:prstGeom>
          <a:noFill/>
          <a:ln w="9525">
            <a:noFill/>
            <a:miter lim="800000"/>
            <a:headEnd/>
            <a:tailEnd/>
          </a:ln>
        </p:spPr>
      </p:pic>
      <p:sp>
        <p:nvSpPr>
          <p:cNvPr id="8" name="TextBox 7"/>
          <p:cNvSpPr txBox="1"/>
          <p:nvPr/>
        </p:nvSpPr>
        <p:spPr>
          <a:xfrm>
            <a:off x="5943600" y="2971800"/>
            <a:ext cx="17526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Sample output</a:t>
            </a:r>
          </a:p>
        </p:txBody>
      </p:sp>
      <p:sp>
        <p:nvSpPr>
          <p:cNvPr id="9" name="Freeform 8"/>
          <p:cNvSpPr/>
          <p:nvPr/>
        </p:nvSpPr>
        <p:spPr>
          <a:xfrm>
            <a:off x="6724650" y="3219450"/>
            <a:ext cx="365125" cy="457200"/>
          </a:xfrm>
          <a:custGeom>
            <a:avLst/>
            <a:gdLst>
              <a:gd name="connsiteX0" fmla="*/ 247650 w 365125"/>
              <a:gd name="connsiteY0" fmla="*/ 0 h 457200"/>
              <a:gd name="connsiteX1" fmla="*/ 323850 w 365125"/>
              <a:gd name="connsiteY1" fmla="*/ 247650 h 457200"/>
              <a:gd name="connsiteX2" fmla="*/ 0 w 365125"/>
              <a:gd name="connsiteY2" fmla="*/ 457200 h 457200"/>
            </a:gdLst>
            <a:ahLst/>
            <a:cxnLst>
              <a:cxn ang="0">
                <a:pos x="connsiteX0" y="connsiteY0"/>
              </a:cxn>
              <a:cxn ang="0">
                <a:pos x="connsiteX1" y="connsiteY1"/>
              </a:cxn>
              <a:cxn ang="0">
                <a:pos x="connsiteX2" y="connsiteY2"/>
              </a:cxn>
            </a:cxnLst>
            <a:rect l="l" t="t" r="r" b="b"/>
            <a:pathLst>
              <a:path w="365125" h="457200">
                <a:moveTo>
                  <a:pt x="247650" y="0"/>
                </a:moveTo>
                <a:cubicBezTo>
                  <a:pt x="306387" y="85725"/>
                  <a:pt x="365125" y="171450"/>
                  <a:pt x="323850" y="247650"/>
                </a:cubicBezTo>
                <a:cubicBezTo>
                  <a:pt x="282575" y="323850"/>
                  <a:pt x="141287" y="390525"/>
                  <a:pt x="0" y="457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a:t>
            </a:r>
          </a:p>
        </p:txBody>
      </p:sp>
      <p:sp>
        <p:nvSpPr>
          <p:cNvPr id="3" name="Content Placeholder 2"/>
          <p:cNvSpPr>
            <a:spLocks noGrp="1"/>
          </p:cNvSpPr>
          <p:nvPr>
            <p:ph idx="1"/>
          </p:nvPr>
        </p:nvSpPr>
        <p:spPr>
          <a:xfrm>
            <a:off x="457200" y="1371601"/>
            <a:ext cx="8229600" cy="5181599"/>
          </a:xfrm>
        </p:spPr>
        <p:txBody>
          <a:bodyPr>
            <a:normAutofit fontScale="77500" lnSpcReduction="20000"/>
          </a:bodyPr>
          <a:lstStyle/>
          <a:p>
            <a:r>
              <a:rPr lang="en-US" dirty="0"/>
              <a:t>The steps required to apply the composite design pattern include:</a:t>
            </a:r>
          </a:p>
          <a:p>
            <a:pPr marL="800100" lvl="1" indent="-342900">
              <a:buFont typeface="+mj-lt"/>
              <a:buAutoNum type="arabicPeriod"/>
            </a:pPr>
            <a:r>
              <a:rPr lang="en-US" dirty="0"/>
              <a:t>Identify, understand, and plan the tree-like structure required for the system.</a:t>
            </a:r>
          </a:p>
          <a:p>
            <a:pPr marL="800100" lvl="1" indent="-342900">
              <a:buFont typeface="+mj-lt"/>
              <a:buAutoNum type="arabicPeriod"/>
            </a:pPr>
            <a:r>
              <a:rPr lang="en-US" dirty="0"/>
              <a:t>With the knowledge from step 1, identify and design the Component base class (see diagram), which includes </a:t>
            </a:r>
            <a:r>
              <a:rPr lang="en-US" dirty="0" err="1"/>
              <a:t>overridable</a:t>
            </a:r>
            <a:r>
              <a:rPr lang="en-US" dirty="0"/>
              <a:t> methods common to both Leaf and Composite objects, as well as methods specific for Composite objects, which provide capability for adding and removing objects to the hierarchy.  </a:t>
            </a:r>
          </a:p>
          <a:p>
            <a:pPr marL="800100" lvl="1" indent="-342900">
              <a:buFont typeface="+mj-lt"/>
              <a:buAutoNum type="arabicPeriod"/>
            </a:pPr>
            <a:r>
              <a:rPr lang="en-US" dirty="0"/>
              <a:t>For the methods specified in step 2 for adding/removing objects to the hierarchy, implement default behavior that if not overridden, will result in exception or error message indicating an unsupported operation.</a:t>
            </a:r>
          </a:p>
          <a:p>
            <a:pPr marL="800100" lvl="1" indent="-342900">
              <a:buFont typeface="+mj-lt"/>
              <a:buAutoNum type="arabicPeriod"/>
            </a:pPr>
            <a:r>
              <a:rPr lang="en-US" dirty="0"/>
              <a:t>Identify and design the Composite class, which overrides methods for adding and removing objects to the hierarchy.  The Composite class requires an internal data structure to store Leaf nodes added to the hierarchy.  In addition, the Composite class is required to override all other methods identified in step 2 to implement functionality in terms of the composite object and all of its contained Leaf objects.</a:t>
            </a:r>
          </a:p>
          <a:p>
            <a:pPr marL="800100" lvl="1" indent="-342900">
              <a:buFont typeface="+mj-lt"/>
              <a:buAutoNum type="arabicPeriod"/>
            </a:pPr>
            <a:r>
              <a:rPr lang="en-US" dirty="0"/>
              <a:t>Identify and design the Leaf classes, which overrides methods specified in step 2 to implement behavior in terms of the Leaf object.  Leaf objects do not override the add and remove methods identified in step 2.</a:t>
            </a:r>
          </a:p>
          <a:p>
            <a:pPr marL="800100" lvl="1" indent="-342900">
              <a:buFont typeface="+mj-lt"/>
              <a:buAutoNum type="arabicPeriod"/>
            </a:pPr>
            <a:r>
              <a:rPr lang="en-US" dirty="0"/>
              <a:t>Identify and design the client that uses both composite and leaf objects.</a:t>
            </a:r>
          </a:p>
          <a:p>
            <a:pPr lvl="1"/>
            <a:endParaRPr lang="en-US" dirty="0"/>
          </a:p>
          <a:p>
            <a:pPr lvl="0"/>
            <a:r>
              <a:rPr lang="en-US" dirty="0"/>
              <a:t>Benefits of the Composite design pattern:</a:t>
            </a:r>
          </a:p>
          <a:p>
            <a:pPr lvl="1"/>
            <a:r>
              <a:rPr lang="en-US" dirty="0"/>
              <a:t>Provides a design structure that </a:t>
            </a:r>
            <a:r>
              <a:rPr lang="en-US" dirty="0">
                <a:highlight>
                  <a:srgbClr val="FFFF00"/>
                </a:highlight>
              </a:rPr>
              <a:t>supports both composite and primitive objects</a:t>
            </a:r>
            <a:r>
              <a:rPr lang="en-US" dirty="0"/>
              <a:t>.</a:t>
            </a:r>
          </a:p>
          <a:p>
            <a:pPr lvl="1"/>
            <a:r>
              <a:rPr lang="en-US" dirty="0"/>
              <a:t>Minimizes complexity on clients by </a:t>
            </a:r>
            <a:r>
              <a:rPr lang="en-US" dirty="0">
                <a:highlight>
                  <a:srgbClr val="FFFF00"/>
                </a:highlight>
              </a:rPr>
              <a:t>shielding them from knowing the operational differences between primitive and composite objects</a:t>
            </a:r>
            <a:r>
              <a:rPr lang="en-US" dirty="0"/>
              <a:t>.  Clients that expect a primitive object will also work with a composite object, since operations are called uniformly on both primitive and composite objects.</a:t>
            </a:r>
          </a:p>
          <a:p>
            <a:pPr lvl="1"/>
            <a:r>
              <a:rPr lang="en-US" dirty="0"/>
              <a:t>Easy to create and add new components objects to applications.</a:t>
            </a:r>
          </a:p>
          <a:p>
            <a:pPr lvl="1"/>
            <a:endParaRPr lang="en-US" dirty="0"/>
          </a:p>
          <a:p>
            <a:pPr lvl="1"/>
            <a:endParaRPr lang="en-US" dirty="0"/>
          </a:p>
          <a:p>
            <a:pPr lvl="0"/>
            <a:endParaRPr lang="en-US" dirty="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Design Pattern</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10" name="TextBox 9">
            <a:extLst>
              <a:ext uri="{FF2B5EF4-FFF2-40B4-BE49-F238E27FC236}">
                <a16:creationId xmlns:a16="http://schemas.microsoft.com/office/drawing/2014/main" id="{F60B20D2-8B13-8F2B-26B6-E23C8F513D79}"/>
              </a:ext>
            </a:extLst>
          </p:cNvPr>
          <p:cNvSpPr txBox="1"/>
          <p:nvPr/>
        </p:nvSpPr>
        <p:spPr>
          <a:xfrm>
            <a:off x="838200" y="1214893"/>
            <a:ext cx="7467600" cy="4770537"/>
          </a:xfrm>
          <a:prstGeom prst="rect">
            <a:avLst/>
          </a:prstGeom>
          <a:noFill/>
        </p:spPr>
        <p:txBody>
          <a:bodyPr wrap="square">
            <a:spAutoFit/>
          </a:bodyPr>
          <a:lstStyle/>
          <a:p>
            <a:pPr>
              <a:buFont typeface="Arial" panose="020B0604020202020204" pitchFamily="34" charset="0"/>
              <a:buChar char="•"/>
            </a:pPr>
            <a:r>
              <a:rPr lang="en-US" sz="1600" b="1" dirty="0"/>
              <a:t>Description</a:t>
            </a:r>
            <a:r>
              <a:rPr lang="en-US" sz="1600" dirty="0"/>
              <a:t>:</a:t>
            </a:r>
            <a:br>
              <a:rPr lang="en-US" sz="1600" dirty="0"/>
            </a:br>
            <a:r>
              <a:rPr lang="en-US" sz="1600" dirty="0"/>
              <a:t>The Composite Pattern composes objects into tree-like structures to represent part-whole hierarchies. It allows clients to treat individual objects and compositions uniformly.</a:t>
            </a:r>
          </a:p>
          <a:p>
            <a:pPr>
              <a:buFont typeface="Arial" panose="020B0604020202020204" pitchFamily="34" charset="0"/>
              <a:buChar char="•"/>
            </a:pPr>
            <a:r>
              <a:rPr lang="en-US" sz="1600" b="1" dirty="0"/>
              <a:t>When to Use</a:t>
            </a:r>
            <a:r>
              <a:rPr lang="en-US" sz="1600" dirty="0"/>
              <a:t>:</a:t>
            </a:r>
          </a:p>
          <a:p>
            <a:pPr marL="742950" lvl="1" indent="-285750">
              <a:buFont typeface="Arial" panose="020B0604020202020204" pitchFamily="34" charset="0"/>
              <a:buChar char="•"/>
            </a:pPr>
            <a:r>
              <a:rPr lang="en-US" sz="1600" dirty="0"/>
              <a:t>When you need to represent hierarchies like file systems, organizational structures, or UIs.</a:t>
            </a:r>
          </a:p>
          <a:p>
            <a:pPr marL="742950" lvl="1" indent="-285750">
              <a:buFont typeface="Arial" panose="020B0604020202020204" pitchFamily="34" charset="0"/>
              <a:buChar char="•"/>
            </a:pPr>
            <a:r>
              <a:rPr lang="en-US" sz="1600" dirty="0"/>
              <a:t>When clients need to treat individual and composite objects uniformly.</a:t>
            </a:r>
          </a:p>
          <a:p>
            <a:pPr>
              <a:buFont typeface="Arial" panose="020B0604020202020204" pitchFamily="34" charset="0"/>
              <a:buChar char="•"/>
            </a:pPr>
            <a:r>
              <a:rPr lang="en-US" sz="1600" b="1" dirty="0"/>
              <a:t>Why Use</a:t>
            </a:r>
            <a:r>
              <a:rPr lang="en-US" sz="1600" dirty="0"/>
              <a:t>:</a:t>
            </a:r>
            <a:br>
              <a:rPr lang="en-US" sz="1600" dirty="0"/>
            </a:br>
            <a:r>
              <a:rPr lang="en-US" sz="1600" dirty="0"/>
              <a:t>To make it easier to add new types of components and process them uniformly.</a:t>
            </a:r>
          </a:p>
          <a:p>
            <a:pPr>
              <a:buFont typeface="Arial" panose="020B0604020202020204" pitchFamily="34" charset="0"/>
              <a:buChar char="•"/>
            </a:pPr>
            <a:r>
              <a:rPr lang="en-US" sz="1600" b="1" dirty="0"/>
              <a:t>Scenarios</a:t>
            </a:r>
            <a:r>
              <a:rPr lang="en-US" sz="1600" dirty="0"/>
              <a:t>:</a:t>
            </a:r>
          </a:p>
          <a:p>
            <a:pPr marL="742950" lvl="1" indent="-285750">
              <a:buFont typeface="Arial" panose="020B0604020202020204" pitchFamily="34" charset="0"/>
              <a:buChar char="•"/>
            </a:pPr>
            <a:r>
              <a:rPr lang="en-US" sz="1600" dirty="0"/>
              <a:t>Creating a GUI with nested elements (e.g., windows, panels, buttons).</a:t>
            </a:r>
          </a:p>
          <a:p>
            <a:pPr marL="742950" lvl="1" indent="-285750">
              <a:buFont typeface="Arial" panose="020B0604020202020204" pitchFamily="34" charset="0"/>
              <a:buChar char="•"/>
            </a:pPr>
            <a:r>
              <a:rPr lang="en-US" sz="1600" dirty="0"/>
              <a:t>Managing a hierarchy of organizational roles.</a:t>
            </a:r>
          </a:p>
          <a:p>
            <a:pPr>
              <a:buFont typeface="Arial" panose="020B0604020202020204" pitchFamily="34" charset="0"/>
              <a:buChar char="•"/>
            </a:pPr>
            <a:r>
              <a:rPr lang="en-US" sz="1600" b="1" dirty="0"/>
              <a:t>Pros</a:t>
            </a:r>
            <a:r>
              <a:rPr lang="en-US" sz="1600" dirty="0"/>
              <a:t>:</a:t>
            </a:r>
          </a:p>
          <a:p>
            <a:pPr marL="742950" lvl="1" indent="-285750">
              <a:buFont typeface="Arial" panose="020B0604020202020204" pitchFamily="34" charset="0"/>
              <a:buChar char="•"/>
            </a:pPr>
            <a:r>
              <a:rPr lang="en-US" sz="1600" dirty="0"/>
              <a:t>Simplifies client code by treating composites and leaf objects uniformly.</a:t>
            </a:r>
          </a:p>
          <a:p>
            <a:pPr marL="742950" lvl="1" indent="-285750">
              <a:buFont typeface="Arial" panose="020B0604020202020204" pitchFamily="34" charset="0"/>
              <a:buChar char="•"/>
            </a:pPr>
            <a:r>
              <a:rPr lang="en-US" sz="1600" dirty="0"/>
              <a:t>Makes adding new component types easy.</a:t>
            </a:r>
          </a:p>
          <a:p>
            <a:pPr>
              <a:buFont typeface="Arial" panose="020B0604020202020204" pitchFamily="34" charset="0"/>
              <a:buChar char="•"/>
            </a:pPr>
            <a:r>
              <a:rPr lang="en-US" sz="1600" b="1" dirty="0"/>
              <a:t>Cons</a:t>
            </a:r>
            <a:r>
              <a:rPr lang="en-US" sz="1600" dirty="0"/>
              <a:t>:</a:t>
            </a:r>
          </a:p>
          <a:p>
            <a:pPr marL="742950" lvl="1" indent="-285750">
              <a:buFont typeface="Arial" panose="020B0604020202020204" pitchFamily="34" charset="0"/>
              <a:buChar char="•"/>
            </a:pPr>
            <a:r>
              <a:rPr lang="en-US" sz="1600" dirty="0"/>
              <a:t>Can make the system overly general.</a:t>
            </a:r>
          </a:p>
          <a:p>
            <a:pPr marL="742950" lvl="1" indent="-285750">
              <a:buFont typeface="Arial" panose="020B0604020202020204" pitchFamily="34" charset="0"/>
              <a:buChar char="•"/>
            </a:pPr>
            <a:r>
              <a:rPr lang="en-US" sz="1600" dirty="0"/>
              <a:t>Can be challenging to enforce constraints on the composition.</a:t>
            </a:r>
          </a:p>
        </p:txBody>
      </p:sp>
    </p:spTree>
    <p:extLst>
      <p:ext uri="{BB962C8B-B14F-4D97-AF65-F5344CB8AC3E}">
        <p14:creationId xmlns:p14="http://schemas.microsoft.com/office/powerpoint/2010/main" val="970495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a:t>
            </a:r>
          </a:p>
        </p:txBody>
      </p:sp>
      <p:sp>
        <p:nvSpPr>
          <p:cNvPr id="3" name="Content Placeholder 2"/>
          <p:cNvSpPr>
            <a:spLocks noGrp="1"/>
          </p:cNvSpPr>
          <p:nvPr>
            <p:ph idx="1"/>
          </p:nvPr>
        </p:nvSpPr>
        <p:spPr>
          <a:xfrm>
            <a:off x="457200" y="1371601"/>
            <a:ext cx="8229600" cy="2209799"/>
          </a:xfrm>
        </p:spPr>
        <p:txBody>
          <a:bodyPr/>
          <a:lstStyle/>
          <a:p>
            <a:r>
              <a:rPr lang="en-US" dirty="0"/>
              <a:t>The Facade design pattern is an object structural pattern that provides a </a:t>
            </a:r>
            <a:r>
              <a:rPr lang="en-US" dirty="0">
                <a:highlight>
                  <a:srgbClr val="FFFF00"/>
                </a:highlight>
              </a:rPr>
              <a:t>simplified interface to complex subsystems</a:t>
            </a:r>
            <a:r>
              <a:rPr lang="en-US" dirty="0"/>
              <a:t>.</a:t>
            </a:r>
          </a:p>
          <a:p>
            <a:endParaRPr lang="en-US" dirty="0"/>
          </a:p>
          <a:p>
            <a:r>
              <a:rPr lang="en-US" dirty="0"/>
              <a:t>According to the </a:t>
            </a:r>
            <a:r>
              <a:rPr lang="en-US" dirty="0" err="1"/>
              <a:t>GoF</a:t>
            </a:r>
            <a:r>
              <a:rPr lang="en-US" dirty="0"/>
              <a:t>, the intent of the Facade is to [1]</a:t>
            </a:r>
          </a:p>
          <a:p>
            <a:pPr lvl="1"/>
            <a:r>
              <a:rPr lang="en-US" dirty="0"/>
              <a:t>Provide </a:t>
            </a:r>
            <a:r>
              <a:rPr lang="en-US" dirty="0">
                <a:highlight>
                  <a:srgbClr val="FFFF00"/>
                </a:highlight>
              </a:rPr>
              <a:t>a unified</a:t>
            </a:r>
            <a:r>
              <a:rPr lang="en-US" dirty="0"/>
              <a:t> interface to a set of interfaces in a subsystem.  Facade defines a higher-level interface that makes the subsystem easier to use.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2667000" y="4114800"/>
            <a:ext cx="3657600" cy="12954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grpSp>
        <p:nvGrpSpPr>
          <p:cNvPr id="14" name="Group 13"/>
          <p:cNvGrpSpPr/>
          <p:nvPr/>
        </p:nvGrpSpPr>
        <p:grpSpPr>
          <a:xfrm>
            <a:off x="1524000" y="1143000"/>
            <a:ext cx="6096000" cy="4991100"/>
            <a:chOff x="1524000" y="1295400"/>
            <a:chExt cx="6096000" cy="4991100"/>
          </a:xfrm>
        </p:grpSpPr>
        <p:pic>
          <p:nvPicPr>
            <p:cNvPr id="3074" name="Picture 2"/>
            <p:cNvPicPr>
              <a:picLocks noChangeAspect="1" noChangeArrowheads="1"/>
            </p:cNvPicPr>
            <p:nvPr/>
          </p:nvPicPr>
          <p:blipFill>
            <a:blip r:embed="rId2" cstate="print"/>
            <a:srcRect/>
            <a:stretch>
              <a:fillRect/>
            </a:stretch>
          </p:blipFill>
          <p:spPr bwMode="auto">
            <a:xfrm>
              <a:off x="1600200" y="1295400"/>
              <a:ext cx="6019800" cy="2114550"/>
            </a:xfrm>
            <a:prstGeom prst="rect">
              <a:avLst/>
            </a:prstGeom>
            <a:noFill/>
            <a:ln w="9525">
              <a:noFill/>
              <a:miter lim="800000"/>
              <a:headEnd/>
              <a:tailEnd/>
            </a:ln>
          </p:spPr>
        </p:pic>
        <p:sp>
          <p:nvSpPr>
            <p:cNvPr id="10" name="Rectangle 9"/>
            <p:cNvSpPr/>
            <p:nvPr/>
          </p:nvSpPr>
          <p:spPr>
            <a:xfrm>
              <a:off x="1524000" y="3048000"/>
              <a:ext cx="5867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91400" y="2743200"/>
              <a:ext cx="2286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p:nvPicPr>
          <p:blipFill>
            <a:blip r:embed="rId3" cstate="print"/>
            <a:srcRect/>
            <a:stretch>
              <a:fillRect/>
            </a:stretch>
          </p:blipFill>
          <p:spPr bwMode="auto">
            <a:xfrm>
              <a:off x="2590800" y="3124200"/>
              <a:ext cx="4019550" cy="3162300"/>
            </a:xfrm>
            <a:prstGeom prst="rect">
              <a:avLst/>
            </a:prstGeom>
            <a:noFill/>
            <a:ln w="9525">
              <a:noFill/>
              <a:miter lim="800000"/>
              <a:headEnd/>
              <a:tailEnd/>
            </a:ln>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grpSp>
        <p:nvGrpSpPr>
          <p:cNvPr id="12" name="Group 11"/>
          <p:cNvGrpSpPr/>
          <p:nvPr/>
        </p:nvGrpSpPr>
        <p:grpSpPr>
          <a:xfrm>
            <a:off x="2667000" y="4035623"/>
            <a:ext cx="1143000" cy="484346"/>
            <a:chOff x="3352800" y="5316379"/>
            <a:chExt cx="1143000" cy="484346"/>
          </a:xfrm>
        </p:grpSpPr>
        <p:grpSp>
          <p:nvGrpSpPr>
            <p:cNvPr id="13" name="Group 18"/>
            <p:cNvGrpSpPr/>
            <p:nvPr/>
          </p:nvGrpSpPr>
          <p:grpSpPr>
            <a:xfrm>
              <a:off x="3352800" y="5343525"/>
              <a:ext cx="1143000" cy="457200"/>
              <a:chOff x="3352800" y="5343525"/>
              <a:chExt cx="914400" cy="457200"/>
            </a:xfrm>
          </p:grpSpPr>
          <p:sp>
            <p:nvSpPr>
              <p:cNvPr id="15" name="Rectangle 1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3352800" y="5316379"/>
              <a:ext cx="1143000" cy="246221"/>
            </a:xfrm>
            <a:prstGeom prst="rect">
              <a:avLst/>
            </a:prstGeom>
            <a:noFill/>
          </p:spPr>
          <p:txBody>
            <a:bodyPr wrap="square" rtlCol="0">
              <a:spAutoFit/>
            </a:bodyPr>
            <a:lstStyle/>
            <a:p>
              <a:pPr algn="ctr"/>
              <a:r>
                <a:rPr lang="en-US" sz="1000" dirty="0"/>
                <a:t>SystemManager</a:t>
              </a:r>
            </a:p>
          </p:txBody>
        </p:sp>
      </p:grpSp>
      <p:grpSp>
        <p:nvGrpSpPr>
          <p:cNvPr id="18" name="Group 17"/>
          <p:cNvGrpSpPr/>
          <p:nvPr/>
        </p:nvGrpSpPr>
        <p:grpSpPr>
          <a:xfrm>
            <a:off x="1371600" y="4035623"/>
            <a:ext cx="1143000" cy="484346"/>
            <a:chOff x="3352800" y="5316379"/>
            <a:chExt cx="1143000" cy="484346"/>
          </a:xfrm>
        </p:grpSpPr>
        <p:grpSp>
          <p:nvGrpSpPr>
            <p:cNvPr id="19" name="Group 18"/>
            <p:cNvGrpSpPr/>
            <p:nvPr/>
          </p:nvGrpSpPr>
          <p:grpSpPr>
            <a:xfrm>
              <a:off x="3352800" y="5343525"/>
              <a:ext cx="1143000" cy="457200"/>
              <a:chOff x="3352800" y="5343525"/>
              <a:chExt cx="914400" cy="457200"/>
            </a:xfrm>
          </p:grpSpPr>
          <p:sp>
            <p:nvSpPr>
              <p:cNvPr id="21" name="Rectangle 20"/>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3352800" y="5316379"/>
              <a:ext cx="1143000" cy="246221"/>
            </a:xfrm>
            <a:prstGeom prst="rect">
              <a:avLst/>
            </a:prstGeom>
            <a:noFill/>
          </p:spPr>
          <p:txBody>
            <a:bodyPr wrap="square" rtlCol="0">
              <a:spAutoFit/>
            </a:bodyPr>
            <a:lstStyle/>
            <a:p>
              <a:pPr algn="ctr"/>
              <a:r>
                <a:rPr lang="en-US" sz="1000" dirty="0"/>
                <a:t>SerialComm</a:t>
              </a:r>
            </a:p>
          </p:txBody>
        </p:sp>
      </p:grpSp>
      <p:grpSp>
        <p:nvGrpSpPr>
          <p:cNvPr id="24" name="Group 23"/>
          <p:cNvGrpSpPr/>
          <p:nvPr/>
        </p:nvGrpSpPr>
        <p:grpSpPr>
          <a:xfrm>
            <a:off x="3962400" y="4035623"/>
            <a:ext cx="1143000" cy="484346"/>
            <a:chOff x="3352800" y="5316379"/>
            <a:chExt cx="1143000" cy="484346"/>
          </a:xfrm>
        </p:grpSpPr>
        <p:grpSp>
          <p:nvGrpSpPr>
            <p:cNvPr id="25" name="Group 18"/>
            <p:cNvGrpSpPr/>
            <p:nvPr/>
          </p:nvGrpSpPr>
          <p:grpSpPr>
            <a:xfrm>
              <a:off x="3352800" y="5343525"/>
              <a:ext cx="1143000" cy="457200"/>
              <a:chOff x="3352800" y="5343525"/>
              <a:chExt cx="914400" cy="457200"/>
            </a:xfrm>
          </p:grpSpPr>
          <p:sp>
            <p:nvSpPr>
              <p:cNvPr id="27" name="Rectangle 26"/>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3352800" y="5316379"/>
              <a:ext cx="1143000" cy="246221"/>
            </a:xfrm>
            <a:prstGeom prst="rect">
              <a:avLst/>
            </a:prstGeom>
            <a:noFill/>
          </p:spPr>
          <p:txBody>
            <a:bodyPr wrap="square" rtlCol="0">
              <a:spAutoFit/>
            </a:bodyPr>
            <a:lstStyle/>
            <a:p>
              <a:pPr algn="ctr"/>
              <a:r>
                <a:rPr lang="en-US" sz="1000" dirty="0"/>
                <a:t>FileSystem</a:t>
              </a:r>
            </a:p>
          </p:txBody>
        </p:sp>
      </p:grpSp>
      <p:grpSp>
        <p:nvGrpSpPr>
          <p:cNvPr id="30" name="Group 29"/>
          <p:cNvGrpSpPr/>
          <p:nvPr/>
        </p:nvGrpSpPr>
        <p:grpSpPr>
          <a:xfrm>
            <a:off x="5257800" y="4035623"/>
            <a:ext cx="1143000" cy="484346"/>
            <a:chOff x="3352800" y="5316379"/>
            <a:chExt cx="1143000" cy="484346"/>
          </a:xfrm>
        </p:grpSpPr>
        <p:grpSp>
          <p:nvGrpSpPr>
            <p:cNvPr id="31" name="Group 18"/>
            <p:cNvGrpSpPr/>
            <p:nvPr/>
          </p:nvGrpSpPr>
          <p:grpSpPr>
            <a:xfrm>
              <a:off x="3352800" y="5343525"/>
              <a:ext cx="1143000" cy="457200"/>
              <a:chOff x="3352800" y="5343525"/>
              <a:chExt cx="914400" cy="457200"/>
            </a:xfrm>
          </p:grpSpPr>
          <p:sp>
            <p:nvSpPr>
              <p:cNvPr id="33" name="Rectangle 32"/>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3352800" y="5316379"/>
              <a:ext cx="1143000" cy="246221"/>
            </a:xfrm>
            <a:prstGeom prst="rect">
              <a:avLst/>
            </a:prstGeom>
            <a:noFill/>
          </p:spPr>
          <p:txBody>
            <a:bodyPr wrap="square" rtlCol="0">
              <a:spAutoFit/>
            </a:bodyPr>
            <a:lstStyle/>
            <a:p>
              <a:pPr algn="ctr"/>
              <a:r>
                <a:rPr lang="en-US" sz="1000" dirty="0"/>
                <a:t>DataAnalyzer</a:t>
              </a:r>
            </a:p>
          </p:txBody>
        </p:sp>
      </p:grpSp>
      <p:grpSp>
        <p:nvGrpSpPr>
          <p:cNvPr id="36" name="Group 35"/>
          <p:cNvGrpSpPr/>
          <p:nvPr/>
        </p:nvGrpSpPr>
        <p:grpSpPr>
          <a:xfrm>
            <a:off x="6553200" y="4035623"/>
            <a:ext cx="1143000" cy="484346"/>
            <a:chOff x="3352800" y="5316379"/>
            <a:chExt cx="1143000" cy="484346"/>
          </a:xfrm>
        </p:grpSpPr>
        <p:grpSp>
          <p:nvGrpSpPr>
            <p:cNvPr id="37" name="Group 18"/>
            <p:cNvGrpSpPr/>
            <p:nvPr/>
          </p:nvGrpSpPr>
          <p:grpSpPr>
            <a:xfrm>
              <a:off x="3352800" y="5343525"/>
              <a:ext cx="1143000" cy="457200"/>
              <a:chOff x="3352800" y="5343525"/>
              <a:chExt cx="914400" cy="457200"/>
            </a:xfrm>
          </p:grpSpPr>
          <p:sp>
            <p:nvSpPr>
              <p:cNvPr id="39" name="Rectangle 38"/>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TextBox 37"/>
            <p:cNvSpPr txBox="1"/>
            <p:nvPr/>
          </p:nvSpPr>
          <p:spPr>
            <a:xfrm>
              <a:off x="3352800" y="5316379"/>
              <a:ext cx="1143000" cy="246221"/>
            </a:xfrm>
            <a:prstGeom prst="rect">
              <a:avLst/>
            </a:prstGeom>
            <a:noFill/>
          </p:spPr>
          <p:txBody>
            <a:bodyPr wrap="square" rtlCol="0">
              <a:spAutoFit/>
            </a:bodyPr>
            <a:lstStyle/>
            <a:p>
              <a:pPr algn="ctr"/>
              <a:r>
                <a:rPr lang="en-US" sz="1000" dirty="0"/>
                <a:t>WirelessComm</a:t>
              </a:r>
            </a:p>
          </p:txBody>
        </p:sp>
      </p:grpSp>
      <p:grpSp>
        <p:nvGrpSpPr>
          <p:cNvPr id="42" name="Group 41"/>
          <p:cNvGrpSpPr/>
          <p:nvPr/>
        </p:nvGrpSpPr>
        <p:grpSpPr>
          <a:xfrm>
            <a:off x="2057400" y="2206823"/>
            <a:ext cx="1143000" cy="484346"/>
            <a:chOff x="3352800" y="5316379"/>
            <a:chExt cx="1143000" cy="484346"/>
          </a:xfrm>
        </p:grpSpPr>
        <p:grpSp>
          <p:nvGrpSpPr>
            <p:cNvPr id="43" name="Group 18"/>
            <p:cNvGrpSpPr/>
            <p:nvPr/>
          </p:nvGrpSpPr>
          <p:grpSpPr>
            <a:xfrm>
              <a:off x="3352800" y="5343525"/>
              <a:ext cx="1143000" cy="457200"/>
              <a:chOff x="3352800" y="5343525"/>
              <a:chExt cx="914400" cy="457200"/>
            </a:xfrm>
          </p:grpSpPr>
          <p:sp>
            <p:nvSpPr>
              <p:cNvPr id="45" name="Rectangle 4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3352800" y="5316379"/>
              <a:ext cx="1143000" cy="246221"/>
            </a:xfrm>
            <a:prstGeom prst="rect">
              <a:avLst/>
            </a:prstGeom>
            <a:noFill/>
          </p:spPr>
          <p:txBody>
            <a:bodyPr wrap="square" rtlCol="0">
              <a:spAutoFit/>
            </a:bodyPr>
            <a:lstStyle/>
            <a:p>
              <a:pPr algn="ctr"/>
              <a:r>
                <a:rPr lang="en-US" sz="1000" dirty="0"/>
                <a:t>Client1</a:t>
              </a:r>
            </a:p>
          </p:txBody>
        </p:sp>
      </p:grpSp>
      <p:grpSp>
        <p:nvGrpSpPr>
          <p:cNvPr id="48" name="Group 47"/>
          <p:cNvGrpSpPr/>
          <p:nvPr/>
        </p:nvGrpSpPr>
        <p:grpSpPr>
          <a:xfrm>
            <a:off x="3352800" y="2206823"/>
            <a:ext cx="1143000" cy="484346"/>
            <a:chOff x="3352800" y="5316379"/>
            <a:chExt cx="1143000" cy="484346"/>
          </a:xfrm>
        </p:grpSpPr>
        <p:grpSp>
          <p:nvGrpSpPr>
            <p:cNvPr id="49" name="Group 18"/>
            <p:cNvGrpSpPr/>
            <p:nvPr/>
          </p:nvGrpSpPr>
          <p:grpSpPr>
            <a:xfrm>
              <a:off x="3352800" y="5343525"/>
              <a:ext cx="1143000" cy="457200"/>
              <a:chOff x="3352800" y="5343525"/>
              <a:chExt cx="914400" cy="457200"/>
            </a:xfrm>
          </p:grpSpPr>
          <p:sp>
            <p:nvSpPr>
              <p:cNvPr id="51" name="Rectangle 50"/>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3352800" y="5316379"/>
              <a:ext cx="1143000" cy="246221"/>
            </a:xfrm>
            <a:prstGeom prst="rect">
              <a:avLst/>
            </a:prstGeom>
            <a:noFill/>
          </p:spPr>
          <p:txBody>
            <a:bodyPr wrap="square" rtlCol="0">
              <a:spAutoFit/>
            </a:bodyPr>
            <a:lstStyle/>
            <a:p>
              <a:pPr algn="ctr"/>
              <a:r>
                <a:rPr lang="en-US" sz="1000" dirty="0"/>
                <a:t>Client2</a:t>
              </a:r>
            </a:p>
          </p:txBody>
        </p:sp>
      </p:grpSp>
      <p:grpSp>
        <p:nvGrpSpPr>
          <p:cNvPr id="54" name="Group 53"/>
          <p:cNvGrpSpPr/>
          <p:nvPr/>
        </p:nvGrpSpPr>
        <p:grpSpPr>
          <a:xfrm>
            <a:off x="4648200" y="2206823"/>
            <a:ext cx="1143000" cy="484346"/>
            <a:chOff x="3352800" y="5316379"/>
            <a:chExt cx="1143000" cy="484346"/>
          </a:xfrm>
        </p:grpSpPr>
        <p:grpSp>
          <p:nvGrpSpPr>
            <p:cNvPr id="55" name="Group 18"/>
            <p:cNvGrpSpPr/>
            <p:nvPr/>
          </p:nvGrpSpPr>
          <p:grpSpPr>
            <a:xfrm>
              <a:off x="3352800" y="5343525"/>
              <a:ext cx="1143000" cy="457200"/>
              <a:chOff x="3352800" y="5343525"/>
              <a:chExt cx="914400" cy="457200"/>
            </a:xfrm>
          </p:grpSpPr>
          <p:sp>
            <p:nvSpPr>
              <p:cNvPr id="57" name="Rectangle 56"/>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TextBox 55"/>
            <p:cNvSpPr txBox="1"/>
            <p:nvPr/>
          </p:nvSpPr>
          <p:spPr>
            <a:xfrm>
              <a:off x="3352800" y="5316379"/>
              <a:ext cx="1143000" cy="246221"/>
            </a:xfrm>
            <a:prstGeom prst="rect">
              <a:avLst/>
            </a:prstGeom>
            <a:noFill/>
          </p:spPr>
          <p:txBody>
            <a:bodyPr wrap="square" rtlCol="0">
              <a:spAutoFit/>
            </a:bodyPr>
            <a:lstStyle/>
            <a:p>
              <a:pPr algn="ctr"/>
              <a:r>
                <a:rPr lang="en-US" sz="1000" dirty="0"/>
                <a:t>Client3</a:t>
              </a:r>
            </a:p>
          </p:txBody>
        </p:sp>
      </p:grpSp>
      <p:grpSp>
        <p:nvGrpSpPr>
          <p:cNvPr id="60" name="Group 59"/>
          <p:cNvGrpSpPr/>
          <p:nvPr/>
        </p:nvGrpSpPr>
        <p:grpSpPr>
          <a:xfrm>
            <a:off x="5943600" y="2206823"/>
            <a:ext cx="1143000" cy="484346"/>
            <a:chOff x="3352800" y="5316379"/>
            <a:chExt cx="1143000" cy="484346"/>
          </a:xfrm>
        </p:grpSpPr>
        <p:grpSp>
          <p:nvGrpSpPr>
            <p:cNvPr id="61" name="Group 18"/>
            <p:cNvGrpSpPr/>
            <p:nvPr/>
          </p:nvGrpSpPr>
          <p:grpSpPr>
            <a:xfrm>
              <a:off x="3352800" y="5343525"/>
              <a:ext cx="1143000" cy="457200"/>
              <a:chOff x="3352800" y="5343525"/>
              <a:chExt cx="914400" cy="457200"/>
            </a:xfrm>
          </p:grpSpPr>
          <p:sp>
            <p:nvSpPr>
              <p:cNvPr id="63" name="Rectangle 62"/>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TextBox 61"/>
            <p:cNvSpPr txBox="1"/>
            <p:nvPr/>
          </p:nvSpPr>
          <p:spPr>
            <a:xfrm>
              <a:off x="3352800" y="5316379"/>
              <a:ext cx="1143000" cy="246221"/>
            </a:xfrm>
            <a:prstGeom prst="rect">
              <a:avLst/>
            </a:prstGeom>
            <a:noFill/>
          </p:spPr>
          <p:txBody>
            <a:bodyPr wrap="square" rtlCol="0">
              <a:spAutoFit/>
            </a:bodyPr>
            <a:lstStyle/>
            <a:p>
              <a:pPr algn="ctr"/>
              <a:r>
                <a:rPr lang="en-US" sz="1000" dirty="0"/>
                <a:t>Client4</a:t>
              </a:r>
            </a:p>
          </p:txBody>
        </p:sp>
      </p:grpSp>
      <p:sp>
        <p:nvSpPr>
          <p:cNvPr id="66" name="Rectangle 65"/>
          <p:cNvSpPr/>
          <p:nvPr/>
        </p:nvSpPr>
        <p:spPr>
          <a:xfrm>
            <a:off x="1600200" y="1749623"/>
            <a:ext cx="59436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1143000" y="3807023"/>
            <a:ext cx="67818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a:off x="1143000" y="4645223"/>
            <a:ext cx="6781800" cy="307777"/>
          </a:xfrm>
          <a:prstGeom prst="rect">
            <a:avLst/>
          </a:prstGeom>
          <a:noFill/>
        </p:spPr>
        <p:txBody>
          <a:bodyPr wrap="square" rtlCol="0">
            <a:spAutoFit/>
          </a:bodyPr>
          <a:lstStyle/>
          <a:p>
            <a:pPr algn="ctr"/>
            <a:r>
              <a:rPr lang="en-US" sz="1400" dirty="0"/>
              <a:t>Sensor Subsystem</a:t>
            </a:r>
          </a:p>
        </p:txBody>
      </p:sp>
      <p:sp>
        <p:nvSpPr>
          <p:cNvPr id="69" name="TextBox 68"/>
          <p:cNvSpPr txBox="1"/>
          <p:nvPr/>
        </p:nvSpPr>
        <p:spPr>
          <a:xfrm>
            <a:off x="1600200" y="1749623"/>
            <a:ext cx="5943600" cy="307777"/>
          </a:xfrm>
          <a:prstGeom prst="rect">
            <a:avLst/>
          </a:prstGeom>
          <a:noFill/>
        </p:spPr>
        <p:txBody>
          <a:bodyPr wrap="square" rtlCol="0">
            <a:spAutoFit/>
          </a:bodyPr>
          <a:lstStyle/>
          <a:p>
            <a:pPr algn="ctr"/>
            <a:r>
              <a:rPr lang="en-US" sz="1400" dirty="0"/>
              <a:t>User Interface Subsystem</a:t>
            </a:r>
          </a:p>
        </p:txBody>
      </p:sp>
      <p:cxnSp>
        <p:nvCxnSpPr>
          <p:cNvPr id="71" name="Straight Arrow Connector 70"/>
          <p:cNvCxnSpPr>
            <a:stCxn id="45" idx="2"/>
            <a:endCxn id="20" idx="0"/>
          </p:cNvCxnSpPr>
          <p:nvPr/>
        </p:nvCxnSpPr>
        <p:spPr>
          <a:xfrm flipH="1">
            <a:off x="19431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45" idx="2"/>
            <a:endCxn id="14" idx="0"/>
          </p:cNvCxnSpPr>
          <p:nvPr/>
        </p:nvCxnSpPr>
        <p:spPr>
          <a:xfrm>
            <a:off x="26289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45" idx="2"/>
            <a:endCxn id="26" idx="0"/>
          </p:cNvCxnSpPr>
          <p:nvPr/>
        </p:nvCxnSpPr>
        <p:spPr>
          <a:xfrm>
            <a:off x="26289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45" idx="2"/>
            <a:endCxn id="32" idx="0"/>
          </p:cNvCxnSpPr>
          <p:nvPr/>
        </p:nvCxnSpPr>
        <p:spPr>
          <a:xfrm>
            <a:off x="2628900" y="2691169"/>
            <a:ext cx="32004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45" idx="2"/>
            <a:endCxn id="38" idx="0"/>
          </p:cNvCxnSpPr>
          <p:nvPr/>
        </p:nvCxnSpPr>
        <p:spPr>
          <a:xfrm>
            <a:off x="2628900" y="2691169"/>
            <a:ext cx="449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51" idx="2"/>
            <a:endCxn id="20" idx="0"/>
          </p:cNvCxnSpPr>
          <p:nvPr/>
        </p:nvCxnSpPr>
        <p:spPr>
          <a:xfrm flipH="1">
            <a:off x="1943100" y="2691169"/>
            <a:ext cx="19812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51" idx="2"/>
            <a:endCxn id="14" idx="0"/>
          </p:cNvCxnSpPr>
          <p:nvPr/>
        </p:nvCxnSpPr>
        <p:spPr>
          <a:xfrm flipH="1">
            <a:off x="32385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51" idx="2"/>
            <a:endCxn id="26" idx="0"/>
          </p:cNvCxnSpPr>
          <p:nvPr/>
        </p:nvCxnSpPr>
        <p:spPr>
          <a:xfrm>
            <a:off x="39243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51" idx="2"/>
            <a:endCxn id="32" idx="0"/>
          </p:cNvCxnSpPr>
          <p:nvPr/>
        </p:nvCxnSpPr>
        <p:spPr>
          <a:xfrm>
            <a:off x="39243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 idx="2"/>
            <a:endCxn id="38" idx="0"/>
          </p:cNvCxnSpPr>
          <p:nvPr/>
        </p:nvCxnSpPr>
        <p:spPr>
          <a:xfrm>
            <a:off x="3924300" y="2691169"/>
            <a:ext cx="32004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57" idx="2"/>
            <a:endCxn id="20" idx="0"/>
          </p:cNvCxnSpPr>
          <p:nvPr/>
        </p:nvCxnSpPr>
        <p:spPr>
          <a:xfrm flipH="1">
            <a:off x="1943100" y="2691169"/>
            <a:ext cx="3276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57" idx="2"/>
            <a:endCxn id="14" idx="0"/>
          </p:cNvCxnSpPr>
          <p:nvPr/>
        </p:nvCxnSpPr>
        <p:spPr>
          <a:xfrm flipH="1">
            <a:off x="3238500" y="2691169"/>
            <a:ext cx="19812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57" idx="2"/>
            <a:endCxn id="26" idx="0"/>
          </p:cNvCxnSpPr>
          <p:nvPr/>
        </p:nvCxnSpPr>
        <p:spPr>
          <a:xfrm flipH="1">
            <a:off x="45339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63" idx="2"/>
            <a:endCxn id="32" idx="0"/>
          </p:cNvCxnSpPr>
          <p:nvPr/>
        </p:nvCxnSpPr>
        <p:spPr>
          <a:xfrm flipH="1">
            <a:off x="58293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63" idx="2"/>
            <a:endCxn id="38" idx="0"/>
          </p:cNvCxnSpPr>
          <p:nvPr/>
        </p:nvCxnSpPr>
        <p:spPr>
          <a:xfrm>
            <a:off x="65151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63" idx="2"/>
          </p:cNvCxnSpPr>
          <p:nvPr/>
        </p:nvCxnSpPr>
        <p:spPr>
          <a:xfrm flipH="1">
            <a:off x="4648200" y="2691169"/>
            <a:ext cx="18669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57" idx="2"/>
            <a:endCxn id="38" idx="0"/>
          </p:cNvCxnSpPr>
          <p:nvPr/>
        </p:nvCxnSpPr>
        <p:spPr>
          <a:xfrm>
            <a:off x="52197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57" idx="2"/>
            <a:endCxn id="32" idx="0"/>
          </p:cNvCxnSpPr>
          <p:nvPr/>
        </p:nvCxnSpPr>
        <p:spPr>
          <a:xfrm>
            <a:off x="52197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63" idx="2"/>
            <a:endCxn id="20" idx="0"/>
          </p:cNvCxnSpPr>
          <p:nvPr/>
        </p:nvCxnSpPr>
        <p:spPr>
          <a:xfrm flipH="1">
            <a:off x="1943100" y="2691169"/>
            <a:ext cx="4572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pic>
        <p:nvPicPr>
          <p:cNvPr id="21506" name="Picture 2"/>
          <p:cNvPicPr>
            <a:picLocks noChangeAspect="1" noChangeArrowheads="1"/>
          </p:cNvPicPr>
          <p:nvPr/>
        </p:nvPicPr>
        <p:blipFill>
          <a:blip r:embed="rId2" cstate="print"/>
          <a:srcRect/>
          <a:stretch>
            <a:fillRect/>
          </a:stretch>
        </p:blipFill>
        <p:spPr bwMode="auto">
          <a:xfrm>
            <a:off x="2438400" y="3505200"/>
            <a:ext cx="4610100" cy="2181225"/>
          </a:xfrm>
          <a:prstGeom prst="rect">
            <a:avLst/>
          </a:prstGeom>
          <a:noFill/>
          <a:ln w="9525">
            <a:noFill/>
            <a:miter lim="800000"/>
            <a:headEnd/>
            <a:tailEnd/>
          </a:ln>
        </p:spPr>
      </p:pic>
      <p:grpSp>
        <p:nvGrpSpPr>
          <p:cNvPr id="51" name="Group 41"/>
          <p:cNvGrpSpPr/>
          <p:nvPr/>
        </p:nvGrpSpPr>
        <p:grpSpPr>
          <a:xfrm>
            <a:off x="2133600" y="1905000"/>
            <a:ext cx="1143000" cy="484346"/>
            <a:chOff x="3352800" y="5316379"/>
            <a:chExt cx="1143000" cy="484346"/>
          </a:xfrm>
        </p:grpSpPr>
        <p:grpSp>
          <p:nvGrpSpPr>
            <p:cNvPr id="93" name="Group 18"/>
            <p:cNvGrpSpPr/>
            <p:nvPr/>
          </p:nvGrpSpPr>
          <p:grpSpPr>
            <a:xfrm>
              <a:off x="3352800" y="5343525"/>
              <a:ext cx="1143000" cy="457200"/>
              <a:chOff x="3352800" y="5343525"/>
              <a:chExt cx="914400" cy="457200"/>
            </a:xfrm>
          </p:grpSpPr>
          <p:sp>
            <p:nvSpPr>
              <p:cNvPr id="95" name="Rectangle 4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4" name="TextBox 93"/>
            <p:cNvSpPr txBox="1"/>
            <p:nvPr/>
          </p:nvSpPr>
          <p:spPr>
            <a:xfrm>
              <a:off x="3352800" y="5316379"/>
              <a:ext cx="1143000" cy="246221"/>
            </a:xfrm>
            <a:prstGeom prst="rect">
              <a:avLst/>
            </a:prstGeom>
            <a:noFill/>
          </p:spPr>
          <p:txBody>
            <a:bodyPr wrap="square" rtlCol="0">
              <a:spAutoFit/>
            </a:bodyPr>
            <a:lstStyle/>
            <a:p>
              <a:pPr algn="ctr"/>
              <a:r>
                <a:rPr lang="en-US" sz="1000" dirty="0"/>
                <a:t>Client1</a:t>
              </a:r>
            </a:p>
          </p:txBody>
        </p:sp>
      </p:grpSp>
      <p:grpSp>
        <p:nvGrpSpPr>
          <p:cNvPr id="52" name="Group 47"/>
          <p:cNvGrpSpPr/>
          <p:nvPr/>
        </p:nvGrpSpPr>
        <p:grpSpPr>
          <a:xfrm>
            <a:off x="3429000" y="1905000"/>
            <a:ext cx="1143000" cy="484346"/>
            <a:chOff x="3352800" y="5316379"/>
            <a:chExt cx="1143000" cy="484346"/>
          </a:xfrm>
        </p:grpSpPr>
        <p:grpSp>
          <p:nvGrpSpPr>
            <p:cNvPr id="88" name="Group 18"/>
            <p:cNvGrpSpPr/>
            <p:nvPr/>
          </p:nvGrpSpPr>
          <p:grpSpPr>
            <a:xfrm>
              <a:off x="3352800" y="5343525"/>
              <a:ext cx="1143000" cy="457200"/>
              <a:chOff x="3352800" y="5343525"/>
              <a:chExt cx="914400" cy="457200"/>
            </a:xfrm>
          </p:grpSpPr>
          <p:sp>
            <p:nvSpPr>
              <p:cNvPr id="90" name="Rectangle 89"/>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TextBox 88"/>
            <p:cNvSpPr txBox="1"/>
            <p:nvPr/>
          </p:nvSpPr>
          <p:spPr>
            <a:xfrm>
              <a:off x="3352800" y="5316379"/>
              <a:ext cx="1143000" cy="246221"/>
            </a:xfrm>
            <a:prstGeom prst="rect">
              <a:avLst/>
            </a:prstGeom>
            <a:noFill/>
          </p:spPr>
          <p:txBody>
            <a:bodyPr wrap="square" rtlCol="0">
              <a:spAutoFit/>
            </a:bodyPr>
            <a:lstStyle/>
            <a:p>
              <a:pPr algn="ctr"/>
              <a:r>
                <a:rPr lang="en-US" sz="1000" dirty="0"/>
                <a:t>Client2</a:t>
              </a:r>
            </a:p>
          </p:txBody>
        </p:sp>
      </p:grpSp>
      <p:grpSp>
        <p:nvGrpSpPr>
          <p:cNvPr id="53" name="Group 53"/>
          <p:cNvGrpSpPr/>
          <p:nvPr/>
        </p:nvGrpSpPr>
        <p:grpSpPr>
          <a:xfrm>
            <a:off x="4724400" y="1905000"/>
            <a:ext cx="1143000" cy="484346"/>
            <a:chOff x="3352800" y="5316379"/>
            <a:chExt cx="1143000" cy="484346"/>
          </a:xfrm>
        </p:grpSpPr>
        <p:grpSp>
          <p:nvGrpSpPr>
            <p:cNvPr id="83" name="Group 18"/>
            <p:cNvGrpSpPr/>
            <p:nvPr/>
          </p:nvGrpSpPr>
          <p:grpSpPr>
            <a:xfrm>
              <a:off x="3352800" y="5343525"/>
              <a:ext cx="1143000" cy="457200"/>
              <a:chOff x="3352800" y="5343525"/>
              <a:chExt cx="914400" cy="457200"/>
            </a:xfrm>
          </p:grpSpPr>
          <p:sp>
            <p:nvSpPr>
              <p:cNvPr id="85" name="Rectangle 8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4" name="TextBox 83"/>
            <p:cNvSpPr txBox="1"/>
            <p:nvPr/>
          </p:nvSpPr>
          <p:spPr>
            <a:xfrm>
              <a:off x="3352800" y="5316379"/>
              <a:ext cx="1143000" cy="246221"/>
            </a:xfrm>
            <a:prstGeom prst="rect">
              <a:avLst/>
            </a:prstGeom>
            <a:noFill/>
          </p:spPr>
          <p:txBody>
            <a:bodyPr wrap="square" rtlCol="0">
              <a:spAutoFit/>
            </a:bodyPr>
            <a:lstStyle/>
            <a:p>
              <a:pPr algn="ctr"/>
              <a:r>
                <a:rPr lang="en-US" sz="1000" dirty="0"/>
                <a:t>Client3</a:t>
              </a:r>
            </a:p>
          </p:txBody>
        </p:sp>
      </p:grpSp>
      <p:grpSp>
        <p:nvGrpSpPr>
          <p:cNvPr id="54" name="Group 59"/>
          <p:cNvGrpSpPr/>
          <p:nvPr/>
        </p:nvGrpSpPr>
        <p:grpSpPr>
          <a:xfrm>
            <a:off x="6019800" y="1905000"/>
            <a:ext cx="1143000" cy="484346"/>
            <a:chOff x="3352800" y="5316379"/>
            <a:chExt cx="1143000" cy="484346"/>
          </a:xfrm>
        </p:grpSpPr>
        <p:grpSp>
          <p:nvGrpSpPr>
            <p:cNvPr id="78" name="Group 18"/>
            <p:cNvGrpSpPr/>
            <p:nvPr/>
          </p:nvGrpSpPr>
          <p:grpSpPr>
            <a:xfrm>
              <a:off x="3352800" y="5343525"/>
              <a:ext cx="1143000" cy="457200"/>
              <a:chOff x="3352800" y="5343525"/>
              <a:chExt cx="914400" cy="457200"/>
            </a:xfrm>
          </p:grpSpPr>
          <p:sp>
            <p:nvSpPr>
              <p:cNvPr id="80" name="Rectangle 79"/>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TextBox 78"/>
            <p:cNvSpPr txBox="1"/>
            <p:nvPr/>
          </p:nvSpPr>
          <p:spPr>
            <a:xfrm>
              <a:off x="3352800" y="5316379"/>
              <a:ext cx="1143000" cy="246221"/>
            </a:xfrm>
            <a:prstGeom prst="rect">
              <a:avLst/>
            </a:prstGeom>
            <a:noFill/>
          </p:spPr>
          <p:txBody>
            <a:bodyPr wrap="square" rtlCol="0">
              <a:spAutoFit/>
            </a:bodyPr>
            <a:lstStyle/>
            <a:p>
              <a:pPr algn="ctr"/>
              <a:r>
                <a:rPr lang="en-US" sz="1000" dirty="0"/>
                <a:t>Client4</a:t>
              </a:r>
            </a:p>
          </p:txBody>
        </p:sp>
      </p:grpSp>
      <p:sp>
        <p:nvSpPr>
          <p:cNvPr id="55" name="Rectangle 54"/>
          <p:cNvSpPr/>
          <p:nvPr/>
        </p:nvSpPr>
        <p:spPr>
          <a:xfrm>
            <a:off x="1676400" y="1447800"/>
            <a:ext cx="59436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1676400" y="1447800"/>
            <a:ext cx="5943600" cy="307777"/>
          </a:xfrm>
          <a:prstGeom prst="rect">
            <a:avLst/>
          </a:prstGeom>
          <a:noFill/>
        </p:spPr>
        <p:txBody>
          <a:bodyPr wrap="square" rtlCol="0">
            <a:spAutoFit/>
          </a:bodyPr>
          <a:lstStyle/>
          <a:p>
            <a:pPr algn="ctr"/>
            <a:r>
              <a:rPr lang="en-US" sz="1400" dirty="0"/>
              <a:t>User Interface Subsystem</a:t>
            </a:r>
          </a:p>
        </p:txBody>
      </p:sp>
      <p:sp>
        <p:nvSpPr>
          <p:cNvPr id="123" name="Rectangle 122"/>
          <p:cNvSpPr/>
          <p:nvPr/>
        </p:nvSpPr>
        <p:spPr>
          <a:xfrm>
            <a:off x="2247900" y="3733800"/>
            <a:ext cx="13716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hape 127"/>
          <p:cNvCxnSpPr>
            <a:stCxn id="95" idx="2"/>
            <a:endCxn id="123" idx="3"/>
          </p:cNvCxnSpPr>
          <p:nvPr/>
        </p:nvCxnSpPr>
        <p:spPr>
          <a:xfrm rot="16200000" flipH="1">
            <a:off x="2299573" y="2794873"/>
            <a:ext cx="1725454" cy="914400"/>
          </a:xfrm>
          <a:prstGeom prst="bentConnector4">
            <a:avLst>
              <a:gd name="adj1" fmla="val 38959"/>
              <a:gd name="adj2" fmla="val 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Elbow Connector 130"/>
          <p:cNvCxnSpPr/>
          <p:nvPr/>
        </p:nvCxnSpPr>
        <p:spPr>
          <a:xfrm rot="16200000" flipH="1">
            <a:off x="3599736" y="2791539"/>
            <a:ext cx="1087279" cy="361950"/>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4" name="Elbow Connector 133"/>
          <p:cNvCxnSpPr>
            <a:stCxn id="85" idx="2"/>
            <a:endCxn id="21506" idx="0"/>
          </p:cNvCxnSpPr>
          <p:nvPr/>
        </p:nvCxnSpPr>
        <p:spPr>
          <a:xfrm rot="5400000">
            <a:off x="4461748" y="2671048"/>
            <a:ext cx="1115854" cy="552450"/>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6" name="Rectangle 145"/>
          <p:cNvSpPr/>
          <p:nvPr/>
        </p:nvSpPr>
        <p:spPr>
          <a:xfrm>
            <a:off x="5791200" y="3505200"/>
            <a:ext cx="15240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8" name="Shape 147"/>
          <p:cNvCxnSpPr>
            <a:stCxn id="80" idx="2"/>
            <a:endCxn id="146" idx="1"/>
          </p:cNvCxnSpPr>
          <p:nvPr/>
        </p:nvCxnSpPr>
        <p:spPr>
          <a:xfrm rot="5400000">
            <a:off x="5385673" y="2794873"/>
            <a:ext cx="1611154" cy="800100"/>
          </a:xfrm>
          <a:prstGeom prst="bentConnector4">
            <a:avLst>
              <a:gd name="adj1" fmla="val 34629"/>
              <a:gd name="adj2" fmla="val 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0" name="TextBox 149"/>
          <p:cNvSpPr txBox="1"/>
          <p:nvPr/>
        </p:nvSpPr>
        <p:spPr>
          <a:xfrm>
            <a:off x="6629400" y="4267200"/>
            <a:ext cx="1767364"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The Façade display / </a:t>
            </a:r>
            <a:r>
              <a:rPr lang="en-US" sz="1200" b="1" dirty="0">
                <a:solidFill>
                  <a:srgbClr val="C00000"/>
                </a:solidFill>
                <a:highlight>
                  <a:srgbClr val="FFFF00"/>
                </a:highlight>
                <a:latin typeface="Bradley Hand ITC" pitchFamily="66" charset="0"/>
              </a:rPr>
              <a:t>link clients </a:t>
            </a:r>
            <a:r>
              <a:rPr lang="en-US" sz="1200" b="1" dirty="0">
                <a:solidFill>
                  <a:srgbClr val="C00000"/>
                </a:solidFill>
                <a:latin typeface="Bradley Hand ITC" pitchFamily="66" charset="0"/>
              </a:rPr>
              <a:t>with multiple sub-system</a:t>
            </a:r>
          </a:p>
        </p:txBody>
      </p:sp>
      <p:sp>
        <p:nvSpPr>
          <p:cNvPr id="151" name="Freeform 150"/>
          <p:cNvSpPr/>
          <p:nvPr/>
        </p:nvSpPr>
        <p:spPr>
          <a:xfrm>
            <a:off x="5848350" y="4495800"/>
            <a:ext cx="1114425" cy="125412"/>
          </a:xfrm>
          <a:custGeom>
            <a:avLst/>
            <a:gdLst>
              <a:gd name="connsiteX0" fmla="*/ 1114425 w 1114425"/>
              <a:gd name="connsiteY0" fmla="*/ 9525 h 125412"/>
              <a:gd name="connsiteX1" fmla="*/ 485775 w 1114425"/>
              <a:gd name="connsiteY1" fmla="*/ 123825 h 125412"/>
              <a:gd name="connsiteX2" fmla="*/ 0 w 1114425"/>
              <a:gd name="connsiteY2" fmla="*/ 0 h 125412"/>
            </a:gdLst>
            <a:ahLst/>
            <a:cxnLst>
              <a:cxn ang="0">
                <a:pos x="connsiteX0" y="connsiteY0"/>
              </a:cxn>
              <a:cxn ang="0">
                <a:pos x="connsiteX1" y="connsiteY1"/>
              </a:cxn>
              <a:cxn ang="0">
                <a:pos x="connsiteX2" y="connsiteY2"/>
              </a:cxn>
            </a:cxnLst>
            <a:rect l="l" t="t" r="r" b="b"/>
            <a:pathLst>
              <a:path w="1114425" h="125412">
                <a:moveTo>
                  <a:pt x="1114425" y="9525"/>
                </a:moveTo>
                <a:cubicBezTo>
                  <a:pt x="892968" y="67468"/>
                  <a:pt x="671512" y="125412"/>
                  <a:pt x="485775" y="123825"/>
                </a:cubicBezTo>
                <a:cubicBezTo>
                  <a:pt x="300038" y="122238"/>
                  <a:pt x="150019" y="6111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ectangle 2">
            <a:extLst>
              <a:ext uri="{FF2B5EF4-FFF2-40B4-BE49-F238E27FC236}">
                <a16:creationId xmlns:a16="http://schemas.microsoft.com/office/drawing/2014/main" id="{3E789BA2-A76B-81F1-2104-F670B785F194}"/>
              </a:ext>
            </a:extLst>
          </p:cNvPr>
          <p:cNvSpPr/>
          <p:nvPr/>
        </p:nvSpPr>
        <p:spPr>
          <a:xfrm>
            <a:off x="679704" y="5206206"/>
            <a:ext cx="1551432" cy="4079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FF0000"/>
                </a:solidFill>
              </a:rPr>
              <a:t>NewSensor</a:t>
            </a:r>
            <a:endParaRPr lang="en-MY" dirty="0">
              <a:solidFill>
                <a:srgbClr val="FF0000"/>
              </a:solidFill>
            </a:endParaRPr>
          </a:p>
        </p:txBody>
      </p:sp>
      <p:cxnSp>
        <p:nvCxnSpPr>
          <p:cNvPr id="8" name="Connector: Elbow 7">
            <a:extLst>
              <a:ext uri="{FF2B5EF4-FFF2-40B4-BE49-F238E27FC236}">
                <a16:creationId xmlns:a16="http://schemas.microsoft.com/office/drawing/2014/main" id="{5B7F2861-D77C-1C4D-8143-3209A07EC03A}"/>
              </a:ext>
            </a:extLst>
          </p:cNvPr>
          <p:cNvCxnSpPr>
            <a:endCxn id="3" idx="0"/>
          </p:cNvCxnSpPr>
          <p:nvPr/>
        </p:nvCxnSpPr>
        <p:spPr>
          <a:xfrm rot="10800000" flipV="1">
            <a:off x="1455420" y="4554538"/>
            <a:ext cx="2164080" cy="6516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FE7BFCB-86CF-E2CC-0F8D-BFABD660AEF4}"/>
              </a:ext>
            </a:extLst>
          </p:cNvPr>
          <p:cNvSpPr txBox="1"/>
          <p:nvPr/>
        </p:nvSpPr>
        <p:spPr>
          <a:xfrm>
            <a:off x="1179195" y="4318813"/>
            <a:ext cx="12192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Adapter</a:t>
            </a:r>
          </a:p>
        </p:txBody>
      </p:sp>
      <p:sp>
        <p:nvSpPr>
          <p:cNvPr id="10" name="Rectangle 9">
            <a:extLst>
              <a:ext uri="{FF2B5EF4-FFF2-40B4-BE49-F238E27FC236}">
                <a16:creationId xmlns:a16="http://schemas.microsoft.com/office/drawing/2014/main" id="{E5DD6B75-30FF-D3B5-600C-8E08443CCDF1}"/>
              </a:ext>
            </a:extLst>
          </p:cNvPr>
          <p:cNvSpPr/>
          <p:nvPr/>
        </p:nvSpPr>
        <p:spPr>
          <a:xfrm>
            <a:off x="-152400" y="2947273"/>
            <a:ext cx="2319721" cy="4079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rPr>
              <a:t>+</a:t>
            </a:r>
            <a:r>
              <a:rPr lang="en-US" dirty="0" err="1">
                <a:solidFill>
                  <a:srgbClr val="FF0000"/>
                </a:solidFill>
              </a:rPr>
              <a:t>displaysensorlist</a:t>
            </a:r>
            <a:r>
              <a:rPr lang="en-US" dirty="0">
                <a:solidFill>
                  <a:srgbClr val="FF0000"/>
                </a:solidFill>
              </a:rPr>
              <a:t>()</a:t>
            </a:r>
            <a:endParaRPr lang="en-MY" dirty="0">
              <a:solidFill>
                <a:srgbClr val="FF0000"/>
              </a:solidFill>
            </a:endParaRPr>
          </a:p>
        </p:txBody>
      </p:sp>
      <p:cxnSp>
        <p:nvCxnSpPr>
          <p:cNvPr id="12" name="Connector: Elbow 11">
            <a:extLst>
              <a:ext uri="{FF2B5EF4-FFF2-40B4-BE49-F238E27FC236}">
                <a16:creationId xmlns:a16="http://schemas.microsoft.com/office/drawing/2014/main" id="{563D73F0-7F18-3B4B-F18E-7B34DBC42CF5}"/>
              </a:ext>
            </a:extLst>
          </p:cNvPr>
          <p:cNvCxnSpPr>
            <a:cxnSpLocks/>
            <a:stCxn id="10" idx="3"/>
          </p:cNvCxnSpPr>
          <p:nvPr/>
        </p:nvCxnSpPr>
        <p:spPr>
          <a:xfrm>
            <a:off x="2167321" y="3151267"/>
            <a:ext cx="1440177" cy="67619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C38398A-03B6-4881-904D-6F994F326974}"/>
              </a:ext>
            </a:extLst>
          </p:cNvPr>
          <p:cNvSpPr txBox="1"/>
          <p:nvPr/>
        </p:nvSpPr>
        <p:spPr>
          <a:xfrm>
            <a:off x="2517647" y="3013849"/>
            <a:ext cx="1219200" cy="276999"/>
          </a:xfrm>
          <a:prstGeom prst="rect">
            <a:avLst/>
          </a:prstGeom>
          <a:noFill/>
        </p:spPr>
        <p:txBody>
          <a:bodyPr wrap="square" rtlCol="0">
            <a:spAutoFit/>
          </a:bodyPr>
          <a:lstStyle/>
          <a:p>
            <a:pPr algn="ctr"/>
            <a:r>
              <a:rPr lang="en-US" sz="1200" b="1" dirty="0">
                <a:solidFill>
                  <a:srgbClr val="C00000"/>
                </a:solidFill>
                <a:latin typeface="Bradley Hand ITC" pitchFamily="66" charset="0"/>
              </a:rPr>
              <a:t>The Composite</a:t>
            </a:r>
          </a:p>
        </p:txBody>
      </p:sp>
      <p:sp>
        <p:nvSpPr>
          <p:cNvPr id="19" name="Oval 18">
            <a:extLst>
              <a:ext uri="{FF2B5EF4-FFF2-40B4-BE49-F238E27FC236}">
                <a16:creationId xmlns:a16="http://schemas.microsoft.com/office/drawing/2014/main" id="{0B934217-C3A4-551F-89A8-DD91A7D0E022}"/>
              </a:ext>
            </a:extLst>
          </p:cNvPr>
          <p:cNvSpPr/>
          <p:nvPr/>
        </p:nvSpPr>
        <p:spPr>
          <a:xfrm>
            <a:off x="3276600" y="5206206"/>
            <a:ext cx="1087756" cy="662007"/>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MY"/>
          </a:p>
        </p:txBody>
      </p:sp>
      <p:sp>
        <p:nvSpPr>
          <p:cNvPr id="22" name="Oval 21">
            <a:extLst>
              <a:ext uri="{FF2B5EF4-FFF2-40B4-BE49-F238E27FC236}">
                <a16:creationId xmlns:a16="http://schemas.microsoft.com/office/drawing/2014/main" id="{2D71CD20-C86D-EBF0-CE4D-B7086DA832E5}"/>
              </a:ext>
            </a:extLst>
          </p:cNvPr>
          <p:cNvSpPr/>
          <p:nvPr/>
        </p:nvSpPr>
        <p:spPr>
          <a:xfrm>
            <a:off x="4199572" y="5206205"/>
            <a:ext cx="1087756" cy="662007"/>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MY"/>
          </a:p>
        </p:txBody>
      </p:sp>
      <p:sp>
        <p:nvSpPr>
          <p:cNvPr id="23" name="Oval 22">
            <a:extLst>
              <a:ext uri="{FF2B5EF4-FFF2-40B4-BE49-F238E27FC236}">
                <a16:creationId xmlns:a16="http://schemas.microsoft.com/office/drawing/2014/main" id="{F3AB06D8-10E2-343B-00AC-6345C02E3E47}"/>
              </a:ext>
            </a:extLst>
          </p:cNvPr>
          <p:cNvSpPr/>
          <p:nvPr/>
        </p:nvSpPr>
        <p:spPr>
          <a:xfrm>
            <a:off x="5080158" y="5214947"/>
            <a:ext cx="1087756" cy="662007"/>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MY"/>
          </a:p>
        </p:txBody>
      </p:sp>
      <p:sp>
        <p:nvSpPr>
          <p:cNvPr id="24" name="TextBox 23">
            <a:extLst>
              <a:ext uri="{FF2B5EF4-FFF2-40B4-BE49-F238E27FC236}">
                <a16:creationId xmlns:a16="http://schemas.microsoft.com/office/drawing/2014/main" id="{B1CA5525-DCB1-1F92-E10F-980EC60B0166}"/>
              </a:ext>
            </a:extLst>
          </p:cNvPr>
          <p:cNvSpPr txBox="1"/>
          <p:nvPr/>
        </p:nvSpPr>
        <p:spPr>
          <a:xfrm>
            <a:off x="6641068" y="3029634"/>
            <a:ext cx="1767364" cy="646331"/>
          </a:xfrm>
          <a:prstGeom prst="rect">
            <a:avLst/>
          </a:prstGeom>
          <a:noFill/>
        </p:spPr>
        <p:txBody>
          <a:bodyPr wrap="square" rtlCol="0">
            <a:spAutoFit/>
          </a:bodyPr>
          <a:lstStyle/>
          <a:p>
            <a:pPr algn="ctr"/>
            <a:r>
              <a:rPr lang="en-US" sz="1200" b="1" dirty="0">
                <a:solidFill>
                  <a:srgbClr val="C00000"/>
                </a:solidFill>
                <a:latin typeface="Bradley Hand ITC" pitchFamily="66" charset="0"/>
              </a:rPr>
              <a:t>The Observer update the new data displayed of multiple sub-system</a:t>
            </a:r>
          </a:p>
        </p:txBody>
      </p:sp>
      <p:cxnSp>
        <p:nvCxnSpPr>
          <p:cNvPr id="26" name="Straight Arrow Connector 25">
            <a:extLst>
              <a:ext uri="{FF2B5EF4-FFF2-40B4-BE49-F238E27FC236}">
                <a16:creationId xmlns:a16="http://schemas.microsoft.com/office/drawing/2014/main" id="{7E5B8930-9AC9-8438-4084-9395452754CC}"/>
              </a:ext>
            </a:extLst>
          </p:cNvPr>
          <p:cNvCxnSpPr>
            <a:stCxn id="24" idx="1"/>
          </p:cNvCxnSpPr>
          <p:nvPr/>
        </p:nvCxnSpPr>
        <p:spPr>
          <a:xfrm flipH="1">
            <a:off x="5848350" y="3352800"/>
            <a:ext cx="792718" cy="32316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92162"/>
          </a:xfrm>
        </p:spPr>
        <p:txBody>
          <a:bodyPr/>
          <a:lstStyle/>
          <a:p>
            <a:r>
              <a:rPr lang="en-US" dirty="0"/>
              <a:t>Facade Design Pattern Example</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2743200" y="1143000"/>
            <a:ext cx="5219700" cy="5219700"/>
          </a:xfrm>
          <a:prstGeom prst="rect">
            <a:avLst/>
          </a:prstGeom>
          <a:noFill/>
          <a:ln w="9525">
            <a:noFill/>
            <a:miter lim="800000"/>
            <a:headEnd/>
            <a:tailEnd/>
          </a:ln>
        </p:spPr>
      </p:pic>
      <p:sp>
        <p:nvSpPr>
          <p:cNvPr id="7" name="TextBox 6"/>
          <p:cNvSpPr txBox="1"/>
          <p:nvPr/>
        </p:nvSpPr>
        <p:spPr>
          <a:xfrm>
            <a:off x="457200" y="3200400"/>
            <a:ext cx="2133600" cy="830997"/>
          </a:xfrm>
          <a:prstGeom prst="rect">
            <a:avLst/>
          </a:prstGeom>
          <a:noFill/>
        </p:spPr>
        <p:txBody>
          <a:bodyPr wrap="square" rtlCol="0">
            <a:spAutoFit/>
          </a:bodyPr>
          <a:lstStyle/>
          <a:p>
            <a:pPr algn="ctr"/>
            <a:r>
              <a:rPr lang="en-US" sz="1200" b="1" dirty="0">
                <a:solidFill>
                  <a:srgbClr val="C00000"/>
                </a:solidFill>
                <a:latin typeface="Bradley Hand ITC" pitchFamily="66" charset="0"/>
              </a:rPr>
              <a:t>The Façade hides all of these details and dependencies from clients, therefore simplifying the client side.</a:t>
            </a:r>
          </a:p>
        </p:txBody>
      </p:sp>
      <p:sp>
        <p:nvSpPr>
          <p:cNvPr id="9" name="Left Brace 8"/>
          <p:cNvSpPr/>
          <p:nvPr/>
        </p:nvSpPr>
        <p:spPr>
          <a:xfrm>
            <a:off x="2590800" y="1447800"/>
            <a:ext cx="304800" cy="4648200"/>
          </a:xfrm>
          <a:prstGeom prst="leftBrace">
            <a:avLst/>
          </a:prstGeom>
          <a:solidFill>
            <a:schemeClr val="bg1"/>
          </a:solidFill>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a:t>
            </a:r>
          </a:p>
        </p:txBody>
      </p:sp>
      <p:sp>
        <p:nvSpPr>
          <p:cNvPr id="3" name="Content Placeholder 2"/>
          <p:cNvSpPr>
            <a:spLocks noGrp="1"/>
          </p:cNvSpPr>
          <p:nvPr>
            <p:ph idx="1"/>
          </p:nvPr>
        </p:nvSpPr>
        <p:spPr>
          <a:xfrm>
            <a:off x="457200" y="1371601"/>
            <a:ext cx="8229600" cy="5181599"/>
          </a:xfrm>
        </p:spPr>
        <p:txBody>
          <a:bodyPr>
            <a:normAutofit fontScale="85000" lnSpcReduction="10000"/>
          </a:bodyPr>
          <a:lstStyle/>
          <a:p>
            <a:r>
              <a:rPr lang="en-US" dirty="0"/>
              <a:t>The step-by-step procedure for applying the Facade design pattern include:</a:t>
            </a:r>
          </a:p>
          <a:p>
            <a:pPr marL="800100" lvl="1" indent="-342900">
              <a:buFont typeface="+mj-lt"/>
              <a:buAutoNum type="arabicPeriod"/>
            </a:pPr>
            <a:r>
              <a:rPr lang="en-US" dirty="0"/>
              <a:t>Identify all components involved in carrying out a subsystem operation</a:t>
            </a:r>
          </a:p>
          <a:p>
            <a:pPr marL="800100" lvl="1" indent="-342900">
              <a:buFont typeface="+mj-lt"/>
              <a:buAutoNum type="arabicPeriod"/>
            </a:pPr>
            <a:r>
              <a:rPr lang="en-US" dirty="0"/>
              <a:t>Create an ordered list of the operations required to execute the subsystem operation.</a:t>
            </a:r>
          </a:p>
          <a:p>
            <a:pPr marL="800100" lvl="1" indent="-342900">
              <a:buFont typeface="+mj-lt"/>
              <a:buAutoNum type="arabicPeriod"/>
            </a:pPr>
            <a:r>
              <a:rPr lang="en-US" dirty="0"/>
              <a:t>Design a Facade class that includes an interface method to carry out the subsystem operation.  The Facade class has dependencies to all other subsystem components required to carry out the subsystem operation.</a:t>
            </a:r>
          </a:p>
          <a:p>
            <a:pPr marL="800100" lvl="1" indent="-342900">
              <a:buFont typeface="+mj-lt"/>
              <a:buAutoNum type="arabicPeriod"/>
            </a:pPr>
            <a:r>
              <a:rPr lang="en-US" dirty="0"/>
              <a:t>Implement the Facade interface method by calling operations on one or more subsystem components, in the order identified in step 2.</a:t>
            </a:r>
          </a:p>
          <a:p>
            <a:pPr marL="800100" lvl="1" indent="-342900">
              <a:buFont typeface="+mj-lt"/>
              <a:buAutoNum type="arabicPeriod"/>
            </a:pPr>
            <a:r>
              <a:rPr lang="en-US" dirty="0"/>
              <a:t>Allow one ore more clients to access the objects of the Facade type so that they can gain access to the subsystem operation.  This creates a many-to-one relationship between external subsystems and the Facade interface, instead of many-to-many relationships.</a:t>
            </a:r>
          </a:p>
          <a:p>
            <a:endParaRPr lang="en-US" dirty="0"/>
          </a:p>
          <a:p>
            <a:r>
              <a:rPr lang="en-US" dirty="0"/>
              <a:t>Benefits of the Facade design pattern include:</a:t>
            </a:r>
          </a:p>
          <a:p>
            <a:pPr lvl="1"/>
            <a:r>
              <a:rPr lang="en-US" dirty="0">
                <a:highlight>
                  <a:srgbClr val="FFFF00"/>
                </a:highlight>
              </a:rPr>
              <a:t>Shields clients from knowing the internals </a:t>
            </a:r>
            <a:r>
              <a:rPr lang="en-US" dirty="0"/>
              <a:t>of complex subsystem, therefore minimizing complexity in clients.</a:t>
            </a:r>
          </a:p>
          <a:p>
            <a:pPr lvl="1"/>
            <a:r>
              <a:rPr lang="en-US" dirty="0"/>
              <a:t>Since the internals of the subsystem are prone to change, the facade provides </a:t>
            </a:r>
            <a:r>
              <a:rPr lang="en-US" dirty="0">
                <a:highlight>
                  <a:srgbClr val="FFFF00"/>
                </a:highlight>
              </a:rPr>
              <a:t>a stable interface that hides changes to internal subsystems; therefore, client code is more stable</a:t>
            </a:r>
            <a:r>
              <a:rPr lang="en-US" dirty="0"/>
              <a:t>.</a:t>
            </a:r>
          </a:p>
          <a:p>
            <a:pPr lvl="1"/>
            <a:r>
              <a:rPr lang="en-US" dirty="0"/>
              <a:t>Promotes weak coupling on clients; with facade, clients depend only on one interface instead of multiple interfaces.</a:t>
            </a:r>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Facade Design Pattern</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10" name="TextBox 9">
            <a:extLst>
              <a:ext uri="{FF2B5EF4-FFF2-40B4-BE49-F238E27FC236}">
                <a16:creationId xmlns:a16="http://schemas.microsoft.com/office/drawing/2014/main" id="{49F5F7B9-5394-C915-BAEB-F49BF2763F67}"/>
              </a:ext>
            </a:extLst>
          </p:cNvPr>
          <p:cNvSpPr txBox="1"/>
          <p:nvPr/>
        </p:nvSpPr>
        <p:spPr>
          <a:xfrm>
            <a:off x="451104" y="1219200"/>
            <a:ext cx="8839200" cy="5078313"/>
          </a:xfrm>
          <a:prstGeom prst="rect">
            <a:avLst/>
          </a:prstGeom>
          <a:noFill/>
        </p:spPr>
        <p:txBody>
          <a:bodyPr wrap="square">
            <a:spAutoFit/>
          </a:bodyPr>
          <a:lstStyle/>
          <a:p>
            <a:pPr>
              <a:buFont typeface="Arial" panose="020B0604020202020204" pitchFamily="34" charset="0"/>
              <a:buChar char="•"/>
            </a:pPr>
            <a:r>
              <a:rPr lang="en-US" b="1" dirty="0"/>
              <a:t>Description</a:t>
            </a:r>
            <a:r>
              <a:rPr lang="en-US" dirty="0"/>
              <a:t>:</a:t>
            </a:r>
            <a:br>
              <a:rPr lang="en-US" dirty="0"/>
            </a:br>
            <a:r>
              <a:rPr lang="en-US" dirty="0"/>
              <a:t>The Facade Pattern provides a simplified interface to a complex subsystem by hiding its complexity.</a:t>
            </a:r>
          </a:p>
          <a:p>
            <a:pPr>
              <a:buFont typeface="Arial" panose="020B0604020202020204" pitchFamily="34" charset="0"/>
              <a:buChar char="•"/>
            </a:pPr>
            <a:r>
              <a:rPr lang="en-US" b="1" dirty="0"/>
              <a:t>When to Use</a:t>
            </a:r>
            <a:r>
              <a:rPr lang="en-US" dirty="0"/>
              <a:t>:</a:t>
            </a:r>
          </a:p>
          <a:p>
            <a:pPr marL="742950" lvl="1" indent="-285750">
              <a:buFont typeface="Arial" panose="020B0604020202020204" pitchFamily="34" charset="0"/>
              <a:buChar char="•"/>
            </a:pPr>
            <a:r>
              <a:rPr lang="en-US" dirty="0"/>
              <a:t>When a system is complex, and you need to provide a simpler interface for clients.</a:t>
            </a:r>
          </a:p>
          <a:p>
            <a:pPr marL="742950" lvl="1" indent="-285750">
              <a:buFont typeface="Arial" panose="020B0604020202020204" pitchFamily="34" charset="0"/>
              <a:buChar char="•"/>
            </a:pPr>
            <a:r>
              <a:rPr lang="en-US" dirty="0"/>
              <a:t>To decouple subsystems from the client code.</a:t>
            </a:r>
          </a:p>
          <a:p>
            <a:pPr>
              <a:buFont typeface="Arial" panose="020B0604020202020204" pitchFamily="34" charset="0"/>
              <a:buChar char="•"/>
            </a:pPr>
            <a:r>
              <a:rPr lang="en-US" b="1" dirty="0"/>
              <a:t>Why Use</a:t>
            </a:r>
            <a:r>
              <a:rPr lang="en-US" dirty="0"/>
              <a:t>:</a:t>
            </a:r>
            <a:br>
              <a:rPr lang="en-US" dirty="0"/>
            </a:br>
            <a:r>
              <a:rPr lang="en-US" dirty="0"/>
              <a:t>To reduce the learning curve and dependency for clients interacting with complex subsystems.</a:t>
            </a:r>
          </a:p>
          <a:p>
            <a:pPr>
              <a:buFont typeface="Arial" panose="020B0604020202020204" pitchFamily="34" charset="0"/>
              <a:buChar char="•"/>
            </a:pPr>
            <a:r>
              <a:rPr lang="en-US" b="1" dirty="0"/>
              <a:t>Scenarios</a:t>
            </a:r>
            <a:r>
              <a:rPr lang="en-US" dirty="0"/>
              <a:t>:</a:t>
            </a:r>
          </a:p>
          <a:p>
            <a:pPr marL="742950" lvl="1" indent="-285750">
              <a:buFont typeface="Arial" panose="020B0604020202020204" pitchFamily="34" charset="0"/>
              <a:buChar char="•"/>
            </a:pPr>
            <a:r>
              <a:rPr lang="en-US" dirty="0"/>
              <a:t>Simplifying database access layers.</a:t>
            </a:r>
          </a:p>
          <a:p>
            <a:pPr marL="742950" lvl="1" indent="-285750">
              <a:buFont typeface="Arial" panose="020B0604020202020204" pitchFamily="34" charset="0"/>
              <a:buChar char="•"/>
            </a:pPr>
            <a:r>
              <a:rPr lang="en-US" dirty="0"/>
              <a:t>Providing a unified API for multiple libraries or services.</a:t>
            </a:r>
          </a:p>
          <a:p>
            <a:pPr>
              <a:buFont typeface="Arial" panose="020B0604020202020204" pitchFamily="34" charset="0"/>
              <a:buChar char="•"/>
            </a:pPr>
            <a:r>
              <a:rPr lang="en-US" b="1" dirty="0"/>
              <a:t>Pros</a:t>
            </a:r>
            <a:r>
              <a:rPr lang="en-US" dirty="0"/>
              <a:t>:</a:t>
            </a:r>
          </a:p>
          <a:p>
            <a:pPr marL="742950" lvl="1" indent="-285750">
              <a:buFont typeface="Arial" panose="020B0604020202020204" pitchFamily="34" charset="0"/>
              <a:buChar char="•"/>
            </a:pPr>
            <a:r>
              <a:rPr lang="en-US" dirty="0"/>
              <a:t>Reduces complexity for clients.</a:t>
            </a:r>
          </a:p>
          <a:p>
            <a:pPr marL="742950" lvl="1" indent="-285750">
              <a:buFont typeface="Arial" panose="020B0604020202020204" pitchFamily="34" charset="0"/>
              <a:buChar char="•"/>
            </a:pPr>
            <a:r>
              <a:rPr lang="en-US" dirty="0"/>
              <a:t>Decouples subsystems from higher-level code.</a:t>
            </a:r>
          </a:p>
          <a:p>
            <a:pPr>
              <a:buFont typeface="Arial" panose="020B0604020202020204" pitchFamily="34" charset="0"/>
              <a:buChar char="•"/>
            </a:pPr>
            <a:r>
              <a:rPr lang="en-US" b="1" dirty="0"/>
              <a:t>Cons</a:t>
            </a:r>
            <a:r>
              <a:rPr lang="en-US" dirty="0"/>
              <a:t>:</a:t>
            </a:r>
          </a:p>
          <a:p>
            <a:pPr marL="742950" lvl="1" indent="-285750">
              <a:buFont typeface="Arial" panose="020B0604020202020204" pitchFamily="34" charset="0"/>
              <a:buChar char="•"/>
            </a:pPr>
            <a:r>
              <a:rPr lang="en-US" dirty="0"/>
              <a:t>May become a "god object" if not carefully designed.</a:t>
            </a:r>
          </a:p>
          <a:p>
            <a:pPr marL="742950" lvl="1" indent="-285750">
              <a:buFont typeface="Arial" panose="020B0604020202020204" pitchFamily="34" charset="0"/>
              <a:buChar char="•"/>
            </a:pPr>
            <a:r>
              <a:rPr lang="en-US" dirty="0"/>
              <a:t>Adds an additional layer of abstraction.</a:t>
            </a:r>
          </a:p>
        </p:txBody>
      </p:sp>
    </p:spTree>
    <p:extLst>
      <p:ext uri="{BB962C8B-B14F-4D97-AF65-F5344CB8AC3E}">
        <p14:creationId xmlns:p14="http://schemas.microsoft.com/office/powerpoint/2010/main" val="367677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496D-1002-638F-9C1D-CE4CEEAD8E33}"/>
              </a:ext>
            </a:extLst>
          </p:cNvPr>
          <p:cNvSpPr>
            <a:spLocks noGrp="1"/>
          </p:cNvSpPr>
          <p:nvPr>
            <p:ph type="title"/>
          </p:nvPr>
        </p:nvSpPr>
        <p:spPr/>
        <p:txBody>
          <a:bodyPr/>
          <a:lstStyle/>
          <a:p>
            <a:r>
              <a:rPr lang="en-US" dirty="0"/>
              <a:t>Summary</a:t>
            </a:r>
            <a:endParaRPr lang="en-MY" dirty="0"/>
          </a:p>
        </p:txBody>
      </p:sp>
      <p:sp>
        <p:nvSpPr>
          <p:cNvPr id="3" name="Content Placeholder 2">
            <a:extLst>
              <a:ext uri="{FF2B5EF4-FFF2-40B4-BE49-F238E27FC236}">
                <a16:creationId xmlns:a16="http://schemas.microsoft.com/office/drawing/2014/main" id="{EE611375-BDDA-EC24-36CB-309B815A36B6}"/>
              </a:ext>
            </a:extLst>
          </p:cNvPr>
          <p:cNvSpPr>
            <a:spLocks noGrp="1"/>
          </p:cNvSpPr>
          <p:nvPr>
            <p:ph idx="1"/>
          </p:nvPr>
        </p:nvSpPr>
        <p:spPr/>
        <p:txBody>
          <a:bodyPr/>
          <a:lstStyle/>
          <a:p>
            <a:r>
              <a:rPr lang="en-US" dirty="0"/>
              <a:t>Creational pattern more to adding new object with repetitive procedure steps/methods.</a:t>
            </a:r>
          </a:p>
          <a:p>
            <a:pPr marL="0" indent="0">
              <a:buNone/>
            </a:pPr>
            <a:endParaRPr lang="en-US" dirty="0"/>
          </a:p>
          <a:p>
            <a:r>
              <a:rPr lang="en-US" dirty="0"/>
              <a:t>Structural pattern is more like integration action by user like adding new component with different procedure/method.</a:t>
            </a:r>
          </a:p>
          <a:p>
            <a:endParaRPr lang="en-US" dirty="0"/>
          </a:p>
          <a:p>
            <a:r>
              <a:rPr lang="en-US" dirty="0"/>
              <a:t>Behavioral pattern, more to system behavior toward data, normally not directly trigger by user action.</a:t>
            </a:r>
            <a:endParaRPr lang="en-MY" dirty="0"/>
          </a:p>
        </p:txBody>
      </p:sp>
      <p:sp>
        <p:nvSpPr>
          <p:cNvPr id="4" name="Date Placeholder 3">
            <a:extLst>
              <a:ext uri="{FF2B5EF4-FFF2-40B4-BE49-F238E27FC236}">
                <a16:creationId xmlns:a16="http://schemas.microsoft.com/office/drawing/2014/main" id="{8AD0F44A-1B8B-FE04-5D6F-2A5D5F7120E5}"/>
              </a:ext>
            </a:extLst>
          </p:cNvPr>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a:extLst>
              <a:ext uri="{FF2B5EF4-FFF2-40B4-BE49-F238E27FC236}">
                <a16:creationId xmlns:a16="http://schemas.microsoft.com/office/drawing/2014/main" id="{ED3CEF5A-1B99-D2ED-0573-77C2E639D19A}"/>
              </a:ext>
            </a:extLst>
          </p:cNvPr>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a:extLst>
              <a:ext uri="{FF2B5EF4-FFF2-40B4-BE49-F238E27FC236}">
                <a16:creationId xmlns:a16="http://schemas.microsoft.com/office/drawing/2014/main" id="{1CCE0FB3-4E64-4705-C4A3-9174DFF75143}"/>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512166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Next…</a:t>
            </a:r>
          </a:p>
        </p:txBody>
      </p:sp>
      <p:sp>
        <p:nvSpPr>
          <p:cNvPr id="3" name="Content Placeholder 2"/>
          <p:cNvSpPr>
            <a:spLocks noGrp="1"/>
          </p:cNvSpPr>
          <p:nvPr>
            <p:ph idx="1"/>
          </p:nvPr>
        </p:nvSpPr>
        <p:spPr/>
        <p:txBody>
          <a:bodyPr>
            <a:normAutofit/>
          </a:bodyPr>
          <a:lstStyle/>
          <a:p>
            <a:r>
              <a:rPr lang="en-US" dirty="0"/>
              <a:t>In this session, we presented structural design patterns, including:</a:t>
            </a:r>
          </a:p>
          <a:p>
            <a:pPr lvl="1"/>
            <a:r>
              <a:rPr lang="en-US" dirty="0"/>
              <a:t>Adapter</a:t>
            </a:r>
          </a:p>
          <a:p>
            <a:pPr lvl="1"/>
            <a:r>
              <a:rPr lang="en-US" dirty="0"/>
              <a:t>Composite</a:t>
            </a:r>
          </a:p>
          <a:p>
            <a:pPr lvl="1"/>
            <a:r>
              <a:rPr lang="en-US" dirty="0"/>
              <a:t>Facade</a:t>
            </a:r>
          </a:p>
          <a:p>
            <a:pPr lvl="1">
              <a:buNone/>
            </a:pPr>
            <a:endParaRPr lang="en-US" dirty="0"/>
          </a:p>
          <a:p>
            <a:r>
              <a:rPr lang="en-US" dirty="0"/>
              <a:t>The next session continues the discussion on patterns by presenting a different category of design patterns capable of encapsulating behavior.  These behavioral patterns include:</a:t>
            </a:r>
          </a:p>
          <a:p>
            <a:pPr lvl="1"/>
            <a:r>
              <a:rPr lang="en-US" dirty="0" err="1"/>
              <a:t>Iterator</a:t>
            </a:r>
            <a:endParaRPr lang="en-US" dirty="0"/>
          </a:p>
          <a:p>
            <a:pPr lvl="1"/>
            <a:r>
              <a:rPr lang="en-US" dirty="0"/>
              <a:t>Observer</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t>[1] Gamma, Erich, Richard Helm, Ralph Johnson, and John </a:t>
            </a:r>
            <a:r>
              <a:rPr lang="en-US" dirty="0" err="1"/>
              <a:t>Vlissides</a:t>
            </a:r>
            <a:r>
              <a:rPr lang="en-US" dirty="0"/>
              <a:t>.  </a:t>
            </a:r>
            <a:r>
              <a:rPr lang="en-US" i="1" dirty="0"/>
              <a:t>Design Patterns: Elements of Reusable Object-Oriented Software</a:t>
            </a:r>
            <a:r>
              <a:rPr lang="en-US" dirty="0"/>
              <a:t>.  Boston: Addison-Wesley, 1995.</a:t>
            </a:r>
          </a:p>
        </p:txBody>
      </p:sp>
      <p:sp>
        <p:nvSpPr>
          <p:cNvPr id="4" name="Date Placeholder 3"/>
          <p:cNvSpPr>
            <a:spLocks noGrp="1"/>
          </p:cNvSpPr>
          <p:nvPr>
            <p:ph type="dt" sz="half" idx="10"/>
          </p:nvPr>
        </p:nvSpPr>
        <p:spPr/>
        <p:txBody>
          <a:bodyPr/>
          <a:lstStyle/>
          <a:p>
            <a:fld id="{F3FBCFF5-EE4F-4FFF-A0F1-127D95D6DEF9}" type="datetime1">
              <a:rPr lang="en-US" smtClean="0"/>
              <a:pPr/>
              <a:t>12/22/2024</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14043</TotalTime>
  <Words>2750</Words>
  <Application>Microsoft Office PowerPoint</Application>
  <PresentationFormat>On-screen Show (4:3)</PresentationFormat>
  <Paragraphs>360</Paragraphs>
  <Slides>36</Slides>
  <Notes>0</Notes>
  <HiddenSlides>18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Bradley Hand ITC</vt:lpstr>
      <vt:lpstr>Calibri</vt:lpstr>
      <vt:lpstr>Times New Roman</vt:lpstr>
      <vt:lpstr>Wingdings</vt:lpstr>
      <vt:lpstr>UVa-Wise-Clean-BW</vt:lpstr>
      <vt:lpstr>Chapter 7: Structural and Behavioral  Design Patterns</vt:lpstr>
      <vt:lpstr>Session’s Agenda</vt:lpstr>
      <vt:lpstr>Structural Design Patterns</vt:lpstr>
      <vt:lpstr>Adapter Design Pattern</vt:lpstr>
      <vt:lpstr>Adapter Design Pattern Example</vt:lpstr>
      <vt:lpstr>Adapter Design Pattern Example</vt:lpstr>
      <vt:lpstr>Adapter Design Pattern Example</vt:lpstr>
      <vt:lpstr>Adapter Design Pattern Example</vt:lpstr>
      <vt:lpstr>Adapter Design Pattern Example</vt:lpstr>
      <vt:lpstr>Adapter Design Pattern Example</vt:lpstr>
      <vt:lpstr>Adapter Design Pattern</vt:lpstr>
      <vt:lpstr>Adapter Design Pattern</vt:lpstr>
      <vt:lpstr>Adapter Design Pattern</vt:lpstr>
      <vt:lpstr>Composite Design Pattern</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vt:lpstr>
      <vt:lpstr>Composite Design Pattern</vt:lpstr>
      <vt:lpstr>Facade Design Pattern</vt:lpstr>
      <vt:lpstr>Facade Design Pattern Example</vt:lpstr>
      <vt:lpstr>Facade Design Pattern Example</vt:lpstr>
      <vt:lpstr>Facade Design Pattern Example</vt:lpstr>
      <vt:lpstr>Facade Design Pattern Example</vt:lpstr>
      <vt:lpstr>Facade Design Pattern</vt:lpstr>
      <vt:lpstr>Facade Design Pattern</vt:lpstr>
      <vt:lpstr>Summary</vt:lpstr>
      <vt:lpstr>What’s Next…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MUHAMMAD KHATIBSYARBINI 16880</cp:lastModifiedBy>
  <cp:revision>1065</cp:revision>
  <cp:lastPrinted>2019-03-29T20:04:40Z</cp:lastPrinted>
  <dcterms:created xsi:type="dcterms:W3CDTF">2006-08-16T00:00:00Z</dcterms:created>
  <dcterms:modified xsi:type="dcterms:W3CDTF">2024-12-22T06:56:03Z</dcterms:modified>
</cp:coreProperties>
</file>