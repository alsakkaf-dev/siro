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470" r:id="rId4"/>
    <p:sldId id="471" r:id="rId5"/>
    <p:sldId id="472" r:id="rId6"/>
    <p:sldId id="499" r:id="rId7"/>
    <p:sldId id="500" r:id="rId8"/>
    <p:sldId id="473" r:id="rId9"/>
    <p:sldId id="501" r:id="rId10"/>
    <p:sldId id="474" r:id="rId11"/>
    <p:sldId id="476" r:id="rId12"/>
    <p:sldId id="477" r:id="rId13"/>
    <p:sldId id="478" r:id="rId14"/>
    <p:sldId id="502" r:id="rId15"/>
    <p:sldId id="503" r:id="rId16"/>
    <p:sldId id="504" r:id="rId17"/>
    <p:sldId id="505" r:id="rId18"/>
    <p:sldId id="475" r:id="rId19"/>
    <p:sldId id="480" r:id="rId20"/>
    <p:sldId id="481" r:id="rId21"/>
    <p:sldId id="482" r:id="rId22"/>
    <p:sldId id="484" r:id="rId23"/>
    <p:sldId id="485" r:id="rId24"/>
    <p:sldId id="506" r:id="rId25"/>
    <p:sldId id="507" r:id="rId26"/>
    <p:sldId id="508" r:id="rId27"/>
    <p:sldId id="491" r:id="rId28"/>
    <p:sldId id="336" r:id="rId29"/>
    <p:sldId id="404" r:id="rId3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3B5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9B3061A-7F4E-4E3A-A627-E1FC384385A9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58D7772-57C4-43FE-B30D-FBB40B6BD3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64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9144000" cy="1066800"/>
          </a:xfrm>
        </p:spPr>
        <p:txBody>
          <a:bodyPr>
            <a:normAutofit/>
          </a:bodyPr>
          <a:lstStyle>
            <a:lvl1pPr algn="ctr">
              <a:defRPr sz="2400" b="1" cap="small" baseline="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752599"/>
            <a:ext cx="91440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small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8E146812-51FF-4609-8A40-02FC8C31783E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Software Engineering Design: Theory and Practice. Copyright 2012 by Carlos E. Otero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Box 7"/>
          <p:cNvSpPr txBox="1">
            <a:spLocks noChangeArrowheads="1"/>
          </p:cNvSpPr>
          <p:nvPr userDrawn="1"/>
        </p:nvSpPr>
        <p:spPr bwMode="auto">
          <a:xfrm>
            <a:off x="1676400" y="2713434"/>
            <a:ext cx="647700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Software Engineering Design: Theory and Practice</a:t>
            </a:r>
            <a:r>
              <a:rPr lang="en-US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600" b="0" dirty="0" smtClean="0">
                <a:latin typeface="Times New Roman" pitchFamily="18" charset="0"/>
                <a:cs typeface="Times New Roman" pitchFamily="18" charset="0"/>
              </a:rPr>
              <a:t>Carlos</a:t>
            </a:r>
            <a:r>
              <a:rPr lang="en-US" sz="1600" b="0" baseline="0" dirty="0" smtClean="0">
                <a:latin typeface="Times New Roman" pitchFamily="18" charset="0"/>
                <a:cs typeface="Times New Roman" pitchFamily="18" charset="0"/>
              </a:rPr>
              <a:t> E. Otero</a:t>
            </a:r>
            <a:endParaRPr lang="en-US" sz="1200" b="0" dirty="0">
              <a:latin typeface="Times New Roman" pitchFamily="18" charset="0"/>
              <a:cs typeface="Times New Roman" pitchFamily="18" charset="0"/>
            </a:endParaRPr>
          </a:p>
          <a:p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Slides copyright ©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2012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Carlos E. Otero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b="1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For non-profit educational use only</a:t>
            </a:r>
            <a:endParaRPr lang="en-US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May be reproduced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only for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student use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used in conjunction with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Software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Engineering Design: Theory and Practice.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Any other reproduction or use is prohibited without the express written permission of the author.</a:t>
            </a:r>
          </a:p>
          <a:p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All copyright information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must appear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if these slides are posted on a website for student use.</a:t>
            </a:r>
          </a:p>
        </p:txBody>
      </p:sp>
      <p:pic>
        <p:nvPicPr>
          <p:cNvPr id="10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2800" y="3200400"/>
            <a:ext cx="762000" cy="1102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800599"/>
          </a:xfrm>
        </p:spPr>
        <p:txBody>
          <a:bodyPr/>
          <a:lstStyle>
            <a:lvl1pPr>
              <a:buFont typeface="Wingdings" pitchFamily="2" charset="2"/>
              <a:buChar char="Ø"/>
              <a:defRPr sz="2000"/>
            </a:lvl1pPr>
            <a:lvl2pPr>
              <a:buFont typeface="Wingdings" pitchFamily="2" charset="2"/>
              <a:buChar char="ü"/>
              <a:defRPr sz="1800"/>
            </a:lvl2pPr>
            <a:lvl3pPr>
              <a:buFont typeface="Wingdings" pitchFamily="2" charset="2"/>
              <a:buChar char="§"/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 i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62078"/>
            <a:ext cx="990600" cy="304800"/>
          </a:xfrm>
          <a:prstGeom prst="rect">
            <a:avLst/>
          </a:prstGeom>
        </p:spPr>
        <p:txBody>
          <a:bodyPr/>
          <a:lstStyle/>
          <a:p>
            <a:fld id="{ED229BA3-A27B-42AB-9F31-42418016249D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62078"/>
            <a:ext cx="6096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62078"/>
            <a:ext cx="11430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F0BB3435-0E9A-4626-BE17-A8762A108CF2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004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A8E9BC6D-F3D4-4CAF-ACEC-494A57D202E4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E15860A7-5D37-4EAC-8EFD-51F43FFA3B5E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061ED6DB-E37C-45C5-85AA-C10B399F13E3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DA6BCD18-5551-42D7-A5DD-C6871E4D3FB5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25C7B514-375B-4C9F-AB19-638794D6AC42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41643C31-6BED-43CE-92EC-61FE9F1B16F6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999D3834-0217-485F-B8FA-819EC68F0E18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 bwMode="auto">
          <a:xfrm>
            <a:off x="219722" y="228600"/>
            <a:ext cx="8686800" cy="6324600"/>
          </a:xfrm>
          <a:prstGeom prst="round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14859E5-2B7A-4354-9302-A47E7090D67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 algn="ctr"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Enterprise Software Architecture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 algn="r"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2400" b="1" kern="1200" cap="small" baseline="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Chapter 7: Structural and Behavioral </a:t>
            </a:r>
            <a:br>
              <a:rPr lang="en-US" dirty="0" smtClean="0"/>
            </a:br>
            <a:r>
              <a:rPr lang="en-US" dirty="0" smtClean="0"/>
              <a:t>Design Patterns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752598"/>
            <a:ext cx="9144000" cy="838202"/>
          </a:xfrm>
        </p:spPr>
        <p:txBody>
          <a:bodyPr>
            <a:normAutofit/>
          </a:bodyPr>
          <a:lstStyle/>
          <a:p>
            <a:r>
              <a:rPr lang="en-US" dirty="0" smtClean="0"/>
              <a:t>Session II: Behavioral Design Patterns,</a:t>
            </a:r>
          </a:p>
          <a:p>
            <a:r>
              <a:rPr lang="en-US" dirty="0" smtClean="0"/>
              <a:t>Iterator, Observer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05638-2204-47C5-8D02-0990D6B01040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648199"/>
          </a:xfrm>
        </p:spPr>
        <p:txBody>
          <a:bodyPr>
            <a:normAutofit/>
          </a:bodyPr>
          <a:lstStyle/>
          <a:p>
            <a:pPr lvl="2"/>
            <a:endParaRPr lang="en-US" dirty="0" smtClean="0"/>
          </a:p>
          <a:p>
            <a:r>
              <a:rPr lang="en-US" dirty="0" smtClean="0"/>
              <a:t>Behavioral Patterns in Detailed Design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Iterator</a:t>
            </a:r>
          </a:p>
          <a:p>
            <a:pPr lvl="1"/>
            <a:r>
              <a:rPr lang="en-US" dirty="0" smtClean="0"/>
              <a:t>Example…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Observer…</a:t>
            </a:r>
          </a:p>
          <a:p>
            <a:pPr lvl="1"/>
            <a:r>
              <a:rPr lang="en-US" dirty="0" smtClean="0"/>
              <a:t>Example…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What’s next…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7354-941D-4A10-A419-5D3E5FF7573C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4848225"/>
            <a:ext cx="35242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Behavioral Design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510539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Behavioral design patterns are patterns that deal with encapsulating behavior with objects, assigning responsibility, and managing object cooperation when achieving common tasks [1].</a:t>
            </a:r>
          </a:p>
          <a:p>
            <a:pPr lvl="1"/>
            <a:r>
              <a:rPr lang="en-US" dirty="0" smtClean="0"/>
              <a:t>They include many of the mainstream design patterns used in modern object-oriented frameworks and play a key role in the design of systems by making them independent of specific behavior, which is made replaceable with objects throughout these design patterns.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Popular behavioral design patterns include:</a:t>
            </a:r>
          </a:p>
          <a:p>
            <a:pPr lvl="1"/>
            <a:r>
              <a:rPr lang="en-US" dirty="0" smtClean="0"/>
              <a:t>Iterator</a:t>
            </a:r>
          </a:p>
          <a:p>
            <a:pPr lvl="1"/>
            <a:r>
              <a:rPr lang="en-US" dirty="0" smtClean="0"/>
              <a:t>Observer</a:t>
            </a:r>
          </a:p>
          <a:p>
            <a:pPr lvl="1"/>
            <a:r>
              <a:rPr lang="en-US" dirty="0" smtClean="0"/>
              <a:t>Others not covered:</a:t>
            </a:r>
          </a:p>
          <a:p>
            <a:pPr lvl="2"/>
            <a:r>
              <a:rPr lang="en-US" dirty="0" smtClean="0"/>
              <a:t>Command</a:t>
            </a:r>
          </a:p>
          <a:p>
            <a:pPr lvl="2"/>
            <a:r>
              <a:rPr lang="en-US" dirty="0" smtClean="0"/>
              <a:t>Chain of responsibility</a:t>
            </a:r>
          </a:p>
          <a:p>
            <a:pPr lvl="2"/>
            <a:r>
              <a:rPr lang="en-US" dirty="0" smtClean="0"/>
              <a:t>Interpreter</a:t>
            </a:r>
          </a:p>
          <a:p>
            <a:pPr lvl="2"/>
            <a:r>
              <a:rPr lang="en-US" dirty="0" smtClean="0"/>
              <a:t>Mediator</a:t>
            </a:r>
          </a:p>
          <a:p>
            <a:pPr lvl="2"/>
            <a:r>
              <a:rPr lang="en-US" dirty="0" smtClean="0"/>
              <a:t>Memento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276600" y="4800600"/>
            <a:ext cx="256204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2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State</a:t>
            </a:r>
          </a:p>
          <a:p>
            <a:pPr lvl="2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Strategy</a:t>
            </a:r>
          </a:p>
          <a:p>
            <a:pPr lvl="2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Template Method</a:t>
            </a:r>
          </a:p>
          <a:p>
            <a:pPr lvl="2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Visitor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2362199"/>
          </a:xfrm>
        </p:spPr>
        <p:txBody>
          <a:bodyPr>
            <a:normAutofit/>
          </a:bodyPr>
          <a:lstStyle/>
          <a:p>
            <a:r>
              <a:rPr lang="en-US" dirty="0" smtClean="0"/>
              <a:t>The Iterator design pattern is an object behavioral pattern that provides a standardized way for accessing and traversing objects in a collection data structure.</a:t>
            </a:r>
          </a:p>
          <a:p>
            <a:endParaRPr lang="en-US" dirty="0" smtClean="0"/>
          </a:p>
          <a:p>
            <a:r>
              <a:rPr lang="en-US" dirty="0" smtClean="0"/>
              <a:t>According to the </a:t>
            </a:r>
            <a:r>
              <a:rPr lang="en-US" dirty="0" err="1" smtClean="0"/>
              <a:t>GoF</a:t>
            </a:r>
            <a:r>
              <a:rPr lang="en-US" dirty="0" smtClean="0"/>
              <a:t>, the intent of the Iterators to [1],</a:t>
            </a:r>
          </a:p>
          <a:p>
            <a:pPr lvl="1"/>
            <a:r>
              <a:rPr lang="en-US" dirty="0" smtClean="0"/>
              <a:t>Provide a way to access the elements of an aggregate object sequentially without exposing its underlying representation.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76950" y="375285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Iterator interface specifies a uniform way for traversing a collection data structure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038600"/>
            <a:ext cx="282892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Freeform 13"/>
          <p:cNvSpPr/>
          <p:nvPr/>
        </p:nvSpPr>
        <p:spPr>
          <a:xfrm>
            <a:off x="5838825" y="4191000"/>
            <a:ext cx="504825" cy="296863"/>
          </a:xfrm>
          <a:custGeom>
            <a:avLst/>
            <a:gdLst>
              <a:gd name="connsiteX0" fmla="*/ 504825 w 504825"/>
              <a:gd name="connsiteY0" fmla="*/ 0 h 296863"/>
              <a:gd name="connsiteX1" fmla="*/ 333375 w 504825"/>
              <a:gd name="connsiteY1" fmla="*/ 247650 h 296863"/>
              <a:gd name="connsiteX2" fmla="*/ 0 w 504825"/>
              <a:gd name="connsiteY2" fmla="*/ 295275 h 29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4825" h="296863">
                <a:moveTo>
                  <a:pt x="504825" y="0"/>
                </a:moveTo>
                <a:cubicBezTo>
                  <a:pt x="461169" y="99219"/>
                  <a:pt x="417513" y="198438"/>
                  <a:pt x="333375" y="247650"/>
                </a:cubicBezTo>
                <a:cubicBezTo>
                  <a:pt x="249238" y="296863"/>
                  <a:pt x="124619" y="296069"/>
                  <a:pt x="0" y="2952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096000" y="5181600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Concrete Iterators must obey the Iterator interface!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5715000" y="5410200"/>
            <a:ext cx="504825" cy="296863"/>
          </a:xfrm>
          <a:custGeom>
            <a:avLst/>
            <a:gdLst>
              <a:gd name="connsiteX0" fmla="*/ 504825 w 504825"/>
              <a:gd name="connsiteY0" fmla="*/ 0 h 296863"/>
              <a:gd name="connsiteX1" fmla="*/ 333375 w 504825"/>
              <a:gd name="connsiteY1" fmla="*/ 247650 h 296863"/>
              <a:gd name="connsiteX2" fmla="*/ 0 w 504825"/>
              <a:gd name="connsiteY2" fmla="*/ 295275 h 29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4825" h="296863">
                <a:moveTo>
                  <a:pt x="504825" y="0"/>
                </a:moveTo>
                <a:cubicBezTo>
                  <a:pt x="461169" y="99219"/>
                  <a:pt x="417513" y="198438"/>
                  <a:pt x="333375" y="247650"/>
                </a:cubicBezTo>
                <a:cubicBezTo>
                  <a:pt x="249238" y="296863"/>
                  <a:pt x="124619" y="296069"/>
                  <a:pt x="0" y="2952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447800"/>
            <a:ext cx="6000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92162"/>
          </a:xfrm>
        </p:spPr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371600"/>
            <a:ext cx="266700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3657600"/>
            <a:ext cx="3524250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1143000"/>
            <a:ext cx="342900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ounded Rectangle 11"/>
          <p:cNvSpPr/>
          <p:nvPr/>
        </p:nvSpPr>
        <p:spPr>
          <a:xfrm>
            <a:off x="4648200" y="3124200"/>
            <a:ext cx="2819400" cy="3048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14400" y="48768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Consider this case, where code in two different computer store classes use different collection data structures, each with its own unique interface!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724400" y="5943600"/>
            <a:ext cx="3200400" cy="3048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239000" y="3886200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These could’ve been other collection data structures, arrays, etc.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7572375" y="3295650"/>
            <a:ext cx="371475" cy="571500"/>
          </a:xfrm>
          <a:custGeom>
            <a:avLst/>
            <a:gdLst>
              <a:gd name="connsiteX0" fmla="*/ 371475 w 371475"/>
              <a:gd name="connsiteY0" fmla="*/ 571500 h 571500"/>
              <a:gd name="connsiteX1" fmla="*/ 276225 w 371475"/>
              <a:gd name="connsiteY1" fmla="*/ 114300 h 571500"/>
              <a:gd name="connsiteX2" fmla="*/ 0 w 371475"/>
              <a:gd name="connsiteY2" fmla="*/ 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475" h="571500">
                <a:moveTo>
                  <a:pt x="371475" y="571500"/>
                </a:moveTo>
                <a:cubicBezTo>
                  <a:pt x="354806" y="390525"/>
                  <a:pt x="338137" y="209550"/>
                  <a:pt x="276225" y="114300"/>
                </a:cubicBezTo>
                <a:cubicBezTo>
                  <a:pt x="214313" y="19050"/>
                  <a:pt x="107156" y="9525"/>
                  <a:pt x="0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7981950" y="4571999"/>
            <a:ext cx="628650" cy="1514475"/>
          </a:xfrm>
          <a:custGeom>
            <a:avLst/>
            <a:gdLst>
              <a:gd name="connsiteX0" fmla="*/ 381000 w 558800"/>
              <a:gd name="connsiteY0" fmla="*/ 0 h 1581150"/>
              <a:gd name="connsiteX1" fmla="*/ 495300 w 558800"/>
              <a:gd name="connsiteY1" fmla="*/ 1162050 h 1581150"/>
              <a:gd name="connsiteX2" fmla="*/ 0 w 558800"/>
              <a:gd name="connsiteY2" fmla="*/ 1581150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8800" h="1581150">
                <a:moveTo>
                  <a:pt x="381000" y="0"/>
                </a:moveTo>
                <a:cubicBezTo>
                  <a:pt x="469900" y="449262"/>
                  <a:pt x="558800" y="898525"/>
                  <a:pt x="495300" y="1162050"/>
                </a:cubicBezTo>
                <a:cubicBezTo>
                  <a:pt x="431800" y="1425575"/>
                  <a:pt x="215900" y="1503362"/>
                  <a:pt x="0" y="158115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3448050" y="949325"/>
            <a:ext cx="1047750" cy="4017962"/>
          </a:xfrm>
          <a:custGeom>
            <a:avLst/>
            <a:gdLst>
              <a:gd name="connsiteX0" fmla="*/ 0 w 1047750"/>
              <a:gd name="connsiteY0" fmla="*/ 3937000 h 4017962"/>
              <a:gd name="connsiteX1" fmla="*/ 247650 w 1047750"/>
              <a:gd name="connsiteY1" fmla="*/ 3451225 h 4017962"/>
              <a:gd name="connsiteX2" fmla="*/ 533400 w 1047750"/>
              <a:gd name="connsiteY2" fmla="*/ 536575 h 4017962"/>
              <a:gd name="connsiteX3" fmla="*/ 1047750 w 1047750"/>
              <a:gd name="connsiteY3" fmla="*/ 231775 h 4017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7750" h="4017962">
                <a:moveTo>
                  <a:pt x="0" y="3937000"/>
                </a:moveTo>
                <a:cubicBezTo>
                  <a:pt x="79375" y="3977481"/>
                  <a:pt x="158750" y="4017962"/>
                  <a:pt x="247650" y="3451225"/>
                </a:cubicBezTo>
                <a:cubicBezTo>
                  <a:pt x="336550" y="2884488"/>
                  <a:pt x="400050" y="1073150"/>
                  <a:pt x="533400" y="536575"/>
                </a:cubicBezTo>
                <a:cubicBezTo>
                  <a:pt x="666750" y="0"/>
                  <a:pt x="857250" y="115887"/>
                  <a:pt x="1047750" y="2317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3514725" y="3724275"/>
            <a:ext cx="952500" cy="1695450"/>
          </a:xfrm>
          <a:custGeom>
            <a:avLst/>
            <a:gdLst>
              <a:gd name="connsiteX0" fmla="*/ 0 w 952500"/>
              <a:gd name="connsiteY0" fmla="*/ 1695450 h 1695450"/>
              <a:gd name="connsiteX1" fmla="*/ 323850 w 952500"/>
              <a:gd name="connsiteY1" fmla="*/ 1457325 h 1695450"/>
              <a:gd name="connsiteX2" fmla="*/ 581025 w 952500"/>
              <a:gd name="connsiteY2" fmla="*/ 342900 h 1695450"/>
              <a:gd name="connsiteX3" fmla="*/ 952500 w 952500"/>
              <a:gd name="connsiteY3" fmla="*/ 0 h 169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" h="1695450">
                <a:moveTo>
                  <a:pt x="0" y="1695450"/>
                </a:moveTo>
                <a:cubicBezTo>
                  <a:pt x="113506" y="1689100"/>
                  <a:pt x="227013" y="1682750"/>
                  <a:pt x="323850" y="1457325"/>
                </a:cubicBezTo>
                <a:cubicBezTo>
                  <a:pt x="420687" y="1231900"/>
                  <a:pt x="476250" y="585787"/>
                  <a:pt x="581025" y="342900"/>
                </a:cubicBezTo>
                <a:cubicBezTo>
                  <a:pt x="685800" y="100013"/>
                  <a:pt x="819150" y="50006"/>
                  <a:pt x="952500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219200"/>
            <a:ext cx="4572000" cy="517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ounded Rectangle 7"/>
          <p:cNvSpPr/>
          <p:nvPr/>
        </p:nvSpPr>
        <p:spPr>
          <a:xfrm>
            <a:off x="2514600" y="2286000"/>
            <a:ext cx="3276600" cy="3810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362200" y="1905000"/>
            <a:ext cx="3429000" cy="3048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533650" y="4838700"/>
            <a:ext cx="3276600" cy="3810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381250" y="4457700"/>
            <a:ext cx="3429000" cy="3048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858000" y="274320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Different interfaces require different code!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5962650" y="2371725"/>
            <a:ext cx="952500" cy="561975"/>
          </a:xfrm>
          <a:custGeom>
            <a:avLst/>
            <a:gdLst>
              <a:gd name="connsiteX0" fmla="*/ 952500 w 952500"/>
              <a:gd name="connsiteY0" fmla="*/ 561975 h 561975"/>
              <a:gd name="connsiteX1" fmla="*/ 676275 w 952500"/>
              <a:gd name="connsiteY1" fmla="*/ 333375 h 561975"/>
              <a:gd name="connsiteX2" fmla="*/ 466725 w 952500"/>
              <a:gd name="connsiteY2" fmla="*/ 57150 h 561975"/>
              <a:gd name="connsiteX3" fmla="*/ 0 w 952500"/>
              <a:gd name="connsiteY3" fmla="*/ 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" h="561975">
                <a:moveTo>
                  <a:pt x="952500" y="561975"/>
                </a:moveTo>
                <a:cubicBezTo>
                  <a:pt x="854869" y="489744"/>
                  <a:pt x="757238" y="417513"/>
                  <a:pt x="676275" y="333375"/>
                </a:cubicBezTo>
                <a:cubicBezTo>
                  <a:pt x="595312" y="249237"/>
                  <a:pt x="579437" y="112712"/>
                  <a:pt x="466725" y="57150"/>
                </a:cubicBezTo>
                <a:cubicBezTo>
                  <a:pt x="354013" y="1588"/>
                  <a:pt x="177006" y="794"/>
                  <a:pt x="0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6029325" y="3238500"/>
            <a:ext cx="1200150" cy="1762125"/>
          </a:xfrm>
          <a:custGeom>
            <a:avLst/>
            <a:gdLst>
              <a:gd name="connsiteX0" fmla="*/ 1200150 w 1200150"/>
              <a:gd name="connsiteY0" fmla="*/ 0 h 1762125"/>
              <a:gd name="connsiteX1" fmla="*/ 914400 w 1200150"/>
              <a:gd name="connsiteY1" fmla="*/ 742950 h 1762125"/>
              <a:gd name="connsiteX2" fmla="*/ 828675 w 1200150"/>
              <a:gd name="connsiteY2" fmla="*/ 1543050 h 1762125"/>
              <a:gd name="connsiteX3" fmla="*/ 0 w 1200150"/>
              <a:gd name="connsiteY3" fmla="*/ 1762125 h 176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0150" h="1762125">
                <a:moveTo>
                  <a:pt x="1200150" y="0"/>
                </a:moveTo>
                <a:cubicBezTo>
                  <a:pt x="1088231" y="242887"/>
                  <a:pt x="976313" y="485775"/>
                  <a:pt x="914400" y="742950"/>
                </a:cubicBezTo>
                <a:cubicBezTo>
                  <a:pt x="852488" y="1000125"/>
                  <a:pt x="981075" y="1373188"/>
                  <a:pt x="828675" y="1543050"/>
                </a:cubicBezTo>
                <a:cubicBezTo>
                  <a:pt x="676275" y="1712912"/>
                  <a:pt x="338137" y="1737518"/>
                  <a:pt x="0" y="176212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2819400"/>
            <a:ext cx="167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If a new store is added, we have to modify this code to add code for displaying products of the new store!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76400"/>
            <a:ext cx="444817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477000" y="3657600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Notice the pattern!  Applying the pattern to the computer store problem entails doing more of the same!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62600" y="6019800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Let’s see how this is implemented…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1524000"/>
            <a:ext cx="1993956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Freeform 21"/>
          <p:cNvSpPr/>
          <p:nvPr/>
        </p:nvSpPr>
        <p:spPr>
          <a:xfrm>
            <a:off x="8572500" y="3162300"/>
            <a:ext cx="138113" cy="609600"/>
          </a:xfrm>
          <a:custGeom>
            <a:avLst/>
            <a:gdLst>
              <a:gd name="connsiteX0" fmla="*/ 0 w 138113"/>
              <a:gd name="connsiteY0" fmla="*/ 609600 h 609600"/>
              <a:gd name="connsiteX1" fmla="*/ 133350 w 138113"/>
              <a:gd name="connsiteY1" fmla="*/ 342900 h 609600"/>
              <a:gd name="connsiteX2" fmla="*/ 28575 w 138113"/>
              <a:gd name="connsiteY2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3" h="609600">
                <a:moveTo>
                  <a:pt x="0" y="609600"/>
                </a:moveTo>
                <a:cubicBezTo>
                  <a:pt x="64294" y="527050"/>
                  <a:pt x="128588" y="444500"/>
                  <a:pt x="133350" y="342900"/>
                </a:cubicBezTo>
                <a:cubicBezTo>
                  <a:pt x="138113" y="241300"/>
                  <a:pt x="83344" y="120650"/>
                  <a:pt x="28575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6267450" y="4248150"/>
            <a:ext cx="523875" cy="455612"/>
          </a:xfrm>
          <a:custGeom>
            <a:avLst/>
            <a:gdLst>
              <a:gd name="connsiteX0" fmla="*/ 523875 w 523875"/>
              <a:gd name="connsiteY0" fmla="*/ 0 h 455612"/>
              <a:gd name="connsiteX1" fmla="*/ 371475 w 523875"/>
              <a:gd name="connsiteY1" fmla="*/ 400050 h 455612"/>
              <a:gd name="connsiteX2" fmla="*/ 0 w 523875"/>
              <a:gd name="connsiteY2" fmla="*/ 333375 h 45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3875" h="455612">
                <a:moveTo>
                  <a:pt x="523875" y="0"/>
                </a:moveTo>
                <a:cubicBezTo>
                  <a:pt x="491331" y="172244"/>
                  <a:pt x="458787" y="344488"/>
                  <a:pt x="371475" y="400050"/>
                </a:cubicBezTo>
                <a:cubicBezTo>
                  <a:pt x="284163" y="455612"/>
                  <a:pt x="142081" y="394493"/>
                  <a:pt x="0" y="3333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62000" y="56388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Concrete Iterators must obey the </a:t>
            </a:r>
            <a:r>
              <a:rPr lang="en-US" sz="1200" b="1" dirty="0" err="1" smtClean="0">
                <a:solidFill>
                  <a:srgbClr val="C00000"/>
                </a:solidFill>
                <a:latin typeface="Bradley Hand ITC" pitchFamily="66" charset="0"/>
              </a:rPr>
              <a:t>StoreProductIterator</a:t>
            </a:r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 interface to provide a uniform way for traversing a collection data structure containing Computer Products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4800" y="2438400"/>
            <a:ext cx="16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Notice how in this example we separate the collection data structures from the computer stores!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1695450" y="3333750"/>
            <a:ext cx="1162050" cy="619125"/>
          </a:xfrm>
          <a:custGeom>
            <a:avLst/>
            <a:gdLst>
              <a:gd name="connsiteX0" fmla="*/ 0 w 1162050"/>
              <a:gd name="connsiteY0" fmla="*/ 19050 h 619125"/>
              <a:gd name="connsiteX1" fmla="*/ 209550 w 1162050"/>
              <a:gd name="connsiteY1" fmla="*/ 85725 h 619125"/>
              <a:gd name="connsiteX2" fmla="*/ 400050 w 1162050"/>
              <a:gd name="connsiteY2" fmla="*/ 533400 h 619125"/>
              <a:gd name="connsiteX3" fmla="*/ 1162050 w 1162050"/>
              <a:gd name="connsiteY3" fmla="*/ 600075 h 61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2050" h="619125">
                <a:moveTo>
                  <a:pt x="0" y="19050"/>
                </a:moveTo>
                <a:cubicBezTo>
                  <a:pt x="71437" y="9525"/>
                  <a:pt x="142875" y="0"/>
                  <a:pt x="209550" y="85725"/>
                </a:cubicBezTo>
                <a:cubicBezTo>
                  <a:pt x="276225" y="171450"/>
                  <a:pt x="241300" y="447675"/>
                  <a:pt x="400050" y="533400"/>
                </a:cubicBezTo>
                <a:cubicBezTo>
                  <a:pt x="558800" y="619125"/>
                  <a:pt x="860425" y="609600"/>
                  <a:pt x="1162050" y="6000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/>
          <p:cNvSpPr/>
          <p:nvPr/>
        </p:nvSpPr>
        <p:spPr>
          <a:xfrm>
            <a:off x="1447801" y="3429000"/>
            <a:ext cx="1390650" cy="1752600"/>
          </a:xfrm>
          <a:custGeom>
            <a:avLst/>
            <a:gdLst>
              <a:gd name="connsiteX0" fmla="*/ 0 w 1114425"/>
              <a:gd name="connsiteY0" fmla="*/ 0 h 1819275"/>
              <a:gd name="connsiteX1" fmla="*/ 133350 w 1114425"/>
              <a:gd name="connsiteY1" fmla="*/ 552450 h 1819275"/>
              <a:gd name="connsiteX2" fmla="*/ 200025 w 1114425"/>
              <a:gd name="connsiteY2" fmla="*/ 1600200 h 1819275"/>
              <a:gd name="connsiteX3" fmla="*/ 1114425 w 1114425"/>
              <a:gd name="connsiteY3" fmla="*/ 1819275 h 181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1819275">
                <a:moveTo>
                  <a:pt x="0" y="0"/>
                </a:moveTo>
                <a:cubicBezTo>
                  <a:pt x="50006" y="142875"/>
                  <a:pt x="100013" y="285750"/>
                  <a:pt x="133350" y="552450"/>
                </a:cubicBezTo>
                <a:cubicBezTo>
                  <a:pt x="166687" y="819150"/>
                  <a:pt x="36513" y="1389063"/>
                  <a:pt x="200025" y="1600200"/>
                </a:cubicBezTo>
                <a:cubicBezTo>
                  <a:pt x="363537" y="1811337"/>
                  <a:pt x="738981" y="1815306"/>
                  <a:pt x="1114425" y="18192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2205038"/>
            <a:ext cx="47625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1828800"/>
            <a:ext cx="158115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Left Brace 8"/>
          <p:cNvSpPr/>
          <p:nvPr/>
        </p:nvSpPr>
        <p:spPr>
          <a:xfrm>
            <a:off x="2209800" y="2819400"/>
            <a:ext cx="152400" cy="1676400"/>
          </a:xfrm>
          <a:prstGeom prst="leftBrace">
            <a:avLst/>
          </a:prstGeom>
          <a:ln w="63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33400" y="30480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Common interface for iterating through the products!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34200" y="3200400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Notice that we’re using different interface names than the original pattern!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4114800"/>
            <a:ext cx="108585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Freeform 13"/>
          <p:cNvSpPr/>
          <p:nvPr/>
        </p:nvSpPr>
        <p:spPr>
          <a:xfrm>
            <a:off x="6961188" y="2867025"/>
            <a:ext cx="211137" cy="400050"/>
          </a:xfrm>
          <a:custGeom>
            <a:avLst/>
            <a:gdLst>
              <a:gd name="connsiteX0" fmla="*/ 211137 w 211137"/>
              <a:gd name="connsiteY0" fmla="*/ 400050 h 400050"/>
              <a:gd name="connsiteX1" fmla="*/ 20637 w 211137"/>
              <a:gd name="connsiteY1" fmla="*/ 266700 h 400050"/>
              <a:gd name="connsiteX2" fmla="*/ 87312 w 211137"/>
              <a:gd name="connsiteY2" fmla="*/ 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137" h="400050">
                <a:moveTo>
                  <a:pt x="211137" y="400050"/>
                </a:moveTo>
                <a:cubicBezTo>
                  <a:pt x="126205" y="366712"/>
                  <a:pt x="41274" y="333375"/>
                  <a:pt x="20637" y="266700"/>
                </a:cubicBezTo>
                <a:cubicBezTo>
                  <a:pt x="0" y="200025"/>
                  <a:pt x="43656" y="100012"/>
                  <a:pt x="87312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8432800" y="3952875"/>
            <a:ext cx="177800" cy="466725"/>
          </a:xfrm>
          <a:custGeom>
            <a:avLst/>
            <a:gdLst>
              <a:gd name="connsiteX0" fmla="*/ 0 w 177800"/>
              <a:gd name="connsiteY0" fmla="*/ 0 h 466725"/>
              <a:gd name="connsiteX1" fmla="*/ 171450 w 177800"/>
              <a:gd name="connsiteY1" fmla="*/ 219075 h 466725"/>
              <a:gd name="connsiteX2" fmla="*/ 38100 w 177800"/>
              <a:gd name="connsiteY2" fmla="*/ 466725 h 46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0" h="466725">
                <a:moveTo>
                  <a:pt x="0" y="0"/>
                </a:moveTo>
                <a:cubicBezTo>
                  <a:pt x="82550" y="70644"/>
                  <a:pt x="165100" y="141288"/>
                  <a:pt x="171450" y="219075"/>
                </a:cubicBezTo>
                <a:cubicBezTo>
                  <a:pt x="177800" y="296862"/>
                  <a:pt x="107950" y="381793"/>
                  <a:pt x="38100" y="46672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3675" y="1600200"/>
            <a:ext cx="496252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609600" y="4114800"/>
            <a:ext cx="1905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For this problem, we’ve added some helper methods.  It is OK to modify the pattern based on domain knowledge to fit the design to the application!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1" name="Left Brace 20"/>
          <p:cNvSpPr/>
          <p:nvPr/>
        </p:nvSpPr>
        <p:spPr>
          <a:xfrm>
            <a:off x="2505075" y="4267200"/>
            <a:ext cx="152400" cy="1219200"/>
          </a:xfrm>
          <a:prstGeom prst="leftBrace">
            <a:avLst/>
          </a:prstGeom>
          <a:ln w="63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133600"/>
            <a:ext cx="427672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21"/>
          <p:cNvSpPr txBox="1"/>
          <p:nvPr/>
        </p:nvSpPr>
        <p:spPr>
          <a:xfrm>
            <a:off x="762000" y="182880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The Iterator used for the simple store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86600" y="228600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Requires a simple product data collection!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6172200" y="2400300"/>
            <a:ext cx="1009650" cy="342900"/>
          </a:xfrm>
          <a:custGeom>
            <a:avLst/>
            <a:gdLst>
              <a:gd name="connsiteX0" fmla="*/ 1009650 w 1009650"/>
              <a:gd name="connsiteY0" fmla="*/ 0 h 342900"/>
              <a:gd name="connsiteX1" fmla="*/ 190500 w 1009650"/>
              <a:gd name="connsiteY1" fmla="*/ 123825 h 342900"/>
              <a:gd name="connsiteX2" fmla="*/ 0 w 1009650"/>
              <a:gd name="connsiteY2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9650" h="342900">
                <a:moveTo>
                  <a:pt x="1009650" y="0"/>
                </a:moveTo>
                <a:cubicBezTo>
                  <a:pt x="684212" y="33337"/>
                  <a:pt x="358775" y="66675"/>
                  <a:pt x="190500" y="123825"/>
                </a:cubicBezTo>
                <a:cubicBezTo>
                  <a:pt x="22225" y="180975"/>
                  <a:pt x="11112" y="261937"/>
                  <a:pt x="0" y="34290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>
            <a:off x="5629275" y="2762250"/>
            <a:ext cx="1971675" cy="1666875"/>
          </a:xfrm>
          <a:custGeom>
            <a:avLst/>
            <a:gdLst>
              <a:gd name="connsiteX0" fmla="*/ 1971675 w 1971675"/>
              <a:gd name="connsiteY0" fmla="*/ 0 h 1666875"/>
              <a:gd name="connsiteX1" fmla="*/ 1352550 w 1971675"/>
              <a:gd name="connsiteY1" fmla="*/ 533400 h 1666875"/>
              <a:gd name="connsiteX2" fmla="*/ 981075 w 1971675"/>
              <a:gd name="connsiteY2" fmla="*/ 1447800 h 1666875"/>
              <a:gd name="connsiteX3" fmla="*/ 0 w 1971675"/>
              <a:gd name="connsiteY3" fmla="*/ 1666875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1675" h="1666875">
                <a:moveTo>
                  <a:pt x="1971675" y="0"/>
                </a:moveTo>
                <a:cubicBezTo>
                  <a:pt x="1744662" y="146050"/>
                  <a:pt x="1517650" y="292100"/>
                  <a:pt x="1352550" y="533400"/>
                </a:cubicBezTo>
                <a:cubicBezTo>
                  <a:pt x="1187450" y="774700"/>
                  <a:pt x="1206500" y="1258888"/>
                  <a:pt x="981075" y="1447800"/>
                </a:cubicBezTo>
                <a:cubicBezTo>
                  <a:pt x="755650" y="1636712"/>
                  <a:pt x="377825" y="1651793"/>
                  <a:pt x="0" y="16668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143000"/>
            <a:ext cx="5145748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ounded Rectangle 14"/>
          <p:cNvSpPr/>
          <p:nvPr/>
        </p:nvSpPr>
        <p:spPr>
          <a:xfrm>
            <a:off x="2667000" y="2619375"/>
            <a:ext cx="2819400" cy="2286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2743200" y="5238750"/>
            <a:ext cx="3962400" cy="2286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400800" y="32766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Details / differences are hidden from clients ! 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5591175" y="2673350"/>
            <a:ext cx="1057275" cy="736600"/>
          </a:xfrm>
          <a:custGeom>
            <a:avLst/>
            <a:gdLst>
              <a:gd name="connsiteX0" fmla="*/ 1057275 w 1057275"/>
              <a:gd name="connsiteY0" fmla="*/ 736600 h 736600"/>
              <a:gd name="connsiteX1" fmla="*/ 771525 w 1057275"/>
              <a:gd name="connsiteY1" fmla="*/ 555625 h 736600"/>
              <a:gd name="connsiteX2" fmla="*/ 638175 w 1057275"/>
              <a:gd name="connsiteY2" fmla="*/ 88900 h 736600"/>
              <a:gd name="connsiteX3" fmla="*/ 0 w 1057275"/>
              <a:gd name="connsiteY3" fmla="*/ 22225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736600">
                <a:moveTo>
                  <a:pt x="1057275" y="736600"/>
                </a:moveTo>
                <a:cubicBezTo>
                  <a:pt x="949325" y="700087"/>
                  <a:pt x="841375" y="663575"/>
                  <a:pt x="771525" y="555625"/>
                </a:cubicBezTo>
                <a:cubicBezTo>
                  <a:pt x="701675" y="447675"/>
                  <a:pt x="766762" y="177800"/>
                  <a:pt x="638175" y="88900"/>
                </a:cubicBezTo>
                <a:cubicBezTo>
                  <a:pt x="509588" y="0"/>
                  <a:pt x="254794" y="11112"/>
                  <a:pt x="0" y="2222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6526213" y="3525838"/>
            <a:ext cx="546100" cy="1855787"/>
          </a:xfrm>
          <a:custGeom>
            <a:avLst/>
            <a:gdLst>
              <a:gd name="connsiteX0" fmla="*/ 236537 w 546100"/>
              <a:gd name="connsiteY0" fmla="*/ 103187 h 1855787"/>
              <a:gd name="connsiteX1" fmla="*/ 46037 w 546100"/>
              <a:gd name="connsiteY1" fmla="*/ 227012 h 1855787"/>
              <a:gd name="connsiteX2" fmla="*/ 512762 w 546100"/>
              <a:gd name="connsiteY2" fmla="*/ 1465262 h 1855787"/>
              <a:gd name="connsiteX3" fmla="*/ 246062 w 546100"/>
              <a:gd name="connsiteY3" fmla="*/ 1855787 h 185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00" h="1855787">
                <a:moveTo>
                  <a:pt x="236537" y="103187"/>
                </a:moveTo>
                <a:cubicBezTo>
                  <a:pt x="118268" y="51593"/>
                  <a:pt x="0" y="0"/>
                  <a:pt x="46037" y="227012"/>
                </a:cubicBezTo>
                <a:cubicBezTo>
                  <a:pt x="92074" y="454024"/>
                  <a:pt x="479425" y="1193800"/>
                  <a:pt x="512762" y="1465262"/>
                </a:cubicBezTo>
                <a:cubicBezTo>
                  <a:pt x="546100" y="1736725"/>
                  <a:pt x="396081" y="1796256"/>
                  <a:pt x="246062" y="1855787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81000" y="29718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Common interface allow clients to traverse through the _products objects in this collection, regardless of the difference that may exist in the _products interfaces!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137420"/>
            <a:ext cx="5715000" cy="529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ounded Rectangle 16"/>
          <p:cNvSpPr/>
          <p:nvPr/>
        </p:nvSpPr>
        <p:spPr>
          <a:xfrm>
            <a:off x="2743200" y="2657475"/>
            <a:ext cx="2819400" cy="2286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743200" y="5210175"/>
            <a:ext cx="3962400" cy="2286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400800" y="32766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Details / differences are hidden from clients ! 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5591175" y="2673350"/>
            <a:ext cx="1057275" cy="736600"/>
          </a:xfrm>
          <a:custGeom>
            <a:avLst/>
            <a:gdLst>
              <a:gd name="connsiteX0" fmla="*/ 1057275 w 1057275"/>
              <a:gd name="connsiteY0" fmla="*/ 736600 h 736600"/>
              <a:gd name="connsiteX1" fmla="*/ 771525 w 1057275"/>
              <a:gd name="connsiteY1" fmla="*/ 555625 h 736600"/>
              <a:gd name="connsiteX2" fmla="*/ 638175 w 1057275"/>
              <a:gd name="connsiteY2" fmla="*/ 88900 h 736600"/>
              <a:gd name="connsiteX3" fmla="*/ 0 w 1057275"/>
              <a:gd name="connsiteY3" fmla="*/ 22225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736600">
                <a:moveTo>
                  <a:pt x="1057275" y="736600"/>
                </a:moveTo>
                <a:cubicBezTo>
                  <a:pt x="949325" y="700087"/>
                  <a:pt x="841375" y="663575"/>
                  <a:pt x="771525" y="555625"/>
                </a:cubicBezTo>
                <a:cubicBezTo>
                  <a:pt x="701675" y="447675"/>
                  <a:pt x="766762" y="177800"/>
                  <a:pt x="638175" y="88900"/>
                </a:cubicBezTo>
                <a:cubicBezTo>
                  <a:pt x="509588" y="0"/>
                  <a:pt x="254794" y="11112"/>
                  <a:pt x="0" y="2222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6526213" y="3525838"/>
            <a:ext cx="546100" cy="1855787"/>
          </a:xfrm>
          <a:custGeom>
            <a:avLst/>
            <a:gdLst>
              <a:gd name="connsiteX0" fmla="*/ 236537 w 546100"/>
              <a:gd name="connsiteY0" fmla="*/ 103187 h 1855787"/>
              <a:gd name="connsiteX1" fmla="*/ 46037 w 546100"/>
              <a:gd name="connsiteY1" fmla="*/ 227012 h 1855787"/>
              <a:gd name="connsiteX2" fmla="*/ 512762 w 546100"/>
              <a:gd name="connsiteY2" fmla="*/ 1465262 h 1855787"/>
              <a:gd name="connsiteX3" fmla="*/ 246062 w 546100"/>
              <a:gd name="connsiteY3" fmla="*/ 1855787 h 185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00" h="1855787">
                <a:moveTo>
                  <a:pt x="236537" y="103187"/>
                </a:moveTo>
                <a:cubicBezTo>
                  <a:pt x="118268" y="51593"/>
                  <a:pt x="0" y="0"/>
                  <a:pt x="46037" y="227012"/>
                </a:cubicBezTo>
                <a:cubicBezTo>
                  <a:pt x="92074" y="454024"/>
                  <a:pt x="479425" y="1193800"/>
                  <a:pt x="512762" y="1465262"/>
                </a:cubicBezTo>
                <a:cubicBezTo>
                  <a:pt x="546100" y="1736725"/>
                  <a:pt x="396081" y="1796256"/>
                  <a:pt x="246062" y="1855787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81000" y="29718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Common interface allow clients to traverse through the _products objects in this collection, regardless of the difference that may exist in the _products interfaces!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4648200" y="2895600"/>
            <a:ext cx="4114800" cy="2895600"/>
            <a:chOff x="4648200" y="2971800"/>
            <a:chExt cx="4114800" cy="2895600"/>
          </a:xfrm>
        </p:grpSpPr>
        <p:pic>
          <p:nvPicPr>
            <p:cNvPr id="1229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24400" y="3084290"/>
              <a:ext cx="4038600" cy="26497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Folded Corner 9"/>
            <p:cNvSpPr/>
            <p:nvPr/>
          </p:nvSpPr>
          <p:spPr>
            <a:xfrm>
              <a:off x="4648200" y="2971800"/>
              <a:ext cx="4114800" cy="2895600"/>
            </a:xfrm>
            <a:prstGeom prst="foldedCorner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81000" y="2895600"/>
            <a:ext cx="4120567" cy="2895600"/>
            <a:chOff x="381000" y="2971800"/>
            <a:chExt cx="4120567" cy="2895600"/>
          </a:xfrm>
        </p:grpSpPr>
        <p:pic>
          <p:nvPicPr>
            <p:cNvPr id="1229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" y="3076574"/>
              <a:ext cx="4044367" cy="2638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Folded Corner 11"/>
            <p:cNvSpPr/>
            <p:nvPr/>
          </p:nvSpPr>
          <p:spPr>
            <a:xfrm>
              <a:off x="381000" y="2971800"/>
              <a:ext cx="4114800" cy="2895600"/>
            </a:xfrm>
            <a:prstGeom prst="foldedCorner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667000" y="1447800"/>
            <a:ext cx="3733800" cy="1295400"/>
            <a:chOff x="2667000" y="1524000"/>
            <a:chExt cx="3733800" cy="1295400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19400" y="1676400"/>
              <a:ext cx="3562350" cy="1095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Folded Corner 12"/>
            <p:cNvSpPr/>
            <p:nvPr/>
          </p:nvSpPr>
          <p:spPr>
            <a:xfrm>
              <a:off x="2667000" y="1524000"/>
              <a:ext cx="3733800" cy="1295400"/>
            </a:xfrm>
            <a:prstGeom prst="foldedCorner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362200"/>
            <a:ext cx="4676775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172200" y="1981200"/>
            <a:ext cx="251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We can now display product information the same way for any store!  With this design, if new stores are added, we can reuse the same displayProduct method to display products!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5257800" y="2095500"/>
            <a:ext cx="1009650" cy="342900"/>
          </a:xfrm>
          <a:custGeom>
            <a:avLst/>
            <a:gdLst>
              <a:gd name="connsiteX0" fmla="*/ 1009650 w 1009650"/>
              <a:gd name="connsiteY0" fmla="*/ 0 h 342900"/>
              <a:gd name="connsiteX1" fmla="*/ 190500 w 1009650"/>
              <a:gd name="connsiteY1" fmla="*/ 123825 h 342900"/>
              <a:gd name="connsiteX2" fmla="*/ 0 w 1009650"/>
              <a:gd name="connsiteY2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9650" h="342900">
                <a:moveTo>
                  <a:pt x="1009650" y="0"/>
                </a:moveTo>
                <a:cubicBezTo>
                  <a:pt x="684212" y="33337"/>
                  <a:pt x="358775" y="66675"/>
                  <a:pt x="190500" y="123825"/>
                </a:cubicBezTo>
                <a:cubicBezTo>
                  <a:pt x="22225" y="180975"/>
                  <a:pt x="11112" y="261937"/>
                  <a:pt x="0" y="34290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743200" y="54864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Iterators are used all over the Java framework, C#, and C++ standard template library!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Java Iterator and ListIterator Interface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81000" y="160020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Java </a:t>
            </a:r>
            <a:r>
              <a:rPr lang="en-US" sz="1200" b="1" u="sng" dirty="0" smtClean="0">
                <a:solidFill>
                  <a:srgbClr val="C00000"/>
                </a:solidFill>
                <a:latin typeface="Bradley Hand ITC" pitchFamily="66" charset="0"/>
              </a:rPr>
              <a:t>Iterator</a:t>
            </a:r>
            <a:endParaRPr lang="en-US" sz="1200" b="1" u="sng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04800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Java </a:t>
            </a:r>
            <a:r>
              <a:rPr lang="en-US" sz="1200" b="1" u="sng" dirty="0" smtClean="0">
                <a:solidFill>
                  <a:srgbClr val="C00000"/>
                </a:solidFill>
                <a:latin typeface="Bradley Hand ITC" pitchFamily="66" charset="0"/>
              </a:rPr>
              <a:t>ListIterator</a:t>
            </a:r>
            <a:endParaRPr lang="en-US" sz="1200" b="1" u="sng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1447800" y="1790700"/>
            <a:ext cx="561975" cy="514350"/>
          </a:xfrm>
          <a:custGeom>
            <a:avLst/>
            <a:gdLst>
              <a:gd name="connsiteX0" fmla="*/ 0 w 561975"/>
              <a:gd name="connsiteY0" fmla="*/ 0 h 514350"/>
              <a:gd name="connsiteX1" fmla="*/ 152400 w 561975"/>
              <a:gd name="connsiteY1" fmla="*/ 114300 h 514350"/>
              <a:gd name="connsiteX2" fmla="*/ 219075 w 561975"/>
              <a:gd name="connsiteY2" fmla="*/ 409575 h 514350"/>
              <a:gd name="connsiteX3" fmla="*/ 561975 w 561975"/>
              <a:gd name="connsiteY3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514350">
                <a:moveTo>
                  <a:pt x="0" y="0"/>
                </a:moveTo>
                <a:cubicBezTo>
                  <a:pt x="57944" y="23019"/>
                  <a:pt x="115888" y="46038"/>
                  <a:pt x="152400" y="114300"/>
                </a:cubicBezTo>
                <a:cubicBezTo>
                  <a:pt x="188912" y="182562"/>
                  <a:pt x="150813" y="342900"/>
                  <a:pt x="219075" y="409575"/>
                </a:cubicBezTo>
                <a:cubicBezTo>
                  <a:pt x="287338" y="476250"/>
                  <a:pt x="424656" y="495300"/>
                  <a:pt x="561975" y="51435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447800" y="3276600"/>
            <a:ext cx="561975" cy="514350"/>
          </a:xfrm>
          <a:custGeom>
            <a:avLst/>
            <a:gdLst>
              <a:gd name="connsiteX0" fmla="*/ 0 w 561975"/>
              <a:gd name="connsiteY0" fmla="*/ 0 h 514350"/>
              <a:gd name="connsiteX1" fmla="*/ 152400 w 561975"/>
              <a:gd name="connsiteY1" fmla="*/ 114300 h 514350"/>
              <a:gd name="connsiteX2" fmla="*/ 219075 w 561975"/>
              <a:gd name="connsiteY2" fmla="*/ 409575 h 514350"/>
              <a:gd name="connsiteX3" fmla="*/ 561975 w 561975"/>
              <a:gd name="connsiteY3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514350">
                <a:moveTo>
                  <a:pt x="0" y="0"/>
                </a:moveTo>
                <a:cubicBezTo>
                  <a:pt x="57944" y="23019"/>
                  <a:pt x="115888" y="46038"/>
                  <a:pt x="152400" y="114300"/>
                </a:cubicBezTo>
                <a:cubicBezTo>
                  <a:pt x="188912" y="182562"/>
                  <a:pt x="150813" y="342900"/>
                  <a:pt x="219075" y="409575"/>
                </a:cubicBezTo>
                <a:cubicBezTo>
                  <a:pt x="287338" y="476250"/>
                  <a:pt x="424656" y="495300"/>
                  <a:pt x="561975" y="51435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447800"/>
            <a:ext cx="5886450" cy="1279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2819400"/>
            <a:ext cx="6138346" cy="328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Enumeration Interface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00200"/>
            <a:ext cx="7066321" cy="390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ounded Rectangle 8"/>
          <p:cNvSpPr/>
          <p:nvPr/>
        </p:nvSpPr>
        <p:spPr>
          <a:xfrm>
            <a:off x="838200" y="5105400"/>
            <a:ext cx="7315200" cy="5334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00" y="5305425"/>
            <a:ext cx="3429000" cy="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71600" y="4038600"/>
            <a:ext cx="3962400" cy="5334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step-by-step approach for designing the Iterator design pattern is presented as follows: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Identify and design the Iterator interface.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For each class representing a collection data structure in the software system, design a concrete Iterator and associate it with it.  Implement the concrete </a:t>
            </a:r>
            <a:r>
              <a:rPr lang="en-US" dirty="0" err="1" smtClean="0"/>
              <a:t>iterator’s</a:t>
            </a:r>
            <a:r>
              <a:rPr lang="en-US" dirty="0" smtClean="0"/>
              <a:t> methods in terms of the collection data structure.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Create the Aggregate interface, which includes the interface method to create Iterators.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For each class representing a collection data structure, implement the Aggregate interface to instantiate and return a concrete Iterator.</a:t>
            </a:r>
          </a:p>
          <a:p>
            <a:endParaRPr lang="en-US" dirty="0" smtClean="0"/>
          </a:p>
          <a:p>
            <a:r>
              <a:rPr lang="en-US" dirty="0" smtClean="0"/>
              <a:t>Benefits of the Iterator design pattern include:</a:t>
            </a:r>
          </a:p>
          <a:p>
            <a:pPr lvl="1"/>
            <a:r>
              <a:rPr lang="en-US" dirty="0" smtClean="0"/>
              <a:t>The Iterator provides a consistent way for clients to iterate through the objects in a collection.</a:t>
            </a:r>
          </a:p>
          <a:p>
            <a:pPr lvl="1"/>
            <a:r>
              <a:rPr lang="en-US" dirty="0" smtClean="0"/>
              <a:t>It abstracts the internals of the collection objects so that if they change, clients do not have to change.</a:t>
            </a:r>
          </a:p>
          <a:p>
            <a:pPr lvl="1"/>
            <a:r>
              <a:rPr lang="en-US" dirty="0" smtClean="0"/>
              <a:t>Allows client code to be extended easily; numerous iterators can be created to support different traversals from the same or different collection structure.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175259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The Observer design pattern is an object behavioral pattern that standardizes the operations between objects that interoperate using a one-to-many relationship.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According to the </a:t>
            </a:r>
            <a:r>
              <a:rPr lang="en-US" dirty="0" err="1" smtClean="0"/>
              <a:t>GoF</a:t>
            </a:r>
            <a:r>
              <a:rPr lang="en-US" dirty="0" smtClean="0"/>
              <a:t>, the intent of the Observer is to [1]</a:t>
            </a:r>
          </a:p>
          <a:p>
            <a:pPr lvl="1"/>
            <a:r>
              <a:rPr lang="en-US" dirty="0" smtClean="0"/>
              <a:t>Define a one-to-many dependency between objects so that when one object changes state, all its dependents are notified and updated automatically.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810000"/>
            <a:ext cx="362902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3810000" y="6248400"/>
            <a:ext cx="533400" cy="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257800" y="5867400"/>
            <a:ext cx="17526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209800" y="6096000"/>
            <a:ext cx="2209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7338" y="1719263"/>
            <a:ext cx="6029325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1814513" y="2438400"/>
            <a:ext cx="5576887" cy="1976438"/>
            <a:chOff x="1814513" y="2438400"/>
            <a:chExt cx="5576887" cy="1976438"/>
          </a:xfrm>
        </p:grpSpPr>
        <p:pic>
          <p:nvPicPr>
            <p:cNvPr id="1536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814513" y="2443163"/>
              <a:ext cx="5514975" cy="197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Rectangle 25"/>
            <p:cNvSpPr/>
            <p:nvPr/>
          </p:nvSpPr>
          <p:spPr>
            <a:xfrm>
              <a:off x="6705600" y="2438400"/>
              <a:ext cx="685800" cy="76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295400"/>
            <a:ext cx="561022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4495800"/>
            <a:ext cx="55149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600200"/>
            <a:ext cx="525780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962400"/>
            <a:ext cx="433387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5562600" y="35814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When a decision is made, the notify method is called to iterate through the list of registered observers to update them with the latest news!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6134100" y="4295775"/>
            <a:ext cx="1973263" cy="908050"/>
          </a:xfrm>
          <a:custGeom>
            <a:avLst/>
            <a:gdLst>
              <a:gd name="connsiteX0" fmla="*/ 1790700 w 1973263"/>
              <a:gd name="connsiteY0" fmla="*/ 0 h 908050"/>
              <a:gd name="connsiteX1" fmla="*/ 1914525 w 1973263"/>
              <a:gd name="connsiteY1" fmla="*/ 514350 h 908050"/>
              <a:gd name="connsiteX2" fmla="*/ 1438275 w 1973263"/>
              <a:gd name="connsiteY2" fmla="*/ 904875 h 908050"/>
              <a:gd name="connsiteX3" fmla="*/ 590550 w 1973263"/>
              <a:gd name="connsiteY3" fmla="*/ 495300 h 908050"/>
              <a:gd name="connsiteX4" fmla="*/ 0 w 1973263"/>
              <a:gd name="connsiteY4" fmla="*/ 514350 h 9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3263" h="908050">
                <a:moveTo>
                  <a:pt x="1790700" y="0"/>
                </a:moveTo>
                <a:cubicBezTo>
                  <a:pt x="1881981" y="181768"/>
                  <a:pt x="1973263" y="363537"/>
                  <a:pt x="1914525" y="514350"/>
                </a:cubicBezTo>
                <a:cubicBezTo>
                  <a:pt x="1855787" y="665163"/>
                  <a:pt x="1658937" y="908050"/>
                  <a:pt x="1438275" y="904875"/>
                </a:cubicBezTo>
                <a:cubicBezTo>
                  <a:pt x="1217613" y="901700"/>
                  <a:pt x="830262" y="560387"/>
                  <a:pt x="590550" y="495300"/>
                </a:cubicBezTo>
                <a:cubicBezTo>
                  <a:pt x="350838" y="430213"/>
                  <a:pt x="175419" y="472281"/>
                  <a:pt x="0" y="51435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705600" y="2590800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Register observers with the subject, in this case, the DecisionEngine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6448425" y="3068638"/>
            <a:ext cx="571500" cy="268287"/>
          </a:xfrm>
          <a:custGeom>
            <a:avLst/>
            <a:gdLst>
              <a:gd name="connsiteX0" fmla="*/ 571500 w 571500"/>
              <a:gd name="connsiteY0" fmla="*/ 17462 h 268287"/>
              <a:gd name="connsiteX1" fmla="*/ 400050 w 571500"/>
              <a:gd name="connsiteY1" fmla="*/ 36512 h 268287"/>
              <a:gd name="connsiteX2" fmla="*/ 276225 w 571500"/>
              <a:gd name="connsiteY2" fmla="*/ 236537 h 268287"/>
              <a:gd name="connsiteX3" fmla="*/ 0 w 571500"/>
              <a:gd name="connsiteY3" fmla="*/ 227012 h 26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268287">
                <a:moveTo>
                  <a:pt x="571500" y="17462"/>
                </a:moveTo>
                <a:cubicBezTo>
                  <a:pt x="510381" y="8731"/>
                  <a:pt x="449263" y="0"/>
                  <a:pt x="400050" y="36512"/>
                </a:cubicBezTo>
                <a:cubicBezTo>
                  <a:pt x="350838" y="73025"/>
                  <a:pt x="342900" y="204787"/>
                  <a:pt x="276225" y="236537"/>
                </a:cubicBezTo>
                <a:cubicBezTo>
                  <a:pt x="209550" y="268287"/>
                  <a:pt x="104775" y="247649"/>
                  <a:pt x="0" y="227012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Observer Interface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6338" y="1671638"/>
            <a:ext cx="6791325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Observable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524000"/>
            <a:ext cx="792480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5257800" y="2133600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Observers are almost always used within the MVC architecture!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4848225" y="2381250"/>
            <a:ext cx="552450" cy="266700"/>
          </a:xfrm>
          <a:custGeom>
            <a:avLst/>
            <a:gdLst>
              <a:gd name="connsiteX0" fmla="*/ 552450 w 552450"/>
              <a:gd name="connsiteY0" fmla="*/ 0 h 266700"/>
              <a:gd name="connsiteX1" fmla="*/ 142875 w 552450"/>
              <a:gd name="connsiteY1" fmla="*/ 95250 h 266700"/>
              <a:gd name="connsiteX2" fmla="*/ 0 w 55245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2450" h="266700">
                <a:moveTo>
                  <a:pt x="552450" y="0"/>
                </a:moveTo>
                <a:cubicBezTo>
                  <a:pt x="393700" y="25400"/>
                  <a:pt x="234950" y="50800"/>
                  <a:pt x="142875" y="95250"/>
                </a:cubicBezTo>
                <a:cubicBezTo>
                  <a:pt x="50800" y="139700"/>
                  <a:pt x="25400" y="203200"/>
                  <a:pt x="0" y="26670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Observable Methods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371600"/>
            <a:ext cx="7088327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4957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steps required to apply the Observer design pattern include: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Design the Subject interface and implement code for attaching, detaching, and notifying observer objects.  The code for keeping track of observers can be done using existing linked-lists data structures.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For classes that manage information of interests to observers, inherit from the subject class created in step 1.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Design the Observer interface, which includes the abstract update interface method.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For all observers in the system, implement the Observer interface, which requires implementing the update method.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At run-time, create each observer and attach them to the subject.  When changes occur, the subject iterates through its list of registered objects, and calls their update method.</a:t>
            </a:r>
          </a:p>
          <a:p>
            <a:pPr lvl="1"/>
            <a:endParaRPr lang="en-US" dirty="0" smtClean="0"/>
          </a:p>
          <a:p>
            <a:pPr lvl="0"/>
            <a:r>
              <a:rPr lang="en-US" dirty="0" smtClean="0"/>
              <a:t>Benefits of the Observer design pattern:</a:t>
            </a:r>
          </a:p>
          <a:p>
            <a:pPr lvl="1"/>
            <a:r>
              <a:rPr lang="en-US" dirty="0" smtClean="0"/>
              <a:t>Flexibility for adding new services to the system.</a:t>
            </a:r>
          </a:p>
          <a:p>
            <a:pPr lvl="1"/>
            <a:r>
              <a:rPr lang="en-US" dirty="0" smtClean="0"/>
              <a:t>Since specific services are compartmentalized, maintain and modifying existing system services becomes easier.</a:t>
            </a:r>
          </a:p>
          <a:p>
            <a:pPr lvl="1"/>
            <a:endParaRPr lang="en-US" dirty="0" smtClean="0"/>
          </a:p>
          <a:p>
            <a:pPr lvl="0"/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Next…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this session, we presented behavioral design patterns, including:</a:t>
            </a:r>
          </a:p>
          <a:p>
            <a:pPr lvl="1"/>
            <a:r>
              <a:rPr lang="en-US" dirty="0" smtClean="0"/>
              <a:t>Iterator</a:t>
            </a:r>
          </a:p>
          <a:p>
            <a:pPr lvl="1"/>
            <a:r>
              <a:rPr lang="en-US" dirty="0" smtClean="0"/>
              <a:t>Observer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This concludes the presentation of design patterns in detailed design.  In the next module, we will present a different form of design which occurs (mostly) at the function-level.  We refer to this form of design as construction design.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[1] Gamma, Erich, Richard Helm, Ralph Johnson, and John </a:t>
            </a:r>
            <a:r>
              <a:rPr lang="en-US" dirty="0" err="1" smtClean="0"/>
              <a:t>Vlissides</a:t>
            </a:r>
            <a:r>
              <a:rPr lang="en-US" dirty="0" smtClean="0"/>
              <a:t>.  </a:t>
            </a:r>
            <a:r>
              <a:rPr lang="en-US" i="1" dirty="0" smtClean="0"/>
              <a:t>Design Patterns: Elements of Reusable Object-Oriented Software</a:t>
            </a:r>
            <a:r>
              <a:rPr lang="en-US" dirty="0" smtClean="0"/>
              <a:t>.  Boston: Addison-Wesley, 1995.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Va-Wise-Clean-B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UVa-Wise-Clean-BW</Template>
  <TotalTime>19504</TotalTime>
  <Words>1403</Words>
  <Application>Microsoft Office PowerPoint</Application>
  <PresentationFormat>On-screen Show (4:3)</PresentationFormat>
  <Paragraphs>209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UVa-Wise-Clean-BW</vt:lpstr>
      <vt:lpstr>Chapter 7: Structural and Behavioral  Design Patterns</vt:lpstr>
      <vt:lpstr>Session’s Agenda</vt:lpstr>
      <vt:lpstr>Behavioral Design Patterns</vt:lpstr>
      <vt:lpstr>Iterator Design Pattern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The Java Iterator and ListIterator Interface</vt:lpstr>
      <vt:lpstr>Java Enumeration Interface</vt:lpstr>
      <vt:lpstr>Iterator Design Pattern</vt:lpstr>
      <vt:lpstr>Observer Design Pattern</vt:lpstr>
      <vt:lpstr>Observer Design Pattern Example</vt:lpstr>
      <vt:lpstr>Observer Design Pattern Example</vt:lpstr>
      <vt:lpstr>Observer Design Pattern Example</vt:lpstr>
      <vt:lpstr>Observer Design Pattern Example</vt:lpstr>
      <vt:lpstr>Java Observer Interface</vt:lpstr>
      <vt:lpstr>Java Observable</vt:lpstr>
      <vt:lpstr>Java Observable Methods</vt:lpstr>
      <vt:lpstr>Observer Design Pattern</vt:lpstr>
      <vt:lpstr>What’s Next…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Design: Theory and Practice</dc:title>
  <dc:creator>Carlos E. Otero, Ph.D.</dc:creator>
  <dc:description>This slides may be reproduced only for student use when used in conjunction with Software Engineering Design: Theory and Practice. Any other reproduction or use is prohibited without express written permission of the author.</dc:description>
  <cp:lastModifiedBy>User</cp:lastModifiedBy>
  <cp:revision>1109</cp:revision>
  <dcterms:created xsi:type="dcterms:W3CDTF">2006-08-16T00:00:00Z</dcterms:created>
  <dcterms:modified xsi:type="dcterms:W3CDTF">2019-06-18T04:36:59Z</dcterms:modified>
</cp:coreProperties>
</file>