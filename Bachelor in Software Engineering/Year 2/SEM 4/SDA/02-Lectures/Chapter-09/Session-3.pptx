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9144000"/>
  <p:notesSz cx="70104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32" roundtripDataSignature="AMtx7mh/iaIn4OXNeUZKuF0ngAA6X690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7840" cy="464820"/>
          </a:xfrm>
          <a:prstGeom prst="rect">
            <a:avLst/>
          </a:prstGeom>
          <a:noFill/>
          <a:ln>
            <a:noFill/>
          </a:ln>
        </p:spPr>
        <p:txBody>
          <a:bodyPr anchorCtr="0" anchor="t" bIns="46575" lIns="93150" spcFirstLastPara="1" rIns="93150" wrap="square" tIns="4657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0"/>
            <a:ext cx="3037840" cy="464820"/>
          </a:xfrm>
          <a:prstGeom prst="rect">
            <a:avLst/>
          </a:prstGeom>
          <a:noFill/>
          <a:ln>
            <a:noFill/>
          </a:ln>
        </p:spPr>
        <p:txBody>
          <a:bodyPr anchorCtr="0" anchor="t" bIns="46575" lIns="93150" spcFirstLastPara="1" rIns="93150" wrap="square" tIns="46575">
            <a:noAutofit/>
          </a:bodyPr>
          <a:lstStyle>
            <a:lvl1pPr lvl="0" marR="0" rtl="0" algn="r">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29967"/>
            <a:ext cx="3037840" cy="464820"/>
          </a:xfrm>
          <a:prstGeom prst="rect">
            <a:avLst/>
          </a:prstGeom>
          <a:noFill/>
          <a:ln>
            <a:noFill/>
          </a:ln>
        </p:spPr>
        <p:txBody>
          <a:bodyPr anchorCtr="0" anchor="b" bIns="46575" lIns="93150" spcFirstLastPara="1" rIns="93150" wrap="square" tIns="4657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829967"/>
            <a:ext cx="3037840" cy="464820"/>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99" name="Google Shape;99;p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135" name="Google Shape;135;p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144" name="Google Shape;144;p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8: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8: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As already stated, personality dimensions are defined by groups of traits and can provide an understanding of leadership in individuals.  A different approach to studying personality dimensions is to investigate common individual traits that effective leaders possess, without grouping traits into personality dimensions. </a:t>
            </a:r>
            <a:endParaRPr/>
          </a:p>
        </p:txBody>
      </p:sp>
      <p:sp>
        <p:nvSpPr>
          <p:cNvPr id="154" name="Google Shape;154;p8:notes"/>
          <p:cNvSpPr txBox="1"/>
          <p:nvPr>
            <p:ph idx="12" type="sldNum"/>
          </p:nvPr>
        </p:nvSpPr>
        <p:spPr>
          <a:xfrm>
            <a:off x="3970938" y="8829967"/>
            <a:ext cx="3037840" cy="46482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9: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9: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rmAutofit/>
          </a:bodyPr>
          <a:lstStyle/>
          <a:p>
            <a:pPr indent="0" lvl="0" marL="0" rtl="0" algn="l">
              <a:spcBef>
                <a:spcPts val="0"/>
              </a:spcBef>
              <a:spcAft>
                <a:spcPts val="0"/>
              </a:spcAft>
              <a:buNone/>
            </a:pPr>
            <a:r>
              <a:rPr lang="en-US"/>
              <a:t>Focus on a higher purpose while going through the decision process that involves moral behavior.  </a:t>
            </a:r>
            <a:endParaRPr/>
          </a:p>
          <a:p>
            <a:pPr indent="0" lvl="1" marL="457200" rtl="0" algn="l">
              <a:spcBef>
                <a:spcPts val="0"/>
              </a:spcBef>
              <a:spcAft>
                <a:spcPts val="0"/>
              </a:spcAft>
              <a:buNone/>
            </a:pPr>
            <a:r>
              <a:rPr lang="en-US"/>
              <a:t>For example, assume that the design lead of a major top secret software project is approached by a foreign citizen with a proposition to sell the software design and other important documents to an enemy country.  If focused on the safety of the people (i.e., the higher purpose), then ethical values will provide the answer of not accepting the offer and reporting the foreign person to the authorities.</a:t>
            </a:r>
            <a:endParaRPr/>
          </a:p>
          <a:p>
            <a:pPr indent="0" lvl="1"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165" name="Google Shape;165;p9:notes"/>
          <p:cNvSpPr txBox="1"/>
          <p:nvPr>
            <p:ph idx="12" type="sldNum"/>
          </p:nvPr>
        </p:nvSpPr>
        <p:spPr>
          <a:xfrm>
            <a:off x="3970938" y="8829967"/>
            <a:ext cx="3037840" cy="46482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10: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rmAutofit/>
          </a:bodyPr>
          <a:lstStyle/>
          <a:p>
            <a:pPr indent="0" lvl="0" marL="0" rtl="0" algn="l">
              <a:spcBef>
                <a:spcPts val="0"/>
              </a:spcBef>
              <a:spcAft>
                <a:spcPts val="0"/>
              </a:spcAft>
              <a:buNone/>
            </a:pPr>
            <a:r>
              <a:rPr lang="en-US"/>
              <a:t>Leading is about influencing others.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REWARD POWER: Employees will be influenced to complete their corresponding assignments because of their manager’s reward power to provide good performance evaluations. </a:t>
            </a:r>
            <a:endParaRPr/>
          </a:p>
          <a:p>
            <a:pPr indent="0" lvl="0" marL="0" rtl="0" algn="l">
              <a:spcBef>
                <a:spcPts val="0"/>
              </a:spcBef>
              <a:spcAft>
                <a:spcPts val="0"/>
              </a:spcAft>
              <a:buNone/>
            </a:pPr>
            <a:r>
              <a:rPr lang="en-US"/>
              <a:t>COERCIVE POWER: Employees can be influenced to complete their corresponding assignments because of their manager’s coercive power to provide bad performance evaluations and withhold salary increases</a:t>
            </a:r>
            <a:endParaRPr/>
          </a:p>
        </p:txBody>
      </p:sp>
      <p:sp>
        <p:nvSpPr>
          <p:cNvPr id="176" name="Google Shape;176;p10:notes"/>
          <p:cNvSpPr txBox="1"/>
          <p:nvPr>
            <p:ph idx="12" type="sldNum"/>
          </p:nvPr>
        </p:nvSpPr>
        <p:spPr>
          <a:xfrm>
            <a:off x="3970938" y="8829967"/>
            <a:ext cx="3037840" cy="46482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1: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rmAutofit/>
          </a:bodyPr>
          <a:lstStyle/>
          <a:p>
            <a:pPr indent="0" lvl="0" marL="0" rtl="0" algn="l">
              <a:spcBef>
                <a:spcPts val="0"/>
              </a:spcBef>
              <a:spcAft>
                <a:spcPts val="0"/>
              </a:spcAft>
              <a:buNone/>
            </a:pPr>
            <a:r>
              <a:rPr lang="en-US"/>
              <a:t>Leading is about influencing others. </a:t>
            </a:r>
            <a:endParaRPr/>
          </a:p>
        </p:txBody>
      </p:sp>
      <p:sp>
        <p:nvSpPr>
          <p:cNvPr id="187" name="Google Shape;187;p11:notes"/>
          <p:cNvSpPr txBox="1"/>
          <p:nvPr>
            <p:ph idx="12" type="sldNum"/>
          </p:nvPr>
        </p:nvSpPr>
        <p:spPr>
          <a:xfrm>
            <a:off x="3970938" y="8829967"/>
            <a:ext cx="3037840" cy="46482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2: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197" name="Google Shape;197;p1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3: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207" name="Google Shape;207;p1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4: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rmAutofit/>
          </a:bodyPr>
          <a:lstStyle/>
          <a:p>
            <a:pPr indent="0" lvl="0" marL="0" rtl="0" algn="l">
              <a:spcBef>
                <a:spcPts val="0"/>
              </a:spcBef>
              <a:spcAft>
                <a:spcPts val="0"/>
              </a:spcAft>
              <a:buNone/>
            </a:pPr>
            <a:r>
              <a:rPr lang="en-US"/>
              <a:t>Making an outline also helps to establish an appropriate flow for the message, which is necessary for a clear understanding of it. </a:t>
            </a:r>
            <a:endParaRPr/>
          </a:p>
          <a:p>
            <a:pPr indent="0" lvl="0" marL="0" rtl="0" algn="l">
              <a:spcBef>
                <a:spcPts val="0"/>
              </a:spcBef>
              <a:spcAft>
                <a:spcPts val="0"/>
              </a:spcAft>
              <a:buNone/>
            </a:pPr>
            <a:r>
              <a:t/>
            </a:r>
            <a:endParaRPr/>
          </a:p>
        </p:txBody>
      </p:sp>
      <p:sp>
        <p:nvSpPr>
          <p:cNvPr id="217" name="Google Shape;217;p14:notes"/>
          <p:cNvSpPr txBox="1"/>
          <p:nvPr>
            <p:ph idx="12" type="sldNum"/>
          </p:nvPr>
        </p:nvSpPr>
        <p:spPr>
          <a:xfrm>
            <a:off x="3970938" y="8829967"/>
            <a:ext cx="3037840" cy="46482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5: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227" name="Google Shape;227;p1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6: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237" name="Google Shape;237;p1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7: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247" name="Google Shape;247;p1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8: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256" name="Google Shape;256;p18: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9: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265" name="Google Shape;265;p19: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0: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275" name="Google Shape;275;p2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1: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285" name="Google Shape;285;p2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2: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295" name="Google Shape;295;p2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3: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305" name="Google Shape;305;p2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4: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315" name="Google Shape;315;p2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5: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324" name="Google Shape;324;p2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6:notes"/>
          <p:cNvSpPr txBox="1"/>
          <p:nvPr>
            <p:ph idx="1" type="body"/>
          </p:nvPr>
        </p:nvSpPr>
        <p:spPr>
          <a:xfrm>
            <a:off x="701040" y="4415790"/>
            <a:ext cx="5608320" cy="4183380"/>
          </a:xfrm>
          <a:prstGeom prst="rect">
            <a:avLst/>
          </a:prstGeom>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
        <p:nvSpPr>
          <p:cNvPr id="334" name="Google Shape;334;p2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8"/>
          <p:cNvSpPr txBox="1"/>
          <p:nvPr>
            <p:ph type="ctrTitle"/>
          </p:nvPr>
        </p:nvSpPr>
        <p:spPr>
          <a:xfrm>
            <a:off x="0" y="685800"/>
            <a:ext cx="9144000" cy="1066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2400"/>
              <a:buFont typeface="Times New Roman"/>
              <a:buNone/>
              <a:defRPr b="1" sz="2400" cap="sma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8"/>
          <p:cNvSpPr txBox="1"/>
          <p:nvPr>
            <p:ph idx="1" type="subTitle"/>
          </p:nvPr>
        </p:nvSpPr>
        <p:spPr>
          <a:xfrm>
            <a:off x="0" y="1752599"/>
            <a:ext cx="9144000" cy="457200"/>
          </a:xfrm>
          <a:prstGeom prst="rect">
            <a:avLst/>
          </a:prstGeom>
          <a:noFill/>
          <a:ln>
            <a:noFill/>
          </a:ln>
        </p:spPr>
        <p:txBody>
          <a:bodyPr anchorCtr="0" anchor="t" bIns="45700" lIns="91425" spcFirstLastPara="1" rIns="91425" wrap="square" tIns="45700">
            <a:normAutofit/>
          </a:bodyPr>
          <a:lstStyle>
            <a:lvl1pPr lvl="0" algn="ctr">
              <a:spcBef>
                <a:spcPts val="0"/>
              </a:spcBef>
              <a:spcAft>
                <a:spcPts val="0"/>
              </a:spcAft>
              <a:buClr>
                <a:srgbClr val="000000"/>
              </a:buClr>
              <a:buSzPts val="2000"/>
              <a:buNone/>
              <a:defRPr sz="2000" cap="small">
                <a:solidFill>
                  <a:srgbClr val="000000"/>
                </a:solidFill>
                <a:latin typeface="Times New Roman"/>
                <a:ea typeface="Times New Roman"/>
                <a:cs typeface="Times New Roman"/>
                <a:sym typeface="Times New Roman"/>
              </a:defRPr>
            </a:lvl1pPr>
            <a:lvl2pPr lvl="1" algn="ctr">
              <a:spcBef>
                <a:spcPts val="400"/>
              </a:spcBef>
              <a:spcAft>
                <a:spcPts val="0"/>
              </a:spcAft>
              <a:buClr>
                <a:srgbClr val="888888"/>
              </a:buClr>
              <a:buSzPts val="2000"/>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280"/>
              </a:spcBef>
              <a:spcAft>
                <a:spcPts val="0"/>
              </a:spcAft>
              <a:buClr>
                <a:srgbClr val="888888"/>
              </a:buClr>
              <a:buSzPts val="14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9" name="Google Shape;19;p28"/>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000">
                <a:solidFill>
                  <a:srgbClr val="000000"/>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8"/>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sz="1000">
                <a:solidFill>
                  <a:srgbClr val="333333"/>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8"/>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b="0" i="1" sz="1000" u="none" cap="none" strike="noStrike">
                <a:solidFill>
                  <a:srgbClr val="000000"/>
                </a:solidFill>
                <a:latin typeface="Times New Roman"/>
                <a:ea typeface="Times New Roman"/>
                <a:cs typeface="Times New Roman"/>
                <a:sym typeface="Times New Roman"/>
              </a:defRPr>
            </a:lvl1pPr>
            <a:lvl2pPr indent="0" lvl="1" marL="0" algn="r">
              <a:spcBef>
                <a:spcPts val="0"/>
              </a:spcBef>
              <a:buNone/>
              <a:defRPr b="0" i="1" sz="1000" u="none" cap="none" strike="noStrike">
                <a:solidFill>
                  <a:srgbClr val="000000"/>
                </a:solidFill>
                <a:latin typeface="Times New Roman"/>
                <a:ea typeface="Times New Roman"/>
                <a:cs typeface="Times New Roman"/>
                <a:sym typeface="Times New Roman"/>
              </a:defRPr>
            </a:lvl2pPr>
            <a:lvl3pPr indent="0" lvl="2" marL="0" algn="r">
              <a:spcBef>
                <a:spcPts val="0"/>
              </a:spcBef>
              <a:buNone/>
              <a:defRPr b="0" i="1" sz="1000" u="none" cap="none" strike="noStrike">
                <a:solidFill>
                  <a:srgbClr val="000000"/>
                </a:solidFill>
                <a:latin typeface="Times New Roman"/>
                <a:ea typeface="Times New Roman"/>
                <a:cs typeface="Times New Roman"/>
                <a:sym typeface="Times New Roman"/>
              </a:defRPr>
            </a:lvl3pPr>
            <a:lvl4pPr indent="0" lvl="3" marL="0" algn="r">
              <a:spcBef>
                <a:spcPts val="0"/>
              </a:spcBef>
              <a:buNone/>
              <a:defRPr b="0" i="1" sz="1000" u="none" cap="none" strike="noStrike">
                <a:solidFill>
                  <a:srgbClr val="000000"/>
                </a:solidFill>
                <a:latin typeface="Times New Roman"/>
                <a:ea typeface="Times New Roman"/>
                <a:cs typeface="Times New Roman"/>
                <a:sym typeface="Times New Roman"/>
              </a:defRPr>
            </a:lvl4pPr>
            <a:lvl5pPr indent="0" lvl="4" marL="0" algn="r">
              <a:spcBef>
                <a:spcPts val="0"/>
              </a:spcBef>
              <a:buNone/>
              <a:defRPr b="0" i="1" sz="1000" u="none" cap="none" strike="noStrike">
                <a:solidFill>
                  <a:srgbClr val="000000"/>
                </a:solidFill>
                <a:latin typeface="Times New Roman"/>
                <a:ea typeface="Times New Roman"/>
                <a:cs typeface="Times New Roman"/>
                <a:sym typeface="Times New Roman"/>
              </a:defRPr>
            </a:lvl5pPr>
            <a:lvl6pPr indent="0" lvl="5" marL="0" algn="r">
              <a:spcBef>
                <a:spcPts val="0"/>
              </a:spcBef>
              <a:buNone/>
              <a:defRPr b="0" i="1" sz="1000" u="none" cap="none" strike="noStrike">
                <a:solidFill>
                  <a:srgbClr val="000000"/>
                </a:solidFill>
                <a:latin typeface="Times New Roman"/>
                <a:ea typeface="Times New Roman"/>
                <a:cs typeface="Times New Roman"/>
                <a:sym typeface="Times New Roman"/>
              </a:defRPr>
            </a:lvl6pPr>
            <a:lvl7pPr indent="0" lvl="6" marL="0" algn="r">
              <a:spcBef>
                <a:spcPts val="0"/>
              </a:spcBef>
              <a:buNone/>
              <a:defRPr b="0" i="1" sz="1000" u="none" cap="none" strike="noStrike">
                <a:solidFill>
                  <a:srgbClr val="000000"/>
                </a:solidFill>
                <a:latin typeface="Times New Roman"/>
                <a:ea typeface="Times New Roman"/>
                <a:cs typeface="Times New Roman"/>
                <a:sym typeface="Times New Roman"/>
              </a:defRPr>
            </a:lvl7pPr>
            <a:lvl8pPr indent="0" lvl="7" marL="0" algn="r">
              <a:spcBef>
                <a:spcPts val="0"/>
              </a:spcBef>
              <a:buNone/>
              <a:defRPr b="0" i="1" sz="1000" u="none" cap="none" strike="noStrike">
                <a:solidFill>
                  <a:srgbClr val="000000"/>
                </a:solidFill>
                <a:latin typeface="Times New Roman"/>
                <a:ea typeface="Times New Roman"/>
                <a:cs typeface="Times New Roman"/>
                <a:sym typeface="Times New Roman"/>
              </a:defRPr>
            </a:lvl8pPr>
            <a:lvl9pPr indent="0" lvl="8" marL="0" algn="r">
              <a:spcBef>
                <a:spcPts val="0"/>
              </a:spcBef>
              <a:buNone/>
              <a:defRPr b="0" i="1" sz="10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p28"/>
          <p:cNvSpPr txBox="1"/>
          <p:nvPr/>
        </p:nvSpPr>
        <p:spPr>
          <a:xfrm>
            <a:off x="1676400" y="2713434"/>
            <a:ext cx="6477000" cy="280076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000" u="none" cap="none" strike="noStrike">
                <a:solidFill>
                  <a:srgbClr val="C00000"/>
                </a:solidFill>
                <a:latin typeface="Times New Roman"/>
                <a:ea typeface="Times New Roman"/>
                <a:cs typeface="Times New Roman"/>
                <a:sym typeface="Times New Roman"/>
              </a:rPr>
              <a:t>Software Engineering Design: Theory and Practice</a:t>
            </a:r>
            <a:r>
              <a:rPr b="0" i="1" lang="en-US" sz="1800" u="none" cap="none" strike="noStrike">
                <a:solidFill>
                  <a:srgbClr val="C00000"/>
                </a:solidFill>
                <a:latin typeface="Times New Roman"/>
                <a:ea typeface="Times New Roman"/>
                <a:cs typeface="Times New Roman"/>
                <a:sym typeface="Times New Roman"/>
              </a:rPr>
              <a:t> </a:t>
            </a:r>
            <a:endParaRPr i="1" sz="18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rPr b="0" lang="en-US" sz="1600">
                <a:solidFill>
                  <a:schemeClr val="dk1"/>
                </a:solidFill>
                <a:latin typeface="Times New Roman"/>
                <a:ea typeface="Times New Roman"/>
                <a:cs typeface="Times New Roman"/>
                <a:sym typeface="Times New Roman"/>
              </a:rPr>
              <a:t>by Carlos</a:t>
            </a:r>
            <a:r>
              <a:rPr b="0" lang="en-US" sz="1600">
                <a:solidFill>
                  <a:schemeClr val="dk1"/>
                </a:solidFill>
                <a:latin typeface="Times New Roman"/>
                <a:ea typeface="Times New Roman"/>
                <a:cs typeface="Times New Roman"/>
                <a:sym typeface="Times New Roman"/>
              </a:rPr>
              <a:t> E. Otero</a:t>
            </a:r>
            <a:endParaRPr b="0" sz="1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chemeClr val="dk1"/>
                </a:solidFill>
                <a:latin typeface="Times New Roman"/>
                <a:ea typeface="Times New Roman"/>
                <a:cs typeface="Times New Roman"/>
                <a:sym typeface="Times New Roman"/>
              </a:rPr>
              <a:t>Slides copyright © 2012</a:t>
            </a:r>
            <a:r>
              <a:rPr lang="en-US" sz="18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by Carlos E. Otero</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i="1" sz="1800">
              <a:solidFill>
                <a:schemeClr val="dk2"/>
              </a:solidFill>
              <a:latin typeface="Times New Roman"/>
              <a:ea typeface="Times New Roman"/>
              <a:cs typeface="Times New Roman"/>
              <a:sym typeface="Times New Roman"/>
            </a:endParaRPr>
          </a:p>
          <a:p>
            <a:pPr indent="0" lvl="0" marL="0" marR="0" rtl="0" algn="l">
              <a:spcBef>
                <a:spcPts val="0"/>
              </a:spcBef>
              <a:spcAft>
                <a:spcPts val="0"/>
              </a:spcAft>
              <a:buNone/>
            </a:pPr>
            <a:r>
              <a:rPr b="1" i="1" lang="en-US" sz="1800">
                <a:solidFill>
                  <a:srgbClr val="C00000"/>
                </a:solidFill>
                <a:latin typeface="Times New Roman"/>
                <a:ea typeface="Times New Roman"/>
                <a:cs typeface="Times New Roman"/>
                <a:sym typeface="Times New Roman"/>
              </a:rPr>
              <a:t>For non-profit educational use only</a:t>
            </a:r>
            <a:endParaRPr b="1" sz="18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May be reproduced only for student use when used in conjunction with </a:t>
            </a:r>
            <a:r>
              <a:rPr i="1" lang="en-US" sz="1200">
                <a:solidFill>
                  <a:schemeClr val="dk1"/>
                </a:solidFill>
                <a:latin typeface="Times New Roman"/>
                <a:ea typeface="Times New Roman"/>
                <a:cs typeface="Times New Roman"/>
                <a:sym typeface="Times New Roman"/>
              </a:rPr>
              <a:t>Software Engineering Design: Theory and Practice. </a:t>
            </a:r>
            <a:r>
              <a:rPr lang="en-US" sz="1200">
                <a:solidFill>
                  <a:schemeClr val="dk1"/>
                </a:solidFill>
                <a:latin typeface="Times New Roman"/>
                <a:ea typeface="Times New Roman"/>
                <a:cs typeface="Times New Roman"/>
                <a:sym typeface="Times New Roman"/>
              </a:rPr>
              <a:t>Any other reproduction or use is prohibited without the express written permission of the author.</a:t>
            </a:r>
            <a:endParaRPr/>
          </a:p>
          <a:p>
            <a:pPr indent="0" lvl="0" marL="0" marR="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All copyright information must appear if these slides are posted on a website for student use.</a:t>
            </a:r>
            <a:endParaRPr/>
          </a:p>
        </p:txBody>
      </p:sp>
      <p:pic>
        <p:nvPicPr>
          <p:cNvPr id="23" name="Google Shape;23;p28"/>
          <p:cNvPicPr preferRelativeResize="0"/>
          <p:nvPr/>
        </p:nvPicPr>
        <p:blipFill rotWithShape="1">
          <a:blip r:embed="rId2">
            <a:alphaModFix/>
          </a:blip>
          <a:srcRect b="0" l="0" r="0" t="0"/>
          <a:stretch/>
        </p:blipFill>
        <p:spPr>
          <a:xfrm>
            <a:off x="7162800" y="3200400"/>
            <a:ext cx="762000" cy="11024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29"/>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29"/>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lvl1pPr indent="-355600" lvl="0" marL="457200" algn="l">
              <a:spcBef>
                <a:spcPts val="400"/>
              </a:spcBef>
              <a:spcAft>
                <a:spcPts val="0"/>
              </a:spcAft>
              <a:buClr>
                <a:schemeClr val="dk1"/>
              </a:buClr>
              <a:buSzPts val="2000"/>
              <a:buFont typeface="Noto Sans Symbols"/>
              <a:buChar char="⮚"/>
              <a:defRPr sz="2000"/>
            </a:lvl1pPr>
            <a:lvl2pPr indent="-342900" lvl="1" marL="914400" algn="l">
              <a:spcBef>
                <a:spcPts val="360"/>
              </a:spcBef>
              <a:spcAft>
                <a:spcPts val="0"/>
              </a:spcAft>
              <a:buClr>
                <a:schemeClr val="dk1"/>
              </a:buClr>
              <a:buSzPts val="1800"/>
              <a:buFont typeface="Noto Sans Symbols"/>
              <a:buChar char="✔"/>
              <a:defRPr sz="1800"/>
            </a:lvl2pPr>
            <a:lvl3pPr indent="-330200" lvl="2" marL="1371600" algn="l">
              <a:spcBef>
                <a:spcPts val="320"/>
              </a:spcBef>
              <a:spcAft>
                <a:spcPts val="0"/>
              </a:spcAft>
              <a:buClr>
                <a:schemeClr val="dk1"/>
              </a:buClr>
              <a:buSzPts val="1600"/>
              <a:buFont typeface="Noto Sans Symbols"/>
              <a:buChar char="▪"/>
              <a:defRPr sz="1600"/>
            </a:lvl3pPr>
            <a:lvl4pPr indent="-317500" lvl="3" marL="1828800" algn="l">
              <a:spcBef>
                <a:spcPts val="280"/>
              </a:spcBef>
              <a:spcAft>
                <a:spcPts val="0"/>
              </a:spcAft>
              <a:buClr>
                <a:schemeClr val="dk1"/>
              </a:buClr>
              <a:buSzPts val="1400"/>
              <a:buChar char="–"/>
              <a:defRPr sz="1400"/>
            </a:lvl4pPr>
            <a:lvl5pPr indent="-304800" lvl="4" marL="2286000" algn="l">
              <a:spcBef>
                <a:spcPts val="240"/>
              </a:spcBef>
              <a:spcAft>
                <a:spcPts val="0"/>
              </a:spcAft>
              <a:buClr>
                <a:schemeClr val="dk1"/>
              </a:buClr>
              <a:buSzPts val="1200"/>
              <a:buChar char="»"/>
              <a:defRPr sz="1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7" name="Google Shape;27;p29"/>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i="1" sz="1000">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9"/>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sz="1000">
                <a:solidFill>
                  <a:srgbClr val="000000"/>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9"/>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i="1" sz="1000">
                <a:solidFill>
                  <a:srgbClr val="333333"/>
                </a:solidFill>
                <a:latin typeface="Times New Roman"/>
                <a:ea typeface="Times New Roman"/>
                <a:cs typeface="Times New Roman"/>
                <a:sym typeface="Times New Roman"/>
              </a:defRPr>
            </a:lvl1pPr>
            <a:lvl2pPr indent="0" lvl="1" marL="0" algn="r">
              <a:spcBef>
                <a:spcPts val="0"/>
              </a:spcBef>
              <a:buNone/>
              <a:defRPr i="1" sz="1000">
                <a:solidFill>
                  <a:srgbClr val="333333"/>
                </a:solidFill>
                <a:latin typeface="Times New Roman"/>
                <a:ea typeface="Times New Roman"/>
                <a:cs typeface="Times New Roman"/>
                <a:sym typeface="Times New Roman"/>
              </a:defRPr>
            </a:lvl2pPr>
            <a:lvl3pPr indent="0" lvl="2" marL="0" algn="r">
              <a:spcBef>
                <a:spcPts val="0"/>
              </a:spcBef>
              <a:buNone/>
              <a:defRPr i="1" sz="1000">
                <a:solidFill>
                  <a:srgbClr val="333333"/>
                </a:solidFill>
                <a:latin typeface="Times New Roman"/>
                <a:ea typeface="Times New Roman"/>
                <a:cs typeface="Times New Roman"/>
                <a:sym typeface="Times New Roman"/>
              </a:defRPr>
            </a:lvl3pPr>
            <a:lvl4pPr indent="0" lvl="3" marL="0" algn="r">
              <a:spcBef>
                <a:spcPts val="0"/>
              </a:spcBef>
              <a:buNone/>
              <a:defRPr i="1" sz="1000">
                <a:solidFill>
                  <a:srgbClr val="333333"/>
                </a:solidFill>
                <a:latin typeface="Times New Roman"/>
                <a:ea typeface="Times New Roman"/>
                <a:cs typeface="Times New Roman"/>
                <a:sym typeface="Times New Roman"/>
              </a:defRPr>
            </a:lvl4pPr>
            <a:lvl5pPr indent="0" lvl="4" marL="0" algn="r">
              <a:spcBef>
                <a:spcPts val="0"/>
              </a:spcBef>
              <a:buNone/>
              <a:defRPr i="1" sz="1000">
                <a:solidFill>
                  <a:srgbClr val="333333"/>
                </a:solidFill>
                <a:latin typeface="Times New Roman"/>
                <a:ea typeface="Times New Roman"/>
                <a:cs typeface="Times New Roman"/>
                <a:sym typeface="Times New Roman"/>
              </a:defRPr>
            </a:lvl5pPr>
            <a:lvl6pPr indent="0" lvl="5" marL="0" algn="r">
              <a:spcBef>
                <a:spcPts val="0"/>
              </a:spcBef>
              <a:buNone/>
              <a:defRPr i="1" sz="1000">
                <a:solidFill>
                  <a:srgbClr val="333333"/>
                </a:solidFill>
                <a:latin typeface="Times New Roman"/>
                <a:ea typeface="Times New Roman"/>
                <a:cs typeface="Times New Roman"/>
                <a:sym typeface="Times New Roman"/>
              </a:defRPr>
            </a:lvl6pPr>
            <a:lvl7pPr indent="0" lvl="6" marL="0" algn="r">
              <a:spcBef>
                <a:spcPts val="0"/>
              </a:spcBef>
              <a:buNone/>
              <a:defRPr i="1" sz="1000">
                <a:solidFill>
                  <a:srgbClr val="333333"/>
                </a:solidFill>
                <a:latin typeface="Times New Roman"/>
                <a:ea typeface="Times New Roman"/>
                <a:cs typeface="Times New Roman"/>
                <a:sym typeface="Times New Roman"/>
              </a:defRPr>
            </a:lvl7pPr>
            <a:lvl8pPr indent="0" lvl="7" marL="0" algn="r">
              <a:spcBef>
                <a:spcPts val="0"/>
              </a:spcBef>
              <a:buNone/>
              <a:defRPr i="1" sz="1000">
                <a:solidFill>
                  <a:srgbClr val="333333"/>
                </a:solidFill>
                <a:latin typeface="Times New Roman"/>
                <a:ea typeface="Times New Roman"/>
                <a:cs typeface="Times New Roman"/>
                <a:sym typeface="Times New Roman"/>
              </a:defRPr>
            </a:lvl8pPr>
            <a:lvl9pPr indent="0" lvl="8" marL="0" algn="r">
              <a:spcBef>
                <a:spcPts val="0"/>
              </a:spcBef>
              <a:buNone/>
              <a:defRPr i="1" sz="1000">
                <a:solidFill>
                  <a:srgbClr val="333333"/>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3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Times New Roman"/>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3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3" name="Google Shape;33;p30"/>
          <p:cNvSpPr txBox="1"/>
          <p:nvPr>
            <p:ph idx="10" type="dt"/>
          </p:nvPr>
        </p:nvSpPr>
        <p:spPr>
          <a:xfrm>
            <a:off x="457200" y="6562078"/>
            <a:ext cx="990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0"/>
          <p:cNvSpPr txBox="1"/>
          <p:nvPr>
            <p:ph idx="11" type="ftr"/>
          </p:nvPr>
        </p:nvSpPr>
        <p:spPr>
          <a:xfrm>
            <a:off x="1447800" y="6562078"/>
            <a:ext cx="60960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0"/>
          <p:cNvSpPr txBox="1"/>
          <p:nvPr>
            <p:ph idx="12" type="sldNum"/>
          </p:nvPr>
        </p:nvSpPr>
        <p:spPr>
          <a:xfrm>
            <a:off x="7543800" y="6562078"/>
            <a:ext cx="1143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31"/>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9" name="Google Shape;39;p3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17500" lvl="4" marL="2286000" algn="l">
              <a:spcBef>
                <a:spcPts val="280"/>
              </a:spcBef>
              <a:spcAft>
                <a:spcPts val="0"/>
              </a:spcAft>
              <a:buClr>
                <a:schemeClr val="dk1"/>
              </a:buClr>
              <a:buSzPts val="1400"/>
              <a:buChar char="»"/>
              <a:defRPr sz="14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31"/>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1"/>
          <p:cNvSpPr txBox="1"/>
          <p:nvPr>
            <p:ph idx="11" type="ftr"/>
          </p:nvPr>
        </p:nvSpPr>
        <p:spPr>
          <a:xfrm>
            <a:off x="32004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1"/>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32"/>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2400"/>
              <a:buFont typeface="Times New Roman"/>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3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6" name="Google Shape;46;p3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7" name="Google Shape;47;p3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8" name="Google Shape;48;p3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9" name="Google Shape;49;p32"/>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2"/>
          <p:cNvSpPr txBox="1"/>
          <p:nvPr>
            <p:ph idx="11" type="ftr"/>
          </p:nvPr>
        </p:nvSpPr>
        <p:spPr>
          <a:xfrm>
            <a:off x="31242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2"/>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33"/>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33"/>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3"/>
          <p:cNvSpPr txBox="1"/>
          <p:nvPr>
            <p:ph idx="11" type="ftr"/>
          </p:nvPr>
        </p:nvSpPr>
        <p:spPr>
          <a:xfrm>
            <a:off x="30480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3"/>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34"/>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4"/>
          <p:cNvSpPr txBox="1"/>
          <p:nvPr>
            <p:ph idx="11" type="ftr"/>
          </p:nvPr>
        </p:nvSpPr>
        <p:spPr>
          <a:xfrm>
            <a:off x="31242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4"/>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3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Times New Roman"/>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4" name="Google Shape;64;p3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5"/>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5"/>
          <p:cNvSpPr txBox="1"/>
          <p:nvPr>
            <p:ph idx="11" type="ftr"/>
          </p:nvPr>
        </p:nvSpPr>
        <p:spPr>
          <a:xfrm>
            <a:off x="30480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5"/>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3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Times New Roman"/>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6"/>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71" name="Google Shape;71;p3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2" name="Google Shape;72;p36"/>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6"/>
          <p:cNvSpPr txBox="1"/>
          <p:nvPr>
            <p:ph idx="11" type="ftr"/>
          </p:nvPr>
        </p:nvSpPr>
        <p:spPr>
          <a:xfrm>
            <a:off x="30480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6"/>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37"/>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37"/>
          <p:cNvSpPr txBox="1"/>
          <p:nvPr>
            <p:ph idx="1" type="body"/>
          </p:nvPr>
        </p:nvSpPr>
        <p:spPr>
          <a:xfrm rot="5400000">
            <a:off x="2194718" y="-365919"/>
            <a:ext cx="47545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8" name="Google Shape;78;p37"/>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7"/>
          <p:cNvSpPr txBox="1"/>
          <p:nvPr>
            <p:ph idx="11" type="ftr"/>
          </p:nvPr>
        </p:nvSpPr>
        <p:spPr>
          <a:xfrm>
            <a:off x="29718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7"/>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38"/>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38"/>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4" name="Google Shape;84;p38"/>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8"/>
          <p:cNvSpPr txBox="1"/>
          <p:nvPr>
            <p:ph idx="11" type="ftr"/>
          </p:nvPr>
        </p:nvSpPr>
        <p:spPr>
          <a:xfrm>
            <a:off x="30480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8"/>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7"/>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2400"/>
              <a:buFont typeface="Times New Roman"/>
              <a:buNone/>
              <a:defRPr b="1" i="0" sz="2400" u="none" cap="small" strike="noStrik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7"/>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Times New Roman"/>
                <a:ea typeface="Times New Roman"/>
                <a:cs typeface="Times New Roman"/>
                <a:sym typeface="Times New Roman"/>
              </a:defRPr>
            </a:lvl4pPr>
            <a:lvl5pPr indent="-317500" lvl="4" marL="2286000" marR="0" rtl="0" algn="l">
              <a:spcBef>
                <a:spcPts val="280"/>
              </a:spcBef>
              <a:spcAft>
                <a:spcPts val="0"/>
              </a:spcAft>
              <a:buClr>
                <a:schemeClr val="dk1"/>
              </a:buClr>
              <a:buSzPts val="1400"/>
              <a:buFont typeface="Arial"/>
              <a:buChar char="»"/>
              <a:defRPr b="0" i="0" sz="14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7"/>
          <p:cNvSpPr/>
          <p:nvPr/>
        </p:nvSpPr>
        <p:spPr>
          <a:xfrm>
            <a:off x="219722" y="228600"/>
            <a:ext cx="8686800" cy="6324600"/>
          </a:xfrm>
          <a:prstGeom prst="roundRect">
            <a:avLst>
              <a:gd fmla="val 16667" name="adj"/>
            </a:avLst>
          </a:prstGeom>
          <a:noFill/>
          <a:ln cap="flat" cmpd="sng" w="19050">
            <a:solidFill>
              <a:srgbClr val="00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3" name="Google Shape;13;p27"/>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1" sz="1000" u="none" cap="none" strike="noStrike">
                <a:solidFill>
                  <a:srgbClr val="333333"/>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7"/>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1" sz="1000" u="none" cap="none" strike="noStrike">
                <a:solidFill>
                  <a:srgbClr val="333333"/>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27"/>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1pPr>
            <a:lvl2pPr indent="0" lvl="1"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2pPr>
            <a:lvl3pPr indent="0" lvl="2"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3pPr>
            <a:lvl4pPr indent="0" lvl="3"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4pPr>
            <a:lvl5pPr indent="0" lvl="4"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5pPr>
            <a:lvl6pPr indent="0" lvl="5"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6pPr>
            <a:lvl7pPr indent="0" lvl="6"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7pPr>
            <a:lvl8pPr indent="0" lvl="7"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8pPr>
            <a:lvl9pPr indent="0" lvl="8"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ph type="ctrTitle"/>
          </p:nvPr>
        </p:nvSpPr>
        <p:spPr>
          <a:xfrm>
            <a:off x="0" y="685800"/>
            <a:ext cx="9144000" cy="1066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Chapter 10: Management, Leadership, &amp; Ethics</a:t>
            </a:r>
            <a:endParaRPr/>
          </a:p>
        </p:txBody>
      </p:sp>
      <p:sp>
        <p:nvSpPr>
          <p:cNvPr id="92" name="Google Shape;92;p1"/>
          <p:cNvSpPr txBox="1"/>
          <p:nvPr>
            <p:ph idx="1" type="subTitle"/>
          </p:nvPr>
        </p:nvSpPr>
        <p:spPr>
          <a:xfrm>
            <a:off x="0" y="1752598"/>
            <a:ext cx="9144000" cy="609602"/>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000000"/>
              </a:buClr>
              <a:buSzPts val="2000"/>
              <a:buNone/>
            </a:pPr>
            <a:r>
              <a:rPr lang="en-US"/>
              <a:t>Session III: Leadership and Ethics</a:t>
            </a:r>
            <a:endParaRPr/>
          </a:p>
        </p:txBody>
      </p:sp>
      <p:sp>
        <p:nvSpPr>
          <p:cNvPr id="93" name="Google Shape;93;p1"/>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94" name="Google Shape;94;p1"/>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5" name="Google Shape;95;p1"/>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96" name="Google Shape;96;p1"/>
          <p:cNvSpPr txBox="1"/>
          <p:nvPr/>
        </p:nvSpPr>
        <p:spPr>
          <a:xfrm>
            <a:off x="1066800" y="1414790"/>
            <a:ext cx="7086600"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chemeClr val="dk1"/>
                </a:solidFill>
                <a:latin typeface="Times New Roman"/>
                <a:ea typeface="Times New Roman"/>
                <a:cs typeface="Times New Roman"/>
                <a:sym typeface="Times New Roman"/>
              </a:rPr>
              <a:t>-- Dr. L. Daniel Otero, Florida Institute of Technology --</a:t>
            </a:r>
            <a:endParaRPr sz="11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Session’s Agenda</a:t>
            </a:r>
            <a:endParaRPr/>
          </a:p>
        </p:txBody>
      </p:sp>
      <p:sp>
        <p:nvSpPr>
          <p:cNvPr id="102" name="Google Shape;102;p2"/>
          <p:cNvSpPr txBox="1"/>
          <p:nvPr>
            <p:ph idx="1" type="body"/>
          </p:nvPr>
        </p:nvSpPr>
        <p:spPr>
          <a:xfrm>
            <a:off x="457200" y="1371601"/>
            <a:ext cx="8229600" cy="4876799"/>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1850"/>
              <a:buFont typeface="Noto Sans Symbols"/>
              <a:buChar char="⮚"/>
            </a:pPr>
            <a:r>
              <a:rPr lang="en-US" sz="1850"/>
              <a:t>Leading the Design Effort</a:t>
            </a:r>
            <a:endParaRPr/>
          </a:p>
          <a:p>
            <a:pPr indent="-285750" lvl="1" marL="742950" rtl="0" algn="l">
              <a:lnSpc>
                <a:spcPct val="80000"/>
              </a:lnSpc>
              <a:spcBef>
                <a:spcPts val="333"/>
              </a:spcBef>
              <a:spcAft>
                <a:spcPts val="0"/>
              </a:spcAft>
              <a:buClr>
                <a:schemeClr val="dk1"/>
              </a:buClr>
              <a:buSzPts val="1665"/>
              <a:buChar char="✔"/>
            </a:pPr>
            <a:r>
              <a:rPr lang="en-US" sz="1665"/>
              <a:t>Personality Traits and Leadership</a:t>
            </a:r>
            <a:endParaRPr/>
          </a:p>
          <a:p>
            <a:pPr indent="-285750" lvl="1" marL="742950" rtl="0" algn="l">
              <a:lnSpc>
                <a:spcPct val="80000"/>
              </a:lnSpc>
              <a:spcBef>
                <a:spcPts val="333"/>
              </a:spcBef>
              <a:spcAft>
                <a:spcPts val="0"/>
              </a:spcAft>
              <a:buClr>
                <a:schemeClr val="dk1"/>
              </a:buClr>
              <a:buSzPts val="1665"/>
              <a:buChar char="✔"/>
            </a:pPr>
            <a:r>
              <a:rPr lang="en-US" sz="1665"/>
              <a:t>Personality Dimension</a:t>
            </a:r>
            <a:endParaRPr/>
          </a:p>
          <a:p>
            <a:pPr indent="-285750" lvl="1" marL="742950" rtl="0" algn="l">
              <a:lnSpc>
                <a:spcPct val="80000"/>
              </a:lnSpc>
              <a:spcBef>
                <a:spcPts val="333"/>
              </a:spcBef>
              <a:spcAft>
                <a:spcPts val="0"/>
              </a:spcAft>
              <a:buClr>
                <a:schemeClr val="dk1"/>
              </a:buClr>
              <a:buSzPts val="1665"/>
              <a:buChar char="✔"/>
            </a:pPr>
            <a:r>
              <a:rPr lang="en-US" sz="1665"/>
              <a:t>Traits of Effective Leaders</a:t>
            </a:r>
            <a:endParaRPr/>
          </a:p>
          <a:p>
            <a:pPr indent="-285750" lvl="1" marL="742950" rtl="0" algn="l">
              <a:lnSpc>
                <a:spcPct val="80000"/>
              </a:lnSpc>
              <a:spcBef>
                <a:spcPts val="333"/>
              </a:spcBef>
              <a:spcAft>
                <a:spcPts val="0"/>
              </a:spcAft>
              <a:buClr>
                <a:schemeClr val="dk1"/>
              </a:buClr>
              <a:buSzPts val="1665"/>
              <a:buChar char="✔"/>
            </a:pPr>
            <a:r>
              <a:rPr lang="en-US" sz="1665"/>
              <a:t>Ethical Leadership</a:t>
            </a:r>
            <a:endParaRPr/>
          </a:p>
          <a:p>
            <a:pPr indent="-285750" lvl="1" marL="742950" rtl="0" algn="l">
              <a:lnSpc>
                <a:spcPct val="80000"/>
              </a:lnSpc>
              <a:spcBef>
                <a:spcPts val="333"/>
              </a:spcBef>
              <a:spcAft>
                <a:spcPts val="0"/>
              </a:spcAft>
              <a:buClr>
                <a:schemeClr val="dk1"/>
              </a:buClr>
              <a:buSzPts val="1665"/>
              <a:buChar char="✔"/>
            </a:pPr>
            <a:r>
              <a:rPr lang="en-US" sz="1665"/>
              <a:t>Power</a:t>
            </a:r>
            <a:endParaRPr/>
          </a:p>
          <a:p>
            <a:pPr indent="-180022" lvl="1" marL="742950" rtl="0" algn="l">
              <a:lnSpc>
                <a:spcPct val="80000"/>
              </a:lnSpc>
              <a:spcBef>
                <a:spcPts val="333"/>
              </a:spcBef>
              <a:spcAft>
                <a:spcPts val="0"/>
              </a:spcAft>
              <a:buClr>
                <a:schemeClr val="dk1"/>
              </a:buClr>
              <a:buSzPts val="1665"/>
              <a:buNone/>
            </a:pPr>
            <a:r>
              <a:t/>
            </a:r>
            <a:endParaRPr sz="1665"/>
          </a:p>
          <a:p>
            <a:pPr indent="-342900" lvl="0" marL="342900" rtl="0" algn="l">
              <a:lnSpc>
                <a:spcPct val="80000"/>
              </a:lnSpc>
              <a:spcBef>
                <a:spcPts val="370"/>
              </a:spcBef>
              <a:spcAft>
                <a:spcPts val="0"/>
              </a:spcAft>
              <a:buClr>
                <a:schemeClr val="dk1"/>
              </a:buClr>
              <a:buSzPts val="1850"/>
              <a:buFont typeface="Noto Sans Symbols"/>
              <a:buChar char="⮚"/>
            </a:pPr>
            <a:r>
              <a:rPr lang="en-US" sz="1850"/>
              <a:t>Key Leadership Skills</a:t>
            </a:r>
            <a:endParaRPr/>
          </a:p>
          <a:p>
            <a:pPr indent="-285750" lvl="1" marL="742950" rtl="0" algn="l">
              <a:lnSpc>
                <a:spcPct val="80000"/>
              </a:lnSpc>
              <a:spcBef>
                <a:spcPts val="333"/>
              </a:spcBef>
              <a:spcAft>
                <a:spcPts val="0"/>
              </a:spcAft>
              <a:buClr>
                <a:schemeClr val="dk1"/>
              </a:buClr>
              <a:buSzPts val="1665"/>
              <a:buChar char="✔"/>
            </a:pPr>
            <a:r>
              <a:rPr lang="en-US" sz="1665"/>
              <a:t>Communication</a:t>
            </a:r>
            <a:endParaRPr/>
          </a:p>
          <a:p>
            <a:pPr indent="-285750" lvl="1" marL="742950" rtl="0" algn="l">
              <a:lnSpc>
                <a:spcPct val="80000"/>
              </a:lnSpc>
              <a:spcBef>
                <a:spcPts val="333"/>
              </a:spcBef>
              <a:spcAft>
                <a:spcPts val="0"/>
              </a:spcAft>
              <a:buClr>
                <a:schemeClr val="dk1"/>
              </a:buClr>
              <a:buSzPts val="1665"/>
              <a:buChar char="✔"/>
            </a:pPr>
            <a:r>
              <a:rPr lang="en-US" sz="1665"/>
              <a:t>Networking</a:t>
            </a:r>
            <a:endParaRPr/>
          </a:p>
          <a:p>
            <a:pPr indent="-285750" lvl="1" marL="742950" rtl="0" algn="l">
              <a:lnSpc>
                <a:spcPct val="80000"/>
              </a:lnSpc>
              <a:spcBef>
                <a:spcPts val="333"/>
              </a:spcBef>
              <a:spcAft>
                <a:spcPts val="0"/>
              </a:spcAft>
              <a:buClr>
                <a:schemeClr val="dk1"/>
              </a:buClr>
              <a:buSzPts val="1665"/>
              <a:buChar char="✔"/>
            </a:pPr>
            <a:r>
              <a:rPr lang="en-US" sz="1665"/>
              <a:t>Motivation</a:t>
            </a:r>
            <a:endParaRPr/>
          </a:p>
          <a:p>
            <a:pPr indent="-285750" lvl="1" marL="742950" rtl="0" algn="l">
              <a:lnSpc>
                <a:spcPct val="80000"/>
              </a:lnSpc>
              <a:spcBef>
                <a:spcPts val="333"/>
              </a:spcBef>
              <a:spcAft>
                <a:spcPts val="0"/>
              </a:spcAft>
              <a:buClr>
                <a:schemeClr val="dk1"/>
              </a:buClr>
              <a:buSzPts val="1665"/>
              <a:buChar char="✔"/>
            </a:pPr>
            <a:r>
              <a:rPr lang="en-US" sz="1665"/>
              <a:t>Negotiation</a:t>
            </a:r>
            <a:endParaRPr/>
          </a:p>
          <a:p>
            <a:pPr indent="-180022" lvl="1" marL="742950" rtl="0" algn="l">
              <a:lnSpc>
                <a:spcPct val="80000"/>
              </a:lnSpc>
              <a:spcBef>
                <a:spcPts val="333"/>
              </a:spcBef>
              <a:spcAft>
                <a:spcPts val="0"/>
              </a:spcAft>
              <a:buClr>
                <a:schemeClr val="dk1"/>
              </a:buClr>
              <a:buSzPts val="1665"/>
              <a:buNone/>
            </a:pPr>
            <a:r>
              <a:t/>
            </a:r>
            <a:endParaRPr sz="1665"/>
          </a:p>
          <a:p>
            <a:pPr indent="-342900" lvl="0" marL="342900" rtl="0" algn="l">
              <a:lnSpc>
                <a:spcPct val="80000"/>
              </a:lnSpc>
              <a:spcBef>
                <a:spcPts val="370"/>
              </a:spcBef>
              <a:spcAft>
                <a:spcPts val="0"/>
              </a:spcAft>
              <a:buClr>
                <a:schemeClr val="dk1"/>
              </a:buClr>
              <a:buSzPts val="1850"/>
              <a:buFont typeface="Noto Sans Symbols"/>
              <a:buChar char="⮚"/>
            </a:pPr>
            <a:r>
              <a:rPr lang="en-US" sz="1850"/>
              <a:t>Ethics in Software Design</a:t>
            </a:r>
            <a:endParaRPr/>
          </a:p>
          <a:p>
            <a:pPr indent="-285750" lvl="1" marL="742950" rtl="0" algn="l">
              <a:lnSpc>
                <a:spcPct val="80000"/>
              </a:lnSpc>
              <a:spcBef>
                <a:spcPts val="333"/>
              </a:spcBef>
              <a:spcAft>
                <a:spcPts val="0"/>
              </a:spcAft>
              <a:buClr>
                <a:schemeClr val="dk1"/>
              </a:buClr>
              <a:buSzPts val="1665"/>
              <a:buChar char="✔"/>
            </a:pPr>
            <a:r>
              <a:rPr lang="en-US" sz="1665"/>
              <a:t>Public and Product Principles</a:t>
            </a:r>
            <a:endParaRPr/>
          </a:p>
          <a:p>
            <a:pPr indent="-285750" lvl="1" marL="742950" rtl="0" algn="l">
              <a:lnSpc>
                <a:spcPct val="80000"/>
              </a:lnSpc>
              <a:spcBef>
                <a:spcPts val="333"/>
              </a:spcBef>
              <a:spcAft>
                <a:spcPts val="0"/>
              </a:spcAft>
              <a:buClr>
                <a:schemeClr val="dk1"/>
              </a:buClr>
              <a:buSzPts val="1665"/>
              <a:buChar char="✔"/>
            </a:pPr>
            <a:r>
              <a:rPr lang="en-US" sz="1665"/>
              <a:t>Judgment Principle</a:t>
            </a:r>
            <a:endParaRPr/>
          </a:p>
          <a:p>
            <a:pPr indent="-285750" lvl="1" marL="742950" rtl="0" algn="l">
              <a:lnSpc>
                <a:spcPct val="80000"/>
              </a:lnSpc>
              <a:spcBef>
                <a:spcPts val="333"/>
              </a:spcBef>
              <a:spcAft>
                <a:spcPts val="0"/>
              </a:spcAft>
              <a:buClr>
                <a:schemeClr val="dk1"/>
              </a:buClr>
              <a:buSzPts val="1665"/>
              <a:buChar char="✔"/>
            </a:pPr>
            <a:r>
              <a:rPr lang="en-US" sz="1665"/>
              <a:t>Management Principle</a:t>
            </a:r>
            <a:endParaRPr/>
          </a:p>
          <a:p>
            <a:pPr indent="0" lvl="0" marL="0" rtl="0" algn="l">
              <a:lnSpc>
                <a:spcPct val="80000"/>
              </a:lnSpc>
              <a:spcBef>
                <a:spcPts val="370"/>
              </a:spcBef>
              <a:spcAft>
                <a:spcPts val="0"/>
              </a:spcAft>
              <a:buClr>
                <a:schemeClr val="dk1"/>
              </a:buClr>
              <a:buSzPts val="1850"/>
              <a:buNone/>
            </a:pPr>
            <a:r>
              <a:t/>
            </a:r>
            <a:endParaRPr sz="1850"/>
          </a:p>
          <a:p>
            <a:pPr indent="-285750" lvl="1" marL="742950" rtl="0" algn="l">
              <a:lnSpc>
                <a:spcPct val="80000"/>
              </a:lnSpc>
              <a:spcBef>
                <a:spcPts val="333"/>
              </a:spcBef>
              <a:spcAft>
                <a:spcPts val="0"/>
              </a:spcAft>
              <a:buClr>
                <a:schemeClr val="dk1"/>
              </a:buClr>
              <a:buSzPts val="1665"/>
              <a:buNone/>
            </a:pPr>
            <a:r>
              <a:t/>
            </a:r>
            <a:endParaRPr sz="1665"/>
          </a:p>
          <a:p>
            <a:pPr indent="-342900" lvl="0" marL="342900" rtl="0" algn="l">
              <a:lnSpc>
                <a:spcPct val="80000"/>
              </a:lnSpc>
              <a:spcBef>
                <a:spcPts val="370"/>
              </a:spcBef>
              <a:spcAft>
                <a:spcPts val="0"/>
              </a:spcAft>
              <a:buClr>
                <a:schemeClr val="dk1"/>
              </a:buClr>
              <a:buSzPts val="1850"/>
              <a:buNone/>
            </a:pPr>
            <a:r>
              <a:t/>
            </a:r>
            <a:endParaRPr sz="1850"/>
          </a:p>
          <a:p>
            <a:pPr indent="-225425" lvl="0" marL="342900" rtl="0" algn="l">
              <a:lnSpc>
                <a:spcPct val="80000"/>
              </a:lnSpc>
              <a:spcBef>
                <a:spcPts val="370"/>
              </a:spcBef>
              <a:spcAft>
                <a:spcPts val="0"/>
              </a:spcAft>
              <a:buClr>
                <a:schemeClr val="dk1"/>
              </a:buClr>
              <a:buSzPts val="1850"/>
              <a:buFont typeface="Noto Sans Symbols"/>
              <a:buNone/>
            </a:pPr>
            <a:r>
              <a:t/>
            </a:r>
            <a:endParaRPr sz="1850"/>
          </a:p>
          <a:p>
            <a:pPr indent="-285750" lvl="1" marL="742950" rtl="0" algn="l">
              <a:lnSpc>
                <a:spcPct val="80000"/>
              </a:lnSpc>
              <a:spcBef>
                <a:spcPts val="333"/>
              </a:spcBef>
              <a:spcAft>
                <a:spcPts val="0"/>
              </a:spcAft>
              <a:buClr>
                <a:schemeClr val="dk1"/>
              </a:buClr>
              <a:buSzPts val="1665"/>
              <a:buNone/>
            </a:pPr>
            <a:r>
              <a:t/>
            </a:r>
            <a:endParaRPr sz="1665"/>
          </a:p>
          <a:p>
            <a:pPr indent="-342900" lvl="0" marL="342900" rtl="0" algn="l">
              <a:lnSpc>
                <a:spcPct val="80000"/>
              </a:lnSpc>
              <a:spcBef>
                <a:spcPts val="370"/>
              </a:spcBef>
              <a:spcAft>
                <a:spcPts val="0"/>
              </a:spcAft>
              <a:buClr>
                <a:schemeClr val="dk1"/>
              </a:buClr>
              <a:buSzPts val="1850"/>
              <a:buNone/>
            </a:pPr>
            <a:r>
              <a:t/>
            </a:r>
            <a:endParaRPr sz="1850"/>
          </a:p>
          <a:p>
            <a:pPr indent="-180022" lvl="1" marL="742950" rtl="0" algn="l">
              <a:lnSpc>
                <a:spcPct val="80000"/>
              </a:lnSpc>
              <a:spcBef>
                <a:spcPts val="333"/>
              </a:spcBef>
              <a:spcAft>
                <a:spcPts val="0"/>
              </a:spcAft>
              <a:buClr>
                <a:schemeClr val="dk1"/>
              </a:buClr>
              <a:buSzPts val="1665"/>
              <a:buNone/>
            </a:pPr>
            <a:r>
              <a:t/>
            </a:r>
            <a:endParaRPr sz="1665"/>
          </a:p>
        </p:txBody>
      </p:sp>
      <p:sp>
        <p:nvSpPr>
          <p:cNvPr id="103" name="Google Shape;103;p2"/>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104" name="Google Shape;104;p2"/>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05" name="Google Shape;105;p2"/>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Leading the Design Effort</a:t>
            </a:r>
            <a:endParaRPr/>
          </a:p>
        </p:txBody>
      </p:sp>
      <p:sp>
        <p:nvSpPr>
          <p:cNvPr id="111" name="Google Shape;111;p3"/>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Leadership plays a key role in the success or failure of complex projects.  </a:t>
            </a:r>
            <a:endParaRPr/>
          </a:p>
          <a:p>
            <a:pPr indent="-285750" lvl="1" marL="742950" rtl="0" algn="l">
              <a:spcBef>
                <a:spcPts val="360"/>
              </a:spcBef>
              <a:spcAft>
                <a:spcPts val="0"/>
              </a:spcAft>
              <a:buClr>
                <a:schemeClr val="dk1"/>
              </a:buClr>
              <a:buSzPts val="1800"/>
              <a:buChar char="✔"/>
            </a:pPr>
            <a:r>
              <a:rPr lang="en-US"/>
              <a:t>Therefore, it is necessary to cover important concepts related to leadership in the design effort.  </a:t>
            </a:r>
            <a:endParaRPr/>
          </a:p>
          <a:p>
            <a:pPr indent="-171450" lvl="1" marL="742950" rtl="0" algn="l">
              <a:spcBef>
                <a:spcPts val="360"/>
              </a:spcBef>
              <a:spcAft>
                <a:spcPts val="0"/>
              </a:spcAft>
              <a:buClr>
                <a:schemeClr val="dk1"/>
              </a:buClr>
              <a:buSzPts val="1800"/>
              <a:buNone/>
            </a:pPr>
            <a:r>
              <a:t/>
            </a:r>
            <a:endParaRPr/>
          </a:p>
          <a:p>
            <a:pPr indent="-342900" lvl="0" marL="342900" rtl="0" algn="l">
              <a:spcBef>
                <a:spcPts val="400"/>
              </a:spcBef>
              <a:spcAft>
                <a:spcPts val="0"/>
              </a:spcAft>
              <a:buClr>
                <a:schemeClr val="dk1"/>
              </a:buClr>
              <a:buSzPts val="2000"/>
              <a:buFont typeface="Noto Sans Symbols"/>
              <a:buChar char="⮚"/>
            </a:pPr>
            <a:r>
              <a:rPr lang="en-US"/>
              <a:t>The field of leadership is one that has been researched by academicians and practitioners for many years.  </a:t>
            </a:r>
            <a:endParaRPr/>
          </a:p>
          <a:p>
            <a:pPr indent="-285750" lvl="1" marL="742950" rtl="0" algn="l">
              <a:spcBef>
                <a:spcPts val="360"/>
              </a:spcBef>
              <a:spcAft>
                <a:spcPts val="0"/>
              </a:spcAft>
              <a:buClr>
                <a:schemeClr val="dk1"/>
              </a:buClr>
              <a:buSzPts val="1800"/>
              <a:buChar char="✔"/>
            </a:pPr>
            <a:r>
              <a:rPr lang="en-US"/>
              <a:t>There is an extensive body of knowledge and literature related to this field.  </a:t>
            </a:r>
            <a:endParaRPr/>
          </a:p>
          <a:p>
            <a:pPr indent="-215900" lvl="0" marL="342900" rtl="0" algn="l">
              <a:spcBef>
                <a:spcPts val="400"/>
              </a:spcBef>
              <a:spcAft>
                <a:spcPts val="0"/>
              </a:spcAft>
              <a:buClr>
                <a:schemeClr val="dk1"/>
              </a:buClr>
              <a:buSzPts val="2000"/>
              <a:buFont typeface="Noto Sans Symbols"/>
              <a:buNone/>
            </a:pPr>
            <a:r>
              <a:t/>
            </a:r>
            <a:endParaRPr/>
          </a:p>
          <a:p>
            <a:pPr indent="-342900" lvl="0" marL="342900" rtl="0" algn="l">
              <a:spcBef>
                <a:spcPts val="400"/>
              </a:spcBef>
              <a:spcAft>
                <a:spcPts val="0"/>
              </a:spcAft>
              <a:buClr>
                <a:schemeClr val="dk1"/>
              </a:buClr>
              <a:buSzPts val="2000"/>
              <a:buFont typeface="Noto Sans Symbols"/>
              <a:buChar char="⮚"/>
            </a:pPr>
            <a:r>
              <a:rPr lang="en-US"/>
              <a:t>This session highlights key leadership concepts that are relevant to our study of software designs.  </a:t>
            </a:r>
            <a:endParaRPr/>
          </a:p>
          <a:p>
            <a:pPr indent="-285750" lvl="1" marL="742950" rtl="0" algn="l">
              <a:spcBef>
                <a:spcPts val="360"/>
              </a:spcBef>
              <a:spcAft>
                <a:spcPts val="0"/>
              </a:spcAft>
              <a:buClr>
                <a:schemeClr val="dk1"/>
              </a:buClr>
              <a:buSzPts val="1800"/>
              <a:buChar char="✔"/>
            </a:pPr>
            <a:r>
              <a:rPr lang="en-US"/>
              <a:t>A significant part of the material covered in this section was gathered from [1]; therefore, the author refers the readers to this work for more detailed explanations of leadership concepts.</a:t>
            </a:r>
            <a:endParaRPr/>
          </a:p>
        </p:txBody>
      </p:sp>
      <p:sp>
        <p:nvSpPr>
          <p:cNvPr id="112" name="Google Shape;112;p3"/>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113" name="Google Shape;113;p3"/>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14" name="Google Shape;114;p3"/>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Leading the Design Effort</a:t>
            </a:r>
            <a:br>
              <a:rPr lang="en-US" sz="2160"/>
            </a:br>
            <a:r>
              <a:rPr lang="en-US" sz="2160"/>
              <a:t>- Personality Traits and Leadership -</a:t>
            </a:r>
            <a:endParaRPr sz="2160"/>
          </a:p>
        </p:txBody>
      </p:sp>
      <p:sp>
        <p:nvSpPr>
          <p:cNvPr id="120" name="Google Shape;120;p4"/>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FF0000"/>
              </a:buClr>
              <a:buSzPts val="2000"/>
              <a:buFont typeface="Noto Sans Symbols"/>
              <a:buChar char="⮚"/>
            </a:pPr>
            <a:r>
              <a:rPr i="1" lang="en-US">
                <a:solidFill>
                  <a:srgbClr val="FF0000"/>
                </a:solidFill>
              </a:rPr>
              <a:t>Traits</a:t>
            </a:r>
            <a:r>
              <a:rPr lang="en-US">
                <a:solidFill>
                  <a:srgbClr val="FF0000"/>
                </a:solidFill>
              </a:rPr>
              <a:t> </a:t>
            </a:r>
            <a:r>
              <a:rPr lang="en-US"/>
              <a:t>are personal characteristics that help to describe a person.  For example:  </a:t>
            </a:r>
            <a:endParaRPr/>
          </a:p>
          <a:p>
            <a:pPr indent="-285750" lvl="1" marL="742950" rtl="0" algn="l">
              <a:spcBef>
                <a:spcPts val="360"/>
              </a:spcBef>
              <a:spcAft>
                <a:spcPts val="0"/>
              </a:spcAft>
              <a:buClr>
                <a:schemeClr val="dk1"/>
              </a:buClr>
              <a:buSzPts val="1800"/>
              <a:buChar char="✔"/>
            </a:pPr>
            <a:r>
              <a:rPr lang="en-US"/>
              <a:t>Highly sociable trait: This trait is present in someone that has the ability to communicate well with others and start friendly conversations with unknown people</a:t>
            </a:r>
            <a:endParaRPr/>
          </a:p>
          <a:p>
            <a:pPr indent="-285750" lvl="1" marL="742950" rtl="0" algn="l">
              <a:spcBef>
                <a:spcPts val="360"/>
              </a:spcBef>
              <a:spcAft>
                <a:spcPts val="0"/>
              </a:spcAft>
              <a:buClr>
                <a:schemeClr val="dk1"/>
              </a:buClr>
              <a:buSzPts val="1800"/>
              <a:buChar char="✔"/>
            </a:pPr>
            <a:r>
              <a:rPr lang="en-US"/>
              <a:t>Achievement trait: This trait is present in someone that works hard and tends to go the extra mile to complete assigned tasks </a:t>
            </a:r>
            <a:endParaRPr/>
          </a:p>
          <a:p>
            <a:pPr indent="-215900" lvl="0" marL="342900" rtl="0" algn="l">
              <a:spcBef>
                <a:spcPts val="400"/>
              </a:spcBef>
              <a:spcAft>
                <a:spcPts val="0"/>
              </a:spcAft>
              <a:buClr>
                <a:schemeClr val="dk1"/>
              </a:buClr>
              <a:buSzPts val="2000"/>
              <a:buFont typeface="Noto Sans Symbols"/>
              <a:buNone/>
            </a:pPr>
            <a:r>
              <a:t/>
            </a:r>
            <a:endParaRPr/>
          </a:p>
          <a:p>
            <a:pPr indent="-342900" lvl="0" marL="342900" rtl="0" algn="l">
              <a:spcBef>
                <a:spcPts val="400"/>
              </a:spcBef>
              <a:spcAft>
                <a:spcPts val="0"/>
              </a:spcAft>
              <a:buClr>
                <a:schemeClr val="dk1"/>
              </a:buClr>
              <a:buSzPts val="2000"/>
              <a:buFont typeface="Noto Sans Symbols"/>
              <a:buChar char="⮚"/>
            </a:pPr>
            <a:r>
              <a:rPr lang="en-US"/>
              <a:t>The combination of traits that a person has defines that person’s </a:t>
            </a:r>
            <a:r>
              <a:rPr i="1" lang="en-US">
                <a:solidFill>
                  <a:srgbClr val="FF0000"/>
                </a:solidFill>
              </a:rPr>
              <a:t>personality</a:t>
            </a:r>
            <a:endParaRPr/>
          </a:p>
          <a:p>
            <a:pPr indent="-285750" lvl="1" marL="742950" rtl="0" algn="l">
              <a:spcBef>
                <a:spcPts val="360"/>
              </a:spcBef>
              <a:spcAft>
                <a:spcPts val="0"/>
              </a:spcAft>
              <a:buClr>
                <a:schemeClr val="dk1"/>
              </a:buClr>
              <a:buSzPts val="1800"/>
              <a:buChar char="✔"/>
            </a:pPr>
            <a:r>
              <a:rPr lang="en-US"/>
              <a:t>Personality significantly affects our decisions.  </a:t>
            </a:r>
            <a:endParaRPr/>
          </a:p>
          <a:p>
            <a:pPr indent="-228600" lvl="2" marL="1143000" rtl="0" algn="l">
              <a:spcBef>
                <a:spcPts val="320"/>
              </a:spcBef>
              <a:spcAft>
                <a:spcPts val="0"/>
              </a:spcAft>
              <a:buClr>
                <a:schemeClr val="dk1"/>
              </a:buClr>
              <a:buSzPts val="1600"/>
              <a:buChar char="▪"/>
            </a:pPr>
            <a:r>
              <a:rPr lang="en-US"/>
              <a:t>For example, a highly sociable person with an achievement trait is expected to make decisions such as volunteering to make presentations to clients.  </a:t>
            </a:r>
            <a:endParaRPr/>
          </a:p>
          <a:p>
            <a:pPr indent="-285750" lvl="1" marL="742950" rtl="0" algn="l">
              <a:spcBef>
                <a:spcPts val="360"/>
              </a:spcBef>
              <a:spcAft>
                <a:spcPts val="0"/>
              </a:spcAft>
              <a:buClr>
                <a:schemeClr val="dk1"/>
              </a:buClr>
              <a:buSzPts val="1800"/>
              <a:buChar char="✔"/>
            </a:pPr>
            <a:r>
              <a:rPr lang="en-US"/>
              <a:t>Given that a good decision-making ability is a major part of being an effective leader, it is important to understand the relationship between traits, personality, decision-making, and leadership.</a:t>
            </a:r>
            <a:endParaRPr/>
          </a:p>
        </p:txBody>
      </p:sp>
      <p:sp>
        <p:nvSpPr>
          <p:cNvPr id="121" name="Google Shape;121;p4"/>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122" name="Google Shape;122;p4"/>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23" name="Google Shape;123;p4"/>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Leading the Design Effort</a:t>
            </a:r>
            <a:br>
              <a:rPr lang="en-US" sz="2160"/>
            </a:br>
            <a:r>
              <a:rPr lang="en-US" sz="2160"/>
              <a:t>- Personality Dimensions -</a:t>
            </a:r>
            <a:endParaRPr sz="2160"/>
          </a:p>
        </p:txBody>
      </p:sp>
      <p:sp>
        <p:nvSpPr>
          <p:cNvPr id="129" name="Google Shape;129;p5"/>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Researchers have identified five personality dimensions to categorize groups of traits.  </a:t>
            </a:r>
            <a:endParaRPr/>
          </a:p>
          <a:p>
            <a:pPr indent="-285750" lvl="1" marL="742950" rtl="0" algn="l">
              <a:spcBef>
                <a:spcPts val="360"/>
              </a:spcBef>
              <a:spcAft>
                <a:spcPts val="0"/>
              </a:spcAft>
              <a:buClr>
                <a:schemeClr val="dk1"/>
              </a:buClr>
              <a:buSzPts val="1800"/>
              <a:buChar char="✔"/>
            </a:pPr>
            <a:r>
              <a:rPr lang="en-US"/>
              <a:t>The objective is to be able to classify someone’s personality into one of these dimensions.  </a:t>
            </a:r>
            <a:endParaRPr/>
          </a:p>
          <a:p>
            <a:pPr indent="-171450" lvl="1" marL="742950" rtl="0" algn="l">
              <a:spcBef>
                <a:spcPts val="360"/>
              </a:spcBef>
              <a:spcAft>
                <a:spcPts val="0"/>
              </a:spcAft>
              <a:buClr>
                <a:schemeClr val="dk1"/>
              </a:buClr>
              <a:buSzPts val="1800"/>
              <a:buNone/>
            </a:pPr>
            <a:r>
              <a:t/>
            </a:r>
            <a:endParaRPr/>
          </a:p>
          <a:p>
            <a:pPr indent="-285750" lvl="1" marL="742950" rtl="0" algn="l">
              <a:spcBef>
                <a:spcPts val="360"/>
              </a:spcBef>
              <a:spcAft>
                <a:spcPts val="0"/>
              </a:spcAft>
              <a:buClr>
                <a:schemeClr val="dk1"/>
              </a:buClr>
              <a:buSzPts val="1800"/>
              <a:buChar char="✔"/>
            </a:pPr>
            <a:r>
              <a:rPr lang="en-US"/>
              <a:t>The five dimensions are: </a:t>
            </a:r>
            <a:endParaRPr/>
          </a:p>
          <a:p>
            <a:pPr indent="-228600" lvl="2" marL="1143000" rtl="0" algn="l">
              <a:spcBef>
                <a:spcPts val="320"/>
              </a:spcBef>
              <a:spcAft>
                <a:spcPts val="0"/>
              </a:spcAft>
              <a:buClr>
                <a:schemeClr val="dk1"/>
              </a:buClr>
              <a:buSzPts val="1600"/>
              <a:buChar char="▪"/>
            </a:pPr>
            <a:r>
              <a:rPr i="1" lang="en-US"/>
              <a:t>agreeableness</a:t>
            </a:r>
            <a:r>
              <a:rPr lang="en-US"/>
              <a:t>, </a:t>
            </a:r>
            <a:endParaRPr/>
          </a:p>
          <a:p>
            <a:pPr indent="-228600" lvl="2" marL="1143000" rtl="0" algn="l">
              <a:spcBef>
                <a:spcPts val="320"/>
              </a:spcBef>
              <a:spcAft>
                <a:spcPts val="0"/>
              </a:spcAft>
              <a:buClr>
                <a:schemeClr val="dk1"/>
              </a:buClr>
              <a:buSzPts val="1600"/>
              <a:buChar char="▪"/>
            </a:pPr>
            <a:r>
              <a:rPr i="1" lang="en-US"/>
              <a:t>surgency</a:t>
            </a:r>
            <a:r>
              <a:rPr lang="en-US"/>
              <a:t>, </a:t>
            </a:r>
            <a:endParaRPr/>
          </a:p>
          <a:p>
            <a:pPr indent="-228600" lvl="2" marL="1143000" rtl="0" algn="l">
              <a:spcBef>
                <a:spcPts val="320"/>
              </a:spcBef>
              <a:spcAft>
                <a:spcPts val="0"/>
              </a:spcAft>
              <a:buClr>
                <a:schemeClr val="dk1"/>
              </a:buClr>
              <a:buSzPts val="1600"/>
              <a:buChar char="▪"/>
            </a:pPr>
            <a:r>
              <a:rPr i="1" lang="en-US"/>
              <a:t>adjustment</a:t>
            </a:r>
            <a:r>
              <a:rPr lang="en-US"/>
              <a:t>, </a:t>
            </a:r>
            <a:endParaRPr/>
          </a:p>
          <a:p>
            <a:pPr indent="-228600" lvl="2" marL="1143000" rtl="0" algn="l">
              <a:spcBef>
                <a:spcPts val="320"/>
              </a:spcBef>
              <a:spcAft>
                <a:spcPts val="0"/>
              </a:spcAft>
              <a:buClr>
                <a:schemeClr val="dk1"/>
              </a:buClr>
              <a:buSzPts val="1600"/>
              <a:buChar char="▪"/>
            </a:pPr>
            <a:r>
              <a:rPr i="1" lang="en-US"/>
              <a:t>conscientiousness</a:t>
            </a:r>
            <a:r>
              <a:rPr lang="en-US"/>
              <a:t>, and </a:t>
            </a:r>
            <a:endParaRPr/>
          </a:p>
          <a:p>
            <a:pPr indent="-228600" lvl="2" marL="1143000" rtl="0" algn="l">
              <a:spcBef>
                <a:spcPts val="320"/>
              </a:spcBef>
              <a:spcAft>
                <a:spcPts val="0"/>
              </a:spcAft>
              <a:buClr>
                <a:schemeClr val="dk1"/>
              </a:buClr>
              <a:buSzPts val="1600"/>
              <a:buChar char="▪"/>
            </a:pPr>
            <a:r>
              <a:rPr i="1" lang="en-US"/>
              <a:t>openness to experience</a:t>
            </a:r>
            <a:r>
              <a:rPr lang="en-US"/>
              <a:t>.  </a:t>
            </a:r>
            <a:endParaRPr/>
          </a:p>
          <a:p>
            <a:pPr indent="0" lvl="2" marL="914400" rtl="0" algn="l">
              <a:spcBef>
                <a:spcPts val="320"/>
              </a:spcBef>
              <a:spcAft>
                <a:spcPts val="0"/>
              </a:spcAft>
              <a:buClr>
                <a:schemeClr val="dk1"/>
              </a:buClr>
              <a:buSzPts val="1600"/>
              <a:buNone/>
            </a:pPr>
            <a:r>
              <a:rPr lang="en-US"/>
              <a:t>NOTE: Although called by different names by various researchers, we will refer to [1] and call them the </a:t>
            </a:r>
            <a:r>
              <a:rPr i="1" lang="en-US">
                <a:solidFill>
                  <a:srgbClr val="FF0000"/>
                </a:solidFill>
              </a:rPr>
              <a:t>Big Five Model of Personality</a:t>
            </a:r>
            <a:r>
              <a:rPr lang="en-US"/>
              <a:t>. </a:t>
            </a:r>
            <a:endParaRPr/>
          </a:p>
          <a:p>
            <a:pPr indent="-171450" lvl="1" marL="742950" rtl="0" algn="l">
              <a:spcBef>
                <a:spcPts val="360"/>
              </a:spcBef>
              <a:spcAft>
                <a:spcPts val="0"/>
              </a:spcAft>
              <a:buClr>
                <a:schemeClr val="dk1"/>
              </a:buClr>
              <a:buSzPts val="1800"/>
              <a:buNone/>
            </a:pPr>
            <a:r>
              <a:t/>
            </a:r>
            <a:endParaRPr/>
          </a:p>
          <a:p>
            <a:pPr indent="-285750" lvl="1" marL="742950" rtl="0" algn="l">
              <a:spcBef>
                <a:spcPts val="360"/>
              </a:spcBef>
              <a:spcAft>
                <a:spcPts val="0"/>
              </a:spcAft>
              <a:buClr>
                <a:schemeClr val="dk1"/>
              </a:buClr>
              <a:buSzPts val="1800"/>
              <a:buChar char="✔"/>
            </a:pPr>
            <a:r>
              <a:rPr lang="en-US"/>
              <a:t>Let’s describe each of the five personality dimensions…</a:t>
            </a:r>
            <a:endParaRPr/>
          </a:p>
        </p:txBody>
      </p:sp>
      <p:sp>
        <p:nvSpPr>
          <p:cNvPr id="130" name="Google Shape;130;p5"/>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131" name="Google Shape;131;p5"/>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32" name="Google Shape;132;p5"/>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6"/>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Leading the Design Effort</a:t>
            </a:r>
            <a:br>
              <a:rPr lang="en-US" sz="2160"/>
            </a:br>
            <a:r>
              <a:rPr lang="en-US" sz="2160"/>
              <a:t>- Personality Dimensions -</a:t>
            </a:r>
            <a:endParaRPr/>
          </a:p>
        </p:txBody>
      </p:sp>
      <p:sp>
        <p:nvSpPr>
          <p:cNvPr id="138" name="Google Shape;138;p6"/>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1700"/>
              <a:buFont typeface="Noto Sans Symbols"/>
              <a:buChar char="⮚"/>
            </a:pPr>
            <a:r>
              <a:rPr lang="en-US" sz="1700"/>
              <a:t>The </a:t>
            </a:r>
            <a:r>
              <a:rPr i="1" lang="en-US" sz="1700">
                <a:solidFill>
                  <a:srgbClr val="FF0000"/>
                </a:solidFill>
              </a:rPr>
              <a:t>agreeableness dimension </a:t>
            </a:r>
            <a:r>
              <a:rPr lang="en-US" sz="1700"/>
              <a:t>contains traits that are related to getting along with people. </a:t>
            </a:r>
            <a:endParaRPr sz="1700"/>
          </a:p>
          <a:p>
            <a:pPr indent="-285750" lvl="1" marL="742950" rtl="0" algn="l">
              <a:lnSpc>
                <a:spcPct val="80000"/>
              </a:lnSpc>
              <a:spcBef>
                <a:spcPts val="306"/>
              </a:spcBef>
              <a:spcAft>
                <a:spcPts val="0"/>
              </a:spcAft>
              <a:buClr>
                <a:schemeClr val="dk1"/>
              </a:buClr>
              <a:buSzPts val="1530"/>
              <a:buChar char="✔"/>
            </a:pPr>
            <a:r>
              <a:rPr lang="en-US" sz="1530"/>
              <a:t>Individuals that are strong in agreeableness are friendly, sociable, and compassionate.  </a:t>
            </a:r>
            <a:endParaRPr sz="1530"/>
          </a:p>
          <a:p>
            <a:pPr indent="-234950" lvl="0" marL="342900" rtl="0" algn="l">
              <a:lnSpc>
                <a:spcPct val="80000"/>
              </a:lnSpc>
              <a:spcBef>
                <a:spcPts val="340"/>
              </a:spcBef>
              <a:spcAft>
                <a:spcPts val="0"/>
              </a:spcAft>
              <a:buClr>
                <a:schemeClr val="dk1"/>
              </a:buClr>
              <a:buSzPts val="1700"/>
              <a:buFont typeface="Noto Sans Symbols"/>
              <a:buNone/>
            </a:pPr>
            <a:r>
              <a:t/>
            </a:r>
            <a:endParaRPr sz="1700"/>
          </a:p>
          <a:p>
            <a:pPr indent="-342900" lvl="0" marL="342900" rtl="0" algn="l">
              <a:lnSpc>
                <a:spcPct val="80000"/>
              </a:lnSpc>
              <a:spcBef>
                <a:spcPts val="340"/>
              </a:spcBef>
              <a:spcAft>
                <a:spcPts val="0"/>
              </a:spcAft>
              <a:buClr>
                <a:schemeClr val="dk1"/>
              </a:buClr>
              <a:buSzPts val="1700"/>
              <a:buFont typeface="Noto Sans Symbols"/>
              <a:buChar char="⮚"/>
            </a:pPr>
            <a:r>
              <a:rPr lang="en-US" sz="1700"/>
              <a:t>The </a:t>
            </a:r>
            <a:r>
              <a:rPr i="1" lang="en-US" sz="1700">
                <a:solidFill>
                  <a:srgbClr val="FF0000"/>
                </a:solidFill>
              </a:rPr>
              <a:t>surgency dimension</a:t>
            </a:r>
            <a:r>
              <a:rPr lang="en-US" sz="1700"/>
              <a:t> corresponds to personalities that are dominant (i.e., want to be in control), enjoy competition, and are willing to confront others, among other things.  </a:t>
            </a:r>
            <a:endParaRPr sz="1700"/>
          </a:p>
          <a:p>
            <a:pPr indent="-285750" lvl="1" marL="742950" rtl="0" algn="l">
              <a:lnSpc>
                <a:spcPct val="80000"/>
              </a:lnSpc>
              <a:spcBef>
                <a:spcPts val="306"/>
              </a:spcBef>
              <a:spcAft>
                <a:spcPts val="0"/>
              </a:spcAft>
              <a:buClr>
                <a:schemeClr val="dk1"/>
              </a:buClr>
              <a:buSzPts val="1530"/>
              <a:buChar char="✔"/>
            </a:pPr>
            <a:r>
              <a:rPr lang="en-US" sz="1530"/>
              <a:t>Individuals who are weak in surgency are typically followers.  </a:t>
            </a:r>
            <a:endParaRPr sz="1530"/>
          </a:p>
          <a:p>
            <a:pPr indent="-234950" lvl="0" marL="342900" rtl="0" algn="l">
              <a:lnSpc>
                <a:spcPct val="80000"/>
              </a:lnSpc>
              <a:spcBef>
                <a:spcPts val="340"/>
              </a:spcBef>
              <a:spcAft>
                <a:spcPts val="0"/>
              </a:spcAft>
              <a:buClr>
                <a:schemeClr val="dk1"/>
              </a:buClr>
              <a:buSzPts val="1700"/>
              <a:buFont typeface="Noto Sans Symbols"/>
              <a:buNone/>
            </a:pPr>
            <a:r>
              <a:t/>
            </a:r>
            <a:endParaRPr sz="1700"/>
          </a:p>
          <a:p>
            <a:pPr indent="-342900" lvl="0" marL="342900" rtl="0" algn="l">
              <a:lnSpc>
                <a:spcPct val="80000"/>
              </a:lnSpc>
              <a:spcBef>
                <a:spcPts val="340"/>
              </a:spcBef>
              <a:spcAft>
                <a:spcPts val="0"/>
              </a:spcAft>
              <a:buClr>
                <a:schemeClr val="dk1"/>
              </a:buClr>
              <a:buSzPts val="1700"/>
              <a:buFont typeface="Noto Sans Symbols"/>
              <a:buChar char="⮚"/>
            </a:pPr>
            <a:r>
              <a:rPr lang="en-US" sz="1700"/>
              <a:t>The </a:t>
            </a:r>
            <a:r>
              <a:rPr i="1" lang="en-US" sz="1700">
                <a:solidFill>
                  <a:srgbClr val="FF0000"/>
                </a:solidFill>
              </a:rPr>
              <a:t>adjustment dimension </a:t>
            </a:r>
            <a:r>
              <a:rPr lang="en-US" sz="1700"/>
              <a:t>is related to emotional stability.  </a:t>
            </a:r>
            <a:endParaRPr sz="1700"/>
          </a:p>
          <a:p>
            <a:pPr indent="-285750" lvl="1" marL="742950" rtl="0" algn="l">
              <a:lnSpc>
                <a:spcPct val="80000"/>
              </a:lnSpc>
              <a:spcBef>
                <a:spcPts val="306"/>
              </a:spcBef>
              <a:spcAft>
                <a:spcPts val="0"/>
              </a:spcAft>
              <a:buClr>
                <a:schemeClr val="dk1"/>
              </a:buClr>
              <a:buSzPts val="1530"/>
              <a:buChar char="✔"/>
            </a:pPr>
            <a:r>
              <a:rPr lang="en-US" sz="1530"/>
              <a:t>Individuals who are strong in this dimension are considered stable people who are in control of themselves, positive minded, and react well under pressure.  </a:t>
            </a:r>
            <a:endParaRPr sz="1530"/>
          </a:p>
          <a:p>
            <a:pPr indent="-285750" lvl="1" marL="742950" rtl="0" algn="l">
              <a:lnSpc>
                <a:spcPct val="80000"/>
              </a:lnSpc>
              <a:spcBef>
                <a:spcPts val="306"/>
              </a:spcBef>
              <a:spcAft>
                <a:spcPts val="0"/>
              </a:spcAft>
              <a:buClr>
                <a:schemeClr val="dk1"/>
              </a:buClr>
              <a:buSzPts val="1530"/>
              <a:buChar char="✔"/>
            </a:pPr>
            <a:r>
              <a:rPr lang="en-US" sz="1530"/>
              <a:t>Those that are weak in adjustment are considered unstable, and typically are characterized by being negative and perform poorly under pressure. </a:t>
            </a:r>
            <a:endParaRPr sz="1530"/>
          </a:p>
          <a:p>
            <a:pPr indent="-234950" lvl="0" marL="342900" rtl="0" algn="l">
              <a:lnSpc>
                <a:spcPct val="80000"/>
              </a:lnSpc>
              <a:spcBef>
                <a:spcPts val="340"/>
              </a:spcBef>
              <a:spcAft>
                <a:spcPts val="0"/>
              </a:spcAft>
              <a:buClr>
                <a:schemeClr val="dk1"/>
              </a:buClr>
              <a:buSzPts val="1700"/>
              <a:buFont typeface="Noto Sans Symbols"/>
              <a:buNone/>
            </a:pPr>
            <a:r>
              <a:t/>
            </a:r>
            <a:endParaRPr sz="1700"/>
          </a:p>
          <a:p>
            <a:pPr indent="-342900" lvl="0" marL="342900" rtl="0" algn="l">
              <a:lnSpc>
                <a:spcPct val="80000"/>
              </a:lnSpc>
              <a:spcBef>
                <a:spcPts val="340"/>
              </a:spcBef>
              <a:spcAft>
                <a:spcPts val="0"/>
              </a:spcAft>
              <a:buClr>
                <a:schemeClr val="dk1"/>
              </a:buClr>
              <a:buSzPts val="1700"/>
              <a:buFont typeface="Noto Sans Symbols"/>
              <a:buChar char="⮚"/>
            </a:pPr>
            <a:r>
              <a:rPr lang="en-US" sz="1700"/>
              <a:t>The </a:t>
            </a:r>
            <a:r>
              <a:rPr i="1" lang="en-US" sz="1700">
                <a:solidFill>
                  <a:srgbClr val="FF0000"/>
                </a:solidFill>
              </a:rPr>
              <a:t>conscientiousness dimension </a:t>
            </a:r>
            <a:r>
              <a:rPr lang="en-US" sz="1700"/>
              <a:t>contains traits related to achievement.  </a:t>
            </a:r>
            <a:endParaRPr sz="1700"/>
          </a:p>
          <a:p>
            <a:pPr indent="-285750" lvl="1" marL="742950" rtl="0" algn="l">
              <a:lnSpc>
                <a:spcPct val="80000"/>
              </a:lnSpc>
              <a:spcBef>
                <a:spcPts val="306"/>
              </a:spcBef>
              <a:spcAft>
                <a:spcPts val="0"/>
              </a:spcAft>
              <a:buClr>
                <a:schemeClr val="dk1"/>
              </a:buClr>
              <a:buSzPts val="1530"/>
              <a:buChar char="✔"/>
            </a:pPr>
            <a:r>
              <a:rPr lang="en-US" sz="1530"/>
              <a:t>Individuals that are strong in this dimension are those that are willing to work extra hours and make sacrifices to reach the assigned objectives.  </a:t>
            </a:r>
            <a:endParaRPr sz="1530"/>
          </a:p>
          <a:p>
            <a:pPr indent="-188594" lvl="1" marL="742950" rtl="0" algn="l">
              <a:lnSpc>
                <a:spcPct val="80000"/>
              </a:lnSpc>
              <a:spcBef>
                <a:spcPts val="306"/>
              </a:spcBef>
              <a:spcAft>
                <a:spcPts val="0"/>
              </a:spcAft>
              <a:buClr>
                <a:schemeClr val="dk1"/>
              </a:buClr>
              <a:buSzPts val="1530"/>
              <a:buNone/>
            </a:pPr>
            <a:r>
              <a:t/>
            </a:r>
            <a:endParaRPr sz="1530"/>
          </a:p>
          <a:p>
            <a:pPr indent="-342900" lvl="0" marL="342900" rtl="0" algn="l">
              <a:lnSpc>
                <a:spcPct val="80000"/>
              </a:lnSpc>
              <a:spcBef>
                <a:spcPts val="340"/>
              </a:spcBef>
              <a:spcAft>
                <a:spcPts val="0"/>
              </a:spcAft>
              <a:buClr>
                <a:schemeClr val="dk1"/>
              </a:buClr>
              <a:buSzPts val="1700"/>
              <a:buFont typeface="Noto Sans Symbols"/>
              <a:buChar char="⮚"/>
            </a:pPr>
            <a:r>
              <a:rPr lang="en-US" sz="1700"/>
              <a:t>The </a:t>
            </a:r>
            <a:r>
              <a:rPr i="1" lang="en-US" sz="1700">
                <a:solidFill>
                  <a:srgbClr val="FF0000"/>
                </a:solidFill>
              </a:rPr>
              <a:t>openness to experience dimension</a:t>
            </a:r>
            <a:r>
              <a:rPr lang="en-US" sz="1700"/>
              <a:t> is related to individuals that are flexible to change, open minded, and attempt enjoy trying new things.  </a:t>
            </a:r>
            <a:endParaRPr sz="1700"/>
          </a:p>
          <a:p>
            <a:pPr indent="0" lvl="0" marL="0" rtl="0" algn="l">
              <a:lnSpc>
                <a:spcPct val="80000"/>
              </a:lnSpc>
              <a:spcBef>
                <a:spcPts val="340"/>
              </a:spcBef>
              <a:spcAft>
                <a:spcPts val="0"/>
              </a:spcAft>
              <a:buClr>
                <a:schemeClr val="dk1"/>
              </a:buClr>
              <a:buSzPts val="1700"/>
              <a:buNone/>
            </a:pPr>
            <a:r>
              <a:t/>
            </a:r>
            <a:endParaRPr sz="1700"/>
          </a:p>
        </p:txBody>
      </p:sp>
      <p:sp>
        <p:nvSpPr>
          <p:cNvPr id="139" name="Google Shape;139;p6"/>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140" name="Google Shape;140;p6"/>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41" name="Google Shape;141;p6"/>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7"/>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Leading the Design Effort</a:t>
            </a:r>
            <a:br>
              <a:rPr lang="en-US" sz="2160"/>
            </a:br>
            <a:r>
              <a:rPr lang="en-US" sz="2160"/>
              <a:t>- Personality Dimensions -</a:t>
            </a:r>
            <a:endParaRPr/>
          </a:p>
        </p:txBody>
      </p:sp>
      <p:sp>
        <p:nvSpPr>
          <p:cNvPr id="147" name="Google Shape;147;p7"/>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Understanding these dimensions is important because researchers have found varying degrees of correlations between leadership and each of the five personality dimensions.   </a:t>
            </a:r>
            <a:endParaRPr/>
          </a:p>
          <a:p>
            <a:pPr indent="-171450" lvl="1" marL="742950" rtl="0" algn="l">
              <a:spcBef>
                <a:spcPts val="360"/>
              </a:spcBef>
              <a:spcAft>
                <a:spcPts val="0"/>
              </a:spcAft>
              <a:buClr>
                <a:schemeClr val="dk1"/>
              </a:buClr>
              <a:buSzPts val="1800"/>
              <a:buNone/>
            </a:pPr>
            <a:r>
              <a:t/>
            </a:r>
            <a:endParaRPr/>
          </a:p>
          <a:p>
            <a:pPr indent="-285750" lvl="1" marL="742950" rtl="0" algn="l">
              <a:spcBef>
                <a:spcPts val="360"/>
              </a:spcBef>
              <a:spcAft>
                <a:spcPts val="0"/>
              </a:spcAft>
              <a:buClr>
                <a:schemeClr val="dk1"/>
              </a:buClr>
              <a:buSzPts val="1800"/>
              <a:buChar char="✔"/>
            </a:pPr>
            <a:r>
              <a:rPr lang="en-US"/>
              <a:t>For example, [2] analyzed over 70 prior studies to determine correlations between the five personality dimensions and leadership.  </a:t>
            </a:r>
            <a:endParaRPr/>
          </a:p>
          <a:p>
            <a:pPr indent="-171450" lvl="1" marL="742950" rtl="0" algn="l">
              <a:spcBef>
                <a:spcPts val="360"/>
              </a:spcBef>
              <a:spcAft>
                <a:spcPts val="0"/>
              </a:spcAft>
              <a:buClr>
                <a:schemeClr val="dk1"/>
              </a:buClr>
              <a:buSzPts val="1800"/>
              <a:buNone/>
            </a:pPr>
            <a:r>
              <a:t/>
            </a:r>
            <a:endParaRPr/>
          </a:p>
          <a:p>
            <a:pPr indent="-285750" lvl="1" marL="742950" rtl="0" algn="l">
              <a:spcBef>
                <a:spcPts val="360"/>
              </a:spcBef>
              <a:spcAft>
                <a:spcPts val="0"/>
              </a:spcAft>
              <a:buClr>
                <a:schemeClr val="dk1"/>
              </a:buClr>
              <a:buSzPts val="1800"/>
              <a:buChar char="✔"/>
            </a:pPr>
            <a:r>
              <a:rPr lang="en-US"/>
              <a:t>Results showed that the surgency dimension was the highest with a 0.31 correlation.  </a:t>
            </a:r>
            <a:endParaRPr/>
          </a:p>
          <a:p>
            <a:pPr indent="-228600" lvl="2" marL="1143000" rtl="0" algn="l">
              <a:spcBef>
                <a:spcPts val="320"/>
              </a:spcBef>
              <a:spcAft>
                <a:spcPts val="0"/>
              </a:spcAft>
              <a:buClr>
                <a:schemeClr val="dk1"/>
              </a:buClr>
              <a:buSzPts val="1600"/>
              <a:buChar char="▪"/>
            </a:pPr>
            <a:r>
              <a:rPr lang="en-US"/>
              <a:t>This means that traits corresponding to surgency can be used, to some extent, to describe leadership.  </a:t>
            </a:r>
            <a:endParaRPr/>
          </a:p>
          <a:p>
            <a:pPr indent="-228600" lvl="2" marL="1143000" rtl="0" algn="l">
              <a:spcBef>
                <a:spcPts val="320"/>
              </a:spcBef>
              <a:spcAft>
                <a:spcPts val="0"/>
              </a:spcAft>
              <a:buClr>
                <a:schemeClr val="dk1"/>
              </a:buClr>
              <a:buSzPts val="1600"/>
              <a:buChar char="▪"/>
            </a:pPr>
            <a:r>
              <a:rPr lang="en-US"/>
              <a:t>The second highest was conscientiousness with a 0.28 correlation, followed by openness to experience with 0.24, and agreeableness with 0.08.</a:t>
            </a:r>
            <a:endParaRPr/>
          </a:p>
        </p:txBody>
      </p:sp>
      <p:sp>
        <p:nvSpPr>
          <p:cNvPr id="148" name="Google Shape;148;p7"/>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149" name="Google Shape;149;p7"/>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50" name="Google Shape;150;p7"/>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8"/>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Leading the Design Effort</a:t>
            </a:r>
            <a:br>
              <a:rPr lang="en-US" sz="2160"/>
            </a:br>
            <a:r>
              <a:rPr lang="en-US" sz="2160"/>
              <a:t>- Traits of Effective Leaders -</a:t>
            </a:r>
            <a:endParaRPr/>
          </a:p>
        </p:txBody>
      </p:sp>
      <p:sp>
        <p:nvSpPr>
          <p:cNvPr id="157" name="Google Shape;157;p8"/>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An approach to studying personality dimensions is to investigate common individual traits that effective leaders possess, without grouping traits into personality dimensions.  </a:t>
            </a:r>
            <a:endParaRPr/>
          </a:p>
          <a:p>
            <a:pPr indent="-342900" lvl="0" marL="342900" rtl="0" algn="l">
              <a:spcBef>
                <a:spcPts val="400"/>
              </a:spcBef>
              <a:spcAft>
                <a:spcPts val="0"/>
              </a:spcAft>
              <a:buClr>
                <a:schemeClr val="dk1"/>
              </a:buClr>
              <a:buSzPts val="2000"/>
              <a:buFont typeface="Noto Sans Symbols"/>
              <a:buChar char="⮚"/>
            </a:pPr>
            <a:r>
              <a:rPr lang="en-US"/>
              <a:t>Some of the most important traits are:</a:t>
            </a:r>
            <a:endParaRPr/>
          </a:p>
        </p:txBody>
      </p:sp>
      <p:sp>
        <p:nvSpPr>
          <p:cNvPr id="158" name="Google Shape;158;p8"/>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159" name="Google Shape;159;p8"/>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60" name="Google Shape;160;p8"/>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61" name="Google Shape;161;p8"/>
          <p:cNvPicPr preferRelativeResize="0"/>
          <p:nvPr/>
        </p:nvPicPr>
        <p:blipFill rotWithShape="1">
          <a:blip r:embed="rId3">
            <a:alphaModFix/>
          </a:blip>
          <a:srcRect b="0" l="0" r="0" t="0"/>
          <a:stretch/>
        </p:blipFill>
        <p:spPr>
          <a:xfrm>
            <a:off x="1600200" y="2819400"/>
            <a:ext cx="5943600" cy="3276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9"/>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Leading the Design Effort</a:t>
            </a:r>
            <a:br>
              <a:rPr lang="en-US" sz="2160"/>
            </a:br>
            <a:r>
              <a:rPr lang="en-US" sz="2160"/>
              <a:t>- Ethical Leadership -</a:t>
            </a:r>
            <a:endParaRPr/>
          </a:p>
        </p:txBody>
      </p:sp>
      <p:sp>
        <p:nvSpPr>
          <p:cNvPr id="168" name="Google Shape;168;p9"/>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000"/>
              <a:buFont typeface="Noto Sans Symbols"/>
              <a:buChar char="⮚"/>
            </a:pPr>
            <a:r>
              <a:rPr lang="en-US"/>
              <a:t>Ethics can be defined as a set of moral principles that facilitates the process to distinguish between right and wrong behavior.  </a:t>
            </a:r>
            <a:endParaRPr/>
          </a:p>
          <a:p>
            <a:pPr indent="-215900" lvl="0" marL="342900" rtl="0" algn="l">
              <a:lnSpc>
                <a:spcPct val="90000"/>
              </a:lnSpc>
              <a:spcBef>
                <a:spcPts val="400"/>
              </a:spcBef>
              <a:spcAft>
                <a:spcPts val="0"/>
              </a:spcAft>
              <a:buClr>
                <a:schemeClr val="dk1"/>
              </a:buClr>
              <a:buSzPts val="2000"/>
              <a:buFont typeface="Noto Sans Symbols"/>
              <a:buNone/>
            </a:pPr>
            <a:r>
              <a:t/>
            </a:r>
            <a:endParaRPr/>
          </a:p>
          <a:p>
            <a:pPr indent="-342900" lvl="0" marL="342900" rtl="0" algn="l">
              <a:lnSpc>
                <a:spcPct val="90000"/>
              </a:lnSpc>
              <a:spcBef>
                <a:spcPts val="400"/>
              </a:spcBef>
              <a:spcAft>
                <a:spcPts val="0"/>
              </a:spcAft>
              <a:buClr>
                <a:schemeClr val="dk1"/>
              </a:buClr>
              <a:buSzPts val="2000"/>
              <a:buFont typeface="Noto Sans Symbols"/>
              <a:buChar char="⮚"/>
            </a:pPr>
            <a:r>
              <a:rPr lang="en-US"/>
              <a:t>Ethical behavior positively correlates with leadership effectiveness [3].  </a:t>
            </a:r>
            <a:endParaRPr/>
          </a:p>
          <a:p>
            <a:pPr indent="-285750" lvl="1" marL="742950" rtl="0" algn="l">
              <a:lnSpc>
                <a:spcPct val="90000"/>
              </a:lnSpc>
              <a:spcBef>
                <a:spcPts val="360"/>
              </a:spcBef>
              <a:spcAft>
                <a:spcPts val="0"/>
              </a:spcAft>
              <a:buClr>
                <a:schemeClr val="dk1"/>
              </a:buClr>
              <a:buSzPts val="1800"/>
              <a:buChar char="✔"/>
            </a:pPr>
            <a:r>
              <a:rPr lang="en-US"/>
              <a:t>It is well known that one of the best ways to </a:t>
            </a:r>
            <a:r>
              <a:rPr i="1" lang="en-US"/>
              <a:t>lead is by example</a:t>
            </a:r>
            <a:r>
              <a:rPr lang="en-US"/>
              <a:t>.  </a:t>
            </a:r>
            <a:endParaRPr/>
          </a:p>
          <a:p>
            <a:pPr indent="-285750" lvl="1" marL="742950" rtl="0" algn="l">
              <a:lnSpc>
                <a:spcPct val="90000"/>
              </a:lnSpc>
              <a:spcBef>
                <a:spcPts val="360"/>
              </a:spcBef>
              <a:spcAft>
                <a:spcPts val="0"/>
              </a:spcAft>
              <a:buClr>
                <a:schemeClr val="dk1"/>
              </a:buClr>
              <a:buSzPts val="1800"/>
              <a:buChar char="✔"/>
            </a:pPr>
            <a:r>
              <a:rPr lang="en-US"/>
              <a:t>An ethical leader sets the tone for employees to conduct themselves ethically.  </a:t>
            </a:r>
            <a:endParaRPr/>
          </a:p>
          <a:p>
            <a:pPr indent="-285750" lvl="1" marL="742950" rtl="0" algn="l">
              <a:lnSpc>
                <a:spcPct val="90000"/>
              </a:lnSpc>
              <a:spcBef>
                <a:spcPts val="360"/>
              </a:spcBef>
              <a:spcAft>
                <a:spcPts val="0"/>
              </a:spcAft>
              <a:buClr>
                <a:schemeClr val="dk1"/>
              </a:buClr>
              <a:buSzPts val="1800"/>
              <a:buChar char="✔"/>
            </a:pPr>
            <a:r>
              <a:rPr lang="en-US"/>
              <a:t>Being an ethical leader can be very challenging due to the risk of rejection or loss associated with ethical decisions.  </a:t>
            </a:r>
            <a:endParaRPr/>
          </a:p>
          <a:p>
            <a:pPr indent="-228600" lvl="2" marL="1143000" rtl="0" algn="l">
              <a:lnSpc>
                <a:spcPct val="90000"/>
              </a:lnSpc>
              <a:spcBef>
                <a:spcPts val="320"/>
              </a:spcBef>
              <a:spcAft>
                <a:spcPts val="0"/>
              </a:spcAft>
              <a:buClr>
                <a:schemeClr val="dk1"/>
              </a:buClr>
              <a:buSzPts val="1600"/>
              <a:buChar char="▪"/>
            </a:pPr>
            <a:r>
              <a:rPr lang="en-US"/>
              <a:t>To overcome this challenge:</a:t>
            </a:r>
            <a:endParaRPr/>
          </a:p>
          <a:p>
            <a:pPr indent="-228600" lvl="3" marL="1600200" rtl="0" algn="l">
              <a:lnSpc>
                <a:spcPct val="90000"/>
              </a:lnSpc>
              <a:spcBef>
                <a:spcPts val="280"/>
              </a:spcBef>
              <a:spcAft>
                <a:spcPts val="0"/>
              </a:spcAft>
              <a:buClr>
                <a:schemeClr val="dk1"/>
              </a:buClr>
              <a:buSzPts val="1400"/>
              <a:buChar char="–"/>
            </a:pPr>
            <a:r>
              <a:rPr lang="en-US"/>
              <a:t>Focus on a higher purpose while going through the decision process that involves moral behavior.    </a:t>
            </a:r>
            <a:endParaRPr/>
          </a:p>
          <a:p>
            <a:pPr indent="-228600" lvl="3" marL="1600200" rtl="0" algn="l">
              <a:lnSpc>
                <a:spcPct val="90000"/>
              </a:lnSpc>
              <a:spcBef>
                <a:spcPts val="280"/>
              </a:spcBef>
              <a:spcAft>
                <a:spcPts val="0"/>
              </a:spcAft>
              <a:buClr>
                <a:schemeClr val="dk1"/>
              </a:buClr>
              <a:buSzPts val="1400"/>
              <a:buChar char="–"/>
            </a:pPr>
            <a:r>
              <a:rPr lang="en-US"/>
              <a:t>Find support from other ethical people (e.g., friends, family, or co-workers).  </a:t>
            </a:r>
            <a:endParaRPr/>
          </a:p>
          <a:p>
            <a:pPr indent="-171450" lvl="1" marL="742950" rtl="0" algn="l">
              <a:lnSpc>
                <a:spcPct val="90000"/>
              </a:lnSpc>
              <a:spcBef>
                <a:spcPts val="360"/>
              </a:spcBef>
              <a:spcAft>
                <a:spcPts val="0"/>
              </a:spcAft>
              <a:buClr>
                <a:schemeClr val="dk1"/>
              </a:buClr>
              <a:buSzPts val="1800"/>
              <a:buNone/>
            </a:pPr>
            <a:r>
              <a:t/>
            </a:r>
            <a:endParaRPr/>
          </a:p>
          <a:p>
            <a:pPr indent="-285750" lvl="1" marL="742950" rtl="0" algn="l">
              <a:lnSpc>
                <a:spcPct val="90000"/>
              </a:lnSpc>
              <a:spcBef>
                <a:spcPts val="360"/>
              </a:spcBef>
              <a:spcAft>
                <a:spcPts val="0"/>
              </a:spcAft>
              <a:buClr>
                <a:schemeClr val="dk1"/>
              </a:buClr>
              <a:buSzPts val="1800"/>
              <a:buChar char="✔"/>
            </a:pPr>
            <a:r>
              <a:rPr lang="en-US"/>
              <a:t>Most companies have their own internal documents that describe expected ethical behavior from employees.  </a:t>
            </a:r>
            <a:endParaRPr/>
          </a:p>
          <a:p>
            <a:pPr indent="-228600" lvl="2" marL="1143000" rtl="0" algn="l">
              <a:lnSpc>
                <a:spcPct val="90000"/>
              </a:lnSpc>
              <a:spcBef>
                <a:spcPts val="320"/>
              </a:spcBef>
              <a:spcAft>
                <a:spcPts val="0"/>
              </a:spcAft>
              <a:buClr>
                <a:schemeClr val="dk1"/>
              </a:buClr>
              <a:buSzPts val="1600"/>
              <a:buChar char="▪"/>
            </a:pPr>
            <a:r>
              <a:rPr lang="en-US"/>
              <a:t>It is very important for leaders to conform to these guidelines, and discuss them with employees.</a:t>
            </a:r>
            <a:endParaRPr/>
          </a:p>
        </p:txBody>
      </p:sp>
      <p:sp>
        <p:nvSpPr>
          <p:cNvPr id="169" name="Google Shape;169;p9"/>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170" name="Google Shape;170;p9"/>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71" name="Google Shape;171;p9"/>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lotero\AppData\Local\Microsoft\Windows\Temporary Internet Files\Content.IE5\7KTSI7KO\MP900341775[1].jpg" id="172" name="Google Shape;172;p9"/>
          <p:cNvPicPr preferRelativeResize="0"/>
          <p:nvPr/>
        </p:nvPicPr>
        <p:blipFill rotWithShape="1">
          <a:blip r:embed="rId3">
            <a:alphaModFix/>
          </a:blip>
          <a:srcRect b="0" l="0" r="0" t="0"/>
          <a:stretch/>
        </p:blipFill>
        <p:spPr>
          <a:xfrm>
            <a:off x="609600" y="4191000"/>
            <a:ext cx="1081043" cy="77114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0"/>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Leading the Design Effort</a:t>
            </a:r>
            <a:br>
              <a:rPr lang="en-US" sz="2160"/>
            </a:br>
            <a:r>
              <a:rPr lang="en-US" sz="2160"/>
              <a:t>- Power -</a:t>
            </a:r>
            <a:endParaRPr/>
          </a:p>
        </p:txBody>
      </p:sp>
      <p:sp>
        <p:nvSpPr>
          <p:cNvPr id="179" name="Google Shape;179;p10"/>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1850"/>
              <a:buFont typeface="Noto Sans Symbols"/>
              <a:buChar char="⮚"/>
            </a:pPr>
            <a:r>
              <a:rPr lang="en-US" sz="1850"/>
              <a:t>The potential influence that leaders have over others is called </a:t>
            </a:r>
            <a:r>
              <a:rPr i="1" lang="en-US" sz="1850">
                <a:solidFill>
                  <a:srgbClr val="FF0000"/>
                </a:solidFill>
              </a:rPr>
              <a:t>power</a:t>
            </a:r>
            <a:r>
              <a:rPr lang="en-US" sz="1850"/>
              <a:t>.  </a:t>
            </a:r>
            <a:endParaRPr sz="1850"/>
          </a:p>
          <a:p>
            <a:pPr indent="-225425" lvl="0" marL="342900" rtl="0" algn="l">
              <a:lnSpc>
                <a:spcPct val="90000"/>
              </a:lnSpc>
              <a:spcBef>
                <a:spcPts val="370"/>
              </a:spcBef>
              <a:spcAft>
                <a:spcPts val="0"/>
              </a:spcAft>
              <a:buClr>
                <a:schemeClr val="dk1"/>
              </a:buClr>
              <a:buSzPts val="1850"/>
              <a:buFont typeface="Noto Sans Symbols"/>
              <a:buNone/>
            </a:pPr>
            <a:r>
              <a:t/>
            </a:r>
            <a:endParaRPr sz="1850"/>
          </a:p>
          <a:p>
            <a:pPr indent="-342900" lvl="0" marL="342900" rtl="0" algn="l">
              <a:lnSpc>
                <a:spcPct val="90000"/>
              </a:lnSpc>
              <a:spcBef>
                <a:spcPts val="370"/>
              </a:spcBef>
              <a:spcAft>
                <a:spcPts val="0"/>
              </a:spcAft>
              <a:buClr>
                <a:schemeClr val="dk1"/>
              </a:buClr>
              <a:buSzPts val="1850"/>
              <a:buFont typeface="Noto Sans Symbols"/>
              <a:buChar char="⮚"/>
            </a:pPr>
            <a:r>
              <a:rPr lang="en-US" sz="1850"/>
              <a:t>“Potential” means that it is actually the perception of power, and not the power itself, that influences followers.  </a:t>
            </a:r>
            <a:endParaRPr sz="1850"/>
          </a:p>
          <a:p>
            <a:pPr indent="-225425" lvl="0" marL="342900" rtl="0" algn="l">
              <a:lnSpc>
                <a:spcPct val="90000"/>
              </a:lnSpc>
              <a:spcBef>
                <a:spcPts val="370"/>
              </a:spcBef>
              <a:spcAft>
                <a:spcPts val="0"/>
              </a:spcAft>
              <a:buClr>
                <a:schemeClr val="dk1"/>
              </a:buClr>
              <a:buSzPts val="1850"/>
              <a:buFont typeface="Noto Sans Symbols"/>
              <a:buNone/>
            </a:pPr>
            <a:r>
              <a:t/>
            </a:r>
            <a:endParaRPr sz="1850"/>
          </a:p>
          <a:p>
            <a:pPr indent="-342900" lvl="0" marL="342900" rtl="0" algn="l">
              <a:lnSpc>
                <a:spcPct val="90000"/>
              </a:lnSpc>
              <a:spcBef>
                <a:spcPts val="370"/>
              </a:spcBef>
              <a:spcAft>
                <a:spcPts val="0"/>
              </a:spcAft>
              <a:buClr>
                <a:schemeClr val="dk1"/>
              </a:buClr>
              <a:buSzPts val="1850"/>
              <a:buFont typeface="Noto Sans Symbols"/>
              <a:buChar char="⮚"/>
            </a:pPr>
            <a:r>
              <a:rPr lang="en-US" sz="1850"/>
              <a:t>The two main sources of power are </a:t>
            </a:r>
            <a:r>
              <a:rPr i="1" lang="en-US" sz="1850">
                <a:solidFill>
                  <a:srgbClr val="FF0000"/>
                </a:solidFill>
              </a:rPr>
              <a:t>position power </a:t>
            </a:r>
            <a:r>
              <a:rPr lang="en-US" sz="1850"/>
              <a:t>and </a:t>
            </a:r>
            <a:r>
              <a:rPr i="1" lang="en-US" sz="1850">
                <a:solidFill>
                  <a:srgbClr val="FF0000"/>
                </a:solidFill>
              </a:rPr>
              <a:t>personal power</a:t>
            </a:r>
            <a:r>
              <a:rPr lang="en-US" sz="1850"/>
              <a:t>.  </a:t>
            </a:r>
            <a:endParaRPr sz="1850"/>
          </a:p>
          <a:p>
            <a:pPr indent="-285750" lvl="1" marL="742950" rtl="0" algn="l">
              <a:lnSpc>
                <a:spcPct val="90000"/>
              </a:lnSpc>
              <a:spcBef>
                <a:spcPts val="333"/>
              </a:spcBef>
              <a:spcAft>
                <a:spcPts val="0"/>
              </a:spcAft>
              <a:buClr>
                <a:schemeClr val="dk1"/>
              </a:buClr>
              <a:buSzPts val="1665"/>
              <a:buChar char="✔"/>
            </a:pPr>
            <a:r>
              <a:rPr lang="en-US" sz="1665"/>
              <a:t>Position power is related to hierarchical position levels (higher levels = higher power)  </a:t>
            </a:r>
            <a:endParaRPr/>
          </a:p>
          <a:p>
            <a:pPr indent="-228600" lvl="2" marL="1143000" rtl="0" algn="l">
              <a:lnSpc>
                <a:spcPct val="90000"/>
              </a:lnSpc>
              <a:spcBef>
                <a:spcPts val="296"/>
              </a:spcBef>
              <a:spcAft>
                <a:spcPts val="0"/>
              </a:spcAft>
              <a:buClr>
                <a:schemeClr val="dk1"/>
              </a:buClr>
              <a:buSzPts val="1480"/>
              <a:buChar char="▪"/>
            </a:pPr>
            <a:r>
              <a:rPr lang="en-US" sz="1480"/>
              <a:t>Example: The president of a software company has more potential power than any other employee in the company because of position power.  </a:t>
            </a:r>
            <a:endParaRPr sz="1480"/>
          </a:p>
          <a:p>
            <a:pPr indent="-180022" lvl="1" marL="742950" rtl="0" algn="l">
              <a:lnSpc>
                <a:spcPct val="90000"/>
              </a:lnSpc>
              <a:spcBef>
                <a:spcPts val="333"/>
              </a:spcBef>
              <a:spcAft>
                <a:spcPts val="0"/>
              </a:spcAft>
              <a:buClr>
                <a:schemeClr val="dk1"/>
              </a:buClr>
              <a:buSzPts val="1665"/>
              <a:buNone/>
            </a:pPr>
            <a:r>
              <a:t/>
            </a:r>
            <a:endParaRPr sz="1665"/>
          </a:p>
          <a:p>
            <a:pPr indent="-285750" lvl="1" marL="742950" rtl="0" algn="l">
              <a:lnSpc>
                <a:spcPct val="90000"/>
              </a:lnSpc>
              <a:spcBef>
                <a:spcPts val="333"/>
              </a:spcBef>
              <a:spcAft>
                <a:spcPts val="0"/>
              </a:spcAft>
              <a:buClr>
                <a:schemeClr val="dk1"/>
              </a:buClr>
              <a:buSzPts val="1665"/>
              <a:buChar char="✔"/>
            </a:pPr>
            <a:r>
              <a:rPr lang="en-US" sz="1665"/>
              <a:t>Position power allows managers to influence employees in order to reach planned objectives.  </a:t>
            </a:r>
            <a:endParaRPr sz="1665"/>
          </a:p>
          <a:p>
            <a:pPr indent="-228600" lvl="2" marL="1143000" rtl="0" algn="l">
              <a:lnSpc>
                <a:spcPct val="90000"/>
              </a:lnSpc>
              <a:spcBef>
                <a:spcPts val="296"/>
              </a:spcBef>
              <a:spcAft>
                <a:spcPts val="0"/>
              </a:spcAft>
              <a:buClr>
                <a:schemeClr val="dk1"/>
              </a:buClr>
              <a:buSzPts val="1480"/>
              <a:buChar char="▪"/>
            </a:pPr>
            <a:r>
              <a:rPr i="1" lang="en-US" sz="1480"/>
              <a:t>Reward Power </a:t>
            </a:r>
            <a:r>
              <a:rPr lang="en-US" sz="1480"/>
              <a:t>is a type of position power.  </a:t>
            </a:r>
            <a:endParaRPr sz="1480"/>
          </a:p>
          <a:p>
            <a:pPr indent="-228600" lvl="3" marL="1600200" rtl="0" algn="l">
              <a:lnSpc>
                <a:spcPct val="90000"/>
              </a:lnSpc>
              <a:spcBef>
                <a:spcPts val="259"/>
              </a:spcBef>
              <a:spcAft>
                <a:spcPts val="0"/>
              </a:spcAft>
              <a:buClr>
                <a:schemeClr val="dk1"/>
              </a:buClr>
              <a:buSzPts val="1295"/>
              <a:buChar char="–"/>
            </a:pPr>
            <a:r>
              <a:rPr lang="en-US" sz="1295"/>
              <a:t>Managers can influence employees with something of value to them (e.g., performance evaluations). </a:t>
            </a:r>
            <a:endParaRPr/>
          </a:p>
          <a:p>
            <a:pPr indent="-228600" lvl="2" marL="1143000" rtl="0" algn="l">
              <a:lnSpc>
                <a:spcPct val="90000"/>
              </a:lnSpc>
              <a:spcBef>
                <a:spcPts val="296"/>
              </a:spcBef>
              <a:spcAft>
                <a:spcPts val="0"/>
              </a:spcAft>
              <a:buClr>
                <a:schemeClr val="dk1"/>
              </a:buClr>
              <a:buSzPts val="1480"/>
              <a:buChar char="▪"/>
            </a:pPr>
            <a:r>
              <a:rPr i="1" lang="en-US" sz="1480"/>
              <a:t>Coercive power </a:t>
            </a:r>
            <a:r>
              <a:rPr lang="en-US" sz="1480"/>
              <a:t>is another type of position power</a:t>
            </a:r>
            <a:endParaRPr/>
          </a:p>
          <a:p>
            <a:pPr indent="-228600" lvl="3" marL="1600200" rtl="0" algn="l">
              <a:lnSpc>
                <a:spcPct val="90000"/>
              </a:lnSpc>
              <a:spcBef>
                <a:spcPts val="259"/>
              </a:spcBef>
              <a:spcAft>
                <a:spcPts val="0"/>
              </a:spcAft>
              <a:buClr>
                <a:schemeClr val="dk1"/>
              </a:buClr>
              <a:buSzPts val="1295"/>
              <a:buChar char="–"/>
            </a:pPr>
            <a:r>
              <a:rPr lang="en-US" sz="1295"/>
              <a:t>Managers can influence others by the idea of punishment and withholding of rewards.  </a:t>
            </a:r>
            <a:endParaRPr sz="1295"/>
          </a:p>
        </p:txBody>
      </p:sp>
      <p:sp>
        <p:nvSpPr>
          <p:cNvPr id="180" name="Google Shape;180;p10"/>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181" name="Google Shape;181;p10"/>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82" name="Google Shape;182;p10"/>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lotero\AppData\Local\Microsoft\Windows\Temporary Internet Files\Content.IE5\7KTSI7KO\MC900140395[1].wmf" id="183" name="Google Shape;183;p10"/>
          <p:cNvPicPr preferRelativeResize="0"/>
          <p:nvPr/>
        </p:nvPicPr>
        <p:blipFill rotWithShape="1">
          <a:blip r:embed="rId3">
            <a:alphaModFix/>
          </a:blip>
          <a:srcRect b="0" l="0" r="0" t="0"/>
          <a:stretch/>
        </p:blipFill>
        <p:spPr>
          <a:xfrm>
            <a:off x="304800" y="5029200"/>
            <a:ext cx="1123798" cy="9404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1"/>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Leading the Design Effort</a:t>
            </a:r>
            <a:br>
              <a:rPr lang="en-US" sz="2160"/>
            </a:br>
            <a:r>
              <a:rPr lang="en-US" sz="2160"/>
              <a:t>- Power -</a:t>
            </a:r>
            <a:endParaRPr/>
          </a:p>
        </p:txBody>
      </p:sp>
      <p:sp>
        <p:nvSpPr>
          <p:cNvPr id="190" name="Google Shape;190;p11"/>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285750" lvl="1" marL="742950" rtl="0" algn="l">
              <a:spcBef>
                <a:spcPts val="0"/>
              </a:spcBef>
              <a:spcAft>
                <a:spcPts val="0"/>
              </a:spcAft>
              <a:buClr>
                <a:schemeClr val="dk1"/>
              </a:buClr>
              <a:buSzPts val="1800"/>
              <a:buChar char="✔"/>
            </a:pPr>
            <a:r>
              <a:rPr i="1" lang="en-US"/>
              <a:t>Personal power </a:t>
            </a:r>
            <a:r>
              <a:rPr lang="en-US"/>
              <a:t>relates to the potential influence that a person’s behavior has to influence others.  </a:t>
            </a:r>
            <a:endParaRPr/>
          </a:p>
          <a:p>
            <a:pPr indent="-228600" lvl="2" marL="1143000" rtl="0" algn="l">
              <a:spcBef>
                <a:spcPts val="320"/>
              </a:spcBef>
              <a:spcAft>
                <a:spcPts val="0"/>
              </a:spcAft>
              <a:buClr>
                <a:schemeClr val="dk1"/>
              </a:buClr>
              <a:buSzPts val="1600"/>
              <a:buChar char="▪"/>
            </a:pPr>
            <a:r>
              <a:rPr lang="en-US"/>
              <a:t>Being positive, assertive, and hard worker are some of the characteristics that increase personal power.  </a:t>
            </a:r>
            <a:endParaRPr/>
          </a:p>
          <a:p>
            <a:pPr indent="-171450" lvl="1" marL="742950" rtl="0" algn="l">
              <a:spcBef>
                <a:spcPts val="360"/>
              </a:spcBef>
              <a:spcAft>
                <a:spcPts val="0"/>
              </a:spcAft>
              <a:buClr>
                <a:schemeClr val="dk1"/>
              </a:buClr>
              <a:buSzPts val="1800"/>
              <a:buNone/>
            </a:pPr>
            <a:r>
              <a:t/>
            </a:r>
            <a:endParaRPr/>
          </a:p>
          <a:p>
            <a:pPr indent="-285750" lvl="1" marL="742950" rtl="0" algn="l">
              <a:spcBef>
                <a:spcPts val="360"/>
              </a:spcBef>
              <a:spcAft>
                <a:spcPts val="0"/>
              </a:spcAft>
              <a:buClr>
                <a:schemeClr val="dk1"/>
              </a:buClr>
              <a:buSzPts val="1800"/>
              <a:buChar char="✔"/>
            </a:pPr>
            <a:r>
              <a:rPr lang="en-US"/>
              <a:t>There are various types of personal power.  </a:t>
            </a:r>
            <a:endParaRPr/>
          </a:p>
          <a:p>
            <a:pPr indent="-228600" lvl="2" marL="1143000" rtl="0" algn="l">
              <a:spcBef>
                <a:spcPts val="320"/>
              </a:spcBef>
              <a:spcAft>
                <a:spcPts val="0"/>
              </a:spcAft>
              <a:buClr>
                <a:schemeClr val="dk1"/>
              </a:buClr>
              <a:buSzPts val="1600"/>
              <a:buChar char="▪"/>
            </a:pPr>
            <a:r>
              <a:rPr lang="en-US"/>
              <a:t>The </a:t>
            </a:r>
            <a:r>
              <a:rPr i="1" lang="en-US"/>
              <a:t>expert power</a:t>
            </a:r>
            <a:r>
              <a:rPr lang="en-US"/>
              <a:t> is based influencing others on a leader’s skill and knowledge.  </a:t>
            </a:r>
            <a:endParaRPr/>
          </a:p>
          <a:p>
            <a:pPr indent="-228600" lvl="3" marL="1600200" rtl="0" algn="l">
              <a:spcBef>
                <a:spcPts val="280"/>
              </a:spcBef>
              <a:spcAft>
                <a:spcPts val="0"/>
              </a:spcAft>
              <a:buClr>
                <a:schemeClr val="dk1"/>
              </a:buClr>
              <a:buSzPts val="1400"/>
              <a:buChar char="–"/>
            </a:pPr>
            <a:r>
              <a:rPr lang="en-US"/>
              <a:t>For example, being an expert in developing architectural designs will influence others to follow the expert.  </a:t>
            </a:r>
            <a:endParaRPr/>
          </a:p>
          <a:p>
            <a:pPr indent="-228600" lvl="3" marL="1600200" rtl="0" algn="l">
              <a:spcBef>
                <a:spcPts val="280"/>
              </a:spcBef>
              <a:spcAft>
                <a:spcPts val="0"/>
              </a:spcAft>
              <a:buClr>
                <a:schemeClr val="dk1"/>
              </a:buClr>
              <a:buSzPts val="1400"/>
              <a:buChar char="–"/>
            </a:pPr>
            <a:r>
              <a:rPr lang="en-US"/>
              <a:t>The expert power of an individual gets stronger as people with similar expertise levels become fewer.  </a:t>
            </a:r>
            <a:endParaRPr/>
          </a:p>
          <a:p>
            <a:pPr indent="-127000" lvl="2" marL="1143000" rtl="0" algn="l">
              <a:spcBef>
                <a:spcPts val="320"/>
              </a:spcBef>
              <a:spcAft>
                <a:spcPts val="0"/>
              </a:spcAft>
              <a:buClr>
                <a:schemeClr val="dk1"/>
              </a:buClr>
              <a:buSzPts val="1600"/>
              <a:buNone/>
            </a:pPr>
            <a:r>
              <a:t/>
            </a:r>
            <a:endParaRPr/>
          </a:p>
          <a:p>
            <a:pPr indent="-228600" lvl="2" marL="1143000" rtl="0" algn="l">
              <a:spcBef>
                <a:spcPts val="320"/>
              </a:spcBef>
              <a:spcAft>
                <a:spcPts val="0"/>
              </a:spcAft>
              <a:buClr>
                <a:schemeClr val="dk1"/>
              </a:buClr>
              <a:buSzPts val="1600"/>
              <a:buChar char="▪"/>
            </a:pPr>
            <a:r>
              <a:rPr lang="en-US"/>
              <a:t>The </a:t>
            </a:r>
            <a:r>
              <a:rPr i="1" lang="en-US"/>
              <a:t>connection power</a:t>
            </a:r>
            <a:r>
              <a:rPr lang="en-US"/>
              <a:t> refers to the ability of a person to influence others because of the person’s relationships with influential people.</a:t>
            </a:r>
            <a:endParaRPr/>
          </a:p>
        </p:txBody>
      </p:sp>
      <p:sp>
        <p:nvSpPr>
          <p:cNvPr id="191" name="Google Shape;191;p11"/>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192" name="Google Shape;192;p11"/>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93" name="Google Shape;193;p11"/>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lotero\AppData\Local\Microsoft\Windows\Temporary Internet Files\Content.IE5\4PMGEOSD\MC900300954[1].wmf" id="194" name="Google Shape;194;p11"/>
          <p:cNvPicPr preferRelativeResize="0"/>
          <p:nvPr/>
        </p:nvPicPr>
        <p:blipFill rotWithShape="1">
          <a:blip r:embed="rId3">
            <a:alphaModFix/>
          </a:blip>
          <a:srcRect b="0" l="0" r="0" t="0"/>
          <a:stretch/>
        </p:blipFill>
        <p:spPr>
          <a:xfrm>
            <a:off x="381000" y="3720692"/>
            <a:ext cx="1165973" cy="104058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2"/>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Key Leadership Skills</a:t>
            </a:r>
            <a:br>
              <a:rPr lang="en-US" sz="2160"/>
            </a:br>
            <a:r>
              <a:rPr lang="en-US" sz="2160"/>
              <a:t>- Communication -</a:t>
            </a:r>
            <a:endParaRPr/>
          </a:p>
        </p:txBody>
      </p:sp>
      <p:sp>
        <p:nvSpPr>
          <p:cNvPr id="200" name="Google Shape;200;p12"/>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Good communication skills are essential for effective leadership.</a:t>
            </a:r>
            <a:endParaRPr/>
          </a:p>
          <a:p>
            <a:pPr indent="-285750" lvl="1" marL="742950" rtl="0" algn="l">
              <a:spcBef>
                <a:spcPts val="360"/>
              </a:spcBef>
              <a:spcAft>
                <a:spcPts val="0"/>
              </a:spcAft>
              <a:buClr>
                <a:schemeClr val="dk1"/>
              </a:buClr>
              <a:buSzPts val="1800"/>
              <a:buChar char="✔"/>
            </a:pPr>
            <a:r>
              <a:rPr lang="en-US"/>
              <a:t>A high % of a managers’ time is spent in communications.  </a:t>
            </a:r>
            <a:endParaRPr/>
          </a:p>
          <a:p>
            <a:pPr indent="-171450" lvl="1" marL="742950" rtl="0" algn="l">
              <a:spcBef>
                <a:spcPts val="360"/>
              </a:spcBef>
              <a:spcAft>
                <a:spcPts val="0"/>
              </a:spcAft>
              <a:buClr>
                <a:schemeClr val="dk1"/>
              </a:buClr>
              <a:buSzPts val="1800"/>
              <a:buNone/>
            </a:pPr>
            <a:r>
              <a:t/>
            </a:r>
            <a:endParaRPr/>
          </a:p>
          <a:p>
            <a:pPr indent="-342900" lvl="0" marL="342900" rtl="0" algn="l">
              <a:spcBef>
                <a:spcPts val="400"/>
              </a:spcBef>
              <a:spcAft>
                <a:spcPts val="0"/>
              </a:spcAft>
              <a:buClr>
                <a:schemeClr val="dk1"/>
              </a:buClr>
              <a:buSzPts val="2000"/>
              <a:buFont typeface="Noto Sans Symbols"/>
              <a:buChar char="⮚"/>
            </a:pPr>
            <a:r>
              <a:rPr lang="en-US"/>
              <a:t>Leaders can influence and establish productive relationships with others through communication.  </a:t>
            </a:r>
            <a:endParaRPr/>
          </a:p>
          <a:p>
            <a:pPr indent="-215900" lvl="0" marL="342900" rtl="0" algn="l">
              <a:spcBef>
                <a:spcPts val="400"/>
              </a:spcBef>
              <a:spcAft>
                <a:spcPts val="0"/>
              </a:spcAft>
              <a:buClr>
                <a:schemeClr val="dk1"/>
              </a:buClr>
              <a:buSzPts val="2000"/>
              <a:buFont typeface="Noto Sans Symbols"/>
              <a:buNone/>
            </a:pPr>
            <a:r>
              <a:t/>
            </a:r>
            <a:endParaRPr/>
          </a:p>
          <a:p>
            <a:pPr indent="-342900" lvl="0" marL="342900" rtl="0" algn="l">
              <a:spcBef>
                <a:spcPts val="400"/>
              </a:spcBef>
              <a:spcAft>
                <a:spcPts val="0"/>
              </a:spcAft>
              <a:buClr>
                <a:schemeClr val="dk1"/>
              </a:buClr>
              <a:buSzPts val="2000"/>
              <a:buFont typeface="Noto Sans Symbols"/>
              <a:buChar char="⮚"/>
            </a:pPr>
            <a:r>
              <a:rPr lang="en-US"/>
              <a:t>Truly effective communication occurs when the information passed is equally and fully understood by all parties.  </a:t>
            </a:r>
            <a:endParaRPr/>
          </a:p>
          <a:p>
            <a:pPr indent="-285750" lvl="1" marL="742950" rtl="0" algn="l">
              <a:spcBef>
                <a:spcPts val="360"/>
              </a:spcBef>
              <a:spcAft>
                <a:spcPts val="0"/>
              </a:spcAft>
              <a:buClr>
                <a:schemeClr val="dk1"/>
              </a:buClr>
              <a:buSzPts val="1800"/>
              <a:buChar char="✔"/>
            </a:pPr>
            <a:r>
              <a:rPr lang="en-US"/>
              <a:t>Advise:</a:t>
            </a:r>
            <a:endParaRPr/>
          </a:p>
          <a:p>
            <a:pPr indent="-228600" lvl="2" marL="1143000" rtl="0" algn="l">
              <a:spcBef>
                <a:spcPts val="320"/>
              </a:spcBef>
              <a:spcAft>
                <a:spcPts val="0"/>
              </a:spcAft>
              <a:buClr>
                <a:schemeClr val="dk1"/>
              </a:buClr>
              <a:buSzPts val="1600"/>
              <a:buChar char="▪"/>
            </a:pPr>
            <a:r>
              <a:rPr lang="en-US"/>
              <a:t>Plan in advance the message that needs to be conveyed.  </a:t>
            </a:r>
            <a:endParaRPr/>
          </a:p>
          <a:p>
            <a:pPr indent="-228600" lvl="2" marL="1143000" rtl="0" algn="l">
              <a:spcBef>
                <a:spcPts val="320"/>
              </a:spcBef>
              <a:spcAft>
                <a:spcPts val="0"/>
              </a:spcAft>
              <a:buClr>
                <a:schemeClr val="dk1"/>
              </a:buClr>
              <a:buSzPts val="1600"/>
              <a:buChar char="▪"/>
            </a:pPr>
            <a:r>
              <a:rPr lang="en-US"/>
              <a:t>The goal of the message needs to be clearly understood.  </a:t>
            </a:r>
            <a:endParaRPr/>
          </a:p>
          <a:p>
            <a:pPr indent="-228600" lvl="2" marL="1143000" rtl="0" algn="l">
              <a:spcBef>
                <a:spcPts val="320"/>
              </a:spcBef>
              <a:spcAft>
                <a:spcPts val="0"/>
              </a:spcAft>
              <a:buClr>
                <a:schemeClr val="dk1"/>
              </a:buClr>
              <a:buSzPts val="1600"/>
              <a:buChar char="▪"/>
            </a:pPr>
            <a:r>
              <a:rPr lang="en-US"/>
              <a:t>Think about the best timing to convey the message, how will the message be delivered (e.g., oral, written), and where (e.g., company’s auditorium, employee’s office, etc.)</a:t>
            </a:r>
            <a:endParaRPr/>
          </a:p>
          <a:p>
            <a:pPr indent="-215900" lvl="0" marL="342900" rtl="0" algn="l">
              <a:spcBef>
                <a:spcPts val="400"/>
              </a:spcBef>
              <a:spcAft>
                <a:spcPts val="0"/>
              </a:spcAft>
              <a:buClr>
                <a:schemeClr val="dk1"/>
              </a:buClr>
              <a:buSzPts val="2000"/>
              <a:buFont typeface="Noto Sans Symbols"/>
              <a:buNone/>
            </a:pPr>
            <a:r>
              <a:t/>
            </a:r>
            <a:endParaRPr/>
          </a:p>
        </p:txBody>
      </p:sp>
      <p:sp>
        <p:nvSpPr>
          <p:cNvPr id="201" name="Google Shape;201;p12"/>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202" name="Google Shape;202;p12"/>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03" name="Google Shape;203;p12"/>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lotero\AppData\Local\Microsoft\Windows\Temporary Internet Files\Content.IE5\U5Y39UI7\MC900285418[1].wmf" id="204" name="Google Shape;204;p12"/>
          <p:cNvPicPr preferRelativeResize="0"/>
          <p:nvPr/>
        </p:nvPicPr>
        <p:blipFill rotWithShape="1">
          <a:blip r:embed="rId3">
            <a:alphaModFix/>
          </a:blip>
          <a:srcRect b="0" l="0" r="0" t="0"/>
          <a:stretch/>
        </p:blipFill>
        <p:spPr>
          <a:xfrm>
            <a:off x="381000" y="4648200"/>
            <a:ext cx="991105" cy="115305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3"/>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Key Leadership Skills</a:t>
            </a:r>
            <a:br>
              <a:rPr lang="en-US" sz="2160"/>
            </a:br>
            <a:r>
              <a:rPr lang="en-US" sz="2160"/>
              <a:t>- Communication -</a:t>
            </a:r>
            <a:endParaRPr/>
          </a:p>
        </p:txBody>
      </p:sp>
      <p:sp>
        <p:nvSpPr>
          <p:cNvPr id="210" name="Google Shape;210;p13"/>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850"/>
              <a:buFont typeface="Noto Sans Symbols"/>
              <a:buChar char="⮚"/>
            </a:pPr>
            <a:r>
              <a:rPr lang="en-US" sz="1850"/>
              <a:t>Effective</a:t>
            </a:r>
            <a:r>
              <a:rPr i="1" lang="en-US" sz="1850"/>
              <a:t> </a:t>
            </a:r>
            <a:r>
              <a:rPr i="1" lang="en-US" sz="1850">
                <a:solidFill>
                  <a:srgbClr val="FF0000"/>
                </a:solidFill>
              </a:rPr>
              <a:t>oral communication </a:t>
            </a:r>
            <a:r>
              <a:rPr lang="en-US" sz="1850"/>
              <a:t>can be challenging (and often takes much practice).  </a:t>
            </a:r>
            <a:endParaRPr/>
          </a:p>
          <a:p>
            <a:pPr indent="-285750" lvl="1" marL="742950" rtl="0" algn="l">
              <a:spcBef>
                <a:spcPts val="333"/>
              </a:spcBef>
              <a:spcAft>
                <a:spcPts val="0"/>
              </a:spcAft>
              <a:buClr>
                <a:schemeClr val="dk1"/>
              </a:buClr>
              <a:buSzPts val="1665"/>
              <a:buChar char="✔"/>
            </a:pPr>
            <a:r>
              <a:rPr lang="en-US" sz="1665"/>
              <a:t>Have a process in place so that focus can be placed in the individual elements of the process.  </a:t>
            </a:r>
            <a:endParaRPr sz="1665"/>
          </a:p>
          <a:p>
            <a:pPr indent="-180022" lvl="1" marL="742950" rtl="0" algn="l">
              <a:spcBef>
                <a:spcPts val="333"/>
              </a:spcBef>
              <a:spcAft>
                <a:spcPts val="0"/>
              </a:spcAft>
              <a:buClr>
                <a:schemeClr val="dk1"/>
              </a:buClr>
              <a:buSzPts val="1665"/>
              <a:buNone/>
            </a:pPr>
            <a:r>
              <a:t/>
            </a:r>
            <a:endParaRPr sz="1665"/>
          </a:p>
          <a:p>
            <a:pPr indent="-285750" lvl="1" marL="742950" rtl="0" algn="l">
              <a:spcBef>
                <a:spcPts val="333"/>
              </a:spcBef>
              <a:spcAft>
                <a:spcPts val="0"/>
              </a:spcAft>
              <a:buClr>
                <a:schemeClr val="dk1"/>
              </a:buClr>
              <a:buSzPts val="1665"/>
              <a:buChar char="✔"/>
            </a:pPr>
            <a:r>
              <a:rPr lang="en-US" sz="1665"/>
              <a:t>Five-step process for effectively sending oral messages [1]:</a:t>
            </a:r>
            <a:endParaRPr/>
          </a:p>
          <a:p>
            <a:pPr indent="-228600" lvl="2" marL="1143000" rtl="0" algn="l">
              <a:spcBef>
                <a:spcPts val="296"/>
              </a:spcBef>
              <a:spcAft>
                <a:spcPts val="0"/>
              </a:spcAft>
              <a:buClr>
                <a:schemeClr val="dk1"/>
              </a:buClr>
              <a:buSzPts val="1480"/>
              <a:buChar char="▪"/>
            </a:pPr>
            <a:r>
              <a:rPr lang="en-US" sz="1480"/>
              <a:t>(1) Develop a rapport.  </a:t>
            </a:r>
            <a:endParaRPr sz="1480"/>
          </a:p>
          <a:p>
            <a:pPr indent="-228600" lvl="3" marL="1600200" rtl="0" algn="l">
              <a:spcBef>
                <a:spcPts val="259"/>
              </a:spcBef>
              <a:spcAft>
                <a:spcPts val="0"/>
              </a:spcAft>
              <a:buClr>
                <a:schemeClr val="dk1"/>
              </a:buClr>
              <a:buSzPts val="1295"/>
              <a:buChar char="–"/>
            </a:pPr>
            <a:r>
              <a:rPr lang="en-US" sz="1295"/>
              <a:t>Try establishing a good relationship with the receiving party; begin small conversations related to the message.  </a:t>
            </a:r>
            <a:endParaRPr sz="1295"/>
          </a:p>
          <a:p>
            <a:pPr indent="-228600" lvl="2" marL="1143000" rtl="0" algn="l">
              <a:spcBef>
                <a:spcPts val="296"/>
              </a:spcBef>
              <a:spcAft>
                <a:spcPts val="0"/>
              </a:spcAft>
              <a:buClr>
                <a:schemeClr val="dk1"/>
              </a:buClr>
              <a:buSzPts val="1480"/>
              <a:buChar char="▪"/>
            </a:pPr>
            <a:r>
              <a:rPr lang="en-US" sz="1480"/>
              <a:t>(2) Clearly state the objective of the message.  </a:t>
            </a:r>
            <a:endParaRPr sz="1480"/>
          </a:p>
          <a:p>
            <a:pPr indent="-228600" lvl="2" marL="1143000" rtl="0" algn="l">
              <a:spcBef>
                <a:spcPts val="296"/>
              </a:spcBef>
              <a:spcAft>
                <a:spcPts val="0"/>
              </a:spcAft>
              <a:buClr>
                <a:schemeClr val="dk1"/>
              </a:buClr>
              <a:buSzPts val="1480"/>
              <a:buChar char="▪"/>
            </a:pPr>
            <a:r>
              <a:rPr lang="en-US" sz="1480"/>
              <a:t>(3) Actually transmit the message effectively.  </a:t>
            </a:r>
            <a:endParaRPr/>
          </a:p>
          <a:p>
            <a:pPr indent="-228600" lvl="2" marL="1143000" rtl="0" algn="l">
              <a:spcBef>
                <a:spcPts val="296"/>
              </a:spcBef>
              <a:spcAft>
                <a:spcPts val="0"/>
              </a:spcAft>
              <a:buClr>
                <a:schemeClr val="dk1"/>
              </a:buClr>
              <a:buSzPts val="1480"/>
              <a:buChar char="▪"/>
            </a:pPr>
            <a:r>
              <a:rPr lang="en-US" sz="1480"/>
              <a:t>(4) Perceive the receivers’ understanding of the message.  </a:t>
            </a:r>
            <a:endParaRPr sz="1480"/>
          </a:p>
          <a:p>
            <a:pPr indent="-228600" lvl="3" marL="1600200" rtl="0" algn="l">
              <a:spcBef>
                <a:spcPts val="259"/>
              </a:spcBef>
              <a:spcAft>
                <a:spcPts val="0"/>
              </a:spcAft>
              <a:buClr>
                <a:schemeClr val="dk1"/>
              </a:buClr>
              <a:buSzPts val="1295"/>
              <a:buChar char="–"/>
            </a:pPr>
            <a:r>
              <a:rPr lang="en-US" sz="1295"/>
              <a:t>It is important that the message was well understood; otherwise its objectives were not achieved.  </a:t>
            </a:r>
            <a:endParaRPr sz="1295"/>
          </a:p>
          <a:p>
            <a:pPr indent="-228600" lvl="3" marL="1600200" rtl="0" algn="l">
              <a:spcBef>
                <a:spcPts val="259"/>
              </a:spcBef>
              <a:spcAft>
                <a:spcPts val="0"/>
              </a:spcAft>
              <a:buClr>
                <a:schemeClr val="dk1"/>
              </a:buClr>
              <a:buSzPts val="1295"/>
              <a:buChar char="–"/>
            </a:pPr>
            <a:r>
              <a:rPr lang="en-US" sz="1295"/>
              <a:t>This can be accomplished by asking direct questions, or reading the receiver’s expressions.  </a:t>
            </a:r>
            <a:endParaRPr sz="1295"/>
          </a:p>
          <a:p>
            <a:pPr indent="-228600" lvl="2" marL="1143000" rtl="0" algn="l">
              <a:spcBef>
                <a:spcPts val="296"/>
              </a:spcBef>
              <a:spcAft>
                <a:spcPts val="0"/>
              </a:spcAft>
              <a:buClr>
                <a:schemeClr val="dk1"/>
              </a:buClr>
              <a:buSzPts val="1480"/>
              <a:buChar char="▪"/>
            </a:pPr>
            <a:r>
              <a:rPr lang="en-US" sz="1480"/>
              <a:t>(5) Get a commitment from the receiver.  </a:t>
            </a:r>
            <a:endParaRPr sz="1480"/>
          </a:p>
          <a:p>
            <a:pPr indent="-228600" lvl="3" marL="1600200" rtl="0" algn="l">
              <a:spcBef>
                <a:spcPts val="259"/>
              </a:spcBef>
              <a:spcAft>
                <a:spcPts val="0"/>
              </a:spcAft>
              <a:buClr>
                <a:schemeClr val="dk1"/>
              </a:buClr>
              <a:buSzPts val="1295"/>
              <a:buChar char="–"/>
            </a:pPr>
            <a:r>
              <a:rPr lang="en-US" sz="1295"/>
              <a:t>Only if the goal is to influence the receiver to accomplish a task (e.g., design document)</a:t>
            </a:r>
            <a:endParaRPr/>
          </a:p>
          <a:p>
            <a:pPr indent="-228600" lvl="3" marL="1600200" rtl="0" algn="l">
              <a:spcBef>
                <a:spcPts val="259"/>
              </a:spcBef>
              <a:spcAft>
                <a:spcPts val="0"/>
              </a:spcAft>
              <a:buClr>
                <a:schemeClr val="dk1"/>
              </a:buClr>
              <a:buSzPts val="1295"/>
              <a:buChar char="–"/>
            </a:pPr>
            <a:r>
              <a:rPr lang="en-US" sz="1295"/>
              <a:t>The leader must be convinced that the receiver is capable of completing the task by its deadline. </a:t>
            </a:r>
            <a:endParaRPr/>
          </a:p>
        </p:txBody>
      </p:sp>
      <p:sp>
        <p:nvSpPr>
          <p:cNvPr id="211" name="Google Shape;211;p13"/>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212" name="Google Shape;212;p13"/>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13" name="Google Shape;213;p13"/>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4"/>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Key Leadership Skills</a:t>
            </a:r>
            <a:br>
              <a:rPr lang="en-US" sz="2160"/>
            </a:br>
            <a:r>
              <a:rPr lang="en-US" sz="2160"/>
              <a:t>- Communication -</a:t>
            </a:r>
            <a:endParaRPr/>
          </a:p>
        </p:txBody>
      </p:sp>
      <p:sp>
        <p:nvSpPr>
          <p:cNvPr id="220" name="Google Shape;220;p14"/>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1850"/>
              <a:buFont typeface="Noto Sans Symbols"/>
              <a:buChar char="⮚"/>
            </a:pPr>
            <a:r>
              <a:rPr lang="en-US" sz="1850"/>
              <a:t>Another type of communication is </a:t>
            </a:r>
            <a:r>
              <a:rPr i="1" lang="en-US" sz="1850">
                <a:solidFill>
                  <a:srgbClr val="FF0000"/>
                </a:solidFill>
              </a:rPr>
              <a:t>written communication</a:t>
            </a:r>
            <a:r>
              <a:rPr lang="en-US" sz="1850"/>
              <a:t>.  </a:t>
            </a:r>
            <a:endParaRPr sz="1850"/>
          </a:p>
          <a:p>
            <a:pPr indent="-285750" lvl="1" marL="742950" rtl="0" algn="l">
              <a:lnSpc>
                <a:spcPct val="80000"/>
              </a:lnSpc>
              <a:spcBef>
                <a:spcPts val="333"/>
              </a:spcBef>
              <a:spcAft>
                <a:spcPts val="0"/>
              </a:spcAft>
              <a:buClr>
                <a:schemeClr val="dk1"/>
              </a:buClr>
              <a:buSzPts val="1665"/>
              <a:buChar char="✔"/>
            </a:pPr>
            <a:r>
              <a:rPr lang="en-US" sz="1665"/>
              <a:t>This type of communication is now more important than ever, and it is mainly attributed to the e-mail technology.    </a:t>
            </a:r>
            <a:endParaRPr sz="1665"/>
          </a:p>
          <a:p>
            <a:pPr indent="-225425" lvl="0" marL="342900" rtl="0" algn="l">
              <a:lnSpc>
                <a:spcPct val="80000"/>
              </a:lnSpc>
              <a:spcBef>
                <a:spcPts val="370"/>
              </a:spcBef>
              <a:spcAft>
                <a:spcPts val="0"/>
              </a:spcAft>
              <a:buClr>
                <a:schemeClr val="dk1"/>
              </a:buClr>
              <a:buSzPts val="1850"/>
              <a:buFont typeface="Noto Sans Symbols"/>
              <a:buNone/>
            </a:pPr>
            <a:r>
              <a:t/>
            </a:r>
            <a:endParaRPr sz="1850"/>
          </a:p>
          <a:p>
            <a:pPr indent="-342900" lvl="0" marL="342900" rtl="0" algn="l">
              <a:lnSpc>
                <a:spcPct val="80000"/>
              </a:lnSpc>
              <a:spcBef>
                <a:spcPts val="370"/>
              </a:spcBef>
              <a:spcAft>
                <a:spcPts val="0"/>
              </a:spcAft>
              <a:buClr>
                <a:schemeClr val="dk1"/>
              </a:buClr>
              <a:buSzPts val="1850"/>
              <a:buFont typeface="Noto Sans Symbols"/>
              <a:buChar char="⮚"/>
            </a:pPr>
            <a:r>
              <a:rPr lang="en-US" sz="1850"/>
              <a:t>The key elements for effective written communication are content and structure.  </a:t>
            </a:r>
            <a:endParaRPr sz="1850"/>
          </a:p>
          <a:p>
            <a:pPr indent="-285750" lvl="1" marL="742950" rtl="0" algn="l">
              <a:lnSpc>
                <a:spcPct val="80000"/>
              </a:lnSpc>
              <a:spcBef>
                <a:spcPts val="333"/>
              </a:spcBef>
              <a:spcAft>
                <a:spcPts val="0"/>
              </a:spcAft>
              <a:buClr>
                <a:schemeClr val="dk1"/>
              </a:buClr>
              <a:buSzPts val="1665"/>
              <a:buChar char="✔"/>
            </a:pPr>
            <a:r>
              <a:rPr lang="en-US" sz="1665"/>
              <a:t>The message must be structured in such a way that the information it intends to transmit (i.e., content) is clearly described, and the flow of information is smooth and easy to follow.  </a:t>
            </a:r>
            <a:endParaRPr sz="1665"/>
          </a:p>
          <a:p>
            <a:pPr indent="-225425" lvl="0" marL="342900" rtl="0" algn="l">
              <a:lnSpc>
                <a:spcPct val="80000"/>
              </a:lnSpc>
              <a:spcBef>
                <a:spcPts val="370"/>
              </a:spcBef>
              <a:spcAft>
                <a:spcPts val="0"/>
              </a:spcAft>
              <a:buClr>
                <a:schemeClr val="dk1"/>
              </a:buClr>
              <a:buSzPts val="1850"/>
              <a:buFont typeface="Noto Sans Symbols"/>
              <a:buNone/>
            </a:pPr>
            <a:r>
              <a:t/>
            </a:r>
            <a:endParaRPr sz="1850"/>
          </a:p>
          <a:p>
            <a:pPr indent="-342900" lvl="0" marL="342900" rtl="0" algn="l">
              <a:lnSpc>
                <a:spcPct val="80000"/>
              </a:lnSpc>
              <a:spcBef>
                <a:spcPts val="370"/>
              </a:spcBef>
              <a:spcAft>
                <a:spcPts val="0"/>
              </a:spcAft>
              <a:buClr>
                <a:schemeClr val="dk1"/>
              </a:buClr>
              <a:buSzPts val="1850"/>
              <a:buFont typeface="Noto Sans Symbols"/>
              <a:buChar char="⮚"/>
            </a:pPr>
            <a:r>
              <a:rPr lang="en-US" sz="1850"/>
              <a:t>It is critical for the communicator to clearly understand the intended objective of the message before writing it.  Some advise:</a:t>
            </a:r>
            <a:endParaRPr/>
          </a:p>
          <a:p>
            <a:pPr indent="-285750" lvl="1" marL="742950" rtl="0" algn="l">
              <a:lnSpc>
                <a:spcPct val="80000"/>
              </a:lnSpc>
              <a:spcBef>
                <a:spcPts val="333"/>
              </a:spcBef>
              <a:spcAft>
                <a:spcPts val="0"/>
              </a:spcAft>
              <a:buClr>
                <a:schemeClr val="dk1"/>
              </a:buClr>
              <a:buSzPts val="1665"/>
              <a:buChar char="✔"/>
            </a:pPr>
            <a:r>
              <a:rPr lang="en-US" sz="1665"/>
              <a:t>Make an outline with the main points that need to be transmitted. </a:t>
            </a:r>
            <a:endParaRPr sz="1665"/>
          </a:p>
          <a:p>
            <a:pPr indent="-285750" lvl="1" marL="742950" rtl="0" algn="l">
              <a:lnSpc>
                <a:spcPct val="80000"/>
              </a:lnSpc>
              <a:spcBef>
                <a:spcPts val="333"/>
              </a:spcBef>
              <a:spcAft>
                <a:spcPts val="0"/>
              </a:spcAft>
              <a:buClr>
                <a:schemeClr val="dk1"/>
              </a:buClr>
              <a:buSzPts val="1665"/>
              <a:buChar char="✔"/>
            </a:pPr>
            <a:r>
              <a:rPr lang="en-US" sz="1665"/>
              <a:t>Avoid including unnecessary information.  Messages must be kept short, simple and to the point.  </a:t>
            </a:r>
            <a:endParaRPr/>
          </a:p>
          <a:p>
            <a:pPr indent="-225425" lvl="0" marL="342900" rtl="0" algn="l">
              <a:lnSpc>
                <a:spcPct val="80000"/>
              </a:lnSpc>
              <a:spcBef>
                <a:spcPts val="370"/>
              </a:spcBef>
              <a:spcAft>
                <a:spcPts val="0"/>
              </a:spcAft>
              <a:buClr>
                <a:schemeClr val="dk1"/>
              </a:buClr>
              <a:buSzPts val="1850"/>
              <a:buFont typeface="Noto Sans Symbols"/>
              <a:buNone/>
            </a:pPr>
            <a:r>
              <a:t/>
            </a:r>
            <a:endParaRPr sz="1850"/>
          </a:p>
          <a:p>
            <a:pPr indent="-342900" lvl="0" marL="342900" rtl="0" algn="l">
              <a:lnSpc>
                <a:spcPct val="80000"/>
              </a:lnSpc>
              <a:spcBef>
                <a:spcPts val="370"/>
              </a:spcBef>
              <a:spcAft>
                <a:spcPts val="0"/>
              </a:spcAft>
              <a:buClr>
                <a:schemeClr val="dk1"/>
              </a:buClr>
              <a:buSzPts val="1850"/>
              <a:buFont typeface="Noto Sans Symbols"/>
              <a:buChar char="⮚"/>
            </a:pPr>
            <a:r>
              <a:rPr lang="en-US" sz="1850"/>
              <a:t>Writing is a skill!  It takes effort and practice to become good at it.  </a:t>
            </a:r>
            <a:endParaRPr sz="1850"/>
          </a:p>
          <a:p>
            <a:pPr indent="-285750" lvl="1" marL="742950" rtl="0" algn="l">
              <a:lnSpc>
                <a:spcPct val="80000"/>
              </a:lnSpc>
              <a:spcBef>
                <a:spcPts val="333"/>
              </a:spcBef>
              <a:spcAft>
                <a:spcPts val="0"/>
              </a:spcAft>
              <a:buClr>
                <a:schemeClr val="dk1"/>
              </a:buClr>
              <a:buSzPts val="1665"/>
              <a:buChar char="✔"/>
            </a:pPr>
            <a:r>
              <a:rPr lang="en-US" sz="1665"/>
              <a:t>Have others review your work so that you can learn from their feedback.  </a:t>
            </a:r>
            <a:endParaRPr/>
          </a:p>
        </p:txBody>
      </p:sp>
      <p:sp>
        <p:nvSpPr>
          <p:cNvPr id="221" name="Google Shape;221;p14"/>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222" name="Google Shape;222;p14"/>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23" name="Google Shape;223;p14"/>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lotero\AppData\Local\Microsoft\Windows\Temporary Internet Files\Content.IE5\U5Y39UI7\MP900341542[1].jpg" id="224" name="Google Shape;224;p14"/>
          <p:cNvPicPr preferRelativeResize="0"/>
          <p:nvPr/>
        </p:nvPicPr>
        <p:blipFill rotWithShape="1">
          <a:blip r:embed="rId3">
            <a:alphaModFix/>
          </a:blip>
          <a:srcRect b="0" l="0" r="0" t="0"/>
          <a:stretch/>
        </p:blipFill>
        <p:spPr>
          <a:xfrm>
            <a:off x="7620000" y="5105400"/>
            <a:ext cx="1068224" cy="762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5"/>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Key Leadership Skills</a:t>
            </a:r>
            <a:br>
              <a:rPr lang="en-US" sz="2160"/>
            </a:br>
            <a:r>
              <a:rPr lang="en-US" sz="2160"/>
              <a:t>- Networking -</a:t>
            </a:r>
            <a:endParaRPr/>
          </a:p>
        </p:txBody>
      </p:sp>
      <p:sp>
        <p:nvSpPr>
          <p:cNvPr id="230" name="Google Shape;230;p15"/>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Networking can be defined as a skill that focuses on building relationships with others through effective communications.  </a:t>
            </a:r>
            <a:endParaRPr/>
          </a:p>
          <a:p>
            <a:pPr indent="-215900" lvl="0" marL="342900" rtl="0" algn="l">
              <a:spcBef>
                <a:spcPts val="400"/>
              </a:spcBef>
              <a:spcAft>
                <a:spcPts val="0"/>
              </a:spcAft>
              <a:buClr>
                <a:schemeClr val="dk1"/>
              </a:buClr>
              <a:buSzPts val="2000"/>
              <a:buFont typeface="Noto Sans Symbols"/>
              <a:buNone/>
            </a:pPr>
            <a:r>
              <a:t/>
            </a:r>
            <a:endParaRPr/>
          </a:p>
          <a:p>
            <a:pPr indent="-342900" lvl="0" marL="342900" rtl="0" algn="l">
              <a:spcBef>
                <a:spcPts val="400"/>
              </a:spcBef>
              <a:spcAft>
                <a:spcPts val="0"/>
              </a:spcAft>
              <a:buClr>
                <a:schemeClr val="dk1"/>
              </a:buClr>
              <a:buSzPts val="2000"/>
              <a:buFont typeface="Noto Sans Symbols"/>
              <a:buChar char="⮚"/>
            </a:pPr>
            <a:r>
              <a:rPr lang="en-US"/>
              <a:t>Communications and networking skills are closely related to each other.  </a:t>
            </a:r>
            <a:endParaRPr/>
          </a:p>
          <a:p>
            <a:pPr indent="-215900" lvl="0" marL="342900" rtl="0" algn="l">
              <a:spcBef>
                <a:spcPts val="400"/>
              </a:spcBef>
              <a:spcAft>
                <a:spcPts val="0"/>
              </a:spcAft>
              <a:buClr>
                <a:schemeClr val="dk1"/>
              </a:buClr>
              <a:buSzPts val="2000"/>
              <a:buFont typeface="Noto Sans Symbols"/>
              <a:buNone/>
            </a:pPr>
            <a:r>
              <a:t/>
            </a:r>
            <a:endParaRPr/>
          </a:p>
          <a:p>
            <a:pPr indent="-342900" lvl="0" marL="342900" rtl="0" algn="l">
              <a:spcBef>
                <a:spcPts val="400"/>
              </a:spcBef>
              <a:spcAft>
                <a:spcPts val="0"/>
              </a:spcAft>
              <a:buClr>
                <a:schemeClr val="dk1"/>
              </a:buClr>
              <a:buSzPts val="2000"/>
              <a:buFont typeface="Noto Sans Symbols"/>
              <a:buChar char="⮚"/>
            </a:pPr>
            <a:r>
              <a:rPr lang="en-US"/>
              <a:t>Networking is particularly important for leadership because it facilitates the process of meeting objectives.  </a:t>
            </a:r>
            <a:endParaRPr/>
          </a:p>
          <a:p>
            <a:pPr indent="-215900" lvl="0" marL="342900" rtl="0" algn="l">
              <a:spcBef>
                <a:spcPts val="400"/>
              </a:spcBef>
              <a:spcAft>
                <a:spcPts val="0"/>
              </a:spcAft>
              <a:buClr>
                <a:schemeClr val="dk1"/>
              </a:buClr>
              <a:buSzPts val="2000"/>
              <a:buFont typeface="Noto Sans Symbols"/>
              <a:buNone/>
            </a:pPr>
            <a:r>
              <a:t/>
            </a:r>
            <a:endParaRPr/>
          </a:p>
          <a:p>
            <a:pPr indent="-342900" lvl="0" marL="342900" rtl="0" algn="l">
              <a:spcBef>
                <a:spcPts val="400"/>
              </a:spcBef>
              <a:spcAft>
                <a:spcPts val="0"/>
              </a:spcAft>
              <a:buClr>
                <a:schemeClr val="dk1"/>
              </a:buClr>
              <a:buSzPts val="2000"/>
              <a:buFont typeface="Noto Sans Symbols"/>
              <a:buChar char="⮚"/>
            </a:pPr>
            <a:r>
              <a:rPr lang="en-US"/>
              <a:t>As with any skill, networking can be improved with practice.</a:t>
            </a:r>
            <a:endParaRPr/>
          </a:p>
        </p:txBody>
      </p:sp>
      <p:sp>
        <p:nvSpPr>
          <p:cNvPr id="231" name="Google Shape;231;p15"/>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232" name="Google Shape;232;p15"/>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33" name="Google Shape;233;p15"/>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lotero\AppData\Local\Microsoft\Windows\Temporary Internet Files\Content.IE5\7KTSI7KO\MP900439345[1].jpg" id="234" name="Google Shape;234;p15"/>
          <p:cNvPicPr preferRelativeResize="0"/>
          <p:nvPr/>
        </p:nvPicPr>
        <p:blipFill rotWithShape="1">
          <a:blip r:embed="rId3">
            <a:alphaModFix/>
          </a:blip>
          <a:srcRect b="0" l="0" r="0" t="0"/>
          <a:stretch/>
        </p:blipFill>
        <p:spPr>
          <a:xfrm>
            <a:off x="3810000" y="4800600"/>
            <a:ext cx="1445445" cy="138074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6"/>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Key Leadership Skills</a:t>
            </a:r>
            <a:br>
              <a:rPr lang="en-US" sz="2160"/>
            </a:br>
            <a:r>
              <a:rPr lang="en-US" sz="2160"/>
              <a:t>- Motivation -</a:t>
            </a:r>
            <a:endParaRPr/>
          </a:p>
        </p:txBody>
      </p:sp>
      <p:sp>
        <p:nvSpPr>
          <p:cNvPr id="240" name="Google Shape;240;p16"/>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There exists a positive correlation between employees’ motivation levels and their productivity.  </a:t>
            </a:r>
            <a:endParaRPr/>
          </a:p>
          <a:p>
            <a:pPr indent="-285750" lvl="1" marL="742950" rtl="0" algn="l">
              <a:spcBef>
                <a:spcPts val="360"/>
              </a:spcBef>
              <a:spcAft>
                <a:spcPts val="0"/>
              </a:spcAft>
              <a:buClr>
                <a:schemeClr val="dk1"/>
              </a:buClr>
              <a:buSzPts val="1800"/>
              <a:buChar char="✔"/>
            </a:pPr>
            <a:r>
              <a:rPr lang="en-US"/>
              <a:t>A leader must motivate others to work hard to achieve particular project goals.</a:t>
            </a:r>
            <a:endParaRPr/>
          </a:p>
          <a:p>
            <a:pPr indent="-215900" lvl="0" marL="342900" rtl="0" algn="l">
              <a:spcBef>
                <a:spcPts val="400"/>
              </a:spcBef>
              <a:spcAft>
                <a:spcPts val="0"/>
              </a:spcAft>
              <a:buClr>
                <a:schemeClr val="dk1"/>
              </a:buClr>
              <a:buSzPts val="2000"/>
              <a:buFont typeface="Noto Sans Symbols"/>
              <a:buNone/>
            </a:pPr>
            <a:r>
              <a:t/>
            </a:r>
            <a:endParaRPr/>
          </a:p>
          <a:p>
            <a:pPr indent="-342900" lvl="0" marL="342900" rtl="0" algn="l">
              <a:spcBef>
                <a:spcPts val="400"/>
              </a:spcBef>
              <a:spcAft>
                <a:spcPts val="0"/>
              </a:spcAft>
              <a:buClr>
                <a:schemeClr val="dk1"/>
              </a:buClr>
              <a:buSzPts val="2000"/>
              <a:buFont typeface="Noto Sans Symbols"/>
              <a:buChar char="⮚"/>
            </a:pPr>
            <a:r>
              <a:rPr lang="en-US"/>
              <a:t>The </a:t>
            </a:r>
            <a:r>
              <a:rPr i="1" lang="en-US"/>
              <a:t>hierarchy of needs theory </a:t>
            </a:r>
            <a:r>
              <a:rPr lang="en-US"/>
              <a:t> is a motivational theory that describes five types of needs through which employees are motivated.</a:t>
            </a:r>
            <a:endParaRPr/>
          </a:p>
        </p:txBody>
      </p:sp>
      <p:sp>
        <p:nvSpPr>
          <p:cNvPr id="241" name="Google Shape;241;p16"/>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242" name="Google Shape;242;p16"/>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43" name="Google Shape;243;p16"/>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44" name="Google Shape;244;p16"/>
          <p:cNvPicPr preferRelativeResize="0"/>
          <p:nvPr/>
        </p:nvPicPr>
        <p:blipFill rotWithShape="1">
          <a:blip r:embed="rId3">
            <a:alphaModFix/>
          </a:blip>
          <a:srcRect b="0" l="0" r="0" t="0"/>
          <a:stretch/>
        </p:blipFill>
        <p:spPr>
          <a:xfrm>
            <a:off x="2362200" y="3429000"/>
            <a:ext cx="4648200" cy="308742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7"/>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Key Leadership Skills</a:t>
            </a:r>
            <a:br>
              <a:rPr lang="en-US" sz="2160"/>
            </a:br>
            <a:r>
              <a:rPr lang="en-US" sz="2160"/>
              <a:t>- Negotiation -</a:t>
            </a:r>
            <a:endParaRPr sz="2160"/>
          </a:p>
        </p:txBody>
      </p:sp>
      <p:sp>
        <p:nvSpPr>
          <p:cNvPr id="250" name="Google Shape;250;p17"/>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1850"/>
              <a:buFont typeface="Noto Sans Symbols"/>
              <a:buChar char="⮚"/>
            </a:pPr>
            <a:r>
              <a:rPr lang="en-US" sz="1850"/>
              <a:t>Negotiation skills are important part of any management job.  </a:t>
            </a:r>
            <a:endParaRPr sz="1850"/>
          </a:p>
          <a:p>
            <a:pPr indent="-225425" lvl="0" marL="342900" rtl="0" algn="l">
              <a:lnSpc>
                <a:spcPct val="80000"/>
              </a:lnSpc>
              <a:spcBef>
                <a:spcPts val="370"/>
              </a:spcBef>
              <a:spcAft>
                <a:spcPts val="0"/>
              </a:spcAft>
              <a:buClr>
                <a:schemeClr val="dk1"/>
              </a:buClr>
              <a:buSzPts val="1850"/>
              <a:buFont typeface="Noto Sans Symbols"/>
              <a:buNone/>
            </a:pPr>
            <a:r>
              <a:t/>
            </a:r>
            <a:endParaRPr sz="1850"/>
          </a:p>
          <a:p>
            <a:pPr indent="-342900" lvl="0" marL="342900" rtl="0" algn="l">
              <a:lnSpc>
                <a:spcPct val="80000"/>
              </a:lnSpc>
              <a:spcBef>
                <a:spcPts val="370"/>
              </a:spcBef>
              <a:spcAft>
                <a:spcPts val="0"/>
              </a:spcAft>
              <a:buClr>
                <a:schemeClr val="dk1"/>
              </a:buClr>
              <a:buSzPts val="1850"/>
              <a:buFont typeface="Noto Sans Symbols"/>
              <a:buChar char="⮚"/>
            </a:pPr>
            <a:r>
              <a:rPr lang="en-US" sz="1850"/>
              <a:t>Research studies have resulted in various sets of guidelines that can help to improve a person’s negotiation skills.  </a:t>
            </a:r>
            <a:endParaRPr sz="1850"/>
          </a:p>
          <a:p>
            <a:pPr indent="-285750" lvl="1" marL="742950" rtl="0" algn="l">
              <a:lnSpc>
                <a:spcPct val="80000"/>
              </a:lnSpc>
              <a:spcBef>
                <a:spcPts val="333"/>
              </a:spcBef>
              <a:spcAft>
                <a:spcPts val="0"/>
              </a:spcAft>
              <a:buClr>
                <a:schemeClr val="dk1"/>
              </a:buClr>
              <a:buSzPts val="1665"/>
              <a:buChar char="✔"/>
            </a:pPr>
            <a:r>
              <a:rPr lang="en-US" sz="1665"/>
              <a:t>One such set of guidelines is called </a:t>
            </a:r>
            <a:r>
              <a:rPr i="1" lang="en-US" sz="1665">
                <a:solidFill>
                  <a:srgbClr val="FF0000"/>
                </a:solidFill>
              </a:rPr>
              <a:t>principled negotiation</a:t>
            </a:r>
            <a:endParaRPr sz="1665">
              <a:solidFill>
                <a:srgbClr val="FF0000"/>
              </a:solidFill>
            </a:endParaRPr>
          </a:p>
          <a:p>
            <a:pPr indent="-225425" lvl="0" marL="342900" rtl="0" algn="l">
              <a:lnSpc>
                <a:spcPct val="80000"/>
              </a:lnSpc>
              <a:spcBef>
                <a:spcPts val="370"/>
              </a:spcBef>
              <a:spcAft>
                <a:spcPts val="0"/>
              </a:spcAft>
              <a:buClr>
                <a:schemeClr val="dk1"/>
              </a:buClr>
              <a:buSzPts val="1850"/>
              <a:buFont typeface="Noto Sans Symbols"/>
              <a:buNone/>
            </a:pPr>
            <a:r>
              <a:t/>
            </a:r>
            <a:endParaRPr sz="1850"/>
          </a:p>
          <a:p>
            <a:pPr indent="-342900" lvl="0" marL="342900" rtl="0" algn="l">
              <a:lnSpc>
                <a:spcPct val="80000"/>
              </a:lnSpc>
              <a:spcBef>
                <a:spcPts val="370"/>
              </a:spcBef>
              <a:spcAft>
                <a:spcPts val="0"/>
              </a:spcAft>
              <a:buClr>
                <a:schemeClr val="dk1"/>
              </a:buClr>
              <a:buSzPts val="1850"/>
              <a:buFont typeface="Noto Sans Symbols"/>
              <a:buChar char="⮚"/>
            </a:pPr>
            <a:r>
              <a:rPr i="1" lang="en-US" sz="1850"/>
              <a:t>Principled negotiation</a:t>
            </a:r>
            <a:r>
              <a:rPr lang="en-US" sz="1850"/>
              <a:t> is composed of four guidelines.  </a:t>
            </a:r>
            <a:endParaRPr sz="1850"/>
          </a:p>
          <a:p>
            <a:pPr indent="-285750" lvl="1" marL="742950" rtl="0" algn="l">
              <a:lnSpc>
                <a:spcPct val="80000"/>
              </a:lnSpc>
              <a:spcBef>
                <a:spcPts val="333"/>
              </a:spcBef>
              <a:spcAft>
                <a:spcPts val="0"/>
              </a:spcAft>
              <a:buClr>
                <a:schemeClr val="dk1"/>
              </a:buClr>
              <a:buSzPts val="1665"/>
              <a:buChar char="✔"/>
            </a:pPr>
            <a:r>
              <a:rPr lang="en-US" sz="1665"/>
              <a:t>(1) </a:t>
            </a:r>
            <a:r>
              <a:rPr i="1" lang="en-US" sz="1665"/>
              <a:t>Separate the people from the problem</a:t>
            </a:r>
            <a:r>
              <a:rPr lang="en-US" sz="1665"/>
              <a:t>.  </a:t>
            </a:r>
            <a:endParaRPr sz="1665"/>
          </a:p>
          <a:p>
            <a:pPr indent="-228600" lvl="2" marL="1143000" rtl="0" algn="l">
              <a:lnSpc>
                <a:spcPct val="80000"/>
              </a:lnSpc>
              <a:spcBef>
                <a:spcPts val="296"/>
              </a:spcBef>
              <a:spcAft>
                <a:spcPts val="0"/>
              </a:spcAft>
              <a:buClr>
                <a:schemeClr val="dk1"/>
              </a:buClr>
              <a:buSzPts val="1480"/>
              <a:buChar char="▪"/>
            </a:pPr>
            <a:r>
              <a:rPr lang="en-US" sz="1480"/>
              <a:t>This principle helps to keep the focus on the problem at hand rather than on interpersonal issues.  </a:t>
            </a:r>
            <a:endParaRPr sz="1480"/>
          </a:p>
          <a:p>
            <a:pPr indent="-285750" lvl="1" marL="742950" rtl="0" algn="l">
              <a:lnSpc>
                <a:spcPct val="80000"/>
              </a:lnSpc>
              <a:spcBef>
                <a:spcPts val="333"/>
              </a:spcBef>
              <a:spcAft>
                <a:spcPts val="0"/>
              </a:spcAft>
              <a:buClr>
                <a:schemeClr val="dk1"/>
              </a:buClr>
              <a:buSzPts val="1665"/>
              <a:buChar char="✔"/>
            </a:pPr>
            <a:r>
              <a:rPr lang="en-US" sz="1665"/>
              <a:t>(2) </a:t>
            </a:r>
            <a:r>
              <a:rPr i="1" lang="en-US" sz="1665"/>
              <a:t>Focus on interests rather than positions</a:t>
            </a:r>
            <a:r>
              <a:rPr lang="en-US" sz="1665"/>
              <a:t>.  </a:t>
            </a:r>
            <a:endParaRPr sz="1665"/>
          </a:p>
          <a:p>
            <a:pPr indent="-228600" lvl="2" marL="1143000" rtl="0" algn="l">
              <a:lnSpc>
                <a:spcPct val="80000"/>
              </a:lnSpc>
              <a:spcBef>
                <a:spcPts val="296"/>
              </a:spcBef>
              <a:spcAft>
                <a:spcPts val="0"/>
              </a:spcAft>
              <a:buClr>
                <a:schemeClr val="dk1"/>
              </a:buClr>
              <a:buSzPts val="1480"/>
              <a:buChar char="▪"/>
            </a:pPr>
            <a:r>
              <a:rPr lang="en-US" sz="1480"/>
              <a:t>This principle helps to keep the focus of the negotiation on the interests of people rather than their positions.  </a:t>
            </a:r>
            <a:endParaRPr sz="1480"/>
          </a:p>
          <a:p>
            <a:pPr indent="-285750" lvl="1" marL="742950" rtl="0" algn="l">
              <a:lnSpc>
                <a:spcPct val="80000"/>
              </a:lnSpc>
              <a:spcBef>
                <a:spcPts val="333"/>
              </a:spcBef>
              <a:spcAft>
                <a:spcPts val="0"/>
              </a:spcAft>
              <a:buClr>
                <a:schemeClr val="dk1"/>
              </a:buClr>
              <a:buSzPts val="1665"/>
              <a:buChar char="✔"/>
            </a:pPr>
            <a:r>
              <a:rPr lang="en-US" sz="1665"/>
              <a:t>(3) </a:t>
            </a:r>
            <a:r>
              <a:rPr i="1" lang="en-US" sz="1665"/>
              <a:t>Generate options before trying to reach an agreement</a:t>
            </a:r>
            <a:r>
              <a:rPr lang="en-US" sz="1665"/>
              <a:t>.  </a:t>
            </a:r>
            <a:endParaRPr sz="1665"/>
          </a:p>
          <a:p>
            <a:pPr indent="-228600" lvl="2" marL="1143000" rtl="0" algn="l">
              <a:lnSpc>
                <a:spcPct val="80000"/>
              </a:lnSpc>
              <a:spcBef>
                <a:spcPts val="296"/>
              </a:spcBef>
              <a:spcAft>
                <a:spcPts val="0"/>
              </a:spcAft>
              <a:buClr>
                <a:schemeClr val="dk1"/>
              </a:buClr>
              <a:buSzPts val="1480"/>
              <a:buChar char="▪"/>
            </a:pPr>
            <a:r>
              <a:rPr lang="en-US" sz="1480"/>
              <a:t>This principle promotes creativity and reminds the negotiating parties to brainstorm to find various potential solutions that can be brought to the negotiation.  </a:t>
            </a:r>
            <a:endParaRPr sz="1480"/>
          </a:p>
          <a:p>
            <a:pPr indent="-285750" lvl="1" marL="742950" rtl="0" algn="l">
              <a:lnSpc>
                <a:spcPct val="80000"/>
              </a:lnSpc>
              <a:spcBef>
                <a:spcPts val="333"/>
              </a:spcBef>
              <a:spcAft>
                <a:spcPts val="0"/>
              </a:spcAft>
              <a:buClr>
                <a:schemeClr val="dk1"/>
              </a:buClr>
              <a:buSzPts val="1665"/>
              <a:buChar char="✔"/>
            </a:pPr>
            <a:r>
              <a:rPr lang="en-US" sz="1665"/>
              <a:t>(4) </a:t>
            </a:r>
            <a:r>
              <a:rPr i="1" lang="en-US" sz="1665"/>
              <a:t>Insist on using objective criteria</a:t>
            </a:r>
            <a:r>
              <a:rPr lang="en-US" sz="1665"/>
              <a:t>.  </a:t>
            </a:r>
            <a:endParaRPr sz="1665"/>
          </a:p>
          <a:p>
            <a:pPr indent="-228600" lvl="2" marL="1143000" rtl="0" algn="l">
              <a:lnSpc>
                <a:spcPct val="80000"/>
              </a:lnSpc>
              <a:spcBef>
                <a:spcPts val="296"/>
              </a:spcBef>
              <a:spcAft>
                <a:spcPts val="0"/>
              </a:spcAft>
              <a:buClr>
                <a:schemeClr val="dk1"/>
              </a:buClr>
              <a:buSzPts val="1480"/>
              <a:buChar char="▪"/>
            </a:pPr>
            <a:r>
              <a:rPr lang="en-US" sz="1480"/>
              <a:t>This principle promotes decision-making based on reasonable standards rather than on subjective ones.</a:t>
            </a:r>
            <a:endParaRPr/>
          </a:p>
        </p:txBody>
      </p:sp>
      <p:sp>
        <p:nvSpPr>
          <p:cNvPr id="251" name="Google Shape;251;p17"/>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252" name="Google Shape;252;p17"/>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53" name="Google Shape;253;p17"/>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8"/>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Ethics in Software Design</a:t>
            </a:r>
            <a:endParaRPr/>
          </a:p>
        </p:txBody>
      </p:sp>
      <p:sp>
        <p:nvSpPr>
          <p:cNvPr id="259" name="Google Shape;259;p18"/>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Engineers must abide to the highest possible standards when developing software systems </a:t>
            </a:r>
            <a:endParaRPr/>
          </a:p>
          <a:p>
            <a:pPr indent="-285750" lvl="1" marL="742950" rtl="0" algn="l">
              <a:spcBef>
                <a:spcPts val="360"/>
              </a:spcBef>
              <a:spcAft>
                <a:spcPts val="0"/>
              </a:spcAft>
              <a:buClr>
                <a:schemeClr val="dk1"/>
              </a:buClr>
              <a:buSzPts val="1800"/>
              <a:buChar char="✔"/>
            </a:pPr>
            <a:r>
              <a:rPr lang="en-US"/>
              <a:t>Helps to make the software engineering profession beneficial and highly respected.  </a:t>
            </a:r>
            <a:endParaRPr/>
          </a:p>
          <a:p>
            <a:pPr indent="-285750" lvl="1" marL="742950" rtl="0" algn="l">
              <a:spcBef>
                <a:spcPts val="360"/>
              </a:spcBef>
              <a:spcAft>
                <a:spcPts val="0"/>
              </a:spcAft>
              <a:buClr>
                <a:schemeClr val="dk1"/>
              </a:buClr>
              <a:buSzPts val="1800"/>
              <a:buChar char="✔"/>
            </a:pPr>
            <a:r>
              <a:rPr lang="en-US"/>
              <a:t>Engineers have the responsibility to public welfare, including health and safety.  </a:t>
            </a:r>
            <a:endParaRPr/>
          </a:p>
          <a:p>
            <a:pPr indent="-215900" lvl="0" marL="342900" rtl="0" algn="l">
              <a:spcBef>
                <a:spcPts val="400"/>
              </a:spcBef>
              <a:spcAft>
                <a:spcPts val="0"/>
              </a:spcAft>
              <a:buClr>
                <a:schemeClr val="dk1"/>
              </a:buClr>
              <a:buSzPts val="2000"/>
              <a:buFont typeface="Noto Sans Symbols"/>
              <a:buNone/>
            </a:pPr>
            <a:r>
              <a:t/>
            </a:r>
            <a:endParaRPr/>
          </a:p>
          <a:p>
            <a:pPr indent="-342900" lvl="0" marL="342900" rtl="0" algn="l">
              <a:spcBef>
                <a:spcPts val="400"/>
              </a:spcBef>
              <a:spcAft>
                <a:spcPts val="0"/>
              </a:spcAft>
              <a:buClr>
                <a:schemeClr val="dk1"/>
              </a:buClr>
              <a:buSzPts val="2000"/>
              <a:buFont typeface="Noto Sans Symbols"/>
              <a:buChar char="⮚"/>
            </a:pPr>
            <a:r>
              <a:rPr lang="en-US"/>
              <a:t>Various </a:t>
            </a:r>
            <a:r>
              <a:rPr i="1" lang="en-US">
                <a:solidFill>
                  <a:srgbClr val="FF0000"/>
                </a:solidFill>
              </a:rPr>
              <a:t>principles of ethics </a:t>
            </a:r>
            <a:r>
              <a:rPr lang="en-US"/>
              <a:t>collectively ensure that professionals in the software engineering field adhere to high-levels of ethical conduct.  </a:t>
            </a:r>
            <a:endParaRPr/>
          </a:p>
          <a:p>
            <a:pPr indent="-215900" lvl="0" marL="342900" rtl="0" algn="l">
              <a:spcBef>
                <a:spcPts val="400"/>
              </a:spcBef>
              <a:spcAft>
                <a:spcPts val="0"/>
              </a:spcAft>
              <a:buClr>
                <a:schemeClr val="dk1"/>
              </a:buClr>
              <a:buSzPts val="2000"/>
              <a:buFont typeface="Noto Sans Symbols"/>
              <a:buNone/>
            </a:pPr>
            <a:r>
              <a:t/>
            </a:r>
            <a:endParaRPr/>
          </a:p>
          <a:p>
            <a:pPr indent="-342900" lvl="0" marL="342900" rtl="0" algn="l">
              <a:spcBef>
                <a:spcPts val="400"/>
              </a:spcBef>
              <a:spcAft>
                <a:spcPts val="0"/>
              </a:spcAft>
              <a:buClr>
                <a:schemeClr val="dk1"/>
              </a:buClr>
              <a:buSzPts val="2000"/>
              <a:buFont typeface="Noto Sans Symbols"/>
              <a:buChar char="⮚"/>
            </a:pPr>
            <a:r>
              <a:rPr lang="en-US"/>
              <a:t>The IEEE-CS/ACM organizations developed a </a:t>
            </a:r>
            <a:r>
              <a:rPr i="1" lang="en-US"/>
              <a:t>Software Engineering Code of Ethics (SECE) </a:t>
            </a:r>
            <a:r>
              <a:rPr lang="en-US"/>
              <a:t>[4] as the standard set of ethical guidelines that engineers must adhere to.</a:t>
            </a:r>
            <a:endParaRPr/>
          </a:p>
          <a:p>
            <a:pPr indent="-215900" lvl="0" marL="342900" rtl="0" algn="l">
              <a:spcBef>
                <a:spcPts val="400"/>
              </a:spcBef>
              <a:spcAft>
                <a:spcPts val="0"/>
              </a:spcAft>
              <a:buClr>
                <a:schemeClr val="dk1"/>
              </a:buClr>
              <a:buSzPts val="2000"/>
              <a:buFont typeface="Noto Sans Symbols"/>
              <a:buNone/>
            </a:pPr>
            <a:r>
              <a:t/>
            </a:r>
            <a:endParaRPr/>
          </a:p>
        </p:txBody>
      </p:sp>
      <p:sp>
        <p:nvSpPr>
          <p:cNvPr id="260" name="Google Shape;260;p18"/>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261" name="Google Shape;261;p18"/>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62" name="Google Shape;262;p18"/>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9"/>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Ethics in Software Design</a:t>
            </a:r>
            <a:endParaRPr/>
          </a:p>
        </p:txBody>
      </p:sp>
      <p:sp>
        <p:nvSpPr>
          <p:cNvPr id="268" name="Google Shape;268;p19"/>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Principles of Ethics in Software Engineering [4]</a:t>
            </a:r>
            <a:endParaRPr/>
          </a:p>
        </p:txBody>
      </p:sp>
      <p:sp>
        <p:nvSpPr>
          <p:cNvPr id="269" name="Google Shape;269;p19"/>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270" name="Google Shape;270;p19"/>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71" name="Google Shape;271;p19"/>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72" name="Google Shape;272;p19"/>
          <p:cNvPicPr preferRelativeResize="0"/>
          <p:nvPr/>
        </p:nvPicPr>
        <p:blipFill rotWithShape="1">
          <a:blip r:embed="rId3">
            <a:alphaModFix/>
          </a:blip>
          <a:srcRect b="0" l="0" r="0" t="0"/>
          <a:stretch/>
        </p:blipFill>
        <p:spPr>
          <a:xfrm>
            <a:off x="1609725" y="2133600"/>
            <a:ext cx="5943600" cy="34385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0"/>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Ethics in Software Design</a:t>
            </a:r>
            <a:br>
              <a:rPr lang="en-US" sz="2160"/>
            </a:br>
            <a:r>
              <a:rPr lang="en-US" sz="2160"/>
              <a:t>- Public and Product Principles -</a:t>
            </a:r>
            <a:endParaRPr/>
          </a:p>
        </p:txBody>
      </p:sp>
      <p:sp>
        <p:nvSpPr>
          <p:cNvPr id="278" name="Google Shape;278;p20"/>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The </a:t>
            </a:r>
            <a:r>
              <a:rPr i="1" lang="en-US">
                <a:solidFill>
                  <a:srgbClr val="FF0000"/>
                </a:solidFill>
              </a:rPr>
              <a:t>public principle </a:t>
            </a:r>
            <a:r>
              <a:rPr lang="en-US"/>
              <a:t>state that software engineering professionals must:</a:t>
            </a:r>
            <a:endParaRPr/>
          </a:p>
          <a:p>
            <a:pPr indent="-285750" lvl="1" marL="742950" rtl="0" algn="l">
              <a:spcBef>
                <a:spcPts val="360"/>
              </a:spcBef>
              <a:spcAft>
                <a:spcPts val="0"/>
              </a:spcAft>
              <a:buClr>
                <a:schemeClr val="dk1"/>
              </a:buClr>
              <a:buSzPts val="1800"/>
              <a:buChar char="✔"/>
            </a:pPr>
            <a:r>
              <a:rPr lang="en-US"/>
              <a:t>Take responsibility for their own work </a:t>
            </a:r>
            <a:endParaRPr/>
          </a:p>
          <a:p>
            <a:pPr indent="-285750" lvl="1" marL="742950" rtl="0" algn="l">
              <a:spcBef>
                <a:spcPts val="360"/>
              </a:spcBef>
              <a:spcAft>
                <a:spcPts val="0"/>
              </a:spcAft>
              <a:buClr>
                <a:schemeClr val="dk1"/>
              </a:buClr>
              <a:buSzPts val="1800"/>
              <a:buChar char="✔"/>
            </a:pPr>
            <a:r>
              <a:rPr lang="en-US"/>
              <a:t>Ensure that their work positively affects the public good</a:t>
            </a:r>
            <a:endParaRPr/>
          </a:p>
          <a:p>
            <a:pPr indent="-285750" lvl="1" marL="742950" rtl="0" algn="l">
              <a:spcBef>
                <a:spcPts val="360"/>
              </a:spcBef>
              <a:spcAft>
                <a:spcPts val="0"/>
              </a:spcAft>
              <a:buClr>
                <a:schemeClr val="dk1"/>
              </a:buClr>
              <a:buSzPts val="1800"/>
              <a:buChar char="✔"/>
            </a:pPr>
            <a:r>
              <a:rPr lang="en-US"/>
              <a:t>Strive for high quality within acceptable cost and schedule thresholds</a:t>
            </a:r>
            <a:endParaRPr/>
          </a:p>
        </p:txBody>
      </p:sp>
      <p:sp>
        <p:nvSpPr>
          <p:cNvPr id="279" name="Google Shape;279;p20"/>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280" name="Google Shape;280;p20"/>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81" name="Google Shape;281;p20"/>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82" name="Google Shape;282;p20"/>
          <p:cNvPicPr preferRelativeResize="0"/>
          <p:nvPr/>
        </p:nvPicPr>
        <p:blipFill rotWithShape="1">
          <a:blip r:embed="rId3">
            <a:alphaModFix/>
          </a:blip>
          <a:srcRect b="0" l="0" r="0" t="0"/>
          <a:stretch/>
        </p:blipFill>
        <p:spPr>
          <a:xfrm>
            <a:off x="1524000" y="2819400"/>
            <a:ext cx="6124575" cy="3619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1"/>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Ethics in Software Design</a:t>
            </a:r>
            <a:br>
              <a:rPr lang="en-US" sz="2160"/>
            </a:br>
            <a:r>
              <a:rPr lang="en-US" sz="2160"/>
              <a:t>- Public and Product Principles -</a:t>
            </a:r>
            <a:endParaRPr/>
          </a:p>
        </p:txBody>
      </p:sp>
      <p:sp>
        <p:nvSpPr>
          <p:cNvPr id="288" name="Google Shape;288;p21"/>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Guidelines related to the </a:t>
            </a:r>
            <a:r>
              <a:rPr i="1" lang="en-US">
                <a:solidFill>
                  <a:srgbClr val="FF0000"/>
                </a:solidFill>
              </a:rPr>
              <a:t>product principle</a:t>
            </a:r>
            <a:endParaRPr>
              <a:solidFill>
                <a:srgbClr val="FF0000"/>
              </a:solidFill>
            </a:endParaRPr>
          </a:p>
        </p:txBody>
      </p:sp>
      <p:sp>
        <p:nvSpPr>
          <p:cNvPr id="289" name="Google Shape;289;p21"/>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290" name="Google Shape;290;p21"/>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91" name="Google Shape;291;p21"/>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92" name="Google Shape;292;p21"/>
          <p:cNvPicPr preferRelativeResize="0"/>
          <p:nvPr/>
        </p:nvPicPr>
        <p:blipFill rotWithShape="1">
          <a:blip r:embed="rId3">
            <a:alphaModFix/>
          </a:blip>
          <a:srcRect b="0" l="0" r="0" t="0"/>
          <a:stretch/>
        </p:blipFill>
        <p:spPr>
          <a:xfrm>
            <a:off x="2190750" y="1831285"/>
            <a:ext cx="4667250" cy="466000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2"/>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Ethics in Software Design</a:t>
            </a:r>
            <a:br>
              <a:rPr lang="en-US" sz="2160"/>
            </a:br>
            <a:r>
              <a:rPr lang="en-US" sz="2160"/>
              <a:t>- Judgment Principle -</a:t>
            </a:r>
            <a:endParaRPr/>
          </a:p>
        </p:txBody>
      </p:sp>
      <p:sp>
        <p:nvSpPr>
          <p:cNvPr id="298" name="Google Shape;298;p22"/>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The </a:t>
            </a:r>
            <a:r>
              <a:rPr i="1" lang="en-US">
                <a:solidFill>
                  <a:srgbClr val="FF0000"/>
                </a:solidFill>
              </a:rPr>
              <a:t>judgment principle</a:t>
            </a:r>
            <a:r>
              <a:rPr i="1" lang="en-US"/>
              <a:t> </a:t>
            </a:r>
            <a:r>
              <a:rPr lang="en-US"/>
              <a:t>deals with maintaining integrity in professional judgment.</a:t>
            </a:r>
            <a:endParaRPr/>
          </a:p>
          <a:p>
            <a:pPr indent="-285750" lvl="1" marL="742950" rtl="0" algn="l">
              <a:spcBef>
                <a:spcPts val="360"/>
              </a:spcBef>
              <a:spcAft>
                <a:spcPts val="0"/>
              </a:spcAft>
              <a:buClr>
                <a:schemeClr val="dk1"/>
              </a:buClr>
              <a:buSzPts val="1800"/>
              <a:buChar char="✔"/>
            </a:pPr>
            <a:r>
              <a:rPr lang="en-US"/>
              <a:t>Integrity and moral values of a person plays a major role when making judgment calls.</a:t>
            </a:r>
            <a:endParaRPr/>
          </a:p>
          <a:p>
            <a:pPr indent="-215900" lvl="0" marL="342900" rtl="0" algn="l">
              <a:spcBef>
                <a:spcPts val="400"/>
              </a:spcBef>
              <a:spcAft>
                <a:spcPts val="0"/>
              </a:spcAft>
              <a:buClr>
                <a:schemeClr val="dk1"/>
              </a:buClr>
              <a:buSzPts val="2000"/>
              <a:buFont typeface="Noto Sans Symbols"/>
              <a:buNone/>
            </a:pPr>
            <a:r>
              <a:t/>
            </a:r>
            <a:endParaRPr/>
          </a:p>
          <a:p>
            <a:pPr indent="-342900" lvl="0" marL="342900" rtl="0" algn="l">
              <a:spcBef>
                <a:spcPts val="400"/>
              </a:spcBef>
              <a:spcAft>
                <a:spcPts val="0"/>
              </a:spcAft>
              <a:buClr>
                <a:schemeClr val="dk1"/>
              </a:buClr>
              <a:buSzPts val="2000"/>
              <a:buFont typeface="Noto Sans Symbols"/>
              <a:buChar char="⮚"/>
            </a:pPr>
            <a:r>
              <a:rPr lang="en-US"/>
              <a:t>Guidelines related to this principle are:</a:t>
            </a:r>
            <a:endParaRPr/>
          </a:p>
        </p:txBody>
      </p:sp>
      <p:sp>
        <p:nvSpPr>
          <p:cNvPr id="299" name="Google Shape;299;p22"/>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300" name="Google Shape;300;p22"/>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01" name="Google Shape;301;p22"/>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02" name="Google Shape;302;p22"/>
          <p:cNvPicPr preferRelativeResize="0"/>
          <p:nvPr/>
        </p:nvPicPr>
        <p:blipFill rotWithShape="1">
          <a:blip r:embed="rId3">
            <a:alphaModFix/>
          </a:blip>
          <a:srcRect b="0" l="0" r="0" t="0"/>
          <a:stretch/>
        </p:blipFill>
        <p:spPr>
          <a:xfrm>
            <a:off x="1500188" y="3524250"/>
            <a:ext cx="6143625" cy="27241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3"/>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Ethics in Software Design</a:t>
            </a:r>
            <a:br>
              <a:rPr lang="en-US" sz="2160"/>
            </a:br>
            <a:r>
              <a:rPr lang="en-US" sz="2160"/>
              <a:t>- Management Principle -</a:t>
            </a:r>
            <a:endParaRPr/>
          </a:p>
        </p:txBody>
      </p:sp>
      <p:sp>
        <p:nvSpPr>
          <p:cNvPr id="308" name="Google Shape;308;p23"/>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Guidelines related to the </a:t>
            </a:r>
            <a:r>
              <a:rPr i="1" lang="en-US">
                <a:solidFill>
                  <a:srgbClr val="FF0000"/>
                </a:solidFill>
              </a:rPr>
              <a:t>management principle</a:t>
            </a:r>
            <a:endParaRPr>
              <a:solidFill>
                <a:srgbClr val="FF0000"/>
              </a:solidFill>
            </a:endParaRPr>
          </a:p>
        </p:txBody>
      </p:sp>
      <p:sp>
        <p:nvSpPr>
          <p:cNvPr id="309" name="Google Shape;309;p23"/>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310" name="Google Shape;310;p23"/>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11" name="Google Shape;311;p23"/>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12" name="Google Shape;312;p23"/>
          <p:cNvPicPr preferRelativeResize="0"/>
          <p:nvPr/>
        </p:nvPicPr>
        <p:blipFill rotWithShape="1">
          <a:blip r:embed="rId3">
            <a:alphaModFix/>
          </a:blip>
          <a:srcRect b="0" l="0" r="0" t="0"/>
          <a:stretch/>
        </p:blipFill>
        <p:spPr>
          <a:xfrm>
            <a:off x="1798248" y="1781175"/>
            <a:ext cx="5516952" cy="4695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4"/>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Summary</a:t>
            </a:r>
            <a:endParaRPr/>
          </a:p>
        </p:txBody>
      </p:sp>
      <p:sp>
        <p:nvSpPr>
          <p:cNvPr id="318" name="Google Shape;318;p24"/>
          <p:cNvSpPr txBox="1"/>
          <p:nvPr>
            <p:ph idx="1" type="body"/>
          </p:nvPr>
        </p:nvSpPr>
        <p:spPr>
          <a:xfrm>
            <a:off x="457200" y="1371601"/>
            <a:ext cx="8229600" cy="4876799"/>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1850"/>
              <a:buFont typeface="Noto Sans Symbols"/>
              <a:buChar char="⮚"/>
            </a:pPr>
            <a:r>
              <a:rPr lang="en-US" sz="1850"/>
              <a:t>In this session, we presented:</a:t>
            </a:r>
            <a:endParaRPr/>
          </a:p>
          <a:p>
            <a:pPr indent="-285750" lvl="1" marL="742950" rtl="0" algn="l">
              <a:lnSpc>
                <a:spcPct val="90000"/>
              </a:lnSpc>
              <a:spcBef>
                <a:spcPts val="333"/>
              </a:spcBef>
              <a:spcAft>
                <a:spcPts val="0"/>
              </a:spcAft>
              <a:buClr>
                <a:schemeClr val="dk1"/>
              </a:buClr>
              <a:buSzPts val="1665"/>
              <a:buChar char="✔"/>
            </a:pPr>
            <a:r>
              <a:rPr lang="en-US" sz="1665"/>
              <a:t>Key concepts to leading the design effort</a:t>
            </a:r>
            <a:endParaRPr/>
          </a:p>
          <a:p>
            <a:pPr indent="-228600" lvl="2" marL="1143000" rtl="0" algn="l">
              <a:lnSpc>
                <a:spcPct val="90000"/>
              </a:lnSpc>
              <a:spcBef>
                <a:spcPts val="296"/>
              </a:spcBef>
              <a:spcAft>
                <a:spcPts val="0"/>
              </a:spcAft>
              <a:buClr>
                <a:schemeClr val="dk1"/>
              </a:buClr>
              <a:buSzPts val="1480"/>
              <a:buChar char="▪"/>
            </a:pPr>
            <a:r>
              <a:rPr lang="en-US" sz="1480"/>
              <a:t>Personality Traits and Leadership</a:t>
            </a:r>
            <a:endParaRPr/>
          </a:p>
          <a:p>
            <a:pPr indent="-228600" lvl="2" marL="1143000" rtl="0" algn="l">
              <a:lnSpc>
                <a:spcPct val="90000"/>
              </a:lnSpc>
              <a:spcBef>
                <a:spcPts val="296"/>
              </a:spcBef>
              <a:spcAft>
                <a:spcPts val="0"/>
              </a:spcAft>
              <a:buClr>
                <a:schemeClr val="dk1"/>
              </a:buClr>
              <a:buSzPts val="1480"/>
              <a:buChar char="▪"/>
            </a:pPr>
            <a:r>
              <a:rPr lang="en-US" sz="1480"/>
              <a:t>Personality Dimension</a:t>
            </a:r>
            <a:endParaRPr/>
          </a:p>
          <a:p>
            <a:pPr indent="-228600" lvl="2" marL="1143000" rtl="0" algn="l">
              <a:lnSpc>
                <a:spcPct val="90000"/>
              </a:lnSpc>
              <a:spcBef>
                <a:spcPts val="296"/>
              </a:spcBef>
              <a:spcAft>
                <a:spcPts val="0"/>
              </a:spcAft>
              <a:buClr>
                <a:schemeClr val="dk1"/>
              </a:buClr>
              <a:buSzPts val="1480"/>
              <a:buChar char="▪"/>
            </a:pPr>
            <a:r>
              <a:rPr lang="en-US" sz="1480"/>
              <a:t>Traits of Effective Leaders</a:t>
            </a:r>
            <a:endParaRPr/>
          </a:p>
          <a:p>
            <a:pPr indent="-228600" lvl="2" marL="1143000" rtl="0" algn="l">
              <a:lnSpc>
                <a:spcPct val="90000"/>
              </a:lnSpc>
              <a:spcBef>
                <a:spcPts val="296"/>
              </a:spcBef>
              <a:spcAft>
                <a:spcPts val="0"/>
              </a:spcAft>
              <a:buClr>
                <a:schemeClr val="dk1"/>
              </a:buClr>
              <a:buSzPts val="1480"/>
              <a:buChar char="▪"/>
            </a:pPr>
            <a:r>
              <a:rPr lang="en-US" sz="1480"/>
              <a:t>Ethical Leadership</a:t>
            </a:r>
            <a:endParaRPr/>
          </a:p>
          <a:p>
            <a:pPr indent="-228600" lvl="2" marL="1143000" rtl="0" algn="l">
              <a:lnSpc>
                <a:spcPct val="90000"/>
              </a:lnSpc>
              <a:spcBef>
                <a:spcPts val="296"/>
              </a:spcBef>
              <a:spcAft>
                <a:spcPts val="0"/>
              </a:spcAft>
              <a:buClr>
                <a:schemeClr val="dk1"/>
              </a:buClr>
              <a:buSzPts val="1480"/>
              <a:buChar char="▪"/>
            </a:pPr>
            <a:r>
              <a:rPr lang="en-US" sz="1480"/>
              <a:t>Power</a:t>
            </a:r>
            <a:endParaRPr/>
          </a:p>
          <a:p>
            <a:pPr indent="-285750" lvl="1" marL="742950" rtl="0" algn="l">
              <a:lnSpc>
                <a:spcPct val="90000"/>
              </a:lnSpc>
              <a:spcBef>
                <a:spcPts val="333"/>
              </a:spcBef>
              <a:spcAft>
                <a:spcPts val="0"/>
              </a:spcAft>
              <a:buClr>
                <a:schemeClr val="dk1"/>
              </a:buClr>
              <a:buSzPts val="1665"/>
              <a:buChar char="✔"/>
            </a:pPr>
            <a:r>
              <a:rPr lang="en-US" sz="1665"/>
              <a:t>Key leadership skills</a:t>
            </a:r>
            <a:endParaRPr/>
          </a:p>
          <a:p>
            <a:pPr indent="-228600" lvl="2" marL="1143000" rtl="0" algn="l">
              <a:lnSpc>
                <a:spcPct val="90000"/>
              </a:lnSpc>
              <a:spcBef>
                <a:spcPts val="296"/>
              </a:spcBef>
              <a:spcAft>
                <a:spcPts val="0"/>
              </a:spcAft>
              <a:buClr>
                <a:schemeClr val="dk1"/>
              </a:buClr>
              <a:buSzPts val="1480"/>
              <a:buChar char="▪"/>
            </a:pPr>
            <a:r>
              <a:rPr lang="en-US" sz="1480"/>
              <a:t>Communication</a:t>
            </a:r>
            <a:endParaRPr/>
          </a:p>
          <a:p>
            <a:pPr indent="-228600" lvl="2" marL="1143000" rtl="0" algn="l">
              <a:lnSpc>
                <a:spcPct val="90000"/>
              </a:lnSpc>
              <a:spcBef>
                <a:spcPts val="296"/>
              </a:spcBef>
              <a:spcAft>
                <a:spcPts val="0"/>
              </a:spcAft>
              <a:buClr>
                <a:schemeClr val="dk1"/>
              </a:buClr>
              <a:buSzPts val="1480"/>
              <a:buChar char="▪"/>
            </a:pPr>
            <a:r>
              <a:rPr lang="en-US" sz="1480"/>
              <a:t>Networking</a:t>
            </a:r>
            <a:endParaRPr/>
          </a:p>
          <a:p>
            <a:pPr indent="-228600" lvl="2" marL="1143000" rtl="0" algn="l">
              <a:lnSpc>
                <a:spcPct val="90000"/>
              </a:lnSpc>
              <a:spcBef>
                <a:spcPts val="296"/>
              </a:spcBef>
              <a:spcAft>
                <a:spcPts val="0"/>
              </a:spcAft>
              <a:buClr>
                <a:schemeClr val="dk1"/>
              </a:buClr>
              <a:buSzPts val="1480"/>
              <a:buChar char="▪"/>
            </a:pPr>
            <a:r>
              <a:rPr lang="en-US" sz="1480"/>
              <a:t>Motivation</a:t>
            </a:r>
            <a:endParaRPr/>
          </a:p>
          <a:p>
            <a:pPr indent="-228600" lvl="2" marL="1143000" rtl="0" algn="l">
              <a:lnSpc>
                <a:spcPct val="90000"/>
              </a:lnSpc>
              <a:spcBef>
                <a:spcPts val="296"/>
              </a:spcBef>
              <a:spcAft>
                <a:spcPts val="0"/>
              </a:spcAft>
              <a:buClr>
                <a:schemeClr val="dk1"/>
              </a:buClr>
              <a:buSzPts val="1480"/>
              <a:buChar char="▪"/>
            </a:pPr>
            <a:r>
              <a:rPr lang="en-US" sz="1480"/>
              <a:t>Negotiation</a:t>
            </a:r>
            <a:endParaRPr/>
          </a:p>
          <a:p>
            <a:pPr indent="-180022" lvl="1" marL="742950" rtl="0" algn="l">
              <a:lnSpc>
                <a:spcPct val="90000"/>
              </a:lnSpc>
              <a:spcBef>
                <a:spcPts val="333"/>
              </a:spcBef>
              <a:spcAft>
                <a:spcPts val="0"/>
              </a:spcAft>
              <a:buClr>
                <a:schemeClr val="dk1"/>
              </a:buClr>
              <a:buSzPts val="1665"/>
              <a:buNone/>
            </a:pPr>
            <a:r>
              <a:t/>
            </a:r>
            <a:endParaRPr sz="1665"/>
          </a:p>
          <a:p>
            <a:pPr indent="-285750" lvl="1" marL="742950" rtl="0" algn="l">
              <a:lnSpc>
                <a:spcPct val="90000"/>
              </a:lnSpc>
              <a:spcBef>
                <a:spcPts val="333"/>
              </a:spcBef>
              <a:spcAft>
                <a:spcPts val="0"/>
              </a:spcAft>
              <a:buClr>
                <a:schemeClr val="dk1"/>
              </a:buClr>
              <a:buSzPts val="1665"/>
              <a:buChar char="✔"/>
            </a:pPr>
            <a:r>
              <a:rPr lang="en-US" sz="1665"/>
              <a:t>Key principles of ethics in software design</a:t>
            </a:r>
            <a:endParaRPr/>
          </a:p>
          <a:p>
            <a:pPr indent="-228600" lvl="2" marL="1143000" rtl="0" algn="l">
              <a:lnSpc>
                <a:spcPct val="90000"/>
              </a:lnSpc>
              <a:spcBef>
                <a:spcPts val="296"/>
              </a:spcBef>
              <a:spcAft>
                <a:spcPts val="0"/>
              </a:spcAft>
              <a:buClr>
                <a:schemeClr val="dk1"/>
              </a:buClr>
              <a:buSzPts val="1480"/>
              <a:buChar char="▪"/>
            </a:pPr>
            <a:r>
              <a:rPr lang="en-US" sz="1480"/>
              <a:t>Public and Product Principles</a:t>
            </a:r>
            <a:endParaRPr/>
          </a:p>
          <a:p>
            <a:pPr indent="-228600" lvl="2" marL="1143000" rtl="0" algn="l">
              <a:lnSpc>
                <a:spcPct val="90000"/>
              </a:lnSpc>
              <a:spcBef>
                <a:spcPts val="296"/>
              </a:spcBef>
              <a:spcAft>
                <a:spcPts val="0"/>
              </a:spcAft>
              <a:buClr>
                <a:schemeClr val="dk1"/>
              </a:buClr>
              <a:buSzPts val="1480"/>
              <a:buChar char="▪"/>
            </a:pPr>
            <a:r>
              <a:rPr lang="en-US" sz="1480"/>
              <a:t>Judgment Principle</a:t>
            </a:r>
            <a:endParaRPr/>
          </a:p>
          <a:p>
            <a:pPr indent="-228600" lvl="2" marL="1143000" rtl="0" algn="l">
              <a:lnSpc>
                <a:spcPct val="90000"/>
              </a:lnSpc>
              <a:spcBef>
                <a:spcPts val="296"/>
              </a:spcBef>
              <a:spcAft>
                <a:spcPts val="0"/>
              </a:spcAft>
              <a:buClr>
                <a:schemeClr val="dk1"/>
              </a:buClr>
              <a:buSzPts val="1480"/>
              <a:buChar char="▪"/>
            </a:pPr>
            <a:r>
              <a:rPr lang="en-US" sz="1480"/>
              <a:t>Management Principle</a:t>
            </a:r>
            <a:endParaRPr/>
          </a:p>
          <a:p>
            <a:pPr indent="0" lvl="0" marL="0" rtl="0" algn="l">
              <a:lnSpc>
                <a:spcPct val="90000"/>
              </a:lnSpc>
              <a:spcBef>
                <a:spcPts val="370"/>
              </a:spcBef>
              <a:spcAft>
                <a:spcPts val="0"/>
              </a:spcAft>
              <a:buClr>
                <a:schemeClr val="dk1"/>
              </a:buClr>
              <a:buSzPts val="1850"/>
              <a:buNone/>
            </a:pPr>
            <a:r>
              <a:t/>
            </a:r>
            <a:endParaRPr sz="1850"/>
          </a:p>
          <a:p>
            <a:pPr indent="-285750" lvl="1" marL="742950" rtl="0" algn="l">
              <a:lnSpc>
                <a:spcPct val="90000"/>
              </a:lnSpc>
              <a:spcBef>
                <a:spcPts val="333"/>
              </a:spcBef>
              <a:spcAft>
                <a:spcPts val="0"/>
              </a:spcAft>
              <a:buClr>
                <a:schemeClr val="dk1"/>
              </a:buClr>
              <a:buSzPts val="1665"/>
              <a:buNone/>
            </a:pPr>
            <a:r>
              <a:t/>
            </a:r>
            <a:endParaRPr sz="1665"/>
          </a:p>
          <a:p>
            <a:pPr indent="-342900" lvl="0" marL="342900" rtl="0" algn="l">
              <a:lnSpc>
                <a:spcPct val="90000"/>
              </a:lnSpc>
              <a:spcBef>
                <a:spcPts val="370"/>
              </a:spcBef>
              <a:spcAft>
                <a:spcPts val="0"/>
              </a:spcAft>
              <a:buClr>
                <a:schemeClr val="dk1"/>
              </a:buClr>
              <a:buSzPts val="1850"/>
              <a:buNone/>
            </a:pPr>
            <a:r>
              <a:t/>
            </a:r>
            <a:endParaRPr sz="1850"/>
          </a:p>
          <a:p>
            <a:pPr indent="-225425" lvl="0" marL="342900" rtl="0" algn="l">
              <a:lnSpc>
                <a:spcPct val="90000"/>
              </a:lnSpc>
              <a:spcBef>
                <a:spcPts val="370"/>
              </a:spcBef>
              <a:spcAft>
                <a:spcPts val="0"/>
              </a:spcAft>
              <a:buClr>
                <a:schemeClr val="dk1"/>
              </a:buClr>
              <a:buSzPts val="1850"/>
              <a:buFont typeface="Noto Sans Symbols"/>
              <a:buNone/>
            </a:pPr>
            <a:r>
              <a:t/>
            </a:r>
            <a:endParaRPr sz="1850"/>
          </a:p>
          <a:p>
            <a:pPr indent="-285750" lvl="1" marL="742950" rtl="0" algn="l">
              <a:lnSpc>
                <a:spcPct val="90000"/>
              </a:lnSpc>
              <a:spcBef>
                <a:spcPts val="333"/>
              </a:spcBef>
              <a:spcAft>
                <a:spcPts val="0"/>
              </a:spcAft>
              <a:buClr>
                <a:schemeClr val="dk1"/>
              </a:buClr>
              <a:buSzPts val="1665"/>
              <a:buNone/>
            </a:pPr>
            <a:r>
              <a:t/>
            </a:r>
            <a:endParaRPr sz="1665"/>
          </a:p>
          <a:p>
            <a:pPr indent="-342900" lvl="0" marL="342900" rtl="0" algn="l">
              <a:lnSpc>
                <a:spcPct val="90000"/>
              </a:lnSpc>
              <a:spcBef>
                <a:spcPts val="370"/>
              </a:spcBef>
              <a:spcAft>
                <a:spcPts val="0"/>
              </a:spcAft>
              <a:buClr>
                <a:schemeClr val="dk1"/>
              </a:buClr>
              <a:buSzPts val="1850"/>
              <a:buNone/>
            </a:pPr>
            <a:r>
              <a:t/>
            </a:r>
            <a:endParaRPr sz="1850"/>
          </a:p>
          <a:p>
            <a:pPr indent="-180022" lvl="1" marL="742950" rtl="0" algn="l">
              <a:lnSpc>
                <a:spcPct val="90000"/>
              </a:lnSpc>
              <a:spcBef>
                <a:spcPts val="333"/>
              </a:spcBef>
              <a:spcAft>
                <a:spcPts val="0"/>
              </a:spcAft>
              <a:buClr>
                <a:schemeClr val="dk1"/>
              </a:buClr>
              <a:buSzPts val="1665"/>
              <a:buNone/>
            </a:pPr>
            <a:r>
              <a:t/>
            </a:r>
            <a:endParaRPr sz="1665"/>
          </a:p>
        </p:txBody>
      </p:sp>
      <p:sp>
        <p:nvSpPr>
          <p:cNvPr id="319" name="Google Shape;319;p24"/>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320" name="Google Shape;320;p24"/>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21" name="Google Shape;321;p24"/>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5"/>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Questions?</a:t>
            </a:r>
            <a:endParaRPr/>
          </a:p>
        </p:txBody>
      </p:sp>
      <p:sp>
        <p:nvSpPr>
          <p:cNvPr id="327" name="Google Shape;327;p25"/>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215900" lvl="0" marL="342900" rtl="0" algn="l">
              <a:spcBef>
                <a:spcPts val="0"/>
              </a:spcBef>
              <a:spcAft>
                <a:spcPts val="0"/>
              </a:spcAft>
              <a:buClr>
                <a:schemeClr val="dk1"/>
              </a:buClr>
              <a:buSzPts val="2000"/>
              <a:buFont typeface="Noto Sans Symbols"/>
              <a:buNone/>
            </a:pPr>
            <a:r>
              <a:t/>
            </a:r>
            <a:endParaRPr/>
          </a:p>
        </p:txBody>
      </p:sp>
      <p:sp>
        <p:nvSpPr>
          <p:cNvPr id="328" name="Google Shape;328;p25"/>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329" name="Google Shape;329;p25"/>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30" name="Google Shape;330;p25"/>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lotero\AppData\Local\Microsoft\Windows\Temporary Internet Files\Content.IE5\CFJTCN01\MC900441428[1].png" id="331" name="Google Shape;331;p25"/>
          <p:cNvPicPr preferRelativeResize="0"/>
          <p:nvPr/>
        </p:nvPicPr>
        <p:blipFill rotWithShape="1">
          <a:blip r:embed="rId3">
            <a:alphaModFix/>
          </a:blip>
          <a:srcRect b="0" l="0" r="0" t="0"/>
          <a:stretch/>
        </p:blipFill>
        <p:spPr>
          <a:xfrm>
            <a:off x="3124200" y="2133600"/>
            <a:ext cx="2666771" cy="266677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6"/>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References</a:t>
            </a:r>
            <a:endParaRPr/>
          </a:p>
        </p:txBody>
      </p:sp>
      <p:sp>
        <p:nvSpPr>
          <p:cNvPr id="337" name="Google Shape;337;p26"/>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a:t>[1] Lussier, Robert, and Christopher Achua. </a:t>
            </a:r>
            <a:r>
              <a:rPr i="1" lang="en-US"/>
              <a:t>Leadership: Theory, Application, &amp; Skill Development.</a:t>
            </a:r>
            <a:r>
              <a:rPr lang="en-US"/>
              <a:t> 4th. Cengage Learning, 2010.</a:t>
            </a:r>
            <a:endParaRPr/>
          </a:p>
          <a:p>
            <a:pPr indent="0" lvl="0" marL="0" rtl="0" algn="l">
              <a:spcBef>
                <a:spcPts val="400"/>
              </a:spcBef>
              <a:spcAft>
                <a:spcPts val="0"/>
              </a:spcAft>
              <a:buClr>
                <a:schemeClr val="dk1"/>
              </a:buClr>
              <a:buSzPts val="2000"/>
              <a:buNone/>
            </a:pPr>
            <a:r>
              <a:rPr lang="en-US"/>
              <a:t>[2] Judge, T. A., R. Ilies, J. E. Bono, and M. W. Gerhardt. "Personality and Leadership: A Qualitative and Quantitative Review." </a:t>
            </a:r>
            <a:r>
              <a:rPr i="1" lang="en-US"/>
              <a:t>Journal of Applied Psychology</a:t>
            </a:r>
            <a:r>
              <a:rPr lang="en-US"/>
              <a:t> 87, no. 4 (2007): 765-768.</a:t>
            </a:r>
            <a:endParaRPr/>
          </a:p>
          <a:p>
            <a:pPr indent="0" lvl="0" marL="0" rtl="0" algn="l">
              <a:spcBef>
                <a:spcPts val="400"/>
              </a:spcBef>
              <a:spcAft>
                <a:spcPts val="0"/>
              </a:spcAft>
              <a:buClr>
                <a:schemeClr val="dk1"/>
              </a:buClr>
              <a:buSzPts val="2000"/>
              <a:buNone/>
            </a:pPr>
            <a:r>
              <a:rPr lang="en-US"/>
              <a:t>[3] Veiga, J. F. "Special Topic Ethical Behavior in Management, Bringing Ethics into the Mainstream: An Introduction to the Special Topic." </a:t>
            </a:r>
            <a:r>
              <a:rPr i="1" lang="en-US"/>
              <a:t>Academy of Management Executive</a:t>
            </a:r>
            <a:r>
              <a:rPr lang="en-US"/>
              <a:t> 18, no. 2 (2004): 37-38.</a:t>
            </a:r>
            <a:endParaRPr/>
          </a:p>
          <a:p>
            <a:pPr indent="0" lvl="0" marL="0" rtl="0" algn="l">
              <a:spcBef>
                <a:spcPts val="400"/>
              </a:spcBef>
              <a:spcAft>
                <a:spcPts val="0"/>
              </a:spcAft>
              <a:buClr>
                <a:schemeClr val="dk1"/>
              </a:buClr>
              <a:buSzPts val="2000"/>
              <a:buNone/>
            </a:pPr>
            <a:r>
              <a:rPr lang="en-US"/>
              <a:t>[4] IEEE Computer Society. "Software Engineering Code of Ethics and Professional Practice." 2010. http://www.computer.org/portal/web/certification/resources/code_of_ethics.</a:t>
            </a:r>
            <a:endParaRPr/>
          </a:p>
          <a:p>
            <a:pPr indent="0" lvl="0" marL="0" rtl="0" algn="l">
              <a:spcBef>
                <a:spcPts val="400"/>
              </a:spcBef>
              <a:spcAft>
                <a:spcPts val="0"/>
              </a:spcAft>
              <a:buClr>
                <a:schemeClr val="dk1"/>
              </a:buClr>
              <a:buSzPts val="2000"/>
              <a:buNone/>
            </a:pPr>
            <a:r>
              <a:t/>
            </a:r>
            <a:endParaRPr/>
          </a:p>
        </p:txBody>
      </p:sp>
      <p:sp>
        <p:nvSpPr>
          <p:cNvPr id="338" name="Google Shape;338;p26"/>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5/13/2013</a:t>
            </a:r>
            <a:endParaRPr/>
          </a:p>
        </p:txBody>
      </p:sp>
      <p:sp>
        <p:nvSpPr>
          <p:cNvPr id="339" name="Google Shape;339;p26"/>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40" name="Google Shape;340;p26"/>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Va-Wise-Clean-BW">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Carlos E. Otero, Ph.D.</dc:creator>
</cp:coreProperties>
</file>