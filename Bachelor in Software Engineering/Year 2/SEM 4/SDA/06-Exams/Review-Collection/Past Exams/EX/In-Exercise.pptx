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
  </p:notesMasterIdLst>
  <p:sldIdLst>
    <p:sldId id="256" r:id="rId2"/>
    <p:sldId id="537" r:id="rId3"/>
    <p:sldId id="539" r:id="rId4"/>
  </p:sldIdLst>
  <p:sldSz cx="9144000" cy="6858000" type="screen4x3"/>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B13B5"/>
    <a:srgbClr val="96969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7" d="100"/>
          <a:sy n="67" d="100"/>
        </p:scale>
        <p:origin x="1392" y="60"/>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a:defRPr sz="1300"/>
            </a:lvl1pPr>
          </a:lstStyle>
          <a:p>
            <a:endParaRPr lang="en-US"/>
          </a:p>
        </p:txBody>
      </p:sp>
      <p:sp>
        <p:nvSpPr>
          <p:cNvPr id="3" name="Date Placeholder 2"/>
          <p:cNvSpPr>
            <a:spLocks noGrp="1"/>
          </p:cNvSpPr>
          <p:nvPr>
            <p:ph type="dt" idx="1"/>
          </p:nvPr>
        </p:nvSpPr>
        <p:spPr>
          <a:xfrm>
            <a:off x="4143587" y="0"/>
            <a:ext cx="3169920" cy="480060"/>
          </a:xfrm>
          <a:prstGeom prst="rect">
            <a:avLst/>
          </a:prstGeom>
        </p:spPr>
        <p:txBody>
          <a:bodyPr vert="horz" lIns="96661" tIns="48331" rIns="96661" bIns="48331" rtlCol="0"/>
          <a:lstStyle>
            <a:lvl1pPr algn="r">
              <a:defRPr sz="1300"/>
            </a:lvl1pPr>
          </a:lstStyle>
          <a:p>
            <a:fld id="{49B3061A-7F4E-4E3A-A627-E1FC384385A9}" type="datetimeFigureOut">
              <a:rPr lang="en-US" smtClean="0"/>
              <a:pPr/>
              <a:t>05-Nov-17</a:t>
            </a:fld>
            <a:endParaRPr lang="en-US"/>
          </a:p>
        </p:txBody>
      </p:sp>
      <p:sp>
        <p:nvSpPr>
          <p:cNvPr id="4" name="Slide Image Placeholder 3"/>
          <p:cNvSpPr>
            <a:spLocks noGrp="1" noRot="1" noChangeAspect="1"/>
          </p:cNvSpPr>
          <p:nvPr>
            <p:ph type="sldImg" idx="2"/>
          </p:nvPr>
        </p:nvSpPr>
        <p:spPr>
          <a:xfrm>
            <a:off x="1257300" y="720725"/>
            <a:ext cx="4800600" cy="3600450"/>
          </a:xfrm>
          <a:prstGeom prst="rect">
            <a:avLst/>
          </a:prstGeom>
          <a:noFill/>
          <a:ln w="12700">
            <a:solidFill>
              <a:prstClr val="black"/>
            </a:solidFill>
          </a:ln>
        </p:spPr>
        <p:txBody>
          <a:bodyPr vert="horz" lIns="96661" tIns="48331" rIns="96661" bIns="48331" rtlCol="0" anchor="ctr"/>
          <a:lstStyle/>
          <a:p>
            <a:endParaRPr lang="en-US"/>
          </a:p>
        </p:txBody>
      </p:sp>
      <p:sp>
        <p:nvSpPr>
          <p:cNvPr id="5" name="Notes Placeholder 4"/>
          <p:cNvSpPr>
            <a:spLocks noGrp="1"/>
          </p:cNvSpPr>
          <p:nvPr>
            <p:ph type="body" sz="quarter" idx="3"/>
          </p:nvPr>
        </p:nvSpPr>
        <p:spPr>
          <a:xfrm>
            <a:off x="731520" y="4560570"/>
            <a:ext cx="5852160" cy="4320540"/>
          </a:xfrm>
          <a:prstGeom prst="rect">
            <a:avLst/>
          </a:prstGeom>
        </p:spPr>
        <p:txBody>
          <a:bodyPr vert="horz" lIns="96661" tIns="48331" rIns="96661" bIns="48331"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9119474"/>
            <a:ext cx="3169920" cy="480060"/>
          </a:xfrm>
          <a:prstGeom prst="rect">
            <a:avLst/>
          </a:prstGeom>
        </p:spPr>
        <p:txBody>
          <a:bodyPr vert="horz" lIns="96661" tIns="48331" rIns="96661" bIns="48331" rtlCol="0" anchor="b"/>
          <a:lstStyle>
            <a:lvl1pPr algn="l">
              <a:defRPr sz="1300"/>
            </a:lvl1pPr>
          </a:lstStyle>
          <a:p>
            <a:endParaRPr lang="en-US"/>
          </a:p>
        </p:txBody>
      </p:sp>
      <p:sp>
        <p:nvSpPr>
          <p:cNvPr id="7" name="Slide Number Placeholder 6"/>
          <p:cNvSpPr>
            <a:spLocks noGrp="1"/>
          </p:cNvSpPr>
          <p:nvPr>
            <p:ph type="sldNum" sz="quarter" idx="5"/>
          </p:nvPr>
        </p:nvSpPr>
        <p:spPr>
          <a:xfrm>
            <a:off x="4143587" y="9119474"/>
            <a:ext cx="3169920" cy="480060"/>
          </a:xfrm>
          <a:prstGeom prst="rect">
            <a:avLst/>
          </a:prstGeom>
        </p:spPr>
        <p:txBody>
          <a:bodyPr vert="horz" lIns="96661" tIns="48331" rIns="96661" bIns="48331" rtlCol="0" anchor="b"/>
          <a:lstStyle>
            <a:lvl1pPr algn="r">
              <a:defRPr sz="1300"/>
            </a:lvl1pPr>
          </a:lstStyle>
          <a:p>
            <a:fld id="{C58D7772-57C4-43FE-B30D-FBB40B6BD3DC}" type="slidenum">
              <a:rPr lang="en-US" smtClean="0"/>
              <a:pPr/>
              <a:t>‹#›</a:t>
            </a:fld>
            <a:endParaRPr lang="en-US"/>
          </a:p>
        </p:txBody>
      </p:sp>
    </p:spTree>
    <p:extLst>
      <p:ext uri="{BB962C8B-B14F-4D97-AF65-F5344CB8AC3E}">
        <p14:creationId xmlns:p14="http://schemas.microsoft.com/office/powerpoint/2010/main" val="11623076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0" y="685800"/>
            <a:ext cx="9144000" cy="1066800"/>
          </a:xfrm>
        </p:spPr>
        <p:txBody>
          <a:bodyPr>
            <a:normAutofit/>
          </a:bodyPr>
          <a:lstStyle>
            <a:lvl1pPr algn="ctr">
              <a:defRPr sz="2400" b="1" cap="small" baseline="0">
                <a:latin typeface="Times New Roman" pitchFamily="18" charset="0"/>
                <a:cs typeface="Times New Roman" pitchFamily="18" charset="0"/>
              </a:defRPr>
            </a:lvl1pPr>
          </a:lstStyle>
          <a:p>
            <a:r>
              <a:rPr lang="en-US" dirty="0" smtClean="0"/>
              <a:t>Click to edit Master title style</a:t>
            </a:r>
            <a:endParaRPr lang="en-US" dirty="0"/>
          </a:p>
        </p:txBody>
      </p:sp>
      <p:sp>
        <p:nvSpPr>
          <p:cNvPr id="3" name="Subtitle 2"/>
          <p:cNvSpPr>
            <a:spLocks noGrp="1"/>
          </p:cNvSpPr>
          <p:nvPr>
            <p:ph type="subTitle" idx="1"/>
          </p:nvPr>
        </p:nvSpPr>
        <p:spPr>
          <a:xfrm>
            <a:off x="0" y="1752599"/>
            <a:ext cx="9144000" cy="457200"/>
          </a:xfrm>
        </p:spPr>
        <p:txBody>
          <a:bodyPr>
            <a:normAutofit/>
          </a:bodyPr>
          <a:lstStyle>
            <a:lvl1pPr marL="0" indent="0" algn="ctr">
              <a:spcBef>
                <a:spcPts val="0"/>
              </a:spcBef>
              <a:buNone/>
              <a:defRPr sz="2000" cap="small" baseline="0">
                <a:solidFill>
                  <a:srgbClr val="000000"/>
                </a:solidFill>
                <a:latin typeface="Times New Roman"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4" name="Date Placeholder 3"/>
          <p:cNvSpPr>
            <a:spLocks noGrp="1"/>
          </p:cNvSpPr>
          <p:nvPr>
            <p:ph type="dt" sz="half" idx="10"/>
          </p:nvPr>
        </p:nvSpPr>
        <p:spPr>
          <a:xfrm>
            <a:off x="457200" y="6584950"/>
            <a:ext cx="990600" cy="273050"/>
          </a:xfrm>
          <a:prstGeom prst="rect">
            <a:avLst/>
          </a:prstGeom>
        </p:spPr>
        <p:txBody>
          <a:bodyPr/>
          <a:lstStyle>
            <a:lvl1pPr>
              <a:defRPr sz="1000">
                <a:solidFill>
                  <a:srgbClr val="000000"/>
                </a:solidFill>
                <a:latin typeface="Times New Roman" pitchFamily="18" charset="0"/>
                <a:cs typeface="Times New Roman" pitchFamily="18" charset="0"/>
              </a:defRPr>
            </a:lvl1pPr>
          </a:lstStyle>
          <a:p>
            <a:fld id="{8E146812-51FF-4609-8A40-02FC8C31783E}" type="datetime1">
              <a:rPr lang="en-US" smtClean="0"/>
              <a:pPr/>
              <a:t>05-Nov-17</a:t>
            </a:fld>
            <a:endParaRPr lang="en-US"/>
          </a:p>
        </p:txBody>
      </p:sp>
      <p:sp>
        <p:nvSpPr>
          <p:cNvPr id="5" name="Footer Placeholder 4"/>
          <p:cNvSpPr>
            <a:spLocks noGrp="1"/>
          </p:cNvSpPr>
          <p:nvPr>
            <p:ph type="ftr" sz="quarter" idx="11"/>
          </p:nvPr>
        </p:nvSpPr>
        <p:spPr>
          <a:xfrm>
            <a:off x="1447800" y="6584950"/>
            <a:ext cx="6096000" cy="273050"/>
          </a:xfrm>
          <a:prstGeom prst="rect">
            <a:avLst/>
          </a:prstGeom>
        </p:spPr>
        <p:txBody>
          <a:bodyPr/>
          <a:lstStyle>
            <a:lvl1pPr>
              <a:defRPr sz="1000">
                <a:solidFill>
                  <a:srgbClr val="333333"/>
                </a:solidFill>
                <a:latin typeface="Times New Roman" pitchFamily="18" charset="0"/>
                <a:cs typeface="Times New Roman" pitchFamily="18" charset="0"/>
              </a:defRPr>
            </a:lvl1pPr>
          </a:lstStyle>
          <a:p>
            <a:r>
              <a:rPr lang="en-US" dirty="0" smtClean="0"/>
              <a:t>Software Engineering Design: Theory and Practice. Copyright 2012 by Carlos E. Otero</a:t>
            </a:r>
          </a:p>
          <a:p>
            <a:endParaRPr lang="en-US" dirty="0"/>
          </a:p>
        </p:txBody>
      </p:sp>
      <p:sp>
        <p:nvSpPr>
          <p:cNvPr id="6" name="Slide Number Placeholder 5"/>
          <p:cNvSpPr>
            <a:spLocks noGrp="1"/>
          </p:cNvSpPr>
          <p:nvPr>
            <p:ph type="sldNum" sz="quarter" idx="12"/>
          </p:nvPr>
        </p:nvSpPr>
        <p:spPr>
          <a:xfrm>
            <a:off x="7543800" y="6553200"/>
            <a:ext cx="1143000" cy="304800"/>
          </a:xfrm>
          <a:prstGeom prst="rect">
            <a:avLst/>
          </a:prstGeom>
        </p:spPr>
        <p:txBody>
          <a:bodyPr/>
          <a:lstStyle>
            <a:lvl1pPr>
              <a:defRPr sz="1000">
                <a:solidFill>
                  <a:srgbClr val="000000"/>
                </a:solidFill>
                <a:latin typeface="Times New Roman" pitchFamily="18" charset="0"/>
                <a:cs typeface="Times New Roman" pitchFamily="18" charset="0"/>
              </a:defRPr>
            </a:lvl1p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a:xfrm>
            <a:off x="457200" y="1371601"/>
            <a:ext cx="8229600" cy="4800599"/>
          </a:xfrm>
        </p:spPr>
        <p:txBody>
          <a:bodyPr/>
          <a:lstStyle>
            <a:lvl1pPr>
              <a:buFont typeface="Wingdings" pitchFamily="2" charset="2"/>
              <a:buChar char="Ø"/>
              <a:defRPr sz="2000"/>
            </a:lvl1pPr>
            <a:lvl2pPr>
              <a:buFont typeface="Wingdings" pitchFamily="2" charset="2"/>
              <a:buChar char="ü"/>
              <a:defRPr sz="1800"/>
            </a:lvl2pPr>
            <a:lvl3pPr>
              <a:buFont typeface="Wingdings" pitchFamily="2" charset="2"/>
              <a:buChar char="§"/>
              <a:defRPr sz="1600"/>
            </a:lvl3pPr>
            <a:lvl4pPr>
              <a:defRPr sz="1400"/>
            </a:lvl4pPr>
            <a:lvl5pPr>
              <a:defRPr sz="12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5" name="Date Placeholder 3"/>
          <p:cNvSpPr>
            <a:spLocks noGrp="1"/>
          </p:cNvSpPr>
          <p:nvPr>
            <p:ph type="dt" sz="half" idx="10"/>
          </p:nvPr>
        </p:nvSpPr>
        <p:spPr>
          <a:xfrm>
            <a:off x="457200" y="6584950"/>
            <a:ext cx="990600" cy="273050"/>
          </a:xfrm>
          <a:prstGeom prst="rect">
            <a:avLst/>
          </a:prstGeom>
        </p:spPr>
        <p:txBody>
          <a:bodyPr/>
          <a:lstStyle>
            <a:lvl1pPr>
              <a:defRPr sz="1000" i="1">
                <a:latin typeface="Times New Roman" pitchFamily="18" charset="0"/>
                <a:cs typeface="Times New Roman" pitchFamily="18" charset="0"/>
              </a:defRPr>
            </a:lvl1pPr>
          </a:lstStyle>
          <a:p>
            <a:fld id="{F3FBCFF5-EE4F-4FFF-A0F1-127D95D6DEF9}" type="datetime1">
              <a:rPr lang="en-US" smtClean="0"/>
              <a:pPr/>
              <a:t>05-Nov-17</a:t>
            </a:fld>
            <a:endParaRPr lang="en-US"/>
          </a:p>
        </p:txBody>
      </p:sp>
      <p:sp>
        <p:nvSpPr>
          <p:cNvPr id="16" name="Footer Placeholder 4"/>
          <p:cNvSpPr>
            <a:spLocks noGrp="1"/>
          </p:cNvSpPr>
          <p:nvPr>
            <p:ph type="ftr" sz="quarter" idx="11"/>
          </p:nvPr>
        </p:nvSpPr>
        <p:spPr>
          <a:xfrm>
            <a:off x="1447800" y="6584950"/>
            <a:ext cx="6096000" cy="273050"/>
          </a:xfrm>
          <a:prstGeom prst="rect">
            <a:avLst/>
          </a:prstGeom>
        </p:spPr>
        <p:txBody>
          <a:bodyPr/>
          <a:lstStyle>
            <a:lvl1pPr>
              <a:defRPr sz="1000">
                <a:solidFill>
                  <a:srgbClr val="000000"/>
                </a:solidFill>
                <a:latin typeface="Times New Roman" pitchFamily="18" charset="0"/>
                <a:cs typeface="Times New Roman" pitchFamily="18" charset="0"/>
              </a:defRPr>
            </a:lvl1pPr>
          </a:lstStyle>
          <a:p>
            <a:r>
              <a:rPr lang="en-US" dirty="0" smtClean="0"/>
              <a:t>Software Engineering Design: Theory and Practice</a:t>
            </a:r>
            <a:endParaRPr lang="en-US" dirty="0"/>
          </a:p>
        </p:txBody>
      </p:sp>
      <p:sp>
        <p:nvSpPr>
          <p:cNvPr id="17" name="Slide Number Placeholder 5"/>
          <p:cNvSpPr>
            <a:spLocks noGrp="1"/>
          </p:cNvSpPr>
          <p:nvPr>
            <p:ph type="sldNum" sz="quarter" idx="12"/>
          </p:nvPr>
        </p:nvSpPr>
        <p:spPr>
          <a:xfrm>
            <a:off x="7543800" y="6553200"/>
            <a:ext cx="1143000" cy="304800"/>
          </a:xfrm>
          <a:prstGeom prst="rect">
            <a:avLst/>
          </a:prstGeom>
        </p:spPr>
        <p:txBody>
          <a:bodyPr/>
          <a:lstStyle>
            <a:lvl1pPr>
              <a:defRPr sz="1000">
                <a:latin typeface="Times New Roman" pitchFamily="18" charset="0"/>
                <a:cs typeface="Times New Roman" pitchFamily="18" charset="0"/>
              </a:defRPr>
            </a:lvl1p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dirty="0"/>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a:xfrm>
            <a:off x="457200" y="6562078"/>
            <a:ext cx="990600" cy="304800"/>
          </a:xfrm>
          <a:prstGeom prst="rect">
            <a:avLst/>
          </a:prstGeom>
        </p:spPr>
        <p:txBody>
          <a:bodyPr/>
          <a:lstStyle/>
          <a:p>
            <a:fld id="{ED229BA3-A27B-42AB-9F31-42418016249D}" type="datetime1">
              <a:rPr lang="en-US" smtClean="0"/>
              <a:pPr/>
              <a:t>05-Nov-17</a:t>
            </a:fld>
            <a:endParaRPr lang="en-US"/>
          </a:p>
        </p:txBody>
      </p:sp>
      <p:sp>
        <p:nvSpPr>
          <p:cNvPr id="5" name="Footer Placeholder 4"/>
          <p:cNvSpPr>
            <a:spLocks noGrp="1"/>
          </p:cNvSpPr>
          <p:nvPr>
            <p:ph type="ftr" sz="quarter" idx="11"/>
          </p:nvPr>
        </p:nvSpPr>
        <p:spPr>
          <a:xfrm>
            <a:off x="1447800" y="6562078"/>
            <a:ext cx="6096000" cy="304800"/>
          </a:xfrm>
          <a:prstGeom prst="rect">
            <a:avLst/>
          </a:prstGeom>
        </p:spPr>
        <p:txBody>
          <a:bodyPr/>
          <a:lstStyle/>
          <a:p>
            <a:r>
              <a:rPr lang="en-US" dirty="0" smtClean="0"/>
              <a:t>Software Engineering Design: Theory and Practice</a:t>
            </a:r>
            <a:endParaRPr lang="en-US" dirty="0"/>
          </a:p>
        </p:txBody>
      </p:sp>
      <p:sp>
        <p:nvSpPr>
          <p:cNvPr id="6" name="Slide Number Placeholder 5"/>
          <p:cNvSpPr>
            <a:spLocks noGrp="1"/>
          </p:cNvSpPr>
          <p:nvPr>
            <p:ph type="sldNum" sz="quarter" idx="12"/>
          </p:nvPr>
        </p:nvSpPr>
        <p:spPr>
          <a:xfrm>
            <a:off x="7543800" y="6562078"/>
            <a:ext cx="11430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400"/>
            </a:lvl1pPr>
            <a:lvl2pPr>
              <a:defRPr sz="2000"/>
            </a:lvl2pPr>
            <a:lvl3pPr>
              <a:defRPr sz="1800"/>
            </a:lvl3pPr>
            <a:lvl4pPr>
              <a:defRPr sz="1600"/>
            </a:lvl4pPr>
            <a:lvl5pPr>
              <a:defRPr sz="16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48200" y="1600200"/>
            <a:ext cx="4038600" cy="4525963"/>
          </a:xfrm>
        </p:spPr>
        <p:txBody>
          <a:bodyPr/>
          <a:lstStyle>
            <a:lvl1pPr>
              <a:defRPr sz="2400"/>
            </a:lvl1pPr>
            <a:lvl2pPr>
              <a:defRPr sz="2000"/>
            </a:lvl2pPr>
            <a:lvl3pPr>
              <a:defRPr sz="1800"/>
            </a:lvl3pPr>
            <a:lvl4pPr>
              <a:defRPr sz="1600"/>
            </a:lvl4pPr>
            <a:lvl5pPr>
              <a:defRPr sz="14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a:xfrm>
            <a:off x="457200" y="6553200"/>
            <a:ext cx="2133600" cy="304800"/>
          </a:xfrm>
          <a:prstGeom prst="rect">
            <a:avLst/>
          </a:prstGeom>
        </p:spPr>
        <p:txBody>
          <a:bodyPr/>
          <a:lstStyle/>
          <a:p>
            <a:fld id="{F0BB3435-0E9A-4626-BE17-A8762A108CF2}" type="datetime1">
              <a:rPr lang="en-US" smtClean="0"/>
              <a:pPr/>
              <a:t>05-Nov-17</a:t>
            </a:fld>
            <a:endParaRPr lang="en-US"/>
          </a:p>
        </p:txBody>
      </p:sp>
      <p:sp>
        <p:nvSpPr>
          <p:cNvPr id="6" name="Footer Placeholder 5"/>
          <p:cNvSpPr>
            <a:spLocks noGrp="1"/>
          </p:cNvSpPr>
          <p:nvPr>
            <p:ph type="ftr" sz="quarter" idx="11"/>
          </p:nvPr>
        </p:nvSpPr>
        <p:spPr>
          <a:xfrm>
            <a:off x="3200400" y="6553200"/>
            <a:ext cx="2895600" cy="304800"/>
          </a:xfrm>
          <a:prstGeom prst="rect">
            <a:avLst/>
          </a:prstGeom>
        </p:spPr>
        <p:txBody>
          <a:bodyPr/>
          <a:lstStyle/>
          <a:p>
            <a:r>
              <a:rPr lang="en-US" dirty="0" smtClean="0"/>
              <a:t>Software Engineering Design: Theory and Practice</a:t>
            </a:r>
            <a:endParaRPr lang="en-US" dirty="0"/>
          </a:p>
        </p:txBody>
      </p:sp>
      <p:sp>
        <p:nvSpPr>
          <p:cNvPr id="7" name="Slide Number Placeholder 6"/>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a:xfrm>
            <a:off x="457200" y="6553200"/>
            <a:ext cx="2133600" cy="304800"/>
          </a:xfrm>
          <a:prstGeom prst="rect">
            <a:avLst/>
          </a:prstGeom>
        </p:spPr>
        <p:txBody>
          <a:bodyPr/>
          <a:lstStyle/>
          <a:p>
            <a:fld id="{A8E9BC6D-F3D4-4CAF-ACEC-494A57D202E4}" type="datetime1">
              <a:rPr lang="en-US" smtClean="0"/>
              <a:pPr/>
              <a:t>05-Nov-17</a:t>
            </a:fld>
            <a:endParaRPr lang="en-US"/>
          </a:p>
        </p:txBody>
      </p:sp>
      <p:sp>
        <p:nvSpPr>
          <p:cNvPr id="8" name="Footer Placeholder 7"/>
          <p:cNvSpPr>
            <a:spLocks noGrp="1"/>
          </p:cNvSpPr>
          <p:nvPr>
            <p:ph type="ftr" sz="quarter" idx="11"/>
          </p:nvPr>
        </p:nvSpPr>
        <p:spPr>
          <a:xfrm>
            <a:off x="3124200" y="6553200"/>
            <a:ext cx="2895600" cy="304800"/>
          </a:xfrm>
          <a:prstGeom prst="rect">
            <a:avLst/>
          </a:prstGeom>
        </p:spPr>
        <p:txBody>
          <a:bodyPr/>
          <a:lstStyle/>
          <a:p>
            <a:r>
              <a:rPr lang="en-US" dirty="0" smtClean="0"/>
              <a:t>Software Engineering Design: Theory and Practice</a:t>
            </a:r>
            <a:endParaRPr lang="en-US" dirty="0"/>
          </a:p>
        </p:txBody>
      </p:sp>
      <p:sp>
        <p:nvSpPr>
          <p:cNvPr id="9" name="Slide Number Placeholder 8"/>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a:xfrm>
            <a:off x="457200" y="6553200"/>
            <a:ext cx="2133600" cy="304800"/>
          </a:xfrm>
          <a:prstGeom prst="rect">
            <a:avLst/>
          </a:prstGeom>
        </p:spPr>
        <p:txBody>
          <a:bodyPr/>
          <a:lstStyle/>
          <a:p>
            <a:fld id="{E15860A7-5D37-4EAC-8EFD-51F43FFA3B5E}" type="datetime1">
              <a:rPr lang="en-US" smtClean="0"/>
              <a:pPr/>
              <a:t>05-Nov-17</a:t>
            </a:fld>
            <a:endParaRPr lang="en-US"/>
          </a:p>
        </p:txBody>
      </p:sp>
      <p:sp>
        <p:nvSpPr>
          <p:cNvPr id="4" name="Footer Placeholder 3"/>
          <p:cNvSpPr>
            <a:spLocks noGrp="1"/>
          </p:cNvSpPr>
          <p:nvPr>
            <p:ph type="ftr" sz="quarter" idx="11"/>
          </p:nvPr>
        </p:nvSpPr>
        <p:spPr>
          <a:xfrm>
            <a:off x="3048000" y="6553200"/>
            <a:ext cx="2895600" cy="304800"/>
          </a:xfrm>
          <a:prstGeom prst="rect">
            <a:avLst/>
          </a:prstGeom>
        </p:spPr>
        <p:txBody>
          <a:bodyPr/>
          <a:lstStyle/>
          <a:p>
            <a:r>
              <a:rPr lang="en-US" dirty="0" smtClean="0"/>
              <a:t>Software Engineering Design: Theory and Practice</a:t>
            </a:r>
            <a:endParaRPr lang="en-US" dirty="0"/>
          </a:p>
        </p:txBody>
      </p:sp>
      <p:sp>
        <p:nvSpPr>
          <p:cNvPr id="5" name="Slide Number Placeholder 4"/>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553200"/>
            <a:ext cx="2133600" cy="304800"/>
          </a:xfrm>
          <a:prstGeom prst="rect">
            <a:avLst/>
          </a:prstGeom>
        </p:spPr>
        <p:txBody>
          <a:bodyPr/>
          <a:lstStyle/>
          <a:p>
            <a:fld id="{061ED6DB-E37C-45C5-85AA-C10B399F13E3}" type="datetime1">
              <a:rPr lang="en-US" smtClean="0"/>
              <a:pPr/>
              <a:t>05-Nov-17</a:t>
            </a:fld>
            <a:endParaRPr lang="en-US"/>
          </a:p>
        </p:txBody>
      </p:sp>
      <p:sp>
        <p:nvSpPr>
          <p:cNvPr id="3" name="Footer Placeholder 2"/>
          <p:cNvSpPr>
            <a:spLocks noGrp="1"/>
          </p:cNvSpPr>
          <p:nvPr>
            <p:ph type="ftr" sz="quarter" idx="11"/>
          </p:nvPr>
        </p:nvSpPr>
        <p:spPr>
          <a:xfrm>
            <a:off x="3124200" y="6553200"/>
            <a:ext cx="2895600" cy="304800"/>
          </a:xfrm>
          <a:prstGeom prst="rect">
            <a:avLst/>
          </a:prstGeom>
        </p:spPr>
        <p:txBody>
          <a:bodyPr/>
          <a:lstStyle/>
          <a:p>
            <a:r>
              <a:rPr lang="en-US" dirty="0" smtClean="0"/>
              <a:t>Software Engineering Design: Theory and Practice</a:t>
            </a:r>
            <a:endParaRPr lang="en-US" dirty="0"/>
          </a:p>
        </p:txBody>
      </p:sp>
      <p:sp>
        <p:nvSpPr>
          <p:cNvPr id="4" name="Slide Number Placeholder 3"/>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457200" y="6553200"/>
            <a:ext cx="2133600" cy="304800"/>
          </a:xfrm>
          <a:prstGeom prst="rect">
            <a:avLst/>
          </a:prstGeom>
        </p:spPr>
        <p:txBody>
          <a:bodyPr/>
          <a:lstStyle/>
          <a:p>
            <a:fld id="{DA6BCD18-5551-42D7-A5DD-C6871E4D3FB5}" type="datetime1">
              <a:rPr lang="en-US" smtClean="0"/>
              <a:pPr/>
              <a:t>05-Nov-17</a:t>
            </a:fld>
            <a:endParaRPr lang="en-US"/>
          </a:p>
        </p:txBody>
      </p:sp>
      <p:sp>
        <p:nvSpPr>
          <p:cNvPr id="6" name="Footer Placeholder 5"/>
          <p:cNvSpPr>
            <a:spLocks noGrp="1"/>
          </p:cNvSpPr>
          <p:nvPr>
            <p:ph type="ftr" sz="quarter" idx="11"/>
          </p:nvPr>
        </p:nvSpPr>
        <p:spPr>
          <a:xfrm>
            <a:off x="3048000" y="6553200"/>
            <a:ext cx="2895600" cy="304800"/>
          </a:xfrm>
          <a:prstGeom prst="rect">
            <a:avLst/>
          </a:prstGeom>
        </p:spPr>
        <p:txBody>
          <a:bodyPr/>
          <a:lstStyle/>
          <a:p>
            <a:r>
              <a:rPr lang="en-US" dirty="0" smtClean="0"/>
              <a:t>Software Engineering Design: Theory and Practice</a:t>
            </a:r>
            <a:endParaRPr lang="en-US" dirty="0"/>
          </a:p>
        </p:txBody>
      </p:sp>
      <p:sp>
        <p:nvSpPr>
          <p:cNvPr id="7" name="Slide Number Placeholder 6"/>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457200" y="6553200"/>
            <a:ext cx="2133600" cy="304800"/>
          </a:xfrm>
          <a:prstGeom prst="rect">
            <a:avLst/>
          </a:prstGeom>
        </p:spPr>
        <p:txBody>
          <a:bodyPr/>
          <a:lstStyle/>
          <a:p>
            <a:fld id="{25C7B514-375B-4C9F-AB19-638794D6AC42}" type="datetime1">
              <a:rPr lang="en-US" smtClean="0"/>
              <a:pPr/>
              <a:t>05-Nov-17</a:t>
            </a:fld>
            <a:endParaRPr lang="en-US"/>
          </a:p>
        </p:txBody>
      </p:sp>
      <p:sp>
        <p:nvSpPr>
          <p:cNvPr id="6" name="Footer Placeholder 5"/>
          <p:cNvSpPr>
            <a:spLocks noGrp="1"/>
          </p:cNvSpPr>
          <p:nvPr>
            <p:ph type="ftr" sz="quarter" idx="11"/>
          </p:nvPr>
        </p:nvSpPr>
        <p:spPr>
          <a:xfrm>
            <a:off x="3048000" y="6553200"/>
            <a:ext cx="2895600" cy="304800"/>
          </a:xfrm>
          <a:prstGeom prst="rect">
            <a:avLst/>
          </a:prstGeom>
        </p:spPr>
        <p:txBody>
          <a:bodyPr/>
          <a:lstStyle/>
          <a:p>
            <a:r>
              <a:rPr lang="en-US" dirty="0" smtClean="0"/>
              <a:t>Software Engineering Design: Theory and Practice</a:t>
            </a:r>
            <a:endParaRPr lang="en-US" dirty="0"/>
          </a:p>
        </p:txBody>
      </p:sp>
      <p:sp>
        <p:nvSpPr>
          <p:cNvPr id="7" name="Slide Number Placeholder 6"/>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457200" y="6553200"/>
            <a:ext cx="2133600" cy="304800"/>
          </a:xfrm>
          <a:prstGeom prst="rect">
            <a:avLst/>
          </a:prstGeom>
        </p:spPr>
        <p:txBody>
          <a:bodyPr/>
          <a:lstStyle/>
          <a:p>
            <a:fld id="{41643C31-6BED-43CE-92EC-61FE9F1B16F6}" type="datetime1">
              <a:rPr lang="en-US" smtClean="0"/>
              <a:pPr/>
              <a:t>05-Nov-17</a:t>
            </a:fld>
            <a:endParaRPr lang="en-US"/>
          </a:p>
        </p:txBody>
      </p:sp>
      <p:sp>
        <p:nvSpPr>
          <p:cNvPr id="5" name="Footer Placeholder 4"/>
          <p:cNvSpPr>
            <a:spLocks noGrp="1"/>
          </p:cNvSpPr>
          <p:nvPr>
            <p:ph type="ftr" sz="quarter" idx="11"/>
          </p:nvPr>
        </p:nvSpPr>
        <p:spPr>
          <a:xfrm>
            <a:off x="2971800" y="6553200"/>
            <a:ext cx="2895600" cy="304800"/>
          </a:xfrm>
          <a:prstGeom prst="rect">
            <a:avLst/>
          </a:prstGeom>
        </p:spPr>
        <p:txBody>
          <a:bodyPr/>
          <a:lstStyle/>
          <a:p>
            <a:r>
              <a:rPr lang="en-US" dirty="0" smtClean="0"/>
              <a:t>Software Engineering Design: Theory and Practice</a:t>
            </a:r>
            <a:endParaRPr lang="en-US" dirty="0"/>
          </a:p>
        </p:txBody>
      </p:sp>
      <p:sp>
        <p:nvSpPr>
          <p:cNvPr id="6" name="Slide Number Placeholder 5"/>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457200" y="6553200"/>
            <a:ext cx="2133600" cy="304800"/>
          </a:xfrm>
          <a:prstGeom prst="rect">
            <a:avLst/>
          </a:prstGeom>
        </p:spPr>
        <p:txBody>
          <a:bodyPr/>
          <a:lstStyle/>
          <a:p>
            <a:fld id="{999D3834-0217-485F-B8FA-819EC68F0E18}" type="datetime1">
              <a:rPr lang="en-US" smtClean="0"/>
              <a:pPr/>
              <a:t>05-Nov-17</a:t>
            </a:fld>
            <a:endParaRPr lang="en-US"/>
          </a:p>
        </p:txBody>
      </p:sp>
      <p:sp>
        <p:nvSpPr>
          <p:cNvPr id="5" name="Footer Placeholder 4"/>
          <p:cNvSpPr>
            <a:spLocks noGrp="1"/>
          </p:cNvSpPr>
          <p:nvPr>
            <p:ph type="ftr" sz="quarter" idx="11"/>
          </p:nvPr>
        </p:nvSpPr>
        <p:spPr>
          <a:xfrm>
            <a:off x="3048000" y="6553200"/>
            <a:ext cx="2895600" cy="304800"/>
          </a:xfrm>
          <a:prstGeom prst="rect">
            <a:avLst/>
          </a:prstGeom>
        </p:spPr>
        <p:txBody>
          <a:bodyPr/>
          <a:lstStyle/>
          <a:p>
            <a:r>
              <a:rPr lang="en-US" dirty="0" smtClean="0"/>
              <a:t>Software Engineering Design: Theory and Practice</a:t>
            </a:r>
            <a:endParaRPr lang="en-US" dirty="0"/>
          </a:p>
        </p:txBody>
      </p:sp>
      <p:sp>
        <p:nvSpPr>
          <p:cNvPr id="6" name="Slide Number Placeholder 5"/>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503238"/>
            <a:ext cx="8229600" cy="792162"/>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457200" y="1371600"/>
            <a:ext cx="8229600" cy="47545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9" name="Rounded Rectangle 8"/>
          <p:cNvSpPr/>
          <p:nvPr/>
        </p:nvSpPr>
        <p:spPr bwMode="auto">
          <a:xfrm>
            <a:off x="219722" y="228600"/>
            <a:ext cx="8686800" cy="6324600"/>
          </a:xfrm>
          <a:prstGeom prst="roundRect">
            <a:avLst/>
          </a:prstGeom>
          <a:noFill/>
          <a:ln w="19050" cap="flat" cmpd="sng" algn="ctr">
            <a:solidFill>
              <a:srgbClr val="000000"/>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charset="0"/>
            </a:endParaRPr>
          </a:p>
        </p:txBody>
      </p:sp>
      <p:sp>
        <p:nvSpPr>
          <p:cNvPr id="12" name="Date Placeholder 3"/>
          <p:cNvSpPr>
            <a:spLocks noGrp="1"/>
          </p:cNvSpPr>
          <p:nvPr>
            <p:ph type="dt" sz="half" idx="2"/>
          </p:nvPr>
        </p:nvSpPr>
        <p:spPr>
          <a:xfrm>
            <a:off x="457200" y="6584950"/>
            <a:ext cx="990600" cy="273050"/>
          </a:xfrm>
          <a:prstGeom prst="rect">
            <a:avLst/>
          </a:prstGeom>
        </p:spPr>
        <p:txBody>
          <a:bodyPr/>
          <a:lstStyle>
            <a:lvl1pPr>
              <a:defRPr sz="1000" i="1">
                <a:solidFill>
                  <a:srgbClr val="333333"/>
                </a:solidFill>
                <a:latin typeface="Times New Roman" pitchFamily="18" charset="0"/>
                <a:cs typeface="Times New Roman" pitchFamily="18" charset="0"/>
              </a:defRPr>
            </a:lvl1pPr>
          </a:lstStyle>
          <a:p>
            <a:fld id="{714859E5-2B7A-4354-9302-A47E7090D679}" type="datetime1">
              <a:rPr lang="en-US" smtClean="0"/>
              <a:pPr/>
              <a:t>05-Nov-17</a:t>
            </a:fld>
            <a:endParaRPr lang="en-US"/>
          </a:p>
        </p:txBody>
      </p:sp>
      <p:sp>
        <p:nvSpPr>
          <p:cNvPr id="13" name="Footer Placeholder 4"/>
          <p:cNvSpPr>
            <a:spLocks noGrp="1"/>
          </p:cNvSpPr>
          <p:nvPr>
            <p:ph type="ftr" sz="quarter" idx="3"/>
          </p:nvPr>
        </p:nvSpPr>
        <p:spPr>
          <a:xfrm>
            <a:off x="1447800" y="6584950"/>
            <a:ext cx="6096000" cy="273050"/>
          </a:xfrm>
          <a:prstGeom prst="rect">
            <a:avLst/>
          </a:prstGeom>
        </p:spPr>
        <p:txBody>
          <a:bodyPr/>
          <a:lstStyle>
            <a:lvl1pPr algn="ctr">
              <a:defRPr sz="1000" i="1">
                <a:solidFill>
                  <a:srgbClr val="333333"/>
                </a:solidFill>
                <a:latin typeface="Times New Roman" pitchFamily="18" charset="0"/>
                <a:cs typeface="Times New Roman" pitchFamily="18" charset="0"/>
              </a:defRPr>
            </a:lvl1pPr>
          </a:lstStyle>
          <a:p>
            <a:r>
              <a:rPr lang="en-US" smtClean="0"/>
              <a:t>Enterprise Software Architecture</a:t>
            </a:r>
            <a:endParaRPr lang="en-US" dirty="0"/>
          </a:p>
        </p:txBody>
      </p:sp>
      <p:sp>
        <p:nvSpPr>
          <p:cNvPr id="14" name="Slide Number Placeholder 5"/>
          <p:cNvSpPr>
            <a:spLocks noGrp="1"/>
          </p:cNvSpPr>
          <p:nvPr>
            <p:ph type="sldNum" sz="quarter" idx="4"/>
          </p:nvPr>
        </p:nvSpPr>
        <p:spPr>
          <a:xfrm>
            <a:off x="7543800" y="6553200"/>
            <a:ext cx="1143000" cy="304800"/>
          </a:xfrm>
          <a:prstGeom prst="rect">
            <a:avLst/>
          </a:prstGeom>
        </p:spPr>
        <p:txBody>
          <a:bodyPr/>
          <a:lstStyle>
            <a:lvl1pPr algn="r">
              <a:defRPr sz="1000" i="1">
                <a:solidFill>
                  <a:srgbClr val="333333"/>
                </a:solidFill>
                <a:latin typeface="Times New Roman" pitchFamily="18" charset="0"/>
                <a:cs typeface="Times New Roman" pitchFamily="18" charset="0"/>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ctr" defTabSz="914400" rtl="0" eaLnBrk="1" latinLnBrk="0" hangingPunct="1">
        <a:spcBef>
          <a:spcPct val="0"/>
        </a:spcBef>
        <a:buNone/>
        <a:defRPr sz="2400" b="1" kern="1200" cap="small" baseline="0">
          <a:solidFill>
            <a:schemeClr val="tx1"/>
          </a:solidFill>
          <a:latin typeface="Times New Roman" pitchFamily="18" charset="0"/>
          <a:ea typeface="+mj-ea"/>
          <a:cs typeface="Times New Roman" pitchFamily="18" charset="0"/>
        </a:defRPr>
      </a:lvl1pPr>
    </p:titleStyle>
    <p:bodyStyle>
      <a:lvl1pPr marL="342900" indent="-342900" algn="l" defTabSz="914400" rtl="0" eaLnBrk="1" latinLnBrk="0" hangingPunct="1">
        <a:spcBef>
          <a:spcPct val="20000"/>
        </a:spcBef>
        <a:buFont typeface="Arial" pitchFamily="34" charset="0"/>
        <a:buChar char="•"/>
        <a:defRPr sz="2400" kern="1200">
          <a:solidFill>
            <a:schemeClr val="tx1"/>
          </a:solidFill>
          <a:latin typeface="Times New Roman" pitchFamily="18" charset="0"/>
          <a:ea typeface="+mn-ea"/>
          <a:cs typeface="Times New Roman" pitchFamily="18" charset="0"/>
        </a:defRPr>
      </a:lvl1pPr>
      <a:lvl2pPr marL="742950" indent="-285750" algn="l" defTabSz="914400" rtl="0" eaLnBrk="1" latinLnBrk="0" hangingPunct="1">
        <a:spcBef>
          <a:spcPct val="20000"/>
        </a:spcBef>
        <a:buFont typeface="Arial" pitchFamily="34" charset="0"/>
        <a:buChar char="–"/>
        <a:defRPr sz="2000" kern="1200">
          <a:solidFill>
            <a:schemeClr val="tx1"/>
          </a:solidFill>
          <a:latin typeface="Times New Roman" pitchFamily="18" charset="0"/>
          <a:ea typeface="+mn-ea"/>
          <a:cs typeface="Times New Roman" pitchFamily="18" charset="0"/>
        </a:defRPr>
      </a:lvl2pPr>
      <a:lvl3pPr marL="1143000" indent="-228600" algn="l" defTabSz="914400" rtl="0" eaLnBrk="1" latinLnBrk="0" hangingPunct="1">
        <a:spcBef>
          <a:spcPct val="20000"/>
        </a:spcBef>
        <a:buFont typeface="Arial" pitchFamily="34" charset="0"/>
        <a:buChar char="•"/>
        <a:defRPr sz="1800" kern="1200">
          <a:solidFill>
            <a:schemeClr val="tx1"/>
          </a:solidFill>
          <a:latin typeface="Times New Roman" pitchFamily="18" charset="0"/>
          <a:ea typeface="+mn-ea"/>
          <a:cs typeface="Times New Roman" pitchFamily="18" charset="0"/>
        </a:defRPr>
      </a:lvl3pPr>
      <a:lvl4pPr marL="1600200" indent="-228600" algn="l" defTabSz="914400" rtl="0" eaLnBrk="1" latinLnBrk="0" hangingPunct="1">
        <a:spcBef>
          <a:spcPct val="20000"/>
        </a:spcBef>
        <a:buFont typeface="Arial" pitchFamily="34" charset="0"/>
        <a:buChar char="–"/>
        <a:defRPr sz="1600" kern="1200">
          <a:solidFill>
            <a:schemeClr val="tx1"/>
          </a:solidFill>
          <a:latin typeface="Times New Roman" pitchFamily="18" charset="0"/>
          <a:ea typeface="+mn-ea"/>
          <a:cs typeface="Times New Roman" pitchFamily="18" charset="0"/>
        </a:defRPr>
      </a:lvl4pPr>
      <a:lvl5pPr marL="2057400" indent="-228600" algn="l" defTabSz="914400" rtl="0" eaLnBrk="1" latinLnBrk="0" hangingPunct="1">
        <a:spcBef>
          <a:spcPct val="20000"/>
        </a:spcBef>
        <a:buFont typeface="Arial" pitchFamily="34" charset="0"/>
        <a:buChar char="»"/>
        <a:defRPr sz="1400" kern="1200">
          <a:solidFill>
            <a:schemeClr val="tx1"/>
          </a:solidFill>
          <a:latin typeface="Times New Roman" pitchFamily="18" charset="0"/>
          <a:ea typeface="+mn-ea"/>
          <a:cs typeface="Times New Roman" pitchFamily="18"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 y="1600200"/>
            <a:ext cx="9144000" cy="1066800"/>
          </a:xfrm>
        </p:spPr>
        <p:txBody>
          <a:bodyPr>
            <a:normAutofit/>
          </a:bodyPr>
          <a:lstStyle/>
          <a:p>
            <a:r>
              <a:rPr lang="en-US" dirty="0" smtClean="0"/>
              <a:t>Chapter 8: Principles of Construction Design</a:t>
            </a:r>
            <a:endParaRPr lang="en-US" dirty="0"/>
          </a:p>
        </p:txBody>
      </p:sp>
      <p:sp>
        <p:nvSpPr>
          <p:cNvPr id="3" name="Subtitle 2"/>
          <p:cNvSpPr>
            <a:spLocks noGrp="1"/>
          </p:cNvSpPr>
          <p:nvPr>
            <p:ph type="subTitle" idx="1"/>
          </p:nvPr>
        </p:nvSpPr>
        <p:spPr>
          <a:xfrm>
            <a:off x="0" y="3581400"/>
            <a:ext cx="9144000" cy="838202"/>
          </a:xfrm>
        </p:spPr>
        <p:txBody>
          <a:bodyPr>
            <a:normAutofit/>
          </a:bodyPr>
          <a:lstStyle/>
          <a:p>
            <a:r>
              <a:rPr lang="en-US" sz="3600" dirty="0" smtClean="0"/>
              <a:t>IN-CLASS EXERCISE</a:t>
            </a:r>
            <a:endParaRPr lang="en-US" sz="3600" dirty="0"/>
          </a:p>
        </p:txBody>
      </p:sp>
      <p:sp>
        <p:nvSpPr>
          <p:cNvPr id="4" name="Date Placeholder 3"/>
          <p:cNvSpPr>
            <a:spLocks noGrp="1"/>
          </p:cNvSpPr>
          <p:nvPr>
            <p:ph type="dt" sz="half" idx="10"/>
          </p:nvPr>
        </p:nvSpPr>
        <p:spPr/>
        <p:txBody>
          <a:bodyPr/>
          <a:lstStyle/>
          <a:p>
            <a:fld id="{EFE05638-2204-47C5-8D02-0990D6B01040}" type="datetime1">
              <a:rPr lang="en-US" smtClean="0"/>
              <a:pPr/>
              <a:t>05-Nov-17</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1</a:t>
            </a:fld>
            <a:endParaRPr lang="en-US"/>
          </a:p>
        </p:txBody>
      </p:sp>
      <p:sp>
        <p:nvSpPr>
          <p:cNvPr id="6" name="Footer Placeholder 5"/>
          <p:cNvSpPr>
            <a:spLocks noGrp="1"/>
          </p:cNvSpPr>
          <p:nvPr>
            <p:ph type="ftr" sz="quarter" idx="11"/>
          </p:nvPr>
        </p:nvSpPr>
        <p:spPr/>
        <p:txBody>
          <a:bodyPr/>
          <a:lstStyle/>
          <a:p>
            <a:r>
              <a:rPr lang="en-US" dirty="0" smtClean="0"/>
              <a:t>Software Engineering Design: Theory and Practice</a:t>
            </a:r>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EXERCISE 8.1</a:t>
            </a:r>
            <a:endParaRPr lang="en-US" dirty="0"/>
          </a:p>
        </p:txBody>
      </p:sp>
      <p:sp>
        <p:nvSpPr>
          <p:cNvPr id="3" name="Content Placeholder 2"/>
          <p:cNvSpPr>
            <a:spLocks noGrp="1"/>
          </p:cNvSpPr>
          <p:nvPr>
            <p:ph idx="1"/>
          </p:nvPr>
        </p:nvSpPr>
        <p:spPr/>
        <p:txBody>
          <a:bodyPr>
            <a:normAutofit/>
          </a:bodyPr>
          <a:lstStyle/>
          <a:p>
            <a:pPr marL="0" lvl="1" indent="0" algn="just">
              <a:buNone/>
            </a:pPr>
            <a:r>
              <a:rPr lang="en-US" dirty="0"/>
              <a:t>Based on the following description on the rules to calculate an Annual Fee, draw an Extended Entry Decision Table (EEDT) and write the related source codes that implement the </a:t>
            </a:r>
            <a:r>
              <a:rPr lang="en-US" dirty="0" err="1"/>
              <a:t>calculateAnnualFee</a:t>
            </a:r>
            <a:r>
              <a:rPr lang="en-US" dirty="0"/>
              <a:t>() method. You may use either Java, C#, C, or C++ to write the source codes.</a:t>
            </a:r>
            <a:r>
              <a:rPr lang="en-US"/>
              <a:t>	</a:t>
            </a:r>
            <a:endParaRPr lang="en-US" smtClean="0"/>
          </a:p>
          <a:p>
            <a:pPr marL="0" lvl="1" indent="0" algn="just">
              <a:buNone/>
            </a:pPr>
            <a:endParaRPr lang="en-US" sz="2400" dirty="0"/>
          </a:p>
          <a:p>
            <a:pPr marL="457200" indent="0" algn="just">
              <a:buNone/>
            </a:pPr>
            <a:r>
              <a:rPr lang="en-US" sz="1800" dirty="0">
                <a:latin typeface="Arial" panose="020B0604020202020204" pitchFamily="34" charset="0"/>
                <a:cs typeface="Arial" panose="020B0604020202020204" pitchFamily="34" charset="0"/>
              </a:rPr>
              <a:t>XYZ Special Interest Group introduces a number of different membership fee discounts based on the membership level and number of past voluntary work of their members (or potential member). For entry level member (new member or the existing members with less than 5 years of membership), no discount is given. For senior members (who has been a member for at least 5 years), 30% discount is given for the annual membership fee. For the members who have registered for more than one year, XYZ gives a discount based on the number of voluntary work in the previous year. 10% discount is given for members with 1 to 3 voluntary work, 20% discount for 4 to 8 voluntary work, and 30% is given for members with more than 8 voluntary work.</a:t>
            </a:r>
            <a:endParaRPr lang="en-US" dirty="0">
              <a:latin typeface="Arial" panose="020B0604020202020204" pitchFamily="34" charset="0"/>
              <a:cs typeface="Arial" panose="020B0604020202020204" pitchFamily="34" charset="0"/>
            </a:endParaRPr>
          </a:p>
          <a:p>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05-Nov-17</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a:t>
            </a:fld>
            <a:endParaRPr lang="en-US"/>
          </a:p>
        </p:txBody>
      </p:sp>
    </p:spTree>
    <p:extLst>
      <p:ext uri="{BB962C8B-B14F-4D97-AF65-F5344CB8AC3E}">
        <p14:creationId xmlns:p14="http://schemas.microsoft.com/office/powerpoint/2010/main" val="123709507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EXERCISE 8.1</a:t>
            </a:r>
            <a:endParaRPr lang="en-US" dirty="0"/>
          </a:p>
        </p:txBody>
      </p:sp>
      <p:sp>
        <p:nvSpPr>
          <p:cNvPr id="3" name="Content Placeholder 2"/>
          <p:cNvSpPr>
            <a:spLocks noGrp="1"/>
          </p:cNvSpPr>
          <p:nvPr>
            <p:ph idx="1"/>
          </p:nvPr>
        </p:nvSpPr>
        <p:spPr/>
        <p:txBody>
          <a:bodyPr>
            <a:normAutofit/>
          </a:bodyPr>
          <a:lstStyle/>
          <a:p>
            <a:pPr marL="0" lvl="1" indent="0" algn="just">
              <a:buNone/>
            </a:pPr>
            <a:r>
              <a:rPr lang="en-US" dirty="0"/>
              <a:t>Based on the following description on the rules to calculate an Annual Fee, draw an Extended Entry Decision Table (EEDT) and write the related source codes that implement the </a:t>
            </a:r>
            <a:r>
              <a:rPr lang="en-US" dirty="0" err="1"/>
              <a:t>calculateAnnualFee</a:t>
            </a:r>
            <a:r>
              <a:rPr lang="en-US" dirty="0"/>
              <a:t>() method. You may use either Java, C#, C, or C++ to write the source codes.	</a:t>
            </a:r>
            <a:endParaRPr lang="en-US" dirty="0" smtClean="0"/>
          </a:p>
          <a:p>
            <a:pPr marL="0" lvl="1" indent="0" algn="just">
              <a:buNone/>
            </a:pPr>
            <a:endParaRPr lang="en-US" sz="2400" dirty="0"/>
          </a:p>
          <a:p>
            <a:pPr marL="457200" indent="0" algn="just">
              <a:buNone/>
            </a:pPr>
            <a:r>
              <a:rPr lang="en-US" sz="1800" dirty="0">
                <a:latin typeface="Arial" panose="020B0604020202020204" pitchFamily="34" charset="0"/>
                <a:cs typeface="Arial" panose="020B0604020202020204" pitchFamily="34" charset="0"/>
              </a:rPr>
              <a:t>XYZ Special Interest Group introduces a number of different membership fee discounts based on the membership level and number of past voluntary work of their members (or potential member). For </a:t>
            </a:r>
            <a:r>
              <a:rPr lang="en-US" sz="1800" dirty="0">
                <a:solidFill>
                  <a:srgbClr val="FF0000"/>
                </a:solidFill>
                <a:latin typeface="Arial" panose="020B0604020202020204" pitchFamily="34" charset="0"/>
                <a:cs typeface="Arial" panose="020B0604020202020204" pitchFamily="34" charset="0"/>
              </a:rPr>
              <a:t>entry level member</a:t>
            </a:r>
            <a:r>
              <a:rPr lang="en-US" sz="1800" dirty="0">
                <a:latin typeface="Arial" panose="020B0604020202020204" pitchFamily="34" charset="0"/>
                <a:cs typeface="Arial" panose="020B0604020202020204" pitchFamily="34" charset="0"/>
              </a:rPr>
              <a:t> (new member or the existing members with </a:t>
            </a:r>
            <a:r>
              <a:rPr lang="en-US" sz="1800" dirty="0">
                <a:solidFill>
                  <a:srgbClr val="FF0000"/>
                </a:solidFill>
                <a:latin typeface="Arial" panose="020B0604020202020204" pitchFamily="34" charset="0"/>
                <a:cs typeface="Arial" panose="020B0604020202020204" pitchFamily="34" charset="0"/>
              </a:rPr>
              <a:t>less than 5 years </a:t>
            </a:r>
            <a:r>
              <a:rPr lang="en-US" sz="1800" dirty="0">
                <a:latin typeface="Arial" panose="020B0604020202020204" pitchFamily="34" charset="0"/>
                <a:cs typeface="Arial" panose="020B0604020202020204" pitchFamily="34" charset="0"/>
              </a:rPr>
              <a:t>of membership), </a:t>
            </a:r>
            <a:r>
              <a:rPr lang="en-US" sz="1800" dirty="0">
                <a:solidFill>
                  <a:srgbClr val="002060"/>
                </a:solidFill>
                <a:latin typeface="Arial" panose="020B0604020202020204" pitchFamily="34" charset="0"/>
                <a:cs typeface="Arial" panose="020B0604020202020204" pitchFamily="34" charset="0"/>
              </a:rPr>
              <a:t>no discount </a:t>
            </a:r>
            <a:r>
              <a:rPr lang="en-US" sz="1800" dirty="0">
                <a:latin typeface="Arial" panose="020B0604020202020204" pitchFamily="34" charset="0"/>
                <a:cs typeface="Arial" panose="020B0604020202020204" pitchFamily="34" charset="0"/>
              </a:rPr>
              <a:t>is given. For </a:t>
            </a:r>
            <a:r>
              <a:rPr lang="en-US" sz="1800" dirty="0">
                <a:solidFill>
                  <a:srgbClr val="FF0000"/>
                </a:solidFill>
                <a:latin typeface="Arial" panose="020B0604020202020204" pitchFamily="34" charset="0"/>
                <a:cs typeface="Arial" panose="020B0604020202020204" pitchFamily="34" charset="0"/>
              </a:rPr>
              <a:t>senior members </a:t>
            </a:r>
            <a:r>
              <a:rPr lang="en-US" sz="1800" dirty="0">
                <a:latin typeface="Arial" panose="020B0604020202020204" pitchFamily="34" charset="0"/>
                <a:cs typeface="Arial" panose="020B0604020202020204" pitchFamily="34" charset="0"/>
              </a:rPr>
              <a:t>(who has been a member for at least 5 years), </a:t>
            </a:r>
            <a:r>
              <a:rPr lang="en-US" sz="1800" dirty="0">
                <a:solidFill>
                  <a:srgbClr val="002060"/>
                </a:solidFill>
                <a:latin typeface="Arial" panose="020B0604020202020204" pitchFamily="34" charset="0"/>
                <a:cs typeface="Arial" panose="020B0604020202020204" pitchFamily="34" charset="0"/>
              </a:rPr>
              <a:t>30% discount </a:t>
            </a:r>
            <a:r>
              <a:rPr lang="en-US" sz="1800" dirty="0">
                <a:latin typeface="Arial" panose="020B0604020202020204" pitchFamily="34" charset="0"/>
                <a:cs typeface="Arial" panose="020B0604020202020204" pitchFamily="34" charset="0"/>
              </a:rPr>
              <a:t>is given for the annual membership fee. For the members who have registered for more than one year, XYZ gives a discount based on the </a:t>
            </a:r>
            <a:r>
              <a:rPr lang="en-US" sz="1800" dirty="0">
                <a:solidFill>
                  <a:srgbClr val="FF0000"/>
                </a:solidFill>
                <a:latin typeface="Arial" panose="020B0604020202020204" pitchFamily="34" charset="0"/>
                <a:cs typeface="Arial" panose="020B0604020202020204" pitchFamily="34" charset="0"/>
              </a:rPr>
              <a:t>number of voluntary work </a:t>
            </a:r>
            <a:r>
              <a:rPr lang="en-US" sz="1800" dirty="0">
                <a:latin typeface="Arial" panose="020B0604020202020204" pitchFamily="34" charset="0"/>
                <a:cs typeface="Arial" panose="020B0604020202020204" pitchFamily="34" charset="0"/>
              </a:rPr>
              <a:t>in the previous year. </a:t>
            </a:r>
            <a:r>
              <a:rPr lang="en-US" sz="1800" dirty="0">
                <a:solidFill>
                  <a:srgbClr val="002060"/>
                </a:solidFill>
                <a:latin typeface="Arial" panose="020B0604020202020204" pitchFamily="34" charset="0"/>
                <a:cs typeface="Arial" panose="020B0604020202020204" pitchFamily="34" charset="0"/>
              </a:rPr>
              <a:t>10% discount </a:t>
            </a:r>
            <a:r>
              <a:rPr lang="en-US" sz="1800" dirty="0">
                <a:latin typeface="Arial" panose="020B0604020202020204" pitchFamily="34" charset="0"/>
                <a:cs typeface="Arial" panose="020B0604020202020204" pitchFamily="34" charset="0"/>
              </a:rPr>
              <a:t>is given for members with </a:t>
            </a:r>
            <a:r>
              <a:rPr lang="en-US" sz="1800" dirty="0">
                <a:solidFill>
                  <a:srgbClr val="FF0000"/>
                </a:solidFill>
                <a:latin typeface="Arial" panose="020B0604020202020204" pitchFamily="34" charset="0"/>
                <a:cs typeface="Arial" panose="020B0604020202020204" pitchFamily="34" charset="0"/>
              </a:rPr>
              <a:t>1 to 3 voluntary </a:t>
            </a:r>
            <a:r>
              <a:rPr lang="en-US" sz="1800" dirty="0">
                <a:latin typeface="Arial" panose="020B0604020202020204" pitchFamily="34" charset="0"/>
                <a:cs typeface="Arial" panose="020B0604020202020204" pitchFamily="34" charset="0"/>
              </a:rPr>
              <a:t>work, </a:t>
            </a:r>
            <a:r>
              <a:rPr lang="en-US" sz="1800" u="sng" dirty="0">
                <a:solidFill>
                  <a:srgbClr val="002060"/>
                </a:solidFill>
                <a:latin typeface="Arial" panose="020B0604020202020204" pitchFamily="34" charset="0"/>
                <a:cs typeface="Arial" panose="020B0604020202020204" pitchFamily="34" charset="0"/>
              </a:rPr>
              <a:t>20%</a:t>
            </a:r>
            <a:r>
              <a:rPr lang="en-US" sz="1800" dirty="0">
                <a:latin typeface="Arial" panose="020B0604020202020204" pitchFamily="34" charset="0"/>
                <a:cs typeface="Arial" panose="020B0604020202020204" pitchFamily="34" charset="0"/>
              </a:rPr>
              <a:t> discount for </a:t>
            </a:r>
            <a:r>
              <a:rPr lang="en-US" sz="1800" dirty="0">
                <a:solidFill>
                  <a:srgbClr val="FF0000"/>
                </a:solidFill>
                <a:latin typeface="Arial" panose="020B0604020202020204" pitchFamily="34" charset="0"/>
                <a:cs typeface="Arial" panose="020B0604020202020204" pitchFamily="34" charset="0"/>
              </a:rPr>
              <a:t>4 to 8 voluntary work</a:t>
            </a:r>
            <a:r>
              <a:rPr lang="en-US" sz="1800" dirty="0">
                <a:latin typeface="Arial" panose="020B0604020202020204" pitchFamily="34" charset="0"/>
                <a:cs typeface="Arial" panose="020B0604020202020204" pitchFamily="34" charset="0"/>
              </a:rPr>
              <a:t>, and </a:t>
            </a:r>
            <a:r>
              <a:rPr lang="en-US" sz="1800" u="sng" dirty="0">
                <a:solidFill>
                  <a:srgbClr val="002060"/>
                </a:solidFill>
                <a:latin typeface="Arial" panose="020B0604020202020204" pitchFamily="34" charset="0"/>
                <a:cs typeface="Arial" panose="020B0604020202020204" pitchFamily="34" charset="0"/>
              </a:rPr>
              <a:t>30%</a:t>
            </a:r>
            <a:r>
              <a:rPr lang="en-US" sz="1800" dirty="0">
                <a:solidFill>
                  <a:srgbClr val="002060"/>
                </a:solidFill>
                <a:latin typeface="Arial" panose="020B0604020202020204" pitchFamily="34" charset="0"/>
                <a:cs typeface="Arial" panose="020B0604020202020204" pitchFamily="34" charset="0"/>
              </a:rPr>
              <a:t> </a:t>
            </a:r>
            <a:r>
              <a:rPr lang="en-US" sz="1800" dirty="0">
                <a:latin typeface="Arial" panose="020B0604020202020204" pitchFamily="34" charset="0"/>
                <a:cs typeface="Arial" panose="020B0604020202020204" pitchFamily="34" charset="0"/>
              </a:rPr>
              <a:t>is given for members with </a:t>
            </a:r>
            <a:r>
              <a:rPr lang="en-US" sz="1800" dirty="0">
                <a:solidFill>
                  <a:srgbClr val="FF0000"/>
                </a:solidFill>
                <a:latin typeface="Arial" panose="020B0604020202020204" pitchFamily="34" charset="0"/>
                <a:cs typeface="Arial" panose="020B0604020202020204" pitchFamily="34" charset="0"/>
              </a:rPr>
              <a:t>more than 8 voluntary work</a:t>
            </a:r>
            <a:r>
              <a:rPr lang="en-US" sz="1800" dirty="0">
                <a:latin typeface="Arial" panose="020B0604020202020204" pitchFamily="34" charset="0"/>
                <a:cs typeface="Arial" panose="020B0604020202020204" pitchFamily="34" charset="0"/>
              </a:rPr>
              <a:t>.</a:t>
            </a:r>
            <a:endParaRPr lang="en-US" dirty="0">
              <a:latin typeface="Arial" panose="020B0604020202020204" pitchFamily="34" charset="0"/>
              <a:cs typeface="Arial" panose="020B0604020202020204" pitchFamily="34" charset="0"/>
            </a:endParaRPr>
          </a:p>
          <a:p>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05-Nov-17</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a:t>
            </a:fld>
            <a:endParaRPr lang="en-US"/>
          </a:p>
        </p:txBody>
      </p:sp>
    </p:spTree>
    <p:extLst>
      <p:ext uri="{BB962C8B-B14F-4D97-AF65-F5344CB8AC3E}">
        <p14:creationId xmlns:p14="http://schemas.microsoft.com/office/powerpoint/2010/main" val="965476889"/>
      </p:ext>
    </p:extLst>
  </p:cSld>
  <p:clrMapOvr>
    <a:masterClrMapping/>
  </p:clrMapOvr>
  <p:timing>
    <p:tnLst>
      <p:par>
        <p:cTn id="1" dur="indefinite" restart="never" nodeType="tmRoot"/>
      </p:par>
    </p:tnLst>
  </p:timing>
</p:sld>
</file>

<file path=ppt/theme/theme1.xml><?xml version="1.0" encoding="utf-8"?>
<a:theme xmlns:a="http://schemas.openxmlformats.org/drawingml/2006/main" name="UVa-Wise-Clean-BW">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UVa-Wise-Clean-BW</Template>
  <TotalTime>13208</TotalTime>
  <Words>150</Words>
  <Application>Microsoft Office PowerPoint</Application>
  <PresentationFormat>On-screen Show (4:3)</PresentationFormat>
  <Paragraphs>19</Paragraphs>
  <Slides>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vt:i4>
      </vt:variant>
    </vt:vector>
  </HeadingPairs>
  <TitlesOfParts>
    <vt:vector size="8" baseType="lpstr">
      <vt:lpstr>Arial</vt:lpstr>
      <vt:lpstr>Calibri</vt:lpstr>
      <vt:lpstr>Times New Roman</vt:lpstr>
      <vt:lpstr>Wingdings</vt:lpstr>
      <vt:lpstr>UVa-Wise-Clean-BW</vt:lpstr>
      <vt:lpstr>Chapter 8: Principles of Construction Design</vt:lpstr>
      <vt:lpstr>EXERCISE 8.1</vt:lpstr>
      <vt:lpstr>EXERCISE 8.1</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Engineering Design: Theory and Practice</dc:title>
  <dc:creator>Carlos E. Otero, Ph.D.</dc:creator>
  <dc:description>This slides may be reproduced only for student use when used in conjunction with Software Engineering Design: Theory and Practice. Any other reproduction or use is prohibited without express written permission of the author.</dc:description>
  <cp:lastModifiedBy>Wan Mohd Nasir Wan Kadir</cp:lastModifiedBy>
  <cp:revision>1170</cp:revision>
  <dcterms:created xsi:type="dcterms:W3CDTF">2006-08-16T00:00:00Z</dcterms:created>
  <dcterms:modified xsi:type="dcterms:W3CDTF">2017-11-05T00:40:00Z</dcterms:modified>
</cp:coreProperties>
</file>