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6858000" cx="9144000"/>
  <p:notesSz cx="7315200" cy="96012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http://customooxmlschemas.google.com/">
      <go:slidesCustomData xmlns:go="http://customooxmlschemas.google.com/" r:id="rId30" roundtripDataSignature="AMtx7mi/idjh3GGhHpbPY8L2i1Vxmqqn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69920" cy="480060"/>
          </a:xfrm>
          <a:prstGeom prst="rect">
            <a:avLst/>
          </a:prstGeom>
          <a:noFill/>
          <a:ln>
            <a:noFill/>
          </a:ln>
        </p:spPr>
        <p:txBody>
          <a:bodyPr anchorCtr="0" anchor="t" bIns="48325" lIns="96650" spcFirstLastPara="1" rIns="96650" wrap="square" tIns="48325">
            <a:noAutofit/>
          </a:bodyPr>
          <a:lstStyle>
            <a:lvl1pPr lvl="0" marR="0" rtl="0" algn="l">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143587" y="0"/>
            <a:ext cx="3169920" cy="480060"/>
          </a:xfrm>
          <a:prstGeom prst="rect">
            <a:avLst/>
          </a:prstGeom>
          <a:noFill/>
          <a:ln>
            <a:noFill/>
          </a:ln>
        </p:spPr>
        <p:txBody>
          <a:bodyPr anchorCtr="0" anchor="t" bIns="48325" lIns="96650" spcFirstLastPara="1" rIns="96650" wrap="square" tIns="48325">
            <a:noAutofit/>
          </a:bodyPr>
          <a:lstStyle>
            <a:lvl1pPr lvl="0" marR="0" rtl="0" algn="r">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19474"/>
            <a:ext cx="3169920" cy="480060"/>
          </a:xfrm>
          <a:prstGeom prst="rect">
            <a:avLst/>
          </a:prstGeom>
          <a:noFill/>
          <a:ln>
            <a:noFill/>
          </a:ln>
        </p:spPr>
        <p:txBody>
          <a:bodyPr anchorCtr="0" anchor="b" bIns="48325" lIns="96650" spcFirstLastPara="1" rIns="96650" wrap="square" tIns="48325">
            <a:noAutofit/>
          </a:bodyPr>
          <a:lstStyle>
            <a:lvl1pPr lvl="0" marR="0" rtl="0" algn="l">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marR="0" rtl="0" algn="r">
              <a:spcBef>
                <a:spcPts val="0"/>
              </a:spcBef>
              <a:spcAft>
                <a:spcPts val="0"/>
              </a:spcAft>
              <a:buNone/>
            </a:pPr>
            <a:fld id="{00000000-1234-1234-1234-123412341234}" type="slidenum">
              <a:rPr b="0" i="0" lang="en-US"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89" name="Google Shape;89;p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98" name="Google Shape;98;p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07" name="Google Shape;107;p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16" name="Google Shape;116;p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25" name="Google Shape;125;p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6: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39" name="Google Shape;139;p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7: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56" name="Google Shape;156;p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8: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65" name="Google Shape;165;p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9: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29" name="Google Shape;229;p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0: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38" name="Google Shape;238;p1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1: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47" name="Google Shape;247;p1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2: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56" name="Google Shape;256;p1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3: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65" name="Google Shape;265;p1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4: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74" name="Google Shape;274;p1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5: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97" name="Google Shape;297;p1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6: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06" name="Google Shape;306;p1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7: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15" name="Google Shape;315;p1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8: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24" name="Google Shape;324;p1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9: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33" name="Google Shape;333;p1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20: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42" name="Google Shape;342;p2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21: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51" name="Google Shape;351;p2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22: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61" name="Google Shape;361;p2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23: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78" name="Google Shape;378;p2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24: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87" name="Google Shape;387;p2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26"/>
          <p:cNvSpPr txBox="1"/>
          <p:nvPr>
            <p:ph type="ctrTitle"/>
          </p:nvPr>
        </p:nvSpPr>
        <p:spPr>
          <a:xfrm>
            <a:off x="0" y="685800"/>
            <a:ext cx="9144000" cy="10668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2400"/>
              <a:buFont typeface="Times New Roman"/>
              <a:buNone/>
              <a:defRPr b="1" sz="2400" cap="sma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6"/>
          <p:cNvSpPr txBox="1"/>
          <p:nvPr>
            <p:ph idx="1" type="subTitle"/>
          </p:nvPr>
        </p:nvSpPr>
        <p:spPr>
          <a:xfrm>
            <a:off x="0" y="1752599"/>
            <a:ext cx="9144000" cy="457200"/>
          </a:xfrm>
          <a:prstGeom prst="rect">
            <a:avLst/>
          </a:prstGeom>
          <a:noFill/>
          <a:ln>
            <a:noFill/>
          </a:ln>
        </p:spPr>
        <p:txBody>
          <a:bodyPr anchorCtr="0" anchor="t" bIns="45700" lIns="91425" spcFirstLastPara="1" rIns="91425" wrap="square" tIns="45700">
            <a:normAutofit/>
          </a:bodyPr>
          <a:lstStyle>
            <a:lvl1pPr lvl="0" algn="ctr">
              <a:spcBef>
                <a:spcPts val="0"/>
              </a:spcBef>
              <a:spcAft>
                <a:spcPts val="0"/>
              </a:spcAft>
              <a:buClr>
                <a:srgbClr val="000000"/>
              </a:buClr>
              <a:buSzPts val="2000"/>
              <a:buNone/>
              <a:defRPr sz="2000" cap="small">
                <a:solidFill>
                  <a:srgbClr val="000000"/>
                </a:solidFill>
                <a:latin typeface="Times New Roman"/>
                <a:ea typeface="Times New Roman"/>
                <a:cs typeface="Times New Roman"/>
                <a:sym typeface="Times New Roman"/>
              </a:defRPr>
            </a:lvl1pPr>
            <a:lvl2pPr lvl="1" algn="ctr">
              <a:spcBef>
                <a:spcPts val="400"/>
              </a:spcBef>
              <a:spcAft>
                <a:spcPts val="0"/>
              </a:spcAft>
              <a:buClr>
                <a:srgbClr val="888888"/>
              </a:buClr>
              <a:buSzPts val="2000"/>
              <a:buNone/>
              <a:defRPr>
                <a:solidFill>
                  <a:srgbClr val="888888"/>
                </a:solidFill>
              </a:defRPr>
            </a:lvl2pPr>
            <a:lvl3pPr lvl="2" algn="ctr">
              <a:spcBef>
                <a:spcPts val="360"/>
              </a:spcBef>
              <a:spcAft>
                <a:spcPts val="0"/>
              </a:spcAft>
              <a:buClr>
                <a:srgbClr val="888888"/>
              </a:buClr>
              <a:buSzPts val="18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280"/>
              </a:spcBef>
              <a:spcAft>
                <a:spcPts val="0"/>
              </a:spcAft>
              <a:buClr>
                <a:srgbClr val="888888"/>
              </a:buClr>
              <a:buSzPts val="14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9" name="Google Shape;19;p26"/>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1000">
                <a:solidFill>
                  <a:srgbClr val="000000"/>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6"/>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sz="1000">
                <a:solidFill>
                  <a:srgbClr val="333333"/>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6"/>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b="0" i="1" sz="1000" u="none" cap="none" strike="noStrike">
                <a:solidFill>
                  <a:srgbClr val="000000"/>
                </a:solidFill>
                <a:latin typeface="Times New Roman"/>
                <a:ea typeface="Times New Roman"/>
                <a:cs typeface="Times New Roman"/>
                <a:sym typeface="Times New Roman"/>
              </a:defRPr>
            </a:lvl1pPr>
            <a:lvl2pPr indent="0" lvl="1" marL="0" algn="r">
              <a:spcBef>
                <a:spcPts val="0"/>
              </a:spcBef>
              <a:buNone/>
              <a:defRPr b="0" i="1" sz="1000" u="none" cap="none" strike="noStrike">
                <a:solidFill>
                  <a:srgbClr val="000000"/>
                </a:solidFill>
                <a:latin typeface="Times New Roman"/>
                <a:ea typeface="Times New Roman"/>
                <a:cs typeface="Times New Roman"/>
                <a:sym typeface="Times New Roman"/>
              </a:defRPr>
            </a:lvl2pPr>
            <a:lvl3pPr indent="0" lvl="2" marL="0" algn="r">
              <a:spcBef>
                <a:spcPts val="0"/>
              </a:spcBef>
              <a:buNone/>
              <a:defRPr b="0" i="1" sz="1000" u="none" cap="none" strike="noStrike">
                <a:solidFill>
                  <a:srgbClr val="000000"/>
                </a:solidFill>
                <a:latin typeface="Times New Roman"/>
                <a:ea typeface="Times New Roman"/>
                <a:cs typeface="Times New Roman"/>
                <a:sym typeface="Times New Roman"/>
              </a:defRPr>
            </a:lvl3pPr>
            <a:lvl4pPr indent="0" lvl="3" marL="0" algn="r">
              <a:spcBef>
                <a:spcPts val="0"/>
              </a:spcBef>
              <a:buNone/>
              <a:defRPr b="0" i="1" sz="1000" u="none" cap="none" strike="noStrike">
                <a:solidFill>
                  <a:srgbClr val="000000"/>
                </a:solidFill>
                <a:latin typeface="Times New Roman"/>
                <a:ea typeface="Times New Roman"/>
                <a:cs typeface="Times New Roman"/>
                <a:sym typeface="Times New Roman"/>
              </a:defRPr>
            </a:lvl4pPr>
            <a:lvl5pPr indent="0" lvl="4" marL="0" algn="r">
              <a:spcBef>
                <a:spcPts val="0"/>
              </a:spcBef>
              <a:buNone/>
              <a:defRPr b="0" i="1" sz="1000" u="none" cap="none" strike="noStrike">
                <a:solidFill>
                  <a:srgbClr val="000000"/>
                </a:solidFill>
                <a:latin typeface="Times New Roman"/>
                <a:ea typeface="Times New Roman"/>
                <a:cs typeface="Times New Roman"/>
                <a:sym typeface="Times New Roman"/>
              </a:defRPr>
            </a:lvl5pPr>
            <a:lvl6pPr indent="0" lvl="5" marL="0" algn="r">
              <a:spcBef>
                <a:spcPts val="0"/>
              </a:spcBef>
              <a:buNone/>
              <a:defRPr b="0" i="1" sz="1000" u="none" cap="none" strike="noStrike">
                <a:solidFill>
                  <a:srgbClr val="000000"/>
                </a:solidFill>
                <a:latin typeface="Times New Roman"/>
                <a:ea typeface="Times New Roman"/>
                <a:cs typeface="Times New Roman"/>
                <a:sym typeface="Times New Roman"/>
              </a:defRPr>
            </a:lvl6pPr>
            <a:lvl7pPr indent="0" lvl="6" marL="0" algn="r">
              <a:spcBef>
                <a:spcPts val="0"/>
              </a:spcBef>
              <a:buNone/>
              <a:defRPr b="0" i="1" sz="1000" u="none" cap="none" strike="noStrike">
                <a:solidFill>
                  <a:srgbClr val="000000"/>
                </a:solidFill>
                <a:latin typeface="Times New Roman"/>
                <a:ea typeface="Times New Roman"/>
                <a:cs typeface="Times New Roman"/>
                <a:sym typeface="Times New Roman"/>
              </a:defRPr>
            </a:lvl7pPr>
            <a:lvl8pPr indent="0" lvl="7" marL="0" algn="r">
              <a:spcBef>
                <a:spcPts val="0"/>
              </a:spcBef>
              <a:buNone/>
              <a:defRPr b="0" i="1" sz="1000" u="none" cap="none" strike="noStrike">
                <a:solidFill>
                  <a:srgbClr val="000000"/>
                </a:solidFill>
                <a:latin typeface="Times New Roman"/>
                <a:ea typeface="Times New Roman"/>
                <a:cs typeface="Times New Roman"/>
                <a:sym typeface="Times New Roman"/>
              </a:defRPr>
            </a:lvl8pPr>
            <a:lvl9pPr indent="0" lvl="8" marL="0" algn="r">
              <a:spcBef>
                <a:spcPts val="0"/>
              </a:spcBef>
              <a:buNone/>
              <a:defRPr b="0" i="1" sz="10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
        <p:nvSpPr>
          <p:cNvPr id="22" name="Google Shape;22;p26"/>
          <p:cNvSpPr txBox="1"/>
          <p:nvPr/>
        </p:nvSpPr>
        <p:spPr>
          <a:xfrm>
            <a:off x="1676400" y="2713434"/>
            <a:ext cx="6477000" cy="280076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2000" u="none" cap="none" strike="noStrike">
                <a:solidFill>
                  <a:srgbClr val="C00000"/>
                </a:solidFill>
                <a:latin typeface="Times New Roman"/>
                <a:ea typeface="Times New Roman"/>
                <a:cs typeface="Times New Roman"/>
                <a:sym typeface="Times New Roman"/>
              </a:rPr>
              <a:t>Software Engineering Design: Theory and Practice</a:t>
            </a:r>
            <a:r>
              <a:rPr b="0" i="1" lang="en-US" sz="1800" u="none" cap="none" strike="noStrike">
                <a:solidFill>
                  <a:srgbClr val="C00000"/>
                </a:solidFill>
                <a:latin typeface="Times New Roman"/>
                <a:ea typeface="Times New Roman"/>
                <a:cs typeface="Times New Roman"/>
                <a:sym typeface="Times New Roman"/>
              </a:rPr>
              <a:t> </a:t>
            </a:r>
            <a:endParaRPr i="1" sz="1800">
              <a:solidFill>
                <a:srgbClr val="C00000"/>
              </a:solidFill>
              <a:latin typeface="Times New Roman"/>
              <a:ea typeface="Times New Roman"/>
              <a:cs typeface="Times New Roman"/>
              <a:sym typeface="Times New Roman"/>
            </a:endParaRPr>
          </a:p>
          <a:p>
            <a:pPr indent="0" lvl="0" marL="0" marR="0" rtl="0" algn="l">
              <a:spcBef>
                <a:spcPts val="0"/>
              </a:spcBef>
              <a:spcAft>
                <a:spcPts val="0"/>
              </a:spcAft>
              <a:buNone/>
            </a:pPr>
            <a:r>
              <a:rPr b="0" lang="en-US" sz="1600">
                <a:solidFill>
                  <a:schemeClr val="dk1"/>
                </a:solidFill>
                <a:latin typeface="Times New Roman"/>
                <a:ea typeface="Times New Roman"/>
                <a:cs typeface="Times New Roman"/>
                <a:sym typeface="Times New Roman"/>
              </a:rPr>
              <a:t>by Carlos</a:t>
            </a:r>
            <a:r>
              <a:rPr b="0" lang="en-US" sz="1600">
                <a:solidFill>
                  <a:schemeClr val="dk1"/>
                </a:solidFill>
                <a:latin typeface="Times New Roman"/>
                <a:ea typeface="Times New Roman"/>
                <a:cs typeface="Times New Roman"/>
                <a:sym typeface="Times New Roman"/>
              </a:rPr>
              <a:t> E. Otero</a:t>
            </a:r>
            <a:endParaRPr b="0" sz="12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sz="12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200">
                <a:solidFill>
                  <a:schemeClr val="dk1"/>
                </a:solidFill>
                <a:latin typeface="Times New Roman"/>
                <a:ea typeface="Times New Roman"/>
                <a:cs typeface="Times New Roman"/>
                <a:sym typeface="Times New Roman"/>
              </a:rPr>
              <a:t>Slides copyright © 2012</a:t>
            </a:r>
            <a:r>
              <a:rPr lang="en-US" sz="1800">
                <a:solidFill>
                  <a:schemeClr val="dk1"/>
                </a:solidFill>
                <a:latin typeface="Times New Roman"/>
                <a:ea typeface="Times New Roman"/>
                <a:cs typeface="Times New Roman"/>
                <a:sym typeface="Times New Roman"/>
              </a:rPr>
              <a:t> </a:t>
            </a:r>
            <a:r>
              <a:rPr b="1" lang="en-US" sz="1200">
                <a:solidFill>
                  <a:schemeClr val="dk1"/>
                </a:solidFill>
                <a:latin typeface="Times New Roman"/>
                <a:ea typeface="Times New Roman"/>
                <a:cs typeface="Times New Roman"/>
                <a:sym typeface="Times New Roman"/>
              </a:rPr>
              <a:t>by Carlos E. Otero</a:t>
            </a:r>
            <a:endParaRPr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i="1" sz="1800">
              <a:solidFill>
                <a:schemeClr val="dk2"/>
              </a:solidFill>
              <a:latin typeface="Times New Roman"/>
              <a:ea typeface="Times New Roman"/>
              <a:cs typeface="Times New Roman"/>
              <a:sym typeface="Times New Roman"/>
            </a:endParaRPr>
          </a:p>
          <a:p>
            <a:pPr indent="0" lvl="0" marL="0" marR="0" rtl="0" algn="l">
              <a:spcBef>
                <a:spcPts val="0"/>
              </a:spcBef>
              <a:spcAft>
                <a:spcPts val="0"/>
              </a:spcAft>
              <a:buNone/>
            </a:pPr>
            <a:r>
              <a:rPr b="1" i="1" lang="en-US" sz="1800">
                <a:solidFill>
                  <a:srgbClr val="C00000"/>
                </a:solidFill>
                <a:latin typeface="Times New Roman"/>
                <a:ea typeface="Times New Roman"/>
                <a:cs typeface="Times New Roman"/>
                <a:sym typeface="Times New Roman"/>
              </a:rPr>
              <a:t>For non-profit educational use only</a:t>
            </a:r>
            <a:endParaRPr b="1" sz="1800">
              <a:solidFill>
                <a:srgbClr val="C0000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May be reproduced only for student use when used in conjunction with </a:t>
            </a:r>
            <a:r>
              <a:rPr i="1" lang="en-US" sz="1200">
                <a:solidFill>
                  <a:schemeClr val="dk1"/>
                </a:solidFill>
                <a:latin typeface="Times New Roman"/>
                <a:ea typeface="Times New Roman"/>
                <a:cs typeface="Times New Roman"/>
                <a:sym typeface="Times New Roman"/>
              </a:rPr>
              <a:t>Software Engineering Design: Theory and Practice. </a:t>
            </a:r>
            <a:r>
              <a:rPr lang="en-US" sz="1200">
                <a:solidFill>
                  <a:schemeClr val="dk1"/>
                </a:solidFill>
                <a:latin typeface="Times New Roman"/>
                <a:ea typeface="Times New Roman"/>
                <a:cs typeface="Times New Roman"/>
                <a:sym typeface="Times New Roman"/>
              </a:rPr>
              <a:t>Any other reproduction or use is prohibited without the express written permission of the author.</a:t>
            </a:r>
            <a:endParaRPr/>
          </a:p>
          <a:p>
            <a:pPr indent="0" lvl="0" marL="0" marR="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All copyright information must appear if these slides are posted on a website for student use.</a:t>
            </a:r>
            <a:endParaRPr/>
          </a:p>
        </p:txBody>
      </p:sp>
      <p:pic>
        <p:nvPicPr>
          <p:cNvPr id="23" name="Google Shape;23;p26"/>
          <p:cNvPicPr preferRelativeResize="0"/>
          <p:nvPr/>
        </p:nvPicPr>
        <p:blipFill rotWithShape="1">
          <a:blip r:embed="rId2">
            <a:alphaModFix/>
          </a:blip>
          <a:srcRect b="0" l="0" r="0" t="0"/>
          <a:stretch/>
        </p:blipFill>
        <p:spPr>
          <a:xfrm>
            <a:off x="7162800" y="3200400"/>
            <a:ext cx="762000" cy="110246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27"/>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27"/>
          <p:cNvSpPr txBox="1"/>
          <p:nvPr>
            <p:ph idx="1" type="body"/>
          </p:nvPr>
        </p:nvSpPr>
        <p:spPr>
          <a:xfrm>
            <a:off x="457200" y="1371601"/>
            <a:ext cx="8229600" cy="4800599"/>
          </a:xfrm>
          <a:prstGeom prst="rect">
            <a:avLst/>
          </a:prstGeom>
          <a:noFill/>
          <a:ln>
            <a:noFill/>
          </a:ln>
        </p:spPr>
        <p:txBody>
          <a:bodyPr anchorCtr="0" anchor="t" bIns="45700" lIns="91425" spcFirstLastPara="1" rIns="91425" wrap="square" tIns="45700">
            <a:normAutofit/>
          </a:bodyPr>
          <a:lstStyle>
            <a:lvl1pPr indent="-355600" lvl="0" marL="457200" algn="l">
              <a:spcBef>
                <a:spcPts val="400"/>
              </a:spcBef>
              <a:spcAft>
                <a:spcPts val="0"/>
              </a:spcAft>
              <a:buClr>
                <a:schemeClr val="dk1"/>
              </a:buClr>
              <a:buSzPts val="2000"/>
              <a:buFont typeface="Noto Sans Symbols"/>
              <a:buChar char="⮚"/>
              <a:defRPr sz="2000"/>
            </a:lvl1pPr>
            <a:lvl2pPr indent="-342900" lvl="1" marL="914400" algn="l">
              <a:spcBef>
                <a:spcPts val="360"/>
              </a:spcBef>
              <a:spcAft>
                <a:spcPts val="0"/>
              </a:spcAft>
              <a:buClr>
                <a:schemeClr val="dk1"/>
              </a:buClr>
              <a:buSzPts val="1800"/>
              <a:buFont typeface="Noto Sans Symbols"/>
              <a:buChar char="✔"/>
              <a:defRPr sz="1800"/>
            </a:lvl2pPr>
            <a:lvl3pPr indent="-330200" lvl="2" marL="1371600" algn="l">
              <a:spcBef>
                <a:spcPts val="320"/>
              </a:spcBef>
              <a:spcAft>
                <a:spcPts val="0"/>
              </a:spcAft>
              <a:buClr>
                <a:schemeClr val="dk1"/>
              </a:buClr>
              <a:buSzPts val="1600"/>
              <a:buFont typeface="Noto Sans Symbols"/>
              <a:buChar char="▪"/>
              <a:defRPr sz="1600"/>
            </a:lvl3pPr>
            <a:lvl4pPr indent="-317500" lvl="3" marL="1828800" algn="l">
              <a:spcBef>
                <a:spcPts val="280"/>
              </a:spcBef>
              <a:spcAft>
                <a:spcPts val="0"/>
              </a:spcAft>
              <a:buClr>
                <a:schemeClr val="dk1"/>
              </a:buClr>
              <a:buSzPts val="1400"/>
              <a:buChar char="–"/>
              <a:defRPr sz="1400"/>
            </a:lvl4pPr>
            <a:lvl5pPr indent="-304800" lvl="4" marL="2286000" algn="l">
              <a:spcBef>
                <a:spcPts val="240"/>
              </a:spcBef>
              <a:spcAft>
                <a:spcPts val="0"/>
              </a:spcAft>
              <a:buClr>
                <a:schemeClr val="dk1"/>
              </a:buClr>
              <a:buSzPts val="1200"/>
              <a:buChar char="»"/>
              <a:defRPr sz="12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7" name="Google Shape;27;p27"/>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i="1" sz="1000">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7"/>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sz="1000">
                <a:solidFill>
                  <a:srgbClr val="000000"/>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7"/>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i="1" sz="1000">
                <a:solidFill>
                  <a:srgbClr val="333333"/>
                </a:solidFill>
                <a:latin typeface="Times New Roman"/>
                <a:ea typeface="Times New Roman"/>
                <a:cs typeface="Times New Roman"/>
                <a:sym typeface="Times New Roman"/>
              </a:defRPr>
            </a:lvl1pPr>
            <a:lvl2pPr indent="0" lvl="1" marL="0" algn="r">
              <a:spcBef>
                <a:spcPts val="0"/>
              </a:spcBef>
              <a:buNone/>
              <a:defRPr i="1" sz="1000">
                <a:solidFill>
                  <a:srgbClr val="333333"/>
                </a:solidFill>
                <a:latin typeface="Times New Roman"/>
                <a:ea typeface="Times New Roman"/>
                <a:cs typeface="Times New Roman"/>
                <a:sym typeface="Times New Roman"/>
              </a:defRPr>
            </a:lvl2pPr>
            <a:lvl3pPr indent="0" lvl="2" marL="0" algn="r">
              <a:spcBef>
                <a:spcPts val="0"/>
              </a:spcBef>
              <a:buNone/>
              <a:defRPr i="1" sz="1000">
                <a:solidFill>
                  <a:srgbClr val="333333"/>
                </a:solidFill>
                <a:latin typeface="Times New Roman"/>
                <a:ea typeface="Times New Roman"/>
                <a:cs typeface="Times New Roman"/>
                <a:sym typeface="Times New Roman"/>
              </a:defRPr>
            </a:lvl3pPr>
            <a:lvl4pPr indent="0" lvl="3" marL="0" algn="r">
              <a:spcBef>
                <a:spcPts val="0"/>
              </a:spcBef>
              <a:buNone/>
              <a:defRPr i="1" sz="1000">
                <a:solidFill>
                  <a:srgbClr val="333333"/>
                </a:solidFill>
                <a:latin typeface="Times New Roman"/>
                <a:ea typeface="Times New Roman"/>
                <a:cs typeface="Times New Roman"/>
                <a:sym typeface="Times New Roman"/>
              </a:defRPr>
            </a:lvl4pPr>
            <a:lvl5pPr indent="0" lvl="4" marL="0" algn="r">
              <a:spcBef>
                <a:spcPts val="0"/>
              </a:spcBef>
              <a:buNone/>
              <a:defRPr i="1" sz="1000">
                <a:solidFill>
                  <a:srgbClr val="333333"/>
                </a:solidFill>
                <a:latin typeface="Times New Roman"/>
                <a:ea typeface="Times New Roman"/>
                <a:cs typeface="Times New Roman"/>
                <a:sym typeface="Times New Roman"/>
              </a:defRPr>
            </a:lvl5pPr>
            <a:lvl6pPr indent="0" lvl="5" marL="0" algn="r">
              <a:spcBef>
                <a:spcPts val="0"/>
              </a:spcBef>
              <a:buNone/>
              <a:defRPr i="1" sz="1000">
                <a:solidFill>
                  <a:srgbClr val="333333"/>
                </a:solidFill>
                <a:latin typeface="Times New Roman"/>
                <a:ea typeface="Times New Roman"/>
                <a:cs typeface="Times New Roman"/>
                <a:sym typeface="Times New Roman"/>
              </a:defRPr>
            </a:lvl6pPr>
            <a:lvl7pPr indent="0" lvl="6" marL="0" algn="r">
              <a:spcBef>
                <a:spcPts val="0"/>
              </a:spcBef>
              <a:buNone/>
              <a:defRPr i="1" sz="1000">
                <a:solidFill>
                  <a:srgbClr val="333333"/>
                </a:solidFill>
                <a:latin typeface="Times New Roman"/>
                <a:ea typeface="Times New Roman"/>
                <a:cs typeface="Times New Roman"/>
                <a:sym typeface="Times New Roman"/>
              </a:defRPr>
            </a:lvl7pPr>
            <a:lvl8pPr indent="0" lvl="7" marL="0" algn="r">
              <a:spcBef>
                <a:spcPts val="0"/>
              </a:spcBef>
              <a:buNone/>
              <a:defRPr i="1" sz="1000">
                <a:solidFill>
                  <a:srgbClr val="333333"/>
                </a:solidFill>
                <a:latin typeface="Times New Roman"/>
                <a:ea typeface="Times New Roman"/>
                <a:cs typeface="Times New Roman"/>
                <a:sym typeface="Times New Roman"/>
              </a:defRPr>
            </a:lvl8pPr>
            <a:lvl9pPr indent="0" lvl="8" marL="0" algn="r">
              <a:spcBef>
                <a:spcPts val="0"/>
              </a:spcBef>
              <a:buNone/>
              <a:defRPr i="1" sz="1000">
                <a:solidFill>
                  <a:srgbClr val="333333"/>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 name="Shape 30"/>
        <p:cNvGrpSpPr/>
        <p:nvPr/>
      </p:nvGrpSpPr>
      <p:grpSpPr>
        <a:xfrm>
          <a:off x="0" y="0"/>
          <a:ext cx="0" cy="0"/>
          <a:chOff x="0" y="0"/>
          <a:chExt cx="0" cy="0"/>
        </a:xfrm>
      </p:grpSpPr>
      <p:sp>
        <p:nvSpPr>
          <p:cNvPr id="31" name="Google Shape;31;p2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Times New Roman"/>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2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3" name="Google Shape;33;p28"/>
          <p:cNvSpPr txBox="1"/>
          <p:nvPr>
            <p:ph idx="10" type="dt"/>
          </p:nvPr>
        </p:nvSpPr>
        <p:spPr>
          <a:xfrm>
            <a:off x="457200" y="6562078"/>
            <a:ext cx="990600" cy="304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8"/>
          <p:cNvSpPr txBox="1"/>
          <p:nvPr>
            <p:ph idx="11" type="ftr"/>
          </p:nvPr>
        </p:nvSpPr>
        <p:spPr>
          <a:xfrm>
            <a:off x="1447800" y="6562078"/>
            <a:ext cx="6096000" cy="3048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8"/>
          <p:cNvSpPr txBox="1"/>
          <p:nvPr>
            <p:ph idx="12" type="sldNum"/>
          </p:nvPr>
        </p:nvSpPr>
        <p:spPr>
          <a:xfrm>
            <a:off x="7543800" y="6562078"/>
            <a:ext cx="11430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6" name="Shape 36"/>
        <p:cNvGrpSpPr/>
        <p:nvPr/>
      </p:nvGrpSpPr>
      <p:grpSpPr>
        <a:xfrm>
          <a:off x="0" y="0"/>
          <a:ext cx="0" cy="0"/>
          <a:chOff x="0" y="0"/>
          <a:chExt cx="0" cy="0"/>
        </a:xfrm>
      </p:grpSpPr>
      <p:sp>
        <p:nvSpPr>
          <p:cNvPr id="37" name="Google Shape;37;p29"/>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9" name="Google Shape;39;p2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17500" lvl="4" marL="2286000" algn="l">
              <a:spcBef>
                <a:spcPts val="280"/>
              </a:spcBef>
              <a:spcAft>
                <a:spcPts val="0"/>
              </a:spcAft>
              <a:buClr>
                <a:schemeClr val="dk1"/>
              </a:buClr>
              <a:buSzPts val="1400"/>
              <a:buChar char="»"/>
              <a:defRPr sz="14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29"/>
          <p:cNvSpPr txBox="1"/>
          <p:nvPr>
            <p:ph idx="10" type="dt"/>
          </p:nvPr>
        </p:nvSpPr>
        <p:spPr>
          <a:xfrm>
            <a:off x="457200" y="6553200"/>
            <a:ext cx="2133600" cy="304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9"/>
          <p:cNvSpPr txBox="1"/>
          <p:nvPr>
            <p:ph idx="11" type="ftr"/>
          </p:nvPr>
        </p:nvSpPr>
        <p:spPr>
          <a:xfrm>
            <a:off x="3200400" y="6553200"/>
            <a:ext cx="2895600" cy="3048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9"/>
          <p:cNvSpPr txBox="1"/>
          <p:nvPr>
            <p:ph idx="12" type="sldNum"/>
          </p:nvPr>
        </p:nvSpPr>
        <p:spPr>
          <a:xfrm>
            <a:off x="6553200" y="6553200"/>
            <a:ext cx="21336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3" name="Shape 43"/>
        <p:cNvGrpSpPr/>
        <p:nvPr/>
      </p:nvGrpSpPr>
      <p:grpSpPr>
        <a:xfrm>
          <a:off x="0" y="0"/>
          <a:ext cx="0" cy="0"/>
          <a:chOff x="0" y="0"/>
          <a:chExt cx="0" cy="0"/>
        </a:xfrm>
      </p:grpSpPr>
      <p:sp>
        <p:nvSpPr>
          <p:cNvPr id="44" name="Google Shape;44;p30"/>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2400"/>
              <a:buFont typeface="Times New Roman"/>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3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6" name="Google Shape;46;p3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7" name="Google Shape;47;p3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8" name="Google Shape;48;p3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9" name="Google Shape;49;p30"/>
          <p:cNvSpPr txBox="1"/>
          <p:nvPr>
            <p:ph idx="10" type="dt"/>
          </p:nvPr>
        </p:nvSpPr>
        <p:spPr>
          <a:xfrm>
            <a:off x="457200" y="6553200"/>
            <a:ext cx="2133600" cy="304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30"/>
          <p:cNvSpPr txBox="1"/>
          <p:nvPr>
            <p:ph idx="11" type="ftr"/>
          </p:nvPr>
        </p:nvSpPr>
        <p:spPr>
          <a:xfrm>
            <a:off x="3124200" y="6553200"/>
            <a:ext cx="2895600" cy="3048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30"/>
          <p:cNvSpPr txBox="1"/>
          <p:nvPr>
            <p:ph idx="12" type="sldNum"/>
          </p:nvPr>
        </p:nvSpPr>
        <p:spPr>
          <a:xfrm>
            <a:off x="6553200" y="6553200"/>
            <a:ext cx="21336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2" name="Shape 52"/>
        <p:cNvGrpSpPr/>
        <p:nvPr/>
      </p:nvGrpSpPr>
      <p:grpSpPr>
        <a:xfrm>
          <a:off x="0" y="0"/>
          <a:ext cx="0" cy="0"/>
          <a:chOff x="0" y="0"/>
          <a:chExt cx="0" cy="0"/>
        </a:xfrm>
      </p:grpSpPr>
      <p:sp>
        <p:nvSpPr>
          <p:cNvPr id="53" name="Google Shape;53;p31"/>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31"/>
          <p:cNvSpPr txBox="1"/>
          <p:nvPr>
            <p:ph idx="10" type="dt"/>
          </p:nvPr>
        </p:nvSpPr>
        <p:spPr>
          <a:xfrm>
            <a:off x="457200" y="6553200"/>
            <a:ext cx="2133600" cy="304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31"/>
          <p:cNvSpPr txBox="1"/>
          <p:nvPr>
            <p:ph idx="11" type="ftr"/>
          </p:nvPr>
        </p:nvSpPr>
        <p:spPr>
          <a:xfrm>
            <a:off x="3048000" y="6553200"/>
            <a:ext cx="2895600" cy="3048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1"/>
          <p:cNvSpPr txBox="1"/>
          <p:nvPr>
            <p:ph idx="12" type="sldNum"/>
          </p:nvPr>
        </p:nvSpPr>
        <p:spPr>
          <a:xfrm>
            <a:off x="6553200" y="6553200"/>
            <a:ext cx="21336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32"/>
          <p:cNvSpPr txBox="1"/>
          <p:nvPr>
            <p:ph idx="10" type="dt"/>
          </p:nvPr>
        </p:nvSpPr>
        <p:spPr>
          <a:xfrm>
            <a:off x="457200" y="6553200"/>
            <a:ext cx="2133600" cy="304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2"/>
          <p:cNvSpPr txBox="1"/>
          <p:nvPr>
            <p:ph idx="11" type="ftr"/>
          </p:nvPr>
        </p:nvSpPr>
        <p:spPr>
          <a:xfrm>
            <a:off x="3124200" y="6553200"/>
            <a:ext cx="2895600" cy="3048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2"/>
          <p:cNvSpPr txBox="1"/>
          <p:nvPr>
            <p:ph idx="12" type="sldNum"/>
          </p:nvPr>
        </p:nvSpPr>
        <p:spPr>
          <a:xfrm>
            <a:off x="6553200" y="6553200"/>
            <a:ext cx="21336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1" name="Shape 61"/>
        <p:cNvGrpSpPr/>
        <p:nvPr/>
      </p:nvGrpSpPr>
      <p:grpSpPr>
        <a:xfrm>
          <a:off x="0" y="0"/>
          <a:ext cx="0" cy="0"/>
          <a:chOff x="0" y="0"/>
          <a:chExt cx="0" cy="0"/>
        </a:xfrm>
      </p:grpSpPr>
      <p:sp>
        <p:nvSpPr>
          <p:cNvPr id="62" name="Google Shape;62;p3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Times New Roman"/>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4" name="Google Shape;64;p3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3"/>
          <p:cNvSpPr txBox="1"/>
          <p:nvPr>
            <p:ph idx="10" type="dt"/>
          </p:nvPr>
        </p:nvSpPr>
        <p:spPr>
          <a:xfrm>
            <a:off x="457200" y="6553200"/>
            <a:ext cx="2133600" cy="304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3"/>
          <p:cNvSpPr txBox="1"/>
          <p:nvPr>
            <p:ph idx="11" type="ftr"/>
          </p:nvPr>
        </p:nvSpPr>
        <p:spPr>
          <a:xfrm>
            <a:off x="3048000" y="6553200"/>
            <a:ext cx="2895600" cy="3048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3"/>
          <p:cNvSpPr txBox="1"/>
          <p:nvPr>
            <p:ph idx="12" type="sldNum"/>
          </p:nvPr>
        </p:nvSpPr>
        <p:spPr>
          <a:xfrm>
            <a:off x="6553200" y="6553200"/>
            <a:ext cx="21336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8" name="Shape 68"/>
        <p:cNvGrpSpPr/>
        <p:nvPr/>
      </p:nvGrpSpPr>
      <p:grpSpPr>
        <a:xfrm>
          <a:off x="0" y="0"/>
          <a:ext cx="0" cy="0"/>
          <a:chOff x="0" y="0"/>
          <a:chExt cx="0" cy="0"/>
        </a:xfrm>
      </p:grpSpPr>
      <p:sp>
        <p:nvSpPr>
          <p:cNvPr id="69" name="Google Shape;69;p3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Times New Roman"/>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4"/>
          <p:cNvSpPr/>
          <p:nvPr>
            <p:ph idx="2" type="pic"/>
          </p:nvPr>
        </p:nvSpPr>
        <p:spPr>
          <a:xfrm>
            <a:off x="1792288" y="612775"/>
            <a:ext cx="5486400" cy="4114800"/>
          </a:xfrm>
          <a:prstGeom prst="rect">
            <a:avLst/>
          </a:prstGeom>
          <a:noFill/>
          <a:ln>
            <a:noFill/>
          </a:ln>
        </p:spPr>
        <p:txBody>
          <a:bodyPr anchorCtr="0" anchor="t" bIns="45700" lIns="91425" spcFirstLastPara="1" rIns="91425" wrap="square" tIns="45700">
            <a:normAutofit/>
          </a:bodyPr>
          <a:lstStyle>
            <a:lvl1pPr lvl="0" marR="0" rtl="0" algn="l">
              <a:spcBef>
                <a:spcPts val="640"/>
              </a:spcBef>
              <a:spcAft>
                <a:spcPts val="0"/>
              </a:spcAft>
              <a:buClr>
                <a:schemeClr val="dk1"/>
              </a:buClr>
              <a:buSzPts val="3200"/>
              <a:buFont typeface="Arial"/>
              <a:buNone/>
              <a:defRPr b="0" i="0" sz="3200" u="none" cap="none" strike="noStrike">
                <a:solidFill>
                  <a:schemeClr val="dk1"/>
                </a:solidFill>
                <a:latin typeface="Times New Roman"/>
                <a:ea typeface="Times New Roman"/>
                <a:cs typeface="Times New Roman"/>
                <a:sym typeface="Times New Roman"/>
              </a:defRPr>
            </a:lvl1pPr>
            <a:lvl2pPr lvl="1" marR="0" rtl="0" algn="l">
              <a:spcBef>
                <a:spcPts val="560"/>
              </a:spcBef>
              <a:spcAft>
                <a:spcPts val="0"/>
              </a:spcAft>
              <a:buClr>
                <a:schemeClr val="dk1"/>
              </a:buClr>
              <a:buSzPts val="2800"/>
              <a:buFont typeface="Arial"/>
              <a:buNone/>
              <a:defRPr b="0" i="0" sz="2800" u="none" cap="none" strike="noStrike">
                <a:solidFill>
                  <a:schemeClr val="dk1"/>
                </a:solidFill>
                <a:latin typeface="Times New Roman"/>
                <a:ea typeface="Times New Roman"/>
                <a:cs typeface="Times New Roman"/>
                <a:sym typeface="Times New Roman"/>
              </a:defRPr>
            </a:lvl2pPr>
            <a:lvl3pPr lvl="2" marR="0" rtl="0" algn="l">
              <a:spcBef>
                <a:spcPts val="480"/>
              </a:spcBef>
              <a:spcAft>
                <a:spcPts val="0"/>
              </a:spcAft>
              <a:buClr>
                <a:schemeClr val="dk1"/>
              </a:buClr>
              <a:buSzPts val="2400"/>
              <a:buFont typeface="Arial"/>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4pPr>
            <a:lvl5pPr lvl="4"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5pPr>
            <a:lvl6pPr lvl="5"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71" name="Google Shape;71;p3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2" name="Google Shape;72;p34"/>
          <p:cNvSpPr txBox="1"/>
          <p:nvPr>
            <p:ph idx="10" type="dt"/>
          </p:nvPr>
        </p:nvSpPr>
        <p:spPr>
          <a:xfrm>
            <a:off x="457200" y="6553200"/>
            <a:ext cx="2133600" cy="304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4"/>
          <p:cNvSpPr txBox="1"/>
          <p:nvPr>
            <p:ph idx="11" type="ftr"/>
          </p:nvPr>
        </p:nvSpPr>
        <p:spPr>
          <a:xfrm>
            <a:off x="3048000" y="6553200"/>
            <a:ext cx="2895600" cy="3048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34"/>
          <p:cNvSpPr txBox="1"/>
          <p:nvPr>
            <p:ph idx="12" type="sldNum"/>
          </p:nvPr>
        </p:nvSpPr>
        <p:spPr>
          <a:xfrm>
            <a:off x="6553200" y="6553200"/>
            <a:ext cx="21336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5" name="Shape 75"/>
        <p:cNvGrpSpPr/>
        <p:nvPr/>
      </p:nvGrpSpPr>
      <p:grpSpPr>
        <a:xfrm>
          <a:off x="0" y="0"/>
          <a:ext cx="0" cy="0"/>
          <a:chOff x="0" y="0"/>
          <a:chExt cx="0" cy="0"/>
        </a:xfrm>
      </p:grpSpPr>
      <p:sp>
        <p:nvSpPr>
          <p:cNvPr id="76" name="Google Shape;76;p35"/>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35"/>
          <p:cNvSpPr txBox="1"/>
          <p:nvPr>
            <p:ph idx="1" type="body"/>
          </p:nvPr>
        </p:nvSpPr>
        <p:spPr>
          <a:xfrm rot="5400000">
            <a:off x="2194718" y="-365919"/>
            <a:ext cx="47545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8" name="Google Shape;78;p35"/>
          <p:cNvSpPr txBox="1"/>
          <p:nvPr>
            <p:ph idx="10" type="dt"/>
          </p:nvPr>
        </p:nvSpPr>
        <p:spPr>
          <a:xfrm>
            <a:off x="457200" y="6553200"/>
            <a:ext cx="2133600" cy="304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5"/>
          <p:cNvSpPr txBox="1"/>
          <p:nvPr>
            <p:ph idx="11" type="ftr"/>
          </p:nvPr>
        </p:nvSpPr>
        <p:spPr>
          <a:xfrm>
            <a:off x="2971800" y="6553200"/>
            <a:ext cx="2895600" cy="3048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5"/>
          <p:cNvSpPr txBox="1"/>
          <p:nvPr>
            <p:ph idx="12" type="sldNum"/>
          </p:nvPr>
        </p:nvSpPr>
        <p:spPr>
          <a:xfrm>
            <a:off x="6553200" y="6553200"/>
            <a:ext cx="21336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1" name="Shape 81"/>
        <p:cNvGrpSpPr/>
        <p:nvPr/>
      </p:nvGrpSpPr>
      <p:grpSpPr>
        <a:xfrm>
          <a:off x="0" y="0"/>
          <a:ext cx="0" cy="0"/>
          <a:chOff x="0" y="0"/>
          <a:chExt cx="0" cy="0"/>
        </a:xfrm>
      </p:grpSpPr>
      <p:sp>
        <p:nvSpPr>
          <p:cNvPr id="82" name="Google Shape;82;p36"/>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36"/>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4" name="Google Shape;84;p36"/>
          <p:cNvSpPr txBox="1"/>
          <p:nvPr>
            <p:ph idx="10" type="dt"/>
          </p:nvPr>
        </p:nvSpPr>
        <p:spPr>
          <a:xfrm>
            <a:off x="457200" y="6553200"/>
            <a:ext cx="2133600" cy="304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36"/>
          <p:cNvSpPr txBox="1"/>
          <p:nvPr>
            <p:ph idx="11" type="ftr"/>
          </p:nvPr>
        </p:nvSpPr>
        <p:spPr>
          <a:xfrm>
            <a:off x="3048000" y="6553200"/>
            <a:ext cx="2895600" cy="3048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36"/>
          <p:cNvSpPr txBox="1"/>
          <p:nvPr>
            <p:ph idx="12" type="sldNum"/>
          </p:nvPr>
        </p:nvSpPr>
        <p:spPr>
          <a:xfrm>
            <a:off x="6553200" y="6553200"/>
            <a:ext cx="2133600" cy="3048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5"/>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2400"/>
              <a:buFont typeface="Times New Roman"/>
              <a:buNone/>
              <a:defRPr b="1" i="0" sz="2400" u="none" cap="small" strike="noStrike">
                <a:solidFill>
                  <a:schemeClr val="dk1"/>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5"/>
          <p:cNvSpPr txBox="1"/>
          <p:nvPr>
            <p:ph idx="1" type="body"/>
          </p:nvPr>
        </p:nvSpPr>
        <p:spPr>
          <a:xfrm>
            <a:off x="457200" y="1371600"/>
            <a:ext cx="8229600" cy="4754563"/>
          </a:xfrm>
          <a:prstGeom prst="rect">
            <a:avLst/>
          </a:prstGeom>
          <a:noFill/>
          <a:ln>
            <a:noFill/>
          </a:ln>
        </p:spPr>
        <p:txBody>
          <a:bodyPr anchorCtr="0" anchor="t" bIns="45700" lIns="91425" spcFirstLastPara="1" rIns="91425" wrap="square" tIns="45700">
            <a:normAutofit/>
          </a:bodyPr>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Times New Roman"/>
                <a:ea typeface="Times New Roman"/>
                <a:cs typeface="Times New Roman"/>
                <a:sym typeface="Times New Roman"/>
              </a:defRPr>
            </a:lvl1pPr>
            <a:lvl2pPr indent="-355600" lvl="1" marL="9144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3pPr>
            <a:lvl4pPr indent="-330200" lvl="3" marL="1828800" marR="0" rtl="0" algn="l">
              <a:spcBef>
                <a:spcPts val="320"/>
              </a:spcBef>
              <a:spcAft>
                <a:spcPts val="0"/>
              </a:spcAft>
              <a:buClr>
                <a:schemeClr val="dk1"/>
              </a:buClr>
              <a:buSzPts val="1600"/>
              <a:buFont typeface="Arial"/>
              <a:buChar char="–"/>
              <a:defRPr b="0" i="0" sz="1600" u="none" cap="none" strike="noStrike">
                <a:solidFill>
                  <a:schemeClr val="dk1"/>
                </a:solidFill>
                <a:latin typeface="Times New Roman"/>
                <a:ea typeface="Times New Roman"/>
                <a:cs typeface="Times New Roman"/>
                <a:sym typeface="Times New Roman"/>
              </a:defRPr>
            </a:lvl4pPr>
            <a:lvl5pPr indent="-317500" lvl="4" marL="2286000" marR="0" rtl="0" algn="l">
              <a:spcBef>
                <a:spcPts val="280"/>
              </a:spcBef>
              <a:spcAft>
                <a:spcPts val="0"/>
              </a:spcAft>
              <a:buClr>
                <a:schemeClr val="dk1"/>
              </a:buClr>
              <a:buSzPts val="1400"/>
              <a:buFont typeface="Arial"/>
              <a:buChar char="»"/>
              <a:defRPr b="0" i="0" sz="14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5"/>
          <p:cNvSpPr/>
          <p:nvPr/>
        </p:nvSpPr>
        <p:spPr>
          <a:xfrm>
            <a:off x="219722" y="228600"/>
            <a:ext cx="8686800" cy="6324600"/>
          </a:xfrm>
          <a:prstGeom prst="roundRect">
            <a:avLst>
              <a:gd fmla="val 16667" name="adj"/>
            </a:avLst>
          </a:prstGeom>
          <a:noFill/>
          <a:ln cap="flat" cmpd="sng" w="19050">
            <a:solidFill>
              <a:srgbClr val="000000"/>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3" name="Google Shape;13;p25"/>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1" sz="1000" u="none" cap="none" strike="noStrike">
                <a:solidFill>
                  <a:srgbClr val="333333"/>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5"/>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1" sz="1000" u="none" cap="none" strike="noStrike">
                <a:solidFill>
                  <a:srgbClr val="333333"/>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25"/>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1" sz="1000" u="none" cap="none" strike="noStrike">
                <a:solidFill>
                  <a:srgbClr val="333333"/>
                </a:solidFill>
                <a:latin typeface="Times New Roman"/>
                <a:ea typeface="Times New Roman"/>
                <a:cs typeface="Times New Roman"/>
                <a:sym typeface="Times New Roman"/>
              </a:defRPr>
            </a:lvl1pPr>
            <a:lvl2pPr indent="0" lvl="1" marL="0" marR="0" rtl="0" algn="r">
              <a:spcBef>
                <a:spcPts val="0"/>
              </a:spcBef>
              <a:buNone/>
              <a:defRPr b="0" i="1" sz="1000" u="none" cap="none" strike="noStrike">
                <a:solidFill>
                  <a:srgbClr val="333333"/>
                </a:solidFill>
                <a:latin typeface="Times New Roman"/>
                <a:ea typeface="Times New Roman"/>
                <a:cs typeface="Times New Roman"/>
                <a:sym typeface="Times New Roman"/>
              </a:defRPr>
            </a:lvl2pPr>
            <a:lvl3pPr indent="0" lvl="2" marL="0" marR="0" rtl="0" algn="r">
              <a:spcBef>
                <a:spcPts val="0"/>
              </a:spcBef>
              <a:buNone/>
              <a:defRPr b="0" i="1" sz="1000" u="none" cap="none" strike="noStrike">
                <a:solidFill>
                  <a:srgbClr val="333333"/>
                </a:solidFill>
                <a:latin typeface="Times New Roman"/>
                <a:ea typeface="Times New Roman"/>
                <a:cs typeface="Times New Roman"/>
                <a:sym typeface="Times New Roman"/>
              </a:defRPr>
            </a:lvl3pPr>
            <a:lvl4pPr indent="0" lvl="3" marL="0" marR="0" rtl="0" algn="r">
              <a:spcBef>
                <a:spcPts val="0"/>
              </a:spcBef>
              <a:buNone/>
              <a:defRPr b="0" i="1" sz="1000" u="none" cap="none" strike="noStrike">
                <a:solidFill>
                  <a:srgbClr val="333333"/>
                </a:solidFill>
                <a:latin typeface="Times New Roman"/>
                <a:ea typeface="Times New Roman"/>
                <a:cs typeface="Times New Roman"/>
                <a:sym typeface="Times New Roman"/>
              </a:defRPr>
            </a:lvl4pPr>
            <a:lvl5pPr indent="0" lvl="4" marL="0" marR="0" rtl="0" algn="r">
              <a:spcBef>
                <a:spcPts val="0"/>
              </a:spcBef>
              <a:buNone/>
              <a:defRPr b="0" i="1" sz="1000" u="none" cap="none" strike="noStrike">
                <a:solidFill>
                  <a:srgbClr val="333333"/>
                </a:solidFill>
                <a:latin typeface="Times New Roman"/>
                <a:ea typeface="Times New Roman"/>
                <a:cs typeface="Times New Roman"/>
                <a:sym typeface="Times New Roman"/>
              </a:defRPr>
            </a:lvl5pPr>
            <a:lvl6pPr indent="0" lvl="5" marL="0" marR="0" rtl="0" algn="r">
              <a:spcBef>
                <a:spcPts val="0"/>
              </a:spcBef>
              <a:buNone/>
              <a:defRPr b="0" i="1" sz="1000" u="none" cap="none" strike="noStrike">
                <a:solidFill>
                  <a:srgbClr val="333333"/>
                </a:solidFill>
                <a:latin typeface="Times New Roman"/>
                <a:ea typeface="Times New Roman"/>
                <a:cs typeface="Times New Roman"/>
                <a:sym typeface="Times New Roman"/>
              </a:defRPr>
            </a:lvl6pPr>
            <a:lvl7pPr indent="0" lvl="6" marL="0" marR="0" rtl="0" algn="r">
              <a:spcBef>
                <a:spcPts val="0"/>
              </a:spcBef>
              <a:buNone/>
              <a:defRPr b="0" i="1" sz="1000" u="none" cap="none" strike="noStrike">
                <a:solidFill>
                  <a:srgbClr val="333333"/>
                </a:solidFill>
                <a:latin typeface="Times New Roman"/>
                <a:ea typeface="Times New Roman"/>
                <a:cs typeface="Times New Roman"/>
                <a:sym typeface="Times New Roman"/>
              </a:defRPr>
            </a:lvl7pPr>
            <a:lvl8pPr indent="0" lvl="7" marL="0" marR="0" rtl="0" algn="r">
              <a:spcBef>
                <a:spcPts val="0"/>
              </a:spcBef>
              <a:buNone/>
              <a:defRPr b="0" i="1" sz="1000" u="none" cap="none" strike="noStrike">
                <a:solidFill>
                  <a:srgbClr val="333333"/>
                </a:solidFill>
                <a:latin typeface="Times New Roman"/>
                <a:ea typeface="Times New Roman"/>
                <a:cs typeface="Times New Roman"/>
                <a:sym typeface="Times New Roman"/>
              </a:defRPr>
            </a:lvl8pPr>
            <a:lvl9pPr indent="0" lvl="8" marL="0" marR="0" rtl="0" algn="r">
              <a:spcBef>
                <a:spcPts val="0"/>
              </a:spcBef>
              <a:buNone/>
              <a:defRPr b="0" i="1" sz="1000" u="none" cap="none" strike="noStrike">
                <a:solidFill>
                  <a:srgbClr val="333333"/>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4.png"/><Relationship Id="rId5" Type="http://schemas.openxmlformats.org/officeDocument/2006/relationships/image" Target="../media/image14.png"/><Relationship Id="rId6"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6.png"/><Relationship Id="rId9" Type="http://schemas.openxmlformats.org/officeDocument/2006/relationships/image" Target="../media/image12.jpg"/><Relationship Id="rId5" Type="http://schemas.openxmlformats.org/officeDocument/2006/relationships/image" Target="../media/image13.png"/><Relationship Id="rId6" Type="http://schemas.openxmlformats.org/officeDocument/2006/relationships/image" Target="../media/image8.png"/><Relationship Id="rId7" Type="http://schemas.openxmlformats.org/officeDocument/2006/relationships/image" Target="../media/image2.png"/><Relationship Id="rId8" Type="http://schemas.openxmlformats.org/officeDocument/2006/relationships/image" Target="../media/image1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5.png"/><Relationship Id="rId4" Type="http://schemas.openxmlformats.org/officeDocument/2006/relationships/image" Target="../media/image9.png"/><Relationship Id="rId5"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
          <p:cNvSpPr txBox="1"/>
          <p:nvPr>
            <p:ph type="ctrTitle"/>
          </p:nvPr>
        </p:nvSpPr>
        <p:spPr>
          <a:xfrm>
            <a:off x="0" y="685800"/>
            <a:ext cx="9144000" cy="1066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160"/>
              <a:buFont typeface="Times New Roman"/>
              <a:buNone/>
            </a:pPr>
            <a:r>
              <a:rPr lang="en-US" sz="2160"/>
              <a:t>Chapter 1: Introduction to </a:t>
            </a:r>
            <a:br>
              <a:rPr lang="en-US" sz="2160"/>
            </a:br>
            <a:r>
              <a:rPr lang="en-US" sz="2160"/>
              <a:t>Software Engineering Design</a:t>
            </a:r>
            <a:br>
              <a:rPr lang="en-US" sz="2160"/>
            </a:br>
            <a:endParaRPr sz="2160"/>
          </a:p>
        </p:txBody>
      </p:sp>
      <p:sp>
        <p:nvSpPr>
          <p:cNvPr id="92" name="Google Shape;92;p1"/>
          <p:cNvSpPr txBox="1"/>
          <p:nvPr>
            <p:ph idx="1" type="subTitle"/>
          </p:nvPr>
        </p:nvSpPr>
        <p:spPr>
          <a:xfrm>
            <a:off x="0" y="1752599"/>
            <a:ext cx="9144000" cy="4572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000000"/>
              </a:buClr>
              <a:buSzPts val="2000"/>
              <a:buNone/>
            </a:pPr>
            <a:r>
              <a:rPr lang="en-US"/>
              <a:t>Session II: Overview of Software Engineering Design</a:t>
            </a:r>
            <a:endParaRPr/>
          </a:p>
        </p:txBody>
      </p:sp>
      <p:sp>
        <p:nvSpPr>
          <p:cNvPr id="93" name="Google Shape;93;p1"/>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8/24/2012</a:t>
            </a:r>
            <a:endParaRPr/>
          </a:p>
        </p:txBody>
      </p:sp>
      <p:sp>
        <p:nvSpPr>
          <p:cNvPr id="94" name="Google Shape;94;p1"/>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5" name="Google Shape;95;p1"/>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Session’s Agenda</a:t>
            </a:r>
            <a:endParaRPr/>
          </a:p>
        </p:txBody>
      </p:sp>
      <p:sp>
        <p:nvSpPr>
          <p:cNvPr id="101" name="Google Shape;101;p2"/>
          <p:cNvSpPr txBox="1"/>
          <p:nvPr>
            <p:ph idx="1" type="body"/>
          </p:nvPr>
        </p:nvSpPr>
        <p:spPr>
          <a:xfrm>
            <a:off x="457200" y="1371601"/>
            <a:ext cx="8229600" cy="518159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Font typeface="Noto Sans Symbols"/>
              <a:buChar char="⮚"/>
            </a:pPr>
            <a:r>
              <a:rPr lang="en-US"/>
              <a:t>Software Engineering Design</a:t>
            </a:r>
            <a:endParaRPr/>
          </a:p>
          <a:p>
            <a:pPr indent="-285750" lvl="1" marL="742950" rtl="0" algn="l">
              <a:spcBef>
                <a:spcPts val="360"/>
              </a:spcBef>
              <a:spcAft>
                <a:spcPts val="0"/>
              </a:spcAft>
              <a:buClr>
                <a:schemeClr val="dk1"/>
              </a:buClr>
              <a:buSzPts val="1800"/>
              <a:buChar char="✔"/>
            </a:pPr>
            <a:r>
              <a:rPr lang="en-US"/>
              <a:t>Why study software engineering design?</a:t>
            </a:r>
            <a:endParaRPr/>
          </a:p>
          <a:p>
            <a:pPr indent="-285750" lvl="1" marL="742950" rtl="0" algn="l">
              <a:spcBef>
                <a:spcPts val="360"/>
              </a:spcBef>
              <a:spcAft>
                <a:spcPts val="0"/>
              </a:spcAft>
              <a:buClr>
                <a:schemeClr val="dk1"/>
              </a:buClr>
              <a:buSzPts val="1800"/>
              <a:buNone/>
            </a:pPr>
            <a:r>
              <a:t/>
            </a:r>
            <a:endParaRPr/>
          </a:p>
          <a:p>
            <a:pPr indent="-342900" lvl="0" marL="342900" rtl="0" algn="l">
              <a:spcBef>
                <a:spcPts val="400"/>
              </a:spcBef>
              <a:spcAft>
                <a:spcPts val="0"/>
              </a:spcAft>
              <a:buClr>
                <a:schemeClr val="dk1"/>
              </a:buClr>
              <a:buSzPts val="2000"/>
              <a:buFont typeface="Noto Sans Symbols"/>
              <a:buChar char="⮚"/>
            </a:pPr>
            <a:r>
              <a:rPr lang="en-US"/>
              <a:t>Software design challenges</a:t>
            </a:r>
            <a:endParaRPr/>
          </a:p>
          <a:p>
            <a:pPr indent="-285750" lvl="1" marL="742950" rtl="0" algn="l">
              <a:spcBef>
                <a:spcPts val="360"/>
              </a:spcBef>
              <a:spcAft>
                <a:spcPts val="0"/>
              </a:spcAft>
              <a:buClr>
                <a:schemeClr val="dk1"/>
              </a:buClr>
              <a:buSzPts val="1800"/>
              <a:buChar char="✔"/>
            </a:pPr>
            <a:r>
              <a:rPr lang="en-US"/>
              <a:t>Requirements volatility</a:t>
            </a:r>
            <a:endParaRPr/>
          </a:p>
          <a:p>
            <a:pPr indent="-285750" lvl="1" marL="742950" rtl="0" algn="l">
              <a:spcBef>
                <a:spcPts val="360"/>
              </a:spcBef>
              <a:spcAft>
                <a:spcPts val="0"/>
              </a:spcAft>
              <a:buClr>
                <a:schemeClr val="dk1"/>
              </a:buClr>
              <a:buSzPts val="1800"/>
              <a:buChar char="✔"/>
            </a:pPr>
            <a:r>
              <a:rPr lang="en-US"/>
              <a:t>Processes</a:t>
            </a:r>
            <a:endParaRPr/>
          </a:p>
          <a:p>
            <a:pPr indent="-285750" lvl="1" marL="742950" rtl="0" algn="l">
              <a:spcBef>
                <a:spcPts val="360"/>
              </a:spcBef>
              <a:spcAft>
                <a:spcPts val="0"/>
              </a:spcAft>
              <a:buClr>
                <a:schemeClr val="dk1"/>
              </a:buClr>
              <a:buSzPts val="1800"/>
              <a:buChar char="✔"/>
            </a:pPr>
            <a:r>
              <a:rPr lang="en-US"/>
              <a:t>Technology</a:t>
            </a:r>
            <a:endParaRPr/>
          </a:p>
          <a:p>
            <a:pPr indent="-285750" lvl="1" marL="742950" rtl="0" algn="l">
              <a:spcBef>
                <a:spcPts val="360"/>
              </a:spcBef>
              <a:spcAft>
                <a:spcPts val="0"/>
              </a:spcAft>
              <a:buClr>
                <a:schemeClr val="dk1"/>
              </a:buClr>
              <a:buSzPts val="1800"/>
              <a:buChar char="✔"/>
            </a:pPr>
            <a:r>
              <a:rPr lang="en-US"/>
              <a:t>Ethical and Professional issues</a:t>
            </a:r>
            <a:endParaRPr/>
          </a:p>
          <a:p>
            <a:pPr indent="-285750" lvl="1" marL="742950" rtl="0" algn="l">
              <a:spcBef>
                <a:spcPts val="360"/>
              </a:spcBef>
              <a:spcAft>
                <a:spcPts val="0"/>
              </a:spcAft>
              <a:buClr>
                <a:schemeClr val="dk1"/>
              </a:buClr>
              <a:buSzPts val="1800"/>
              <a:buChar char="✔"/>
            </a:pPr>
            <a:r>
              <a:rPr lang="en-US"/>
              <a:t>Managing design influences</a:t>
            </a:r>
            <a:endParaRPr/>
          </a:p>
          <a:p>
            <a:pPr indent="-285750" lvl="1" marL="742950" rtl="0" algn="l">
              <a:spcBef>
                <a:spcPts val="360"/>
              </a:spcBef>
              <a:spcAft>
                <a:spcPts val="0"/>
              </a:spcAft>
              <a:buClr>
                <a:schemeClr val="dk1"/>
              </a:buClr>
              <a:buSzPts val="1800"/>
              <a:buNone/>
            </a:pPr>
            <a:r>
              <a:t/>
            </a:r>
            <a:endParaRPr/>
          </a:p>
          <a:p>
            <a:pPr indent="-342900" lvl="0" marL="342900" rtl="0" algn="l">
              <a:spcBef>
                <a:spcPts val="400"/>
              </a:spcBef>
              <a:spcAft>
                <a:spcPts val="0"/>
              </a:spcAft>
              <a:buClr>
                <a:schemeClr val="dk1"/>
              </a:buClr>
              <a:buSzPts val="2000"/>
              <a:buFont typeface="Noto Sans Symbols"/>
              <a:buChar char="⮚"/>
            </a:pPr>
            <a:r>
              <a:rPr lang="en-US"/>
              <a:t>Software design process	</a:t>
            </a:r>
            <a:endParaRPr/>
          </a:p>
          <a:p>
            <a:pPr indent="-285750" lvl="1" marL="742950" rtl="0" algn="l">
              <a:spcBef>
                <a:spcPts val="360"/>
              </a:spcBef>
              <a:spcAft>
                <a:spcPts val="0"/>
              </a:spcAft>
              <a:buClr>
                <a:schemeClr val="dk1"/>
              </a:buClr>
              <a:buSzPts val="1800"/>
              <a:buChar char="✔"/>
            </a:pPr>
            <a:r>
              <a:rPr lang="en-US"/>
              <a:t>Software architecture</a:t>
            </a:r>
            <a:endParaRPr/>
          </a:p>
          <a:p>
            <a:pPr indent="-285750" lvl="1" marL="742950" rtl="0" algn="l">
              <a:spcBef>
                <a:spcPts val="360"/>
              </a:spcBef>
              <a:spcAft>
                <a:spcPts val="0"/>
              </a:spcAft>
              <a:buClr>
                <a:schemeClr val="dk1"/>
              </a:buClr>
              <a:buSzPts val="1800"/>
              <a:buChar char="✔"/>
            </a:pPr>
            <a:r>
              <a:rPr lang="en-US"/>
              <a:t>Detailed design</a:t>
            </a:r>
            <a:endParaRPr/>
          </a:p>
          <a:p>
            <a:pPr indent="-285750" lvl="1" marL="742950" rtl="0" algn="l">
              <a:spcBef>
                <a:spcPts val="360"/>
              </a:spcBef>
              <a:spcAft>
                <a:spcPts val="0"/>
              </a:spcAft>
              <a:buClr>
                <a:schemeClr val="dk1"/>
              </a:buClr>
              <a:buSzPts val="1800"/>
              <a:buChar char="✔"/>
            </a:pPr>
            <a:r>
              <a:rPr lang="en-US"/>
              <a:t>Construction design</a:t>
            </a:r>
            <a:endParaRPr/>
          </a:p>
          <a:p>
            <a:pPr indent="-285750" lvl="1" marL="742950" rtl="0" algn="l">
              <a:spcBef>
                <a:spcPts val="360"/>
              </a:spcBef>
              <a:spcAft>
                <a:spcPts val="0"/>
              </a:spcAft>
              <a:buClr>
                <a:schemeClr val="dk1"/>
              </a:buClr>
              <a:buSzPts val="1800"/>
              <a:buChar char="✔"/>
            </a:pPr>
            <a:r>
              <a:rPr lang="en-US"/>
              <a:t>HCI design</a:t>
            </a:r>
            <a:endParaRPr/>
          </a:p>
          <a:p>
            <a:pPr indent="-342900" lvl="0" marL="342900" rtl="0" algn="l">
              <a:spcBef>
                <a:spcPts val="400"/>
              </a:spcBef>
              <a:spcAft>
                <a:spcPts val="0"/>
              </a:spcAft>
              <a:buClr>
                <a:schemeClr val="dk1"/>
              </a:buClr>
              <a:buSzPts val="2000"/>
              <a:buNone/>
            </a:pPr>
            <a:r>
              <a:t/>
            </a:r>
            <a:endParaRPr/>
          </a:p>
          <a:p>
            <a:pPr indent="-215900" lvl="0" marL="342900" rtl="0" algn="l">
              <a:spcBef>
                <a:spcPts val="400"/>
              </a:spcBef>
              <a:spcAft>
                <a:spcPts val="0"/>
              </a:spcAft>
              <a:buClr>
                <a:schemeClr val="dk1"/>
              </a:buClr>
              <a:buSzPts val="2000"/>
              <a:buFont typeface="Noto Sans Symbols"/>
              <a:buNone/>
            </a:pPr>
            <a:r>
              <a:t/>
            </a:r>
            <a:endParaRPr/>
          </a:p>
          <a:p>
            <a:pPr indent="-285750" lvl="1" marL="742950" rtl="0" algn="l">
              <a:spcBef>
                <a:spcPts val="360"/>
              </a:spcBef>
              <a:spcAft>
                <a:spcPts val="0"/>
              </a:spcAft>
              <a:buClr>
                <a:schemeClr val="dk1"/>
              </a:buClr>
              <a:buSzPts val="1800"/>
              <a:buNone/>
            </a:pPr>
            <a:r>
              <a:t/>
            </a:r>
            <a:endParaRPr/>
          </a:p>
          <a:p>
            <a:pPr indent="-342900" lvl="0" marL="342900" rtl="0" algn="l">
              <a:spcBef>
                <a:spcPts val="400"/>
              </a:spcBef>
              <a:spcAft>
                <a:spcPts val="0"/>
              </a:spcAft>
              <a:buClr>
                <a:schemeClr val="dk1"/>
              </a:buClr>
              <a:buSzPts val="2000"/>
              <a:buNone/>
            </a:pPr>
            <a:r>
              <a:t/>
            </a:r>
            <a:endParaRPr/>
          </a:p>
          <a:p>
            <a:pPr indent="-171450" lvl="1" marL="742950" rtl="0" algn="l">
              <a:spcBef>
                <a:spcPts val="360"/>
              </a:spcBef>
              <a:spcAft>
                <a:spcPts val="0"/>
              </a:spcAft>
              <a:buClr>
                <a:schemeClr val="dk1"/>
              </a:buClr>
              <a:buSzPts val="1800"/>
              <a:buNone/>
            </a:pPr>
            <a:r>
              <a:t/>
            </a:r>
            <a:endParaRPr/>
          </a:p>
        </p:txBody>
      </p:sp>
      <p:sp>
        <p:nvSpPr>
          <p:cNvPr id="102" name="Google Shape;102;p2"/>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8/24/2012</a:t>
            </a:r>
            <a:endParaRPr/>
          </a:p>
        </p:txBody>
      </p:sp>
      <p:sp>
        <p:nvSpPr>
          <p:cNvPr id="103" name="Google Shape;103;p2"/>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104" name="Google Shape;104;p2"/>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3"/>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Software Engineering Design</a:t>
            </a:r>
            <a:endParaRPr/>
          </a:p>
        </p:txBody>
      </p:sp>
      <p:sp>
        <p:nvSpPr>
          <p:cNvPr id="110" name="Google Shape;110;p3"/>
          <p:cNvSpPr txBox="1"/>
          <p:nvPr>
            <p:ph idx="1" type="body"/>
          </p:nvPr>
        </p:nvSpPr>
        <p:spPr>
          <a:xfrm>
            <a:off x="457200" y="1371601"/>
            <a:ext cx="8229600" cy="480059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Font typeface="Noto Sans Symbols"/>
              <a:buChar char="⮚"/>
            </a:pPr>
            <a:r>
              <a:rPr lang="en-US"/>
              <a:t>In the previous session, we presented a general motivation for software engineering design and important concepts for designers.  These included:</a:t>
            </a:r>
            <a:endParaRPr/>
          </a:p>
          <a:p>
            <a:pPr indent="-285750" lvl="1" marL="742950" rtl="0" algn="l">
              <a:spcBef>
                <a:spcPts val="360"/>
              </a:spcBef>
              <a:spcAft>
                <a:spcPts val="0"/>
              </a:spcAft>
              <a:buClr>
                <a:schemeClr val="dk1"/>
              </a:buClr>
              <a:buSzPts val="1800"/>
              <a:buChar char="✔"/>
            </a:pPr>
            <a:r>
              <a:rPr lang="en-US"/>
              <a:t>Design for large-scale, complex, systems</a:t>
            </a:r>
            <a:endParaRPr/>
          </a:p>
          <a:p>
            <a:pPr indent="-285750" lvl="1" marL="742950" rtl="0" algn="l">
              <a:spcBef>
                <a:spcPts val="360"/>
              </a:spcBef>
              <a:spcAft>
                <a:spcPts val="0"/>
              </a:spcAft>
              <a:buClr>
                <a:schemeClr val="dk1"/>
              </a:buClr>
              <a:buSzPts val="1800"/>
              <a:buChar char="✔"/>
            </a:pPr>
            <a:r>
              <a:rPr lang="en-US"/>
              <a:t>The software engineering life-cycle</a:t>
            </a:r>
            <a:endParaRPr/>
          </a:p>
          <a:p>
            <a:pPr indent="-285750" lvl="1" marL="742950" rtl="0" algn="l">
              <a:spcBef>
                <a:spcPts val="360"/>
              </a:spcBef>
              <a:spcAft>
                <a:spcPts val="0"/>
              </a:spcAft>
              <a:buClr>
                <a:schemeClr val="dk1"/>
              </a:buClr>
              <a:buSzPts val="1800"/>
              <a:buChar char="✔"/>
            </a:pPr>
            <a:r>
              <a:rPr lang="en-US"/>
              <a:t>A micro-process for problem solving, and</a:t>
            </a:r>
            <a:endParaRPr/>
          </a:p>
          <a:p>
            <a:pPr indent="-285750" lvl="1" marL="742950" rtl="0" algn="l">
              <a:spcBef>
                <a:spcPts val="360"/>
              </a:spcBef>
              <a:spcAft>
                <a:spcPts val="0"/>
              </a:spcAft>
              <a:buClr>
                <a:schemeClr val="dk1"/>
              </a:buClr>
              <a:buSzPts val="1800"/>
              <a:buChar char="✔"/>
            </a:pPr>
            <a:r>
              <a:rPr lang="en-US"/>
              <a:t>A holistic (macro) process for problem solving</a:t>
            </a:r>
            <a:endParaRPr/>
          </a:p>
          <a:p>
            <a:pPr indent="-215900" lvl="0" marL="342900" rtl="0" algn="l">
              <a:spcBef>
                <a:spcPts val="400"/>
              </a:spcBef>
              <a:spcAft>
                <a:spcPts val="0"/>
              </a:spcAft>
              <a:buClr>
                <a:schemeClr val="dk1"/>
              </a:buClr>
              <a:buSzPts val="2000"/>
              <a:buFont typeface="Noto Sans Symbols"/>
              <a:buNone/>
            </a:pPr>
            <a:r>
              <a:t/>
            </a:r>
            <a:endParaRPr/>
          </a:p>
          <a:p>
            <a:pPr indent="-342900" lvl="0" marL="342900" rtl="0" algn="l">
              <a:spcBef>
                <a:spcPts val="400"/>
              </a:spcBef>
              <a:spcAft>
                <a:spcPts val="0"/>
              </a:spcAft>
              <a:buClr>
                <a:schemeClr val="dk1"/>
              </a:buClr>
              <a:buSzPts val="2000"/>
              <a:buFont typeface="Noto Sans Symbols"/>
              <a:buChar char="⮚"/>
            </a:pPr>
            <a:r>
              <a:rPr lang="en-US"/>
              <a:t>In the previous session, design was introduced as a systematic and intelligent process for generating, evaluating, and specifying designs for devices, systems, or processes.  </a:t>
            </a:r>
            <a:endParaRPr/>
          </a:p>
          <a:p>
            <a:pPr indent="-215900" lvl="0" marL="342900" rtl="0" algn="l">
              <a:spcBef>
                <a:spcPts val="400"/>
              </a:spcBef>
              <a:spcAft>
                <a:spcPts val="0"/>
              </a:spcAft>
              <a:buClr>
                <a:schemeClr val="dk1"/>
              </a:buClr>
              <a:buSzPts val="2000"/>
              <a:buFont typeface="Noto Sans Symbols"/>
              <a:buNone/>
            </a:pPr>
            <a:r>
              <a:t/>
            </a:r>
            <a:endParaRPr/>
          </a:p>
          <a:p>
            <a:pPr indent="-342900" lvl="0" marL="342900" rtl="0" algn="l">
              <a:spcBef>
                <a:spcPts val="400"/>
              </a:spcBef>
              <a:spcAft>
                <a:spcPts val="0"/>
              </a:spcAft>
              <a:buClr>
                <a:schemeClr val="dk1"/>
              </a:buClr>
              <a:buSzPts val="2000"/>
              <a:buFont typeface="Noto Sans Symbols"/>
              <a:buChar char="⮚"/>
            </a:pPr>
            <a:r>
              <a:rPr lang="en-US"/>
              <a:t>In software engineering, design provides blueprints that capture how software systems will meet their required functions and how they will be shaped to meet their intended quality.</a:t>
            </a:r>
            <a:endParaRPr/>
          </a:p>
          <a:p>
            <a:pPr indent="-215900" lvl="0" marL="342900" rtl="0" algn="l">
              <a:spcBef>
                <a:spcPts val="400"/>
              </a:spcBef>
              <a:spcAft>
                <a:spcPts val="0"/>
              </a:spcAft>
              <a:buClr>
                <a:schemeClr val="dk1"/>
              </a:buClr>
              <a:buSzPts val="2000"/>
              <a:buFont typeface="Noto Sans Symbols"/>
              <a:buNone/>
            </a:pPr>
            <a:r>
              <a:t/>
            </a:r>
            <a:endParaRPr/>
          </a:p>
          <a:p>
            <a:pPr indent="-285750" lvl="1" marL="742950" rtl="0" algn="l">
              <a:spcBef>
                <a:spcPts val="360"/>
              </a:spcBef>
              <a:spcAft>
                <a:spcPts val="0"/>
              </a:spcAft>
              <a:buClr>
                <a:schemeClr val="dk1"/>
              </a:buClr>
              <a:buSzPts val="1800"/>
              <a:buNone/>
            </a:pPr>
            <a:r>
              <a:t/>
            </a:r>
            <a:endParaRPr/>
          </a:p>
          <a:p>
            <a:pPr indent="-285750" lvl="1" marL="742950" rtl="0" algn="l">
              <a:spcBef>
                <a:spcPts val="360"/>
              </a:spcBef>
              <a:spcAft>
                <a:spcPts val="0"/>
              </a:spcAft>
              <a:buClr>
                <a:schemeClr val="dk1"/>
              </a:buClr>
              <a:buSzPts val="1800"/>
              <a:buNone/>
            </a:pPr>
            <a:r>
              <a:t/>
            </a:r>
            <a:endParaRPr/>
          </a:p>
          <a:p>
            <a:pPr indent="-215900" lvl="0" marL="342900" rtl="0" algn="l">
              <a:spcBef>
                <a:spcPts val="400"/>
              </a:spcBef>
              <a:spcAft>
                <a:spcPts val="0"/>
              </a:spcAft>
              <a:buClr>
                <a:schemeClr val="dk1"/>
              </a:buClr>
              <a:buSzPts val="2000"/>
              <a:buFont typeface="Noto Sans Symbols"/>
              <a:buNone/>
            </a:pPr>
            <a:r>
              <a:t/>
            </a:r>
            <a:endParaRPr/>
          </a:p>
        </p:txBody>
      </p:sp>
      <p:sp>
        <p:nvSpPr>
          <p:cNvPr id="111" name="Google Shape;111;p3"/>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8/24/2012</a:t>
            </a:r>
            <a:endParaRPr/>
          </a:p>
        </p:txBody>
      </p:sp>
      <p:sp>
        <p:nvSpPr>
          <p:cNvPr id="112" name="Google Shape;112;p3"/>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113" name="Google Shape;113;p3"/>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4"/>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Software Engineering Design</a:t>
            </a:r>
            <a:endParaRPr/>
          </a:p>
        </p:txBody>
      </p:sp>
      <p:sp>
        <p:nvSpPr>
          <p:cNvPr id="119" name="Google Shape;119;p4"/>
          <p:cNvSpPr txBox="1"/>
          <p:nvPr>
            <p:ph idx="1" type="body"/>
          </p:nvPr>
        </p:nvSpPr>
        <p:spPr>
          <a:xfrm>
            <a:off x="457200" y="1371601"/>
            <a:ext cx="8229600" cy="480059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Font typeface="Noto Sans Symbols"/>
              <a:buChar char="⮚"/>
            </a:pPr>
            <a:r>
              <a:rPr lang="en-US"/>
              <a:t>Formally, software engineering design is defined as:</a:t>
            </a:r>
            <a:endParaRPr/>
          </a:p>
          <a:p>
            <a:pPr indent="-285750" lvl="1" marL="742950" rtl="0" algn="l">
              <a:spcBef>
                <a:spcPts val="360"/>
              </a:spcBef>
              <a:spcAft>
                <a:spcPts val="0"/>
              </a:spcAft>
              <a:buClr>
                <a:schemeClr val="dk1"/>
              </a:buClr>
              <a:buSzPts val="1800"/>
              <a:buChar char="✔"/>
            </a:pPr>
            <a:r>
              <a:rPr lang="en-US"/>
              <a:t>(1) The process of identifying, evaluating, validating, and specifying the architectural, detailed, and construction models required to build software that meets its intended functional and non-functional requirements; and,</a:t>
            </a:r>
            <a:endParaRPr/>
          </a:p>
          <a:p>
            <a:pPr indent="-285750" lvl="1" marL="742950" rtl="0" algn="l">
              <a:spcBef>
                <a:spcPts val="360"/>
              </a:spcBef>
              <a:spcAft>
                <a:spcPts val="0"/>
              </a:spcAft>
              <a:buClr>
                <a:schemeClr val="dk1"/>
              </a:buClr>
              <a:buSzPts val="1800"/>
              <a:buChar char="✔"/>
            </a:pPr>
            <a:r>
              <a:rPr lang="en-US"/>
              <a:t>(2) the result of such process.</a:t>
            </a:r>
            <a:endParaRPr/>
          </a:p>
          <a:p>
            <a:pPr indent="-171450" lvl="1" marL="742950" rtl="0" algn="l">
              <a:spcBef>
                <a:spcPts val="360"/>
              </a:spcBef>
              <a:spcAft>
                <a:spcPts val="0"/>
              </a:spcAft>
              <a:buClr>
                <a:schemeClr val="dk1"/>
              </a:buClr>
              <a:buSzPts val="1800"/>
              <a:buNone/>
            </a:pPr>
            <a:r>
              <a:t/>
            </a:r>
            <a:endParaRPr/>
          </a:p>
          <a:p>
            <a:pPr indent="-342900" lvl="0" marL="342900" rtl="0" algn="l">
              <a:spcBef>
                <a:spcPts val="400"/>
              </a:spcBef>
              <a:spcAft>
                <a:spcPts val="0"/>
              </a:spcAft>
              <a:buClr>
                <a:schemeClr val="dk1"/>
              </a:buClr>
              <a:buSzPts val="2000"/>
              <a:buFont typeface="Noto Sans Symbols"/>
              <a:buChar char="⮚"/>
            </a:pPr>
            <a:r>
              <a:rPr lang="en-US"/>
              <a:t>In the software industry, the term design is used interchangeably to describe both the </a:t>
            </a:r>
            <a:r>
              <a:rPr i="1" lang="en-US"/>
              <a:t>process</a:t>
            </a:r>
            <a:r>
              <a:rPr lang="en-US"/>
              <a:t> and </a:t>
            </a:r>
            <a:r>
              <a:rPr i="1" lang="en-US"/>
              <a:t>product </a:t>
            </a:r>
            <a:r>
              <a:rPr lang="en-US"/>
              <a:t>resulting from such process.</a:t>
            </a:r>
            <a:endParaRPr/>
          </a:p>
          <a:p>
            <a:pPr indent="-285750" lvl="1" marL="742950" rtl="0" algn="l">
              <a:spcBef>
                <a:spcPts val="360"/>
              </a:spcBef>
              <a:spcAft>
                <a:spcPts val="0"/>
              </a:spcAft>
              <a:buClr>
                <a:schemeClr val="dk1"/>
              </a:buClr>
              <a:buSzPts val="1800"/>
              <a:buChar char="✔"/>
            </a:pPr>
            <a:r>
              <a:rPr lang="en-US"/>
              <a:t>From the </a:t>
            </a:r>
            <a:r>
              <a:rPr i="1" lang="en-US"/>
              <a:t>process perspective</a:t>
            </a:r>
            <a:r>
              <a:rPr lang="en-US"/>
              <a:t>, it describes the phase, activities, tasks, and interrelationship between them required to model software’s structure and behavior before construction.</a:t>
            </a:r>
            <a:endParaRPr/>
          </a:p>
          <a:p>
            <a:pPr indent="-228600" lvl="2" marL="1143000" rtl="0" algn="l">
              <a:spcBef>
                <a:spcPts val="320"/>
              </a:spcBef>
              <a:spcAft>
                <a:spcPts val="0"/>
              </a:spcAft>
              <a:buClr>
                <a:schemeClr val="dk1"/>
              </a:buClr>
              <a:buSzPts val="1600"/>
              <a:buChar char="▪"/>
            </a:pPr>
            <a:r>
              <a:rPr lang="en-US"/>
              <a:t>This is concerned mostly with the project management’s aspect of development.</a:t>
            </a:r>
            <a:endParaRPr/>
          </a:p>
          <a:p>
            <a:pPr indent="-285750" lvl="1" marL="742950" rtl="0" algn="l">
              <a:spcBef>
                <a:spcPts val="360"/>
              </a:spcBef>
              <a:spcAft>
                <a:spcPts val="0"/>
              </a:spcAft>
              <a:buClr>
                <a:schemeClr val="dk1"/>
              </a:buClr>
              <a:buSzPts val="1800"/>
              <a:buChar char="✔"/>
            </a:pPr>
            <a:r>
              <a:rPr lang="en-US"/>
              <a:t>From the </a:t>
            </a:r>
            <a:r>
              <a:rPr i="1" lang="en-US"/>
              <a:t>product perspective</a:t>
            </a:r>
            <a:r>
              <a:rPr lang="en-US"/>
              <a:t>, it describes artifacts resulting from design activities, e.g., class diagram.</a:t>
            </a:r>
            <a:endParaRPr/>
          </a:p>
          <a:p>
            <a:pPr indent="-228600" lvl="2" marL="1143000" rtl="0" algn="l">
              <a:spcBef>
                <a:spcPts val="320"/>
              </a:spcBef>
              <a:spcAft>
                <a:spcPts val="0"/>
              </a:spcAft>
              <a:buClr>
                <a:schemeClr val="dk1"/>
              </a:buClr>
              <a:buSzPts val="1600"/>
              <a:buChar char="▪"/>
            </a:pPr>
            <a:r>
              <a:rPr lang="en-US"/>
              <a:t>This is concerned mostly with the technical aspects of development. </a:t>
            </a:r>
            <a:endParaRPr/>
          </a:p>
        </p:txBody>
      </p:sp>
      <p:sp>
        <p:nvSpPr>
          <p:cNvPr id="120" name="Google Shape;120;p4"/>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8/24/2012</a:t>
            </a:r>
            <a:endParaRPr/>
          </a:p>
        </p:txBody>
      </p:sp>
      <p:sp>
        <p:nvSpPr>
          <p:cNvPr id="121" name="Google Shape;121;p4"/>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122" name="Google Shape;122;p4"/>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5"/>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Software Engineering Design – Product Development</a:t>
            </a:r>
            <a:endParaRPr/>
          </a:p>
        </p:txBody>
      </p:sp>
      <p:sp>
        <p:nvSpPr>
          <p:cNvPr id="128" name="Google Shape;128;p5"/>
          <p:cNvSpPr txBox="1"/>
          <p:nvPr>
            <p:ph idx="1" type="body"/>
          </p:nvPr>
        </p:nvSpPr>
        <p:spPr>
          <a:xfrm>
            <a:off x="457200" y="1371601"/>
            <a:ext cx="8229600" cy="480059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Font typeface="Noto Sans Symbols"/>
              <a:buChar char="⮚"/>
            </a:pPr>
            <a:r>
              <a:rPr lang="en-US"/>
              <a:t>From the product development’s perspective, studying software design is important, mainly, because:	</a:t>
            </a:r>
            <a:endParaRPr/>
          </a:p>
          <a:p>
            <a:pPr indent="-285750" lvl="1" marL="742950" rtl="0" algn="l">
              <a:spcBef>
                <a:spcPts val="360"/>
              </a:spcBef>
              <a:spcAft>
                <a:spcPts val="0"/>
              </a:spcAft>
              <a:buClr>
                <a:schemeClr val="dk1"/>
              </a:buClr>
              <a:buSzPts val="1800"/>
              <a:buChar char="✔"/>
            </a:pPr>
            <a:r>
              <a:rPr lang="en-US"/>
              <a:t>Requirements are mapped to conceptual models of software</a:t>
            </a:r>
            <a:endParaRPr/>
          </a:p>
          <a:p>
            <a:pPr indent="-285750" lvl="1" marL="742950" rtl="0" algn="l">
              <a:spcBef>
                <a:spcPts val="360"/>
              </a:spcBef>
              <a:spcAft>
                <a:spcPts val="0"/>
              </a:spcAft>
              <a:buClr>
                <a:schemeClr val="dk1"/>
              </a:buClr>
              <a:buSzPts val="1800"/>
              <a:buChar char="✔"/>
            </a:pPr>
            <a:r>
              <a:rPr lang="en-US"/>
              <a:t>Provide models that represent structure and behavior</a:t>
            </a:r>
            <a:endParaRPr/>
          </a:p>
          <a:p>
            <a:pPr indent="-285750" lvl="1" marL="742950" rtl="0" algn="l">
              <a:spcBef>
                <a:spcPts val="360"/>
              </a:spcBef>
              <a:spcAft>
                <a:spcPts val="0"/>
              </a:spcAft>
              <a:buClr>
                <a:schemeClr val="dk1"/>
              </a:buClr>
              <a:buSzPts val="1800"/>
              <a:buChar char="✔"/>
            </a:pPr>
            <a:r>
              <a:rPr lang="en-US"/>
              <a:t>Main components and interfaces are identified</a:t>
            </a:r>
            <a:endParaRPr/>
          </a:p>
          <a:p>
            <a:pPr indent="-285750" lvl="1" marL="742950" rtl="0" algn="l">
              <a:spcBef>
                <a:spcPts val="360"/>
              </a:spcBef>
              <a:spcAft>
                <a:spcPts val="0"/>
              </a:spcAft>
              <a:buClr>
                <a:schemeClr val="dk1"/>
              </a:buClr>
              <a:buSzPts val="1800"/>
              <a:buChar char="✔"/>
            </a:pPr>
            <a:r>
              <a:rPr lang="en-US"/>
              <a:t>Quality of future system is born</a:t>
            </a:r>
            <a:endParaRPr/>
          </a:p>
          <a:p>
            <a:pPr indent="-228600" lvl="2" marL="1143000" rtl="0" algn="l">
              <a:spcBef>
                <a:spcPts val="320"/>
              </a:spcBef>
              <a:spcAft>
                <a:spcPts val="0"/>
              </a:spcAft>
              <a:buClr>
                <a:schemeClr val="dk1"/>
              </a:buClr>
              <a:buSzPts val="1600"/>
              <a:buChar char="▪"/>
            </a:pPr>
            <a:r>
              <a:rPr lang="en-US"/>
              <a:t>Modularization, cohesiveness, coupling, etc.</a:t>
            </a:r>
            <a:endParaRPr/>
          </a:p>
          <a:p>
            <a:pPr indent="-228600" lvl="2" marL="1143000" rtl="0" algn="l">
              <a:spcBef>
                <a:spcPts val="320"/>
              </a:spcBef>
              <a:spcAft>
                <a:spcPts val="0"/>
              </a:spcAft>
              <a:buClr>
                <a:schemeClr val="dk1"/>
              </a:buClr>
              <a:buSzPts val="1600"/>
              <a:buChar char="▪"/>
            </a:pPr>
            <a:r>
              <a:rPr lang="en-US"/>
              <a:t>Provide means to evaluate quality attributes, e.g., usability.</a:t>
            </a:r>
            <a:endParaRPr/>
          </a:p>
          <a:p>
            <a:pPr indent="-285750" lvl="1" marL="742950" rtl="0" algn="l">
              <a:spcBef>
                <a:spcPts val="360"/>
              </a:spcBef>
              <a:spcAft>
                <a:spcPts val="0"/>
              </a:spcAft>
              <a:buClr>
                <a:schemeClr val="dk1"/>
              </a:buClr>
              <a:buSzPts val="1800"/>
              <a:buChar char="✔"/>
            </a:pPr>
            <a:r>
              <a:rPr lang="en-US"/>
              <a:t>Solutions can be reused in other projects</a:t>
            </a:r>
            <a:endParaRPr/>
          </a:p>
          <a:p>
            <a:pPr indent="-228600" lvl="1" marL="342900" rtl="0" algn="l">
              <a:spcBef>
                <a:spcPts val="360"/>
              </a:spcBef>
              <a:spcAft>
                <a:spcPts val="0"/>
              </a:spcAft>
              <a:buClr>
                <a:schemeClr val="dk1"/>
              </a:buClr>
              <a:buSzPts val="1800"/>
              <a:buFont typeface="Noto Sans Symbols"/>
              <a:buNone/>
            </a:pPr>
            <a:r>
              <a:t/>
            </a:r>
            <a:endParaRPr/>
          </a:p>
          <a:p>
            <a:pPr indent="-342900" lvl="1" marL="342900" rtl="0" algn="l">
              <a:spcBef>
                <a:spcPts val="360"/>
              </a:spcBef>
              <a:spcAft>
                <a:spcPts val="0"/>
              </a:spcAft>
              <a:buClr>
                <a:schemeClr val="dk1"/>
              </a:buClr>
              <a:buSzPts val="1800"/>
              <a:buFont typeface="Noto Sans Symbols"/>
              <a:buChar char="⮚"/>
            </a:pPr>
            <a:r>
              <a:rPr lang="en-US"/>
              <a:t>Design forms the foundation for all other development activities</a:t>
            </a:r>
            <a:endParaRPr/>
          </a:p>
          <a:p>
            <a:pPr indent="-342900" lvl="2" marL="742950" rtl="0" algn="l">
              <a:spcBef>
                <a:spcPts val="320"/>
              </a:spcBef>
              <a:spcAft>
                <a:spcPts val="0"/>
              </a:spcAft>
              <a:buClr>
                <a:schemeClr val="dk1"/>
              </a:buClr>
              <a:buSzPts val="1600"/>
              <a:buFont typeface="Noto Sans Symbols"/>
              <a:buChar char="⮚"/>
            </a:pPr>
            <a:r>
              <a:rPr lang="en-US"/>
              <a:t>Construction</a:t>
            </a:r>
            <a:endParaRPr/>
          </a:p>
          <a:p>
            <a:pPr indent="-342900" lvl="2" marL="742950" rtl="0" algn="l">
              <a:spcBef>
                <a:spcPts val="320"/>
              </a:spcBef>
              <a:spcAft>
                <a:spcPts val="0"/>
              </a:spcAft>
              <a:buClr>
                <a:schemeClr val="dk1"/>
              </a:buClr>
              <a:buSzPts val="1600"/>
              <a:buFont typeface="Noto Sans Symbols"/>
              <a:buChar char="⮚"/>
            </a:pPr>
            <a:r>
              <a:rPr lang="en-US"/>
              <a:t>Testing</a:t>
            </a:r>
            <a:endParaRPr/>
          </a:p>
          <a:p>
            <a:pPr indent="-342900" lvl="2" marL="742950" rtl="0" algn="l">
              <a:spcBef>
                <a:spcPts val="320"/>
              </a:spcBef>
              <a:spcAft>
                <a:spcPts val="0"/>
              </a:spcAft>
              <a:buClr>
                <a:schemeClr val="dk1"/>
              </a:buClr>
              <a:buSzPts val="1600"/>
              <a:buFont typeface="Noto Sans Symbols"/>
              <a:buChar char="⮚"/>
            </a:pPr>
            <a:r>
              <a:rPr lang="en-US"/>
              <a:t>Maintenance</a:t>
            </a:r>
            <a:endParaRPr/>
          </a:p>
          <a:p>
            <a:pPr indent="-241300" lvl="2" marL="742950" rtl="0" algn="l">
              <a:spcBef>
                <a:spcPts val="320"/>
              </a:spcBef>
              <a:spcAft>
                <a:spcPts val="0"/>
              </a:spcAft>
              <a:buClr>
                <a:schemeClr val="dk1"/>
              </a:buClr>
              <a:buSzPts val="1600"/>
              <a:buFont typeface="Noto Sans Symbols"/>
              <a:buNone/>
            </a:pPr>
            <a:r>
              <a:t/>
            </a:r>
            <a:endParaRPr/>
          </a:p>
          <a:p>
            <a:pPr indent="-215900" lvl="0" marL="342900" rtl="0" algn="l">
              <a:spcBef>
                <a:spcPts val="400"/>
              </a:spcBef>
              <a:spcAft>
                <a:spcPts val="0"/>
              </a:spcAft>
              <a:buClr>
                <a:schemeClr val="dk1"/>
              </a:buClr>
              <a:buSzPts val="2000"/>
              <a:buFont typeface="Noto Sans Symbols"/>
              <a:buNone/>
            </a:pPr>
            <a:r>
              <a:t/>
            </a:r>
            <a:endParaRPr/>
          </a:p>
          <a:p>
            <a:pPr indent="-285750" lvl="1" marL="742950" rtl="0" algn="l">
              <a:spcBef>
                <a:spcPts val="360"/>
              </a:spcBef>
              <a:spcAft>
                <a:spcPts val="0"/>
              </a:spcAft>
              <a:buClr>
                <a:schemeClr val="dk1"/>
              </a:buClr>
              <a:buSzPts val="1800"/>
              <a:buNone/>
            </a:pPr>
            <a:r>
              <a:t/>
            </a:r>
            <a:endParaRPr/>
          </a:p>
          <a:p>
            <a:pPr indent="-285750" lvl="1" marL="742950" rtl="0" algn="l">
              <a:spcBef>
                <a:spcPts val="360"/>
              </a:spcBef>
              <a:spcAft>
                <a:spcPts val="0"/>
              </a:spcAft>
              <a:buClr>
                <a:schemeClr val="dk1"/>
              </a:buClr>
              <a:buSzPts val="1800"/>
              <a:buNone/>
            </a:pPr>
            <a:r>
              <a:t/>
            </a:r>
            <a:endParaRPr/>
          </a:p>
          <a:p>
            <a:pPr indent="-171450" lvl="1" marL="742950" rtl="0" algn="l">
              <a:spcBef>
                <a:spcPts val="360"/>
              </a:spcBef>
              <a:spcAft>
                <a:spcPts val="0"/>
              </a:spcAft>
              <a:buClr>
                <a:schemeClr val="dk1"/>
              </a:buClr>
              <a:buSzPts val="1800"/>
              <a:buNone/>
            </a:pPr>
            <a:r>
              <a:t/>
            </a:r>
            <a:endParaRPr/>
          </a:p>
        </p:txBody>
      </p:sp>
      <p:sp>
        <p:nvSpPr>
          <p:cNvPr id="129" name="Google Shape;129;p5"/>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8/24/2012</a:t>
            </a:r>
            <a:endParaRPr/>
          </a:p>
        </p:txBody>
      </p:sp>
      <p:sp>
        <p:nvSpPr>
          <p:cNvPr id="130" name="Google Shape;130;p5"/>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131" name="Google Shape;131;p5"/>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C:\Users\cotero\AppData\Local\Microsoft\Windows\Temporary Internet Files\Content.IE5\ES8921MZ\MC900048773[1].wmf" id="132" name="Google Shape;132;p5"/>
          <p:cNvPicPr preferRelativeResize="0"/>
          <p:nvPr/>
        </p:nvPicPr>
        <p:blipFill rotWithShape="1">
          <a:blip r:embed="rId3">
            <a:alphaModFix/>
          </a:blip>
          <a:srcRect b="0" l="0" r="0" t="0"/>
          <a:stretch/>
        </p:blipFill>
        <p:spPr>
          <a:xfrm>
            <a:off x="7062014" y="4648200"/>
            <a:ext cx="1163190" cy="1295400"/>
          </a:xfrm>
          <a:prstGeom prst="rect">
            <a:avLst/>
          </a:prstGeom>
          <a:noFill/>
          <a:ln>
            <a:noFill/>
          </a:ln>
        </p:spPr>
      </p:pic>
      <p:sp>
        <p:nvSpPr>
          <p:cNvPr id="133" name="Google Shape;133;p5"/>
          <p:cNvSpPr/>
          <p:nvPr/>
        </p:nvSpPr>
        <p:spPr>
          <a:xfrm>
            <a:off x="6553200" y="2372258"/>
            <a:ext cx="2286000" cy="1447800"/>
          </a:xfrm>
          <a:prstGeom prst="cloudCallout">
            <a:avLst>
              <a:gd fmla="val -208" name="adj1"/>
              <a:gd fmla="val 100806" name="adj2"/>
            </a:avLst>
          </a:prstGeom>
          <a:noFill/>
          <a:ln cap="flat" cmpd="sng" w="9525">
            <a:solidFill>
              <a:srgbClr val="7F7F7F"/>
            </a:solidFill>
            <a:prstDash val="solid"/>
            <a:round/>
            <a:headEnd len="sm" w="sm" type="none"/>
            <a:tailEnd len="sm" w="sm" type="none"/>
          </a:ln>
          <a:effectLst>
            <a:outerShdw blurRad="635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34" name="Google Shape;134;p5"/>
          <p:cNvPicPr preferRelativeResize="0"/>
          <p:nvPr/>
        </p:nvPicPr>
        <p:blipFill rotWithShape="1">
          <a:blip r:embed="rId4">
            <a:alphaModFix/>
          </a:blip>
          <a:srcRect b="0" l="0" r="0" t="0"/>
          <a:stretch/>
        </p:blipFill>
        <p:spPr>
          <a:xfrm>
            <a:off x="6858001" y="2667000"/>
            <a:ext cx="381000" cy="260480"/>
          </a:xfrm>
          <a:prstGeom prst="rect">
            <a:avLst/>
          </a:prstGeom>
          <a:noFill/>
          <a:ln>
            <a:noFill/>
          </a:ln>
        </p:spPr>
      </p:pic>
      <p:pic>
        <p:nvPicPr>
          <p:cNvPr id="135" name="Google Shape;135;p5"/>
          <p:cNvPicPr preferRelativeResize="0"/>
          <p:nvPr/>
        </p:nvPicPr>
        <p:blipFill rotWithShape="1">
          <a:blip r:embed="rId5">
            <a:alphaModFix/>
          </a:blip>
          <a:srcRect b="0" l="0" r="0" t="0"/>
          <a:stretch/>
        </p:blipFill>
        <p:spPr>
          <a:xfrm>
            <a:off x="7772400" y="2590800"/>
            <a:ext cx="619369" cy="457200"/>
          </a:xfrm>
          <a:prstGeom prst="rect">
            <a:avLst/>
          </a:prstGeom>
          <a:noFill/>
          <a:ln>
            <a:noFill/>
          </a:ln>
        </p:spPr>
      </p:pic>
      <p:pic>
        <p:nvPicPr>
          <p:cNvPr id="136" name="Google Shape;136;p5"/>
          <p:cNvPicPr preferRelativeResize="0"/>
          <p:nvPr/>
        </p:nvPicPr>
        <p:blipFill rotWithShape="1">
          <a:blip r:embed="rId6">
            <a:alphaModFix/>
          </a:blip>
          <a:srcRect b="0" l="0" r="0" t="0"/>
          <a:stretch/>
        </p:blipFill>
        <p:spPr>
          <a:xfrm>
            <a:off x="6924675" y="2971800"/>
            <a:ext cx="1203208" cy="63491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6"/>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Software Engineering Design –Project Management</a:t>
            </a:r>
            <a:endParaRPr/>
          </a:p>
        </p:txBody>
      </p:sp>
      <p:sp>
        <p:nvSpPr>
          <p:cNvPr id="142" name="Google Shape;142;p6"/>
          <p:cNvSpPr txBox="1"/>
          <p:nvPr>
            <p:ph idx="1" type="body"/>
          </p:nvPr>
        </p:nvSpPr>
        <p:spPr>
          <a:xfrm>
            <a:off x="457200" y="1371601"/>
            <a:ext cx="8229600" cy="518159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Font typeface="Noto Sans Symbols"/>
              <a:buChar char="⮚"/>
            </a:pPr>
            <a:r>
              <a:rPr lang="en-US"/>
              <a:t>From the project management’s perspective, studying software design is important, mainly, because:</a:t>
            </a:r>
            <a:endParaRPr/>
          </a:p>
          <a:p>
            <a:pPr indent="-285750" lvl="1" marL="742950" rtl="0" algn="l">
              <a:spcBef>
                <a:spcPts val="360"/>
              </a:spcBef>
              <a:spcAft>
                <a:spcPts val="0"/>
              </a:spcAft>
              <a:buClr>
                <a:schemeClr val="dk1"/>
              </a:buClr>
              <a:buSzPts val="1800"/>
              <a:buChar char="✔"/>
            </a:pPr>
            <a:r>
              <a:rPr lang="en-US"/>
              <a:t>Good software design help minimize effects of requirements’ volatility</a:t>
            </a:r>
            <a:endParaRPr/>
          </a:p>
          <a:p>
            <a:pPr indent="-228600" lvl="2" marL="1143000" rtl="0" algn="l">
              <a:spcBef>
                <a:spcPts val="320"/>
              </a:spcBef>
              <a:spcAft>
                <a:spcPts val="0"/>
              </a:spcAft>
              <a:buClr>
                <a:schemeClr val="dk1"/>
              </a:buClr>
              <a:buSzPts val="1600"/>
              <a:buChar char="▪"/>
            </a:pPr>
            <a:r>
              <a:rPr lang="en-US"/>
              <a:t>This can minimize impact on schedule and cost.</a:t>
            </a:r>
            <a:endParaRPr/>
          </a:p>
          <a:p>
            <a:pPr indent="-285750" lvl="1" marL="742950" rtl="0" algn="l">
              <a:spcBef>
                <a:spcPts val="360"/>
              </a:spcBef>
              <a:spcAft>
                <a:spcPts val="0"/>
              </a:spcAft>
              <a:buClr>
                <a:schemeClr val="dk1"/>
              </a:buClr>
              <a:buSzPts val="1800"/>
              <a:buChar char="✔"/>
            </a:pPr>
            <a:r>
              <a:rPr lang="en-US"/>
              <a:t>Increases efficiency in human resource allocation.</a:t>
            </a:r>
            <a:endParaRPr/>
          </a:p>
          <a:p>
            <a:pPr indent="-228600" lvl="2" marL="1143000" rtl="0" algn="l">
              <a:spcBef>
                <a:spcPts val="320"/>
              </a:spcBef>
              <a:spcAft>
                <a:spcPts val="0"/>
              </a:spcAft>
              <a:buClr>
                <a:schemeClr val="dk1"/>
              </a:buClr>
              <a:buSzPts val="1600"/>
              <a:buChar char="▪"/>
            </a:pPr>
            <a:r>
              <a:rPr lang="en-US"/>
              <a:t>Designs decompose systems so that teams can work on                                          different parts of the problem in parallel.</a:t>
            </a:r>
            <a:endParaRPr/>
          </a:p>
          <a:p>
            <a:pPr indent="-228600" lvl="2" marL="1143000" rtl="0" algn="l">
              <a:spcBef>
                <a:spcPts val="320"/>
              </a:spcBef>
              <a:spcAft>
                <a:spcPts val="0"/>
              </a:spcAft>
              <a:buClr>
                <a:schemeClr val="dk1"/>
              </a:buClr>
              <a:buSzPts val="1600"/>
              <a:buChar char="▪"/>
            </a:pPr>
            <a:r>
              <a:rPr lang="en-US"/>
              <a:t>By decomposing system, teams can work in distributed fashion.</a:t>
            </a:r>
            <a:endParaRPr/>
          </a:p>
          <a:p>
            <a:pPr indent="-228600" lvl="2" marL="1143000" rtl="0" algn="l">
              <a:spcBef>
                <a:spcPts val="320"/>
              </a:spcBef>
              <a:spcAft>
                <a:spcPts val="0"/>
              </a:spcAft>
              <a:buClr>
                <a:schemeClr val="dk1"/>
              </a:buClr>
              <a:buSzPts val="1600"/>
              <a:buChar char="▪"/>
            </a:pPr>
            <a:r>
              <a:rPr lang="en-US"/>
              <a:t>These can have positive effects in schedule and cost.</a:t>
            </a:r>
            <a:endParaRPr/>
          </a:p>
          <a:p>
            <a:pPr indent="-285750" lvl="1" marL="742950" rtl="0" algn="l">
              <a:spcBef>
                <a:spcPts val="360"/>
              </a:spcBef>
              <a:spcAft>
                <a:spcPts val="0"/>
              </a:spcAft>
              <a:buClr>
                <a:schemeClr val="dk1"/>
              </a:buClr>
              <a:buSzPts val="1800"/>
              <a:buChar char="✔"/>
            </a:pPr>
            <a:r>
              <a:rPr lang="en-US"/>
              <a:t>Shields the project from having “one guy” owning the whole system.</a:t>
            </a:r>
            <a:endParaRPr/>
          </a:p>
          <a:p>
            <a:pPr indent="-228600" lvl="2" marL="1143000" rtl="0" algn="l">
              <a:spcBef>
                <a:spcPts val="320"/>
              </a:spcBef>
              <a:spcAft>
                <a:spcPts val="0"/>
              </a:spcAft>
              <a:buClr>
                <a:schemeClr val="dk1"/>
              </a:buClr>
              <a:buSzPts val="1600"/>
              <a:buChar char="▪"/>
            </a:pPr>
            <a:r>
              <a:rPr lang="en-US"/>
              <a:t>Multiple personnel owns multiple components.</a:t>
            </a:r>
            <a:endParaRPr/>
          </a:p>
          <a:p>
            <a:pPr indent="-228600" lvl="3" marL="1600200" rtl="0" algn="l">
              <a:spcBef>
                <a:spcPts val="280"/>
              </a:spcBef>
              <a:spcAft>
                <a:spcPts val="0"/>
              </a:spcAft>
              <a:buClr>
                <a:schemeClr val="dk1"/>
              </a:buClr>
              <a:buSzPts val="1400"/>
              <a:buChar char="–"/>
            </a:pPr>
            <a:r>
              <a:rPr lang="en-US"/>
              <a:t>If one leaves the company, it is easier to replace…</a:t>
            </a:r>
            <a:endParaRPr/>
          </a:p>
          <a:p>
            <a:pPr indent="-228600" lvl="2" marL="1143000" rtl="0" algn="l">
              <a:spcBef>
                <a:spcPts val="320"/>
              </a:spcBef>
              <a:spcAft>
                <a:spcPts val="0"/>
              </a:spcAft>
              <a:buClr>
                <a:schemeClr val="dk1"/>
              </a:buClr>
              <a:buSzPts val="1600"/>
              <a:buChar char="▪"/>
            </a:pPr>
            <a:r>
              <a:rPr lang="en-US"/>
              <a:t>Documented designs can be used by new personnel to minimize                                the learning curve.</a:t>
            </a:r>
            <a:endParaRPr/>
          </a:p>
          <a:p>
            <a:pPr indent="-342900" lvl="0" marL="342900" rtl="0" algn="l">
              <a:spcBef>
                <a:spcPts val="400"/>
              </a:spcBef>
              <a:spcAft>
                <a:spcPts val="0"/>
              </a:spcAft>
              <a:buClr>
                <a:schemeClr val="dk1"/>
              </a:buClr>
              <a:buSzPts val="2000"/>
              <a:buFont typeface="Noto Sans Symbols"/>
              <a:buChar char="⮚"/>
            </a:pPr>
            <a:r>
              <a:rPr lang="en-US"/>
              <a:t>Overall, design helps improve project management.</a:t>
            </a:r>
            <a:endParaRPr/>
          </a:p>
          <a:p>
            <a:pPr indent="-285750" lvl="1" marL="742950" rtl="0" algn="l">
              <a:spcBef>
                <a:spcPts val="360"/>
              </a:spcBef>
              <a:spcAft>
                <a:spcPts val="0"/>
              </a:spcAft>
              <a:buClr>
                <a:schemeClr val="dk1"/>
              </a:buClr>
              <a:buSzPts val="1800"/>
              <a:buChar char="✔"/>
            </a:pPr>
            <a:r>
              <a:rPr lang="en-US"/>
              <a:t>Planning, organization, staffing, and tracking  </a:t>
            </a:r>
            <a:endParaRPr/>
          </a:p>
          <a:p>
            <a:pPr indent="-127000" lvl="2" marL="1143000" rtl="0" algn="l">
              <a:spcBef>
                <a:spcPts val="320"/>
              </a:spcBef>
              <a:spcAft>
                <a:spcPts val="0"/>
              </a:spcAft>
              <a:buClr>
                <a:schemeClr val="dk1"/>
              </a:buClr>
              <a:buSzPts val="1600"/>
              <a:buNone/>
            </a:pPr>
            <a:r>
              <a:t/>
            </a:r>
            <a:endParaRPr/>
          </a:p>
        </p:txBody>
      </p:sp>
      <p:sp>
        <p:nvSpPr>
          <p:cNvPr id="143" name="Google Shape;143;p6"/>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8/24/2012</a:t>
            </a:r>
            <a:endParaRPr/>
          </a:p>
        </p:txBody>
      </p:sp>
      <p:sp>
        <p:nvSpPr>
          <p:cNvPr id="144" name="Google Shape;144;p6"/>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145" name="Google Shape;145;p6"/>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C:\Users\cotero\AppData\Local\Microsoft\Windows\Temporary Internet Files\Content.IE5\ES8921MZ\MC900048773[1].wmf" id="146" name="Google Shape;146;p6"/>
          <p:cNvPicPr preferRelativeResize="0"/>
          <p:nvPr/>
        </p:nvPicPr>
        <p:blipFill rotWithShape="1">
          <a:blip r:embed="rId3">
            <a:alphaModFix/>
          </a:blip>
          <a:srcRect b="0" l="0" r="0" t="0"/>
          <a:stretch/>
        </p:blipFill>
        <p:spPr>
          <a:xfrm>
            <a:off x="7162800" y="4648200"/>
            <a:ext cx="1100504" cy="1225589"/>
          </a:xfrm>
          <a:prstGeom prst="rect">
            <a:avLst/>
          </a:prstGeom>
          <a:noFill/>
          <a:ln>
            <a:noFill/>
          </a:ln>
        </p:spPr>
      </p:pic>
      <p:sp>
        <p:nvSpPr>
          <p:cNvPr id="147" name="Google Shape;147;p6"/>
          <p:cNvSpPr/>
          <p:nvPr/>
        </p:nvSpPr>
        <p:spPr>
          <a:xfrm>
            <a:off x="6553200" y="2372258"/>
            <a:ext cx="2286000" cy="1447800"/>
          </a:xfrm>
          <a:prstGeom prst="cloudCallout">
            <a:avLst>
              <a:gd fmla="val 3959" name="adj1"/>
              <a:gd fmla="val 100806" name="adj2"/>
            </a:avLst>
          </a:prstGeom>
          <a:noFill/>
          <a:ln cap="flat" cmpd="sng" w="9525">
            <a:solidFill>
              <a:srgbClr val="7F7F7F"/>
            </a:solidFill>
            <a:prstDash val="solid"/>
            <a:round/>
            <a:headEnd len="sm" w="sm" type="none"/>
            <a:tailEnd len="sm" w="sm" type="none"/>
          </a:ln>
          <a:effectLst>
            <a:outerShdw blurRad="635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C:\Users\cotero\AppData\Local\Microsoft\Windows\Temporary Internet Files\Content.IE5\6QQ1AAQV\MC900431586[1].png" id="148" name="Google Shape;148;p6"/>
          <p:cNvPicPr preferRelativeResize="0"/>
          <p:nvPr/>
        </p:nvPicPr>
        <p:blipFill rotWithShape="1">
          <a:blip r:embed="rId4">
            <a:alphaModFix/>
          </a:blip>
          <a:srcRect b="0" l="0" r="0" t="0"/>
          <a:stretch/>
        </p:blipFill>
        <p:spPr>
          <a:xfrm>
            <a:off x="8534400" y="3048000"/>
            <a:ext cx="228600" cy="228600"/>
          </a:xfrm>
          <a:prstGeom prst="rect">
            <a:avLst/>
          </a:prstGeom>
          <a:noFill/>
          <a:ln>
            <a:noFill/>
          </a:ln>
        </p:spPr>
      </p:pic>
      <p:pic>
        <p:nvPicPr>
          <p:cNvPr descr="C:\Users\cotero\AppData\Local\Microsoft\Windows\Temporary Internet Files\Content.IE5\6QQ1AAQV\MC900389188[1].wmf" id="149" name="Google Shape;149;p6"/>
          <p:cNvPicPr preferRelativeResize="0"/>
          <p:nvPr/>
        </p:nvPicPr>
        <p:blipFill rotWithShape="1">
          <a:blip r:embed="rId5">
            <a:alphaModFix/>
          </a:blip>
          <a:srcRect b="0" l="0" r="0" t="0"/>
          <a:stretch/>
        </p:blipFill>
        <p:spPr>
          <a:xfrm>
            <a:off x="6858000" y="2667000"/>
            <a:ext cx="533400" cy="557324"/>
          </a:xfrm>
          <a:prstGeom prst="rect">
            <a:avLst/>
          </a:prstGeom>
          <a:noFill/>
          <a:ln>
            <a:noFill/>
          </a:ln>
        </p:spPr>
      </p:pic>
      <p:pic>
        <p:nvPicPr>
          <p:cNvPr descr="C:\Users\cotero\AppData\Local\Microsoft\Windows\Temporary Internet Files\Content.IE5\MFZE6V1B\MC900441938[1].wmf" id="150" name="Google Shape;150;p6"/>
          <p:cNvPicPr preferRelativeResize="0"/>
          <p:nvPr/>
        </p:nvPicPr>
        <p:blipFill rotWithShape="1">
          <a:blip r:embed="rId6">
            <a:alphaModFix/>
          </a:blip>
          <a:srcRect b="0" l="0" r="0" t="0"/>
          <a:stretch/>
        </p:blipFill>
        <p:spPr>
          <a:xfrm>
            <a:off x="7620000" y="3276600"/>
            <a:ext cx="381000" cy="458505"/>
          </a:xfrm>
          <a:prstGeom prst="rect">
            <a:avLst/>
          </a:prstGeom>
          <a:noFill/>
          <a:ln>
            <a:noFill/>
          </a:ln>
        </p:spPr>
      </p:pic>
      <p:pic>
        <p:nvPicPr>
          <p:cNvPr descr="C:\Users\cotero\AppData\Local\Microsoft\Windows\Temporary Internet Files\Content.IE5\MFZE6V1B\MC900441459[1].png" id="151" name="Google Shape;151;p6"/>
          <p:cNvPicPr preferRelativeResize="0"/>
          <p:nvPr/>
        </p:nvPicPr>
        <p:blipFill rotWithShape="1">
          <a:blip r:embed="rId7">
            <a:alphaModFix/>
          </a:blip>
          <a:srcRect b="0" l="0" r="0" t="0"/>
          <a:stretch/>
        </p:blipFill>
        <p:spPr>
          <a:xfrm>
            <a:off x="6934200" y="3276600"/>
            <a:ext cx="457200" cy="457200"/>
          </a:xfrm>
          <a:prstGeom prst="rect">
            <a:avLst/>
          </a:prstGeom>
          <a:noFill/>
          <a:ln>
            <a:noFill/>
          </a:ln>
        </p:spPr>
      </p:pic>
      <p:pic>
        <p:nvPicPr>
          <p:cNvPr descr="C:\Users\cotero\AppData\Local\Microsoft\Windows\Temporary Internet Files\Content.IE5\ES8921MZ\MC900341865[1].jpg" id="152" name="Google Shape;152;p6"/>
          <p:cNvPicPr preferRelativeResize="0"/>
          <p:nvPr/>
        </p:nvPicPr>
        <p:blipFill rotWithShape="1">
          <a:blip r:embed="rId8">
            <a:alphaModFix/>
          </a:blip>
          <a:srcRect b="0" l="0" r="0" t="0"/>
          <a:stretch/>
        </p:blipFill>
        <p:spPr>
          <a:xfrm>
            <a:off x="8382000" y="2667000"/>
            <a:ext cx="304800" cy="291592"/>
          </a:xfrm>
          <a:prstGeom prst="rect">
            <a:avLst/>
          </a:prstGeom>
          <a:noFill/>
          <a:ln>
            <a:noFill/>
          </a:ln>
        </p:spPr>
      </p:pic>
      <p:pic>
        <p:nvPicPr>
          <p:cNvPr descr="C:\Users\cotero\AppData\Local\Microsoft\Windows\Temporary Internet Files\Content.IE5\07RO37DR\MC900341836[1].jpg" id="153" name="Google Shape;153;p6"/>
          <p:cNvPicPr preferRelativeResize="0"/>
          <p:nvPr/>
        </p:nvPicPr>
        <p:blipFill rotWithShape="1">
          <a:blip r:embed="rId9">
            <a:alphaModFix/>
          </a:blip>
          <a:srcRect b="0" l="0" r="0" t="0"/>
          <a:stretch/>
        </p:blipFill>
        <p:spPr>
          <a:xfrm>
            <a:off x="7429500" y="2514600"/>
            <a:ext cx="914400" cy="73609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7"/>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Software Design Challenges</a:t>
            </a:r>
            <a:endParaRPr/>
          </a:p>
        </p:txBody>
      </p:sp>
      <p:sp>
        <p:nvSpPr>
          <p:cNvPr id="159" name="Google Shape;159;p7"/>
          <p:cNvSpPr txBox="1"/>
          <p:nvPr>
            <p:ph idx="1" type="body"/>
          </p:nvPr>
        </p:nvSpPr>
        <p:spPr>
          <a:xfrm>
            <a:off x="457200" y="1371601"/>
            <a:ext cx="8229600" cy="5181599"/>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chemeClr val="dk1"/>
              </a:buClr>
              <a:buSzPts val="1700"/>
              <a:buFont typeface="Noto Sans Symbols"/>
              <a:buChar char="⮚"/>
            </a:pPr>
            <a:r>
              <a:rPr lang="en-US" sz="1700"/>
              <a:t>Today, the software design phase has evolved from an ad-hoc and sometimes overlooked phase to an essential phase of the development life-cycle.</a:t>
            </a:r>
            <a:endParaRPr/>
          </a:p>
          <a:p>
            <a:pPr indent="-234950" lvl="0" marL="342900" rtl="0" algn="l">
              <a:lnSpc>
                <a:spcPct val="80000"/>
              </a:lnSpc>
              <a:spcBef>
                <a:spcPts val="340"/>
              </a:spcBef>
              <a:spcAft>
                <a:spcPts val="0"/>
              </a:spcAft>
              <a:buClr>
                <a:schemeClr val="dk1"/>
              </a:buClr>
              <a:buSzPts val="1700"/>
              <a:buFont typeface="Noto Sans Symbols"/>
              <a:buNone/>
            </a:pPr>
            <a:r>
              <a:t/>
            </a:r>
            <a:endParaRPr sz="1700"/>
          </a:p>
          <a:p>
            <a:pPr indent="-342900" lvl="0" marL="342900" rtl="0" algn="l">
              <a:lnSpc>
                <a:spcPct val="80000"/>
              </a:lnSpc>
              <a:spcBef>
                <a:spcPts val="340"/>
              </a:spcBef>
              <a:spcAft>
                <a:spcPts val="0"/>
              </a:spcAft>
              <a:buClr>
                <a:schemeClr val="dk1"/>
              </a:buClr>
              <a:buSzPts val="1700"/>
              <a:buFont typeface="Noto Sans Symbols"/>
              <a:buChar char="⮚"/>
            </a:pPr>
            <a:r>
              <a:rPr lang="en-US" sz="1700"/>
              <a:t>The increasing complexity of today’s software systems has created a set of particular challenges that makes it hard for software engineers to meet the continuous customer demand for higher software quality.</a:t>
            </a:r>
            <a:endParaRPr/>
          </a:p>
          <a:p>
            <a:pPr indent="-234950" lvl="0" marL="342900" rtl="0" algn="l">
              <a:lnSpc>
                <a:spcPct val="80000"/>
              </a:lnSpc>
              <a:spcBef>
                <a:spcPts val="340"/>
              </a:spcBef>
              <a:spcAft>
                <a:spcPts val="0"/>
              </a:spcAft>
              <a:buClr>
                <a:schemeClr val="dk1"/>
              </a:buClr>
              <a:buSzPts val="1700"/>
              <a:buFont typeface="Noto Sans Symbols"/>
              <a:buNone/>
            </a:pPr>
            <a:r>
              <a:t/>
            </a:r>
            <a:endParaRPr sz="1700"/>
          </a:p>
          <a:p>
            <a:pPr indent="-342900" lvl="0" marL="342900" rtl="0" algn="l">
              <a:lnSpc>
                <a:spcPct val="80000"/>
              </a:lnSpc>
              <a:spcBef>
                <a:spcPts val="340"/>
              </a:spcBef>
              <a:spcAft>
                <a:spcPts val="0"/>
              </a:spcAft>
              <a:buClr>
                <a:schemeClr val="dk1"/>
              </a:buClr>
              <a:buSzPts val="1700"/>
              <a:buFont typeface="Noto Sans Symbols"/>
              <a:buChar char="⮚"/>
            </a:pPr>
            <a:r>
              <a:rPr lang="en-US" sz="1700"/>
              <a:t>These challenges have prompted software engineers to pay closer attention to the design process:</a:t>
            </a:r>
            <a:endParaRPr/>
          </a:p>
          <a:p>
            <a:pPr indent="-285750" lvl="1" marL="742950" rtl="0" algn="l">
              <a:lnSpc>
                <a:spcPct val="80000"/>
              </a:lnSpc>
              <a:spcBef>
                <a:spcPts val="306"/>
              </a:spcBef>
              <a:spcAft>
                <a:spcPts val="0"/>
              </a:spcAft>
              <a:buClr>
                <a:schemeClr val="dk1"/>
              </a:buClr>
              <a:buSzPts val="1530"/>
              <a:buChar char="✔"/>
            </a:pPr>
            <a:r>
              <a:rPr lang="en-US" sz="1530"/>
              <a:t>To better understand, apply, and promulgate well-known design principles, processes, and professional practices.</a:t>
            </a:r>
            <a:endParaRPr/>
          </a:p>
          <a:p>
            <a:pPr indent="-285750" lvl="1" marL="742950" rtl="0" algn="l">
              <a:lnSpc>
                <a:spcPct val="80000"/>
              </a:lnSpc>
              <a:spcBef>
                <a:spcPts val="306"/>
              </a:spcBef>
              <a:spcAft>
                <a:spcPts val="0"/>
              </a:spcAft>
              <a:buClr>
                <a:schemeClr val="dk1"/>
              </a:buClr>
              <a:buSzPts val="1530"/>
              <a:buNone/>
            </a:pPr>
            <a:r>
              <a:t/>
            </a:r>
            <a:endParaRPr sz="1530"/>
          </a:p>
          <a:p>
            <a:pPr indent="-342900" lvl="0" marL="342900" rtl="0" algn="l">
              <a:lnSpc>
                <a:spcPct val="80000"/>
              </a:lnSpc>
              <a:spcBef>
                <a:spcPts val="340"/>
              </a:spcBef>
              <a:spcAft>
                <a:spcPts val="0"/>
              </a:spcAft>
              <a:buClr>
                <a:schemeClr val="dk1"/>
              </a:buClr>
              <a:buSzPts val="1700"/>
              <a:buFont typeface="Noto Sans Symbols"/>
              <a:buChar char="⮚"/>
            </a:pPr>
            <a:r>
              <a:rPr lang="en-US" sz="1700"/>
              <a:t>The major design challenges include:</a:t>
            </a:r>
            <a:endParaRPr/>
          </a:p>
          <a:p>
            <a:pPr indent="-285750" lvl="1" marL="742950" rtl="0" algn="l">
              <a:lnSpc>
                <a:spcPct val="80000"/>
              </a:lnSpc>
              <a:spcBef>
                <a:spcPts val="306"/>
              </a:spcBef>
              <a:spcAft>
                <a:spcPts val="0"/>
              </a:spcAft>
              <a:buClr>
                <a:schemeClr val="dk1"/>
              </a:buClr>
              <a:buSzPts val="1530"/>
              <a:buChar char="✔"/>
            </a:pPr>
            <a:r>
              <a:rPr lang="en-US" sz="1530"/>
              <a:t>Requirements volatility</a:t>
            </a:r>
            <a:endParaRPr/>
          </a:p>
          <a:p>
            <a:pPr indent="-285750" lvl="1" marL="742950" rtl="0" algn="l">
              <a:lnSpc>
                <a:spcPct val="80000"/>
              </a:lnSpc>
              <a:spcBef>
                <a:spcPts val="306"/>
              </a:spcBef>
              <a:spcAft>
                <a:spcPts val="0"/>
              </a:spcAft>
              <a:buClr>
                <a:schemeClr val="dk1"/>
              </a:buClr>
              <a:buSzPts val="1530"/>
              <a:buChar char="✔"/>
            </a:pPr>
            <a:r>
              <a:rPr lang="en-US" sz="1530"/>
              <a:t>Inconsistent development processes</a:t>
            </a:r>
            <a:endParaRPr/>
          </a:p>
          <a:p>
            <a:pPr indent="-285750" lvl="1" marL="742950" rtl="0" algn="l">
              <a:lnSpc>
                <a:spcPct val="80000"/>
              </a:lnSpc>
              <a:spcBef>
                <a:spcPts val="306"/>
              </a:spcBef>
              <a:spcAft>
                <a:spcPts val="0"/>
              </a:spcAft>
              <a:buClr>
                <a:schemeClr val="dk1"/>
              </a:buClr>
              <a:buSzPts val="1530"/>
              <a:buChar char="✔"/>
            </a:pPr>
            <a:r>
              <a:rPr lang="en-US" sz="1530"/>
              <a:t>Fast, and ever-changing technology</a:t>
            </a:r>
            <a:endParaRPr/>
          </a:p>
          <a:p>
            <a:pPr indent="-285750" lvl="1" marL="742950" rtl="0" algn="l">
              <a:lnSpc>
                <a:spcPct val="80000"/>
              </a:lnSpc>
              <a:spcBef>
                <a:spcPts val="306"/>
              </a:spcBef>
              <a:spcAft>
                <a:spcPts val="0"/>
              </a:spcAft>
              <a:buClr>
                <a:schemeClr val="dk1"/>
              </a:buClr>
              <a:buSzPts val="1530"/>
              <a:buChar char="✔"/>
            </a:pPr>
            <a:r>
              <a:rPr lang="en-US" sz="1530"/>
              <a:t>Ethical and professional practices</a:t>
            </a:r>
            <a:endParaRPr/>
          </a:p>
          <a:p>
            <a:pPr indent="-285750" lvl="1" marL="742950" rtl="0" algn="l">
              <a:lnSpc>
                <a:spcPct val="80000"/>
              </a:lnSpc>
              <a:spcBef>
                <a:spcPts val="306"/>
              </a:spcBef>
              <a:spcAft>
                <a:spcPts val="0"/>
              </a:spcAft>
              <a:buClr>
                <a:schemeClr val="dk1"/>
              </a:buClr>
              <a:buSzPts val="1530"/>
              <a:buChar char="✔"/>
            </a:pPr>
            <a:r>
              <a:rPr lang="en-US" sz="1530"/>
              <a:t>Managing design influences</a:t>
            </a:r>
            <a:endParaRPr/>
          </a:p>
          <a:p>
            <a:pPr indent="-285750" lvl="1" marL="742950" rtl="0" algn="l">
              <a:lnSpc>
                <a:spcPct val="80000"/>
              </a:lnSpc>
              <a:spcBef>
                <a:spcPts val="306"/>
              </a:spcBef>
              <a:spcAft>
                <a:spcPts val="0"/>
              </a:spcAft>
              <a:buClr>
                <a:schemeClr val="dk1"/>
              </a:buClr>
              <a:buSzPts val="1530"/>
              <a:buNone/>
            </a:pPr>
            <a:r>
              <a:t/>
            </a:r>
            <a:endParaRPr sz="1530"/>
          </a:p>
          <a:p>
            <a:pPr indent="-342900" lvl="0" marL="342900" rtl="0" algn="l">
              <a:lnSpc>
                <a:spcPct val="80000"/>
              </a:lnSpc>
              <a:spcBef>
                <a:spcPts val="340"/>
              </a:spcBef>
              <a:spcAft>
                <a:spcPts val="0"/>
              </a:spcAft>
              <a:buClr>
                <a:schemeClr val="dk1"/>
              </a:buClr>
              <a:buSzPts val="1700"/>
              <a:buFont typeface="Noto Sans Symbols"/>
              <a:buChar char="⮚"/>
            </a:pPr>
            <a:r>
              <a:rPr lang="en-US" sz="1700"/>
              <a:t>To understand these better, we need to explore them in more depth…</a:t>
            </a:r>
            <a:endParaRPr/>
          </a:p>
          <a:p>
            <a:pPr indent="-188594" lvl="1" marL="742950" rtl="0" algn="l">
              <a:lnSpc>
                <a:spcPct val="80000"/>
              </a:lnSpc>
              <a:spcBef>
                <a:spcPts val="306"/>
              </a:spcBef>
              <a:spcAft>
                <a:spcPts val="0"/>
              </a:spcAft>
              <a:buClr>
                <a:schemeClr val="dk1"/>
              </a:buClr>
              <a:buSzPts val="1530"/>
              <a:buNone/>
            </a:pPr>
            <a:r>
              <a:t/>
            </a:r>
            <a:endParaRPr sz="1530"/>
          </a:p>
          <a:p>
            <a:pPr indent="-188594" lvl="1" marL="742950" rtl="0" algn="l">
              <a:lnSpc>
                <a:spcPct val="80000"/>
              </a:lnSpc>
              <a:spcBef>
                <a:spcPts val="306"/>
              </a:spcBef>
              <a:spcAft>
                <a:spcPts val="0"/>
              </a:spcAft>
              <a:buClr>
                <a:schemeClr val="dk1"/>
              </a:buClr>
              <a:buSzPts val="1530"/>
              <a:buNone/>
            </a:pPr>
            <a:r>
              <a:t/>
            </a:r>
            <a:endParaRPr sz="1530"/>
          </a:p>
        </p:txBody>
      </p:sp>
      <p:sp>
        <p:nvSpPr>
          <p:cNvPr id="160" name="Google Shape;160;p7"/>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8/24/2012</a:t>
            </a:r>
            <a:endParaRPr/>
          </a:p>
        </p:txBody>
      </p:sp>
      <p:sp>
        <p:nvSpPr>
          <p:cNvPr id="161" name="Google Shape;161;p7"/>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162" name="Google Shape;162;p7"/>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8"/>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160"/>
              <a:buFont typeface="Times New Roman"/>
              <a:buNone/>
            </a:pPr>
            <a:r>
              <a:rPr lang="en-US" sz="2160"/>
              <a:t>Software Design Challenge #1 – </a:t>
            </a:r>
            <a:br>
              <a:rPr lang="en-US" sz="2160"/>
            </a:br>
            <a:r>
              <a:rPr lang="en-US" sz="2160"/>
              <a:t>Requirements Volatility</a:t>
            </a:r>
            <a:endParaRPr sz="2160"/>
          </a:p>
        </p:txBody>
      </p:sp>
      <p:sp>
        <p:nvSpPr>
          <p:cNvPr id="168" name="Google Shape;168;p8"/>
          <p:cNvSpPr txBox="1"/>
          <p:nvPr>
            <p:ph idx="1" type="body"/>
          </p:nvPr>
        </p:nvSpPr>
        <p:spPr>
          <a:xfrm>
            <a:off x="457200" y="1371601"/>
            <a:ext cx="8229600" cy="480059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800"/>
              <a:buFont typeface="Noto Sans Symbols"/>
              <a:buChar char="⮚"/>
            </a:pPr>
            <a:r>
              <a:rPr lang="en-US" sz="1800"/>
              <a:t>Requirements’ volatility is a major reason for the complexity of software projects.</a:t>
            </a:r>
            <a:endParaRPr/>
          </a:p>
          <a:p>
            <a:pPr indent="-285750" lvl="1" marL="742950" rtl="0" algn="l">
              <a:spcBef>
                <a:spcPts val="320"/>
              </a:spcBef>
              <a:spcAft>
                <a:spcPts val="0"/>
              </a:spcAft>
              <a:buClr>
                <a:schemeClr val="dk1"/>
              </a:buClr>
              <a:buSzPts val="1600"/>
              <a:buChar char="✔"/>
            </a:pPr>
            <a:r>
              <a:rPr lang="en-US" sz="1600"/>
              <a:t>The common view is that  software can be modified “easily”</a:t>
            </a:r>
            <a:endParaRPr/>
          </a:p>
          <a:p>
            <a:pPr indent="-228600" lvl="2" marL="1143000" rtl="0" algn="l">
              <a:spcBef>
                <a:spcPts val="280"/>
              </a:spcBef>
              <a:spcAft>
                <a:spcPts val="0"/>
              </a:spcAft>
              <a:buClr>
                <a:schemeClr val="dk1"/>
              </a:buClr>
              <a:buSzPts val="1400"/>
              <a:buChar char="▪"/>
            </a:pPr>
            <a:r>
              <a:rPr lang="en-US" sz="1400"/>
              <a:t>Requirements are not fully specified before design and construction</a:t>
            </a:r>
            <a:endParaRPr/>
          </a:p>
          <a:p>
            <a:pPr indent="-228600" lvl="2" marL="1143000" rtl="0" algn="l">
              <a:spcBef>
                <a:spcPts val="280"/>
              </a:spcBef>
              <a:spcAft>
                <a:spcPts val="0"/>
              </a:spcAft>
              <a:buClr>
                <a:schemeClr val="dk1"/>
              </a:buClr>
              <a:buSzPts val="1400"/>
              <a:buChar char="▪"/>
            </a:pPr>
            <a:r>
              <a:rPr lang="en-US" sz="1400"/>
              <a:t>Requirements are changed after design and construction</a:t>
            </a:r>
            <a:endParaRPr/>
          </a:p>
          <a:p>
            <a:pPr indent="-285750" lvl="1" marL="742950" rtl="0" algn="l">
              <a:spcBef>
                <a:spcPts val="320"/>
              </a:spcBef>
              <a:spcAft>
                <a:spcPts val="0"/>
              </a:spcAft>
              <a:buClr>
                <a:schemeClr val="dk1"/>
              </a:buClr>
              <a:buSzPts val="1600"/>
              <a:buChar char="✔"/>
            </a:pPr>
            <a:r>
              <a:rPr lang="en-US" sz="1600"/>
              <a:t>Consider if we take this approach for the development of a house!</a:t>
            </a:r>
            <a:endParaRPr sz="1600"/>
          </a:p>
        </p:txBody>
      </p:sp>
      <p:sp>
        <p:nvSpPr>
          <p:cNvPr id="169" name="Google Shape;169;p8"/>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8/24/2012</a:t>
            </a:r>
            <a:endParaRPr/>
          </a:p>
        </p:txBody>
      </p:sp>
      <p:sp>
        <p:nvSpPr>
          <p:cNvPr id="170" name="Google Shape;170;p8"/>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171" name="Google Shape;171;p8"/>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C:\Users\cotero\AppData\Local\Microsoft\Windows\Temporary Internet Files\Content.IE5\6QQ1AAQV\MC900048773[1].wmf" id="172" name="Google Shape;172;p8"/>
          <p:cNvPicPr preferRelativeResize="0"/>
          <p:nvPr/>
        </p:nvPicPr>
        <p:blipFill rotWithShape="1">
          <a:blip r:embed="rId3">
            <a:alphaModFix/>
          </a:blip>
          <a:srcRect b="0" l="0" r="0" t="0"/>
          <a:stretch/>
        </p:blipFill>
        <p:spPr>
          <a:xfrm>
            <a:off x="4248150" y="4067175"/>
            <a:ext cx="685800" cy="609600"/>
          </a:xfrm>
          <a:prstGeom prst="rect">
            <a:avLst/>
          </a:prstGeom>
          <a:noFill/>
          <a:ln>
            <a:noFill/>
          </a:ln>
        </p:spPr>
      </p:pic>
      <p:sp>
        <p:nvSpPr>
          <p:cNvPr id="173" name="Google Shape;173;p8"/>
          <p:cNvSpPr/>
          <p:nvPr/>
        </p:nvSpPr>
        <p:spPr>
          <a:xfrm>
            <a:off x="4495800" y="2895600"/>
            <a:ext cx="1905000" cy="990600"/>
          </a:xfrm>
          <a:prstGeom prst="cloudCallout">
            <a:avLst>
              <a:gd fmla="val -35968" name="adj1"/>
              <a:gd fmla="val 68689" name="adj2"/>
            </a:avLst>
          </a:prstGeom>
          <a:noFill/>
          <a:ln cap="flat" cmpd="sng" w="9525">
            <a:solidFill>
              <a:srgbClr val="7F7F7F"/>
            </a:solidFill>
            <a:prstDash val="solid"/>
            <a:round/>
            <a:headEnd len="sm" w="sm" type="none"/>
            <a:tailEnd len="sm" w="sm" type="none"/>
          </a:ln>
          <a:effectLst>
            <a:outerShdw blurRad="635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4" name="Google Shape;174;p8"/>
          <p:cNvSpPr txBox="1"/>
          <p:nvPr/>
        </p:nvSpPr>
        <p:spPr>
          <a:xfrm>
            <a:off x="4800600" y="2971800"/>
            <a:ext cx="144780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Oops… I don’t remember seeing a requirement  for this…</a:t>
            </a:r>
            <a:endParaRPr sz="1200">
              <a:solidFill>
                <a:schemeClr val="dk1"/>
              </a:solidFill>
              <a:latin typeface="Calibri"/>
              <a:ea typeface="Calibri"/>
              <a:cs typeface="Calibri"/>
              <a:sym typeface="Calibri"/>
            </a:endParaRPr>
          </a:p>
        </p:txBody>
      </p:sp>
      <p:pic>
        <p:nvPicPr>
          <p:cNvPr descr="C:\Users\cotero\AppData\Local\Microsoft\Windows\Temporary Internet Files\Content.IE5\MFZE6V1B\MC900230760[1].wmf" id="175" name="Google Shape;175;p8"/>
          <p:cNvPicPr preferRelativeResize="0"/>
          <p:nvPr/>
        </p:nvPicPr>
        <p:blipFill rotWithShape="1">
          <a:blip r:embed="rId4">
            <a:alphaModFix/>
          </a:blip>
          <a:srcRect b="0" l="0" r="0" t="0"/>
          <a:stretch/>
        </p:blipFill>
        <p:spPr>
          <a:xfrm>
            <a:off x="2895600" y="3886200"/>
            <a:ext cx="1016152" cy="762341"/>
          </a:xfrm>
          <a:prstGeom prst="rect">
            <a:avLst/>
          </a:prstGeom>
          <a:noFill/>
          <a:ln>
            <a:noFill/>
          </a:ln>
        </p:spPr>
      </p:pic>
      <p:pic>
        <p:nvPicPr>
          <p:cNvPr descr="C:\Users\cotero\AppData\Local\Microsoft\Windows\Temporary Internet Files\Content.IE5\6QQ1AAQV\MP900442412[1].jpg" id="176" name="Google Shape;176;p8"/>
          <p:cNvPicPr preferRelativeResize="0"/>
          <p:nvPr/>
        </p:nvPicPr>
        <p:blipFill rotWithShape="1">
          <a:blip r:embed="rId5">
            <a:alphaModFix/>
          </a:blip>
          <a:srcRect b="0" l="0" r="0" t="0"/>
          <a:stretch/>
        </p:blipFill>
        <p:spPr>
          <a:xfrm>
            <a:off x="3505200" y="3505200"/>
            <a:ext cx="704123" cy="533400"/>
          </a:xfrm>
          <a:prstGeom prst="rect">
            <a:avLst/>
          </a:prstGeom>
          <a:noFill/>
          <a:ln>
            <a:noFill/>
          </a:ln>
        </p:spPr>
      </p:pic>
      <p:sp>
        <p:nvSpPr>
          <p:cNvPr id="177" name="Google Shape;177;p8"/>
          <p:cNvSpPr/>
          <p:nvPr/>
        </p:nvSpPr>
        <p:spPr>
          <a:xfrm>
            <a:off x="7850622" y="3490033"/>
            <a:ext cx="142875" cy="314799"/>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8" name="Google Shape;178;p8"/>
          <p:cNvSpPr/>
          <p:nvPr/>
        </p:nvSpPr>
        <p:spPr>
          <a:xfrm>
            <a:off x="6860022" y="3993712"/>
            <a:ext cx="1295400" cy="503679"/>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9" name="Google Shape;179;p8"/>
          <p:cNvSpPr/>
          <p:nvPr/>
        </p:nvSpPr>
        <p:spPr>
          <a:xfrm>
            <a:off x="7393422" y="4245552"/>
            <a:ext cx="228600" cy="251839"/>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0" name="Google Shape;180;p8"/>
          <p:cNvSpPr txBox="1"/>
          <p:nvPr/>
        </p:nvSpPr>
        <p:spPr>
          <a:xfrm>
            <a:off x="6477000" y="3048000"/>
            <a:ext cx="1980927" cy="30515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Product Developed</a:t>
            </a:r>
            <a:endParaRPr sz="1800">
              <a:solidFill>
                <a:schemeClr val="dk1"/>
              </a:solidFill>
              <a:latin typeface="Calibri"/>
              <a:ea typeface="Calibri"/>
              <a:cs typeface="Calibri"/>
              <a:sym typeface="Calibri"/>
            </a:endParaRPr>
          </a:p>
        </p:txBody>
      </p:sp>
      <p:grpSp>
        <p:nvGrpSpPr>
          <p:cNvPr id="181" name="Google Shape;181;p8"/>
          <p:cNvGrpSpPr/>
          <p:nvPr/>
        </p:nvGrpSpPr>
        <p:grpSpPr>
          <a:xfrm>
            <a:off x="762000" y="2971800"/>
            <a:ext cx="1687963" cy="1447800"/>
            <a:chOff x="6019800" y="3124200"/>
            <a:chExt cx="1687963" cy="1828800"/>
          </a:xfrm>
        </p:grpSpPr>
        <p:grpSp>
          <p:nvGrpSpPr>
            <p:cNvPr id="182" name="Google Shape;182;p8"/>
            <p:cNvGrpSpPr/>
            <p:nvPr/>
          </p:nvGrpSpPr>
          <p:grpSpPr>
            <a:xfrm>
              <a:off x="6096000" y="3505200"/>
              <a:ext cx="1447800" cy="1447800"/>
              <a:chOff x="6096000" y="4724400"/>
              <a:chExt cx="1447800" cy="1447800"/>
            </a:xfrm>
          </p:grpSpPr>
          <p:sp>
            <p:nvSpPr>
              <p:cNvPr id="183" name="Google Shape;183;p8"/>
              <p:cNvSpPr/>
              <p:nvPr/>
            </p:nvSpPr>
            <p:spPr>
              <a:xfrm>
                <a:off x="7162800" y="4876800"/>
                <a:ext cx="142875" cy="38100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4" name="Google Shape;184;p8"/>
              <p:cNvSpPr/>
              <p:nvPr/>
            </p:nvSpPr>
            <p:spPr>
              <a:xfrm>
                <a:off x="6096000" y="4724400"/>
                <a:ext cx="1447800" cy="838200"/>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5" name="Google Shape;185;p8"/>
              <p:cNvSpPr/>
              <p:nvPr/>
            </p:nvSpPr>
            <p:spPr>
              <a:xfrm>
                <a:off x="6172200" y="5562600"/>
                <a:ext cx="1295400" cy="60960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6" name="Google Shape;186;p8"/>
              <p:cNvSpPr/>
              <p:nvPr/>
            </p:nvSpPr>
            <p:spPr>
              <a:xfrm>
                <a:off x="6705600" y="5867400"/>
                <a:ext cx="228600" cy="30480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87" name="Google Shape;187;p8"/>
            <p:cNvSpPr txBox="1"/>
            <p:nvPr/>
          </p:nvSpPr>
          <p:spPr>
            <a:xfrm>
              <a:off x="6019800" y="3124200"/>
              <a:ext cx="168796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Desired Product</a:t>
              </a:r>
              <a:endParaRPr sz="1800">
                <a:solidFill>
                  <a:schemeClr val="dk1"/>
                </a:solidFill>
                <a:latin typeface="Calibri"/>
                <a:ea typeface="Calibri"/>
                <a:cs typeface="Calibri"/>
                <a:sym typeface="Calibri"/>
              </a:endParaRPr>
            </a:p>
          </p:txBody>
        </p:sp>
      </p:grpSp>
      <p:cxnSp>
        <p:nvCxnSpPr>
          <p:cNvPr id="188" name="Google Shape;188;p8"/>
          <p:cNvCxnSpPr/>
          <p:nvPr/>
        </p:nvCxnSpPr>
        <p:spPr>
          <a:xfrm>
            <a:off x="228600" y="4724400"/>
            <a:ext cx="8610600" cy="0"/>
          </a:xfrm>
          <a:prstGeom prst="straightConnector1">
            <a:avLst/>
          </a:prstGeom>
          <a:noFill/>
          <a:ln cap="flat" cmpd="sng" w="12700">
            <a:solidFill>
              <a:schemeClr val="dk1"/>
            </a:solidFill>
            <a:prstDash val="dash"/>
            <a:round/>
            <a:headEnd len="sm" w="sm" type="none"/>
            <a:tailEnd len="sm" w="sm" type="none"/>
          </a:ln>
        </p:spPr>
      </p:cxnSp>
      <p:grpSp>
        <p:nvGrpSpPr>
          <p:cNvPr id="189" name="Google Shape;189;p8"/>
          <p:cNvGrpSpPr/>
          <p:nvPr/>
        </p:nvGrpSpPr>
        <p:grpSpPr>
          <a:xfrm>
            <a:off x="685800" y="4800600"/>
            <a:ext cx="1980927" cy="1447800"/>
            <a:chOff x="6019800" y="3124200"/>
            <a:chExt cx="1980927" cy="1828800"/>
          </a:xfrm>
        </p:grpSpPr>
        <p:grpSp>
          <p:nvGrpSpPr>
            <p:cNvPr id="190" name="Google Shape;190;p8"/>
            <p:cNvGrpSpPr/>
            <p:nvPr/>
          </p:nvGrpSpPr>
          <p:grpSpPr>
            <a:xfrm>
              <a:off x="6096000" y="3505200"/>
              <a:ext cx="1447800" cy="1447800"/>
              <a:chOff x="6096000" y="4724400"/>
              <a:chExt cx="1447800" cy="1447800"/>
            </a:xfrm>
          </p:grpSpPr>
          <p:sp>
            <p:nvSpPr>
              <p:cNvPr id="191" name="Google Shape;191;p8"/>
              <p:cNvSpPr/>
              <p:nvPr/>
            </p:nvSpPr>
            <p:spPr>
              <a:xfrm>
                <a:off x="7162800" y="4876800"/>
                <a:ext cx="142875" cy="38100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2" name="Google Shape;192;p8"/>
              <p:cNvSpPr/>
              <p:nvPr/>
            </p:nvSpPr>
            <p:spPr>
              <a:xfrm>
                <a:off x="6096000" y="4724400"/>
                <a:ext cx="1447800" cy="838200"/>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3" name="Google Shape;193;p8"/>
              <p:cNvSpPr/>
              <p:nvPr/>
            </p:nvSpPr>
            <p:spPr>
              <a:xfrm>
                <a:off x="6172200" y="5562600"/>
                <a:ext cx="1295400" cy="60960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4" name="Google Shape;194;p8"/>
              <p:cNvSpPr/>
              <p:nvPr/>
            </p:nvSpPr>
            <p:spPr>
              <a:xfrm>
                <a:off x="6705600" y="5867400"/>
                <a:ext cx="228600" cy="30480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95" name="Google Shape;195;p8"/>
            <p:cNvSpPr txBox="1"/>
            <p:nvPr/>
          </p:nvSpPr>
          <p:spPr>
            <a:xfrm>
              <a:off x="6019800" y="3124200"/>
              <a:ext cx="1980927" cy="4665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Product Developed</a:t>
              </a:r>
              <a:endParaRPr sz="1800">
                <a:solidFill>
                  <a:schemeClr val="dk1"/>
                </a:solidFill>
                <a:latin typeface="Calibri"/>
                <a:ea typeface="Calibri"/>
                <a:cs typeface="Calibri"/>
                <a:sym typeface="Calibri"/>
              </a:endParaRPr>
            </a:p>
          </p:txBody>
        </p:sp>
      </p:grpSp>
      <p:grpSp>
        <p:nvGrpSpPr>
          <p:cNvPr id="196" name="Google Shape;196;p8"/>
          <p:cNvGrpSpPr/>
          <p:nvPr/>
        </p:nvGrpSpPr>
        <p:grpSpPr>
          <a:xfrm>
            <a:off x="1066800" y="4038600"/>
            <a:ext cx="228600" cy="228600"/>
            <a:chOff x="1066800" y="4038600"/>
            <a:chExt cx="228600" cy="228600"/>
          </a:xfrm>
        </p:grpSpPr>
        <p:sp>
          <p:nvSpPr>
            <p:cNvPr id="197" name="Google Shape;197;p8"/>
            <p:cNvSpPr/>
            <p:nvPr/>
          </p:nvSpPr>
          <p:spPr>
            <a:xfrm>
              <a:off x="1066800" y="4038600"/>
              <a:ext cx="228600" cy="228600"/>
            </a:xfrm>
            <a:prstGeom prst="rect">
              <a:avLst/>
            </a:prstGeom>
            <a:solidFill>
              <a:schemeClr val="l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98" name="Google Shape;198;p8"/>
            <p:cNvCxnSpPr>
              <a:stCxn id="197" idx="0"/>
              <a:endCxn id="197" idx="2"/>
            </p:cNvCxnSpPr>
            <p:nvPr/>
          </p:nvCxnSpPr>
          <p:spPr>
            <a:xfrm>
              <a:off x="1181100" y="4038600"/>
              <a:ext cx="0" cy="228600"/>
            </a:xfrm>
            <a:prstGeom prst="straightConnector1">
              <a:avLst/>
            </a:prstGeom>
            <a:noFill/>
            <a:ln cap="flat" cmpd="sng" w="9525">
              <a:solidFill>
                <a:srgbClr val="4A7DBA"/>
              </a:solidFill>
              <a:prstDash val="solid"/>
              <a:round/>
              <a:headEnd len="sm" w="sm" type="none"/>
              <a:tailEnd len="sm" w="sm" type="none"/>
            </a:ln>
          </p:spPr>
        </p:cxnSp>
        <p:cxnSp>
          <p:nvCxnSpPr>
            <p:cNvPr id="199" name="Google Shape;199;p8"/>
            <p:cNvCxnSpPr>
              <a:stCxn id="197" idx="1"/>
              <a:endCxn id="197" idx="3"/>
            </p:cNvCxnSpPr>
            <p:nvPr/>
          </p:nvCxnSpPr>
          <p:spPr>
            <a:xfrm>
              <a:off x="1066800" y="4152900"/>
              <a:ext cx="228600" cy="0"/>
            </a:xfrm>
            <a:prstGeom prst="straightConnector1">
              <a:avLst/>
            </a:prstGeom>
            <a:noFill/>
            <a:ln cap="flat" cmpd="sng" w="9525">
              <a:solidFill>
                <a:srgbClr val="4A7DBA"/>
              </a:solidFill>
              <a:prstDash val="solid"/>
              <a:round/>
              <a:headEnd len="sm" w="sm" type="none"/>
              <a:tailEnd len="sm" w="sm" type="none"/>
            </a:ln>
          </p:spPr>
        </p:cxnSp>
      </p:grpSp>
      <p:grpSp>
        <p:nvGrpSpPr>
          <p:cNvPr id="200" name="Google Shape;200;p8"/>
          <p:cNvGrpSpPr/>
          <p:nvPr/>
        </p:nvGrpSpPr>
        <p:grpSpPr>
          <a:xfrm>
            <a:off x="1828800" y="4038600"/>
            <a:ext cx="228600" cy="228600"/>
            <a:chOff x="1066800" y="4038600"/>
            <a:chExt cx="228600" cy="228600"/>
          </a:xfrm>
        </p:grpSpPr>
        <p:sp>
          <p:nvSpPr>
            <p:cNvPr id="201" name="Google Shape;201;p8"/>
            <p:cNvSpPr/>
            <p:nvPr/>
          </p:nvSpPr>
          <p:spPr>
            <a:xfrm>
              <a:off x="1066800" y="4038600"/>
              <a:ext cx="228600" cy="228600"/>
            </a:xfrm>
            <a:prstGeom prst="rect">
              <a:avLst/>
            </a:prstGeom>
            <a:solidFill>
              <a:schemeClr val="l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02" name="Google Shape;202;p8"/>
            <p:cNvCxnSpPr>
              <a:stCxn id="201" idx="0"/>
              <a:endCxn id="201" idx="2"/>
            </p:cNvCxnSpPr>
            <p:nvPr/>
          </p:nvCxnSpPr>
          <p:spPr>
            <a:xfrm>
              <a:off x="1181100" y="4038600"/>
              <a:ext cx="0" cy="228600"/>
            </a:xfrm>
            <a:prstGeom prst="straightConnector1">
              <a:avLst/>
            </a:prstGeom>
            <a:noFill/>
            <a:ln cap="flat" cmpd="sng" w="9525">
              <a:solidFill>
                <a:srgbClr val="4A7DBA"/>
              </a:solidFill>
              <a:prstDash val="solid"/>
              <a:round/>
              <a:headEnd len="sm" w="sm" type="none"/>
              <a:tailEnd len="sm" w="sm" type="none"/>
            </a:ln>
          </p:spPr>
        </p:cxnSp>
        <p:cxnSp>
          <p:nvCxnSpPr>
            <p:cNvPr id="203" name="Google Shape;203;p8"/>
            <p:cNvCxnSpPr>
              <a:stCxn id="201" idx="1"/>
              <a:endCxn id="201" idx="3"/>
            </p:cNvCxnSpPr>
            <p:nvPr/>
          </p:nvCxnSpPr>
          <p:spPr>
            <a:xfrm>
              <a:off x="1066800" y="4152900"/>
              <a:ext cx="228600" cy="0"/>
            </a:xfrm>
            <a:prstGeom prst="straightConnector1">
              <a:avLst/>
            </a:prstGeom>
            <a:noFill/>
            <a:ln cap="flat" cmpd="sng" w="9525">
              <a:solidFill>
                <a:srgbClr val="4A7DBA"/>
              </a:solidFill>
              <a:prstDash val="solid"/>
              <a:round/>
              <a:headEnd len="sm" w="sm" type="none"/>
              <a:tailEnd len="sm" w="sm" type="none"/>
            </a:ln>
          </p:spPr>
        </p:cxnSp>
      </p:grpSp>
      <p:grpSp>
        <p:nvGrpSpPr>
          <p:cNvPr id="204" name="Google Shape;204;p8"/>
          <p:cNvGrpSpPr/>
          <p:nvPr/>
        </p:nvGrpSpPr>
        <p:grpSpPr>
          <a:xfrm>
            <a:off x="7010400" y="4114800"/>
            <a:ext cx="228600" cy="228600"/>
            <a:chOff x="1066800" y="4038600"/>
            <a:chExt cx="228600" cy="228600"/>
          </a:xfrm>
        </p:grpSpPr>
        <p:sp>
          <p:nvSpPr>
            <p:cNvPr id="205" name="Google Shape;205;p8"/>
            <p:cNvSpPr/>
            <p:nvPr/>
          </p:nvSpPr>
          <p:spPr>
            <a:xfrm>
              <a:off x="1066800" y="4038600"/>
              <a:ext cx="228600" cy="228600"/>
            </a:xfrm>
            <a:prstGeom prst="rect">
              <a:avLst/>
            </a:prstGeom>
            <a:solidFill>
              <a:schemeClr val="l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06" name="Google Shape;206;p8"/>
            <p:cNvCxnSpPr>
              <a:stCxn id="205" idx="0"/>
              <a:endCxn id="205" idx="2"/>
            </p:cNvCxnSpPr>
            <p:nvPr/>
          </p:nvCxnSpPr>
          <p:spPr>
            <a:xfrm>
              <a:off x="1181100" y="4038600"/>
              <a:ext cx="0" cy="228600"/>
            </a:xfrm>
            <a:prstGeom prst="straightConnector1">
              <a:avLst/>
            </a:prstGeom>
            <a:noFill/>
            <a:ln cap="flat" cmpd="sng" w="9525">
              <a:solidFill>
                <a:srgbClr val="4A7DBA"/>
              </a:solidFill>
              <a:prstDash val="solid"/>
              <a:round/>
              <a:headEnd len="sm" w="sm" type="none"/>
              <a:tailEnd len="sm" w="sm" type="none"/>
            </a:ln>
          </p:spPr>
        </p:cxnSp>
        <p:cxnSp>
          <p:nvCxnSpPr>
            <p:cNvPr id="207" name="Google Shape;207;p8"/>
            <p:cNvCxnSpPr>
              <a:stCxn id="205" idx="1"/>
              <a:endCxn id="205" idx="3"/>
            </p:cNvCxnSpPr>
            <p:nvPr/>
          </p:nvCxnSpPr>
          <p:spPr>
            <a:xfrm>
              <a:off x="1066800" y="4152900"/>
              <a:ext cx="228600" cy="0"/>
            </a:xfrm>
            <a:prstGeom prst="straightConnector1">
              <a:avLst/>
            </a:prstGeom>
            <a:noFill/>
            <a:ln cap="flat" cmpd="sng" w="9525">
              <a:solidFill>
                <a:srgbClr val="4A7DBA"/>
              </a:solidFill>
              <a:prstDash val="solid"/>
              <a:round/>
              <a:headEnd len="sm" w="sm" type="none"/>
              <a:tailEnd len="sm" w="sm" type="none"/>
            </a:ln>
          </p:spPr>
        </p:cxnSp>
      </p:grpSp>
      <p:grpSp>
        <p:nvGrpSpPr>
          <p:cNvPr id="208" name="Google Shape;208;p8"/>
          <p:cNvGrpSpPr/>
          <p:nvPr/>
        </p:nvGrpSpPr>
        <p:grpSpPr>
          <a:xfrm>
            <a:off x="7772400" y="4114800"/>
            <a:ext cx="228600" cy="228600"/>
            <a:chOff x="1066800" y="4038600"/>
            <a:chExt cx="228600" cy="228600"/>
          </a:xfrm>
        </p:grpSpPr>
        <p:sp>
          <p:nvSpPr>
            <p:cNvPr id="209" name="Google Shape;209;p8"/>
            <p:cNvSpPr/>
            <p:nvPr/>
          </p:nvSpPr>
          <p:spPr>
            <a:xfrm>
              <a:off x="1066800" y="4038600"/>
              <a:ext cx="228600" cy="228600"/>
            </a:xfrm>
            <a:prstGeom prst="rect">
              <a:avLst/>
            </a:prstGeom>
            <a:solidFill>
              <a:schemeClr val="l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10" name="Google Shape;210;p8"/>
            <p:cNvCxnSpPr>
              <a:stCxn id="209" idx="0"/>
              <a:endCxn id="209" idx="2"/>
            </p:cNvCxnSpPr>
            <p:nvPr/>
          </p:nvCxnSpPr>
          <p:spPr>
            <a:xfrm>
              <a:off x="1181100" y="4038600"/>
              <a:ext cx="0" cy="228600"/>
            </a:xfrm>
            <a:prstGeom prst="straightConnector1">
              <a:avLst/>
            </a:prstGeom>
            <a:noFill/>
            <a:ln cap="flat" cmpd="sng" w="9525">
              <a:solidFill>
                <a:srgbClr val="4A7DBA"/>
              </a:solidFill>
              <a:prstDash val="solid"/>
              <a:round/>
              <a:headEnd len="sm" w="sm" type="none"/>
              <a:tailEnd len="sm" w="sm" type="none"/>
            </a:ln>
          </p:spPr>
        </p:cxnSp>
        <p:cxnSp>
          <p:nvCxnSpPr>
            <p:cNvPr id="211" name="Google Shape;211;p8"/>
            <p:cNvCxnSpPr>
              <a:stCxn id="209" idx="1"/>
              <a:endCxn id="209" idx="3"/>
            </p:cNvCxnSpPr>
            <p:nvPr/>
          </p:nvCxnSpPr>
          <p:spPr>
            <a:xfrm>
              <a:off x="1066800" y="4152900"/>
              <a:ext cx="228600" cy="0"/>
            </a:xfrm>
            <a:prstGeom prst="straightConnector1">
              <a:avLst/>
            </a:prstGeom>
            <a:noFill/>
            <a:ln cap="flat" cmpd="sng" w="9525">
              <a:solidFill>
                <a:srgbClr val="4A7DBA"/>
              </a:solidFill>
              <a:prstDash val="solid"/>
              <a:round/>
              <a:headEnd len="sm" w="sm" type="none"/>
              <a:tailEnd len="sm" w="sm" type="none"/>
            </a:ln>
          </p:spPr>
        </p:cxnSp>
      </p:grpSp>
      <p:sp>
        <p:nvSpPr>
          <p:cNvPr id="212" name="Google Shape;212;p8"/>
          <p:cNvSpPr/>
          <p:nvPr/>
        </p:nvSpPr>
        <p:spPr>
          <a:xfrm rot="655918">
            <a:off x="6781558" y="3428280"/>
            <a:ext cx="1697238" cy="692558"/>
          </a:xfrm>
          <a:prstGeom prst="triangle">
            <a:avLst>
              <a:gd fmla="val 50000"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13" name="Google Shape;213;p8"/>
          <p:cNvGrpSpPr/>
          <p:nvPr/>
        </p:nvGrpSpPr>
        <p:grpSpPr>
          <a:xfrm>
            <a:off x="990600" y="5867400"/>
            <a:ext cx="228600" cy="228600"/>
            <a:chOff x="1066800" y="4038600"/>
            <a:chExt cx="228600" cy="228600"/>
          </a:xfrm>
        </p:grpSpPr>
        <p:sp>
          <p:nvSpPr>
            <p:cNvPr id="214" name="Google Shape;214;p8"/>
            <p:cNvSpPr/>
            <p:nvPr/>
          </p:nvSpPr>
          <p:spPr>
            <a:xfrm>
              <a:off x="1066800" y="4038600"/>
              <a:ext cx="228600" cy="228600"/>
            </a:xfrm>
            <a:prstGeom prst="rect">
              <a:avLst/>
            </a:prstGeom>
            <a:solidFill>
              <a:schemeClr val="l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15" name="Google Shape;215;p8"/>
            <p:cNvCxnSpPr>
              <a:stCxn id="214" idx="0"/>
              <a:endCxn id="214" idx="2"/>
            </p:cNvCxnSpPr>
            <p:nvPr/>
          </p:nvCxnSpPr>
          <p:spPr>
            <a:xfrm>
              <a:off x="1181100" y="4038600"/>
              <a:ext cx="0" cy="228600"/>
            </a:xfrm>
            <a:prstGeom prst="straightConnector1">
              <a:avLst/>
            </a:prstGeom>
            <a:noFill/>
            <a:ln cap="flat" cmpd="sng" w="9525">
              <a:solidFill>
                <a:srgbClr val="4A7DBA"/>
              </a:solidFill>
              <a:prstDash val="solid"/>
              <a:round/>
              <a:headEnd len="sm" w="sm" type="none"/>
              <a:tailEnd len="sm" w="sm" type="none"/>
            </a:ln>
          </p:spPr>
        </p:cxnSp>
        <p:cxnSp>
          <p:nvCxnSpPr>
            <p:cNvPr id="216" name="Google Shape;216;p8"/>
            <p:cNvCxnSpPr>
              <a:stCxn id="214" idx="1"/>
              <a:endCxn id="214" idx="3"/>
            </p:cNvCxnSpPr>
            <p:nvPr/>
          </p:nvCxnSpPr>
          <p:spPr>
            <a:xfrm>
              <a:off x="1066800" y="4152900"/>
              <a:ext cx="228600" cy="0"/>
            </a:xfrm>
            <a:prstGeom prst="straightConnector1">
              <a:avLst/>
            </a:prstGeom>
            <a:noFill/>
            <a:ln cap="flat" cmpd="sng" w="9525">
              <a:solidFill>
                <a:srgbClr val="4A7DBA"/>
              </a:solidFill>
              <a:prstDash val="solid"/>
              <a:round/>
              <a:headEnd len="sm" w="sm" type="none"/>
              <a:tailEnd len="sm" w="sm" type="none"/>
            </a:ln>
          </p:spPr>
        </p:cxnSp>
      </p:grpSp>
      <p:grpSp>
        <p:nvGrpSpPr>
          <p:cNvPr id="217" name="Google Shape;217;p8"/>
          <p:cNvGrpSpPr/>
          <p:nvPr/>
        </p:nvGrpSpPr>
        <p:grpSpPr>
          <a:xfrm>
            <a:off x="1752600" y="5867400"/>
            <a:ext cx="228600" cy="228600"/>
            <a:chOff x="1066800" y="4038600"/>
            <a:chExt cx="228600" cy="228600"/>
          </a:xfrm>
        </p:grpSpPr>
        <p:sp>
          <p:nvSpPr>
            <p:cNvPr id="218" name="Google Shape;218;p8"/>
            <p:cNvSpPr/>
            <p:nvPr/>
          </p:nvSpPr>
          <p:spPr>
            <a:xfrm>
              <a:off x="1066800" y="4038600"/>
              <a:ext cx="228600" cy="228600"/>
            </a:xfrm>
            <a:prstGeom prst="rect">
              <a:avLst/>
            </a:prstGeom>
            <a:solidFill>
              <a:schemeClr val="l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19" name="Google Shape;219;p8"/>
            <p:cNvCxnSpPr>
              <a:stCxn id="218" idx="0"/>
              <a:endCxn id="218" idx="2"/>
            </p:cNvCxnSpPr>
            <p:nvPr/>
          </p:nvCxnSpPr>
          <p:spPr>
            <a:xfrm>
              <a:off x="1181100" y="4038600"/>
              <a:ext cx="0" cy="228600"/>
            </a:xfrm>
            <a:prstGeom prst="straightConnector1">
              <a:avLst/>
            </a:prstGeom>
            <a:noFill/>
            <a:ln cap="flat" cmpd="sng" w="9525">
              <a:solidFill>
                <a:srgbClr val="4A7DBA"/>
              </a:solidFill>
              <a:prstDash val="solid"/>
              <a:round/>
              <a:headEnd len="sm" w="sm" type="none"/>
              <a:tailEnd len="sm" w="sm" type="none"/>
            </a:ln>
          </p:spPr>
        </p:cxnSp>
        <p:cxnSp>
          <p:nvCxnSpPr>
            <p:cNvPr id="220" name="Google Shape;220;p8"/>
            <p:cNvCxnSpPr>
              <a:stCxn id="218" idx="1"/>
              <a:endCxn id="218" idx="3"/>
            </p:cNvCxnSpPr>
            <p:nvPr/>
          </p:nvCxnSpPr>
          <p:spPr>
            <a:xfrm>
              <a:off x="1066800" y="4152900"/>
              <a:ext cx="228600" cy="0"/>
            </a:xfrm>
            <a:prstGeom prst="straightConnector1">
              <a:avLst/>
            </a:prstGeom>
            <a:noFill/>
            <a:ln cap="flat" cmpd="sng" w="9525">
              <a:solidFill>
                <a:srgbClr val="4A7DBA"/>
              </a:solidFill>
              <a:prstDash val="solid"/>
              <a:round/>
              <a:headEnd len="sm" w="sm" type="none"/>
              <a:tailEnd len="sm" w="sm" type="none"/>
            </a:ln>
          </p:spPr>
        </p:cxnSp>
      </p:grpSp>
      <p:pic>
        <p:nvPicPr>
          <p:cNvPr descr="C:\Users\cotero\AppData\Local\Microsoft\Windows\Temporary Internet Files\Content.IE5\MFZE6V1B\MC900230760[1].wmf" id="221" name="Google Shape;221;p8"/>
          <p:cNvPicPr preferRelativeResize="0"/>
          <p:nvPr/>
        </p:nvPicPr>
        <p:blipFill rotWithShape="1">
          <a:blip r:embed="rId4">
            <a:alphaModFix/>
          </a:blip>
          <a:srcRect b="0" l="0" r="0" t="0"/>
          <a:stretch/>
        </p:blipFill>
        <p:spPr>
          <a:xfrm>
            <a:off x="2667000" y="5791200"/>
            <a:ext cx="1016152" cy="762341"/>
          </a:xfrm>
          <a:prstGeom prst="rect">
            <a:avLst/>
          </a:prstGeom>
          <a:noFill/>
          <a:ln>
            <a:noFill/>
          </a:ln>
        </p:spPr>
      </p:pic>
      <p:sp>
        <p:nvSpPr>
          <p:cNvPr id="222" name="Google Shape;222;p8"/>
          <p:cNvSpPr/>
          <p:nvPr/>
        </p:nvSpPr>
        <p:spPr>
          <a:xfrm>
            <a:off x="3124200" y="4953000"/>
            <a:ext cx="1905000" cy="914400"/>
          </a:xfrm>
          <a:prstGeom prst="cloudCallout">
            <a:avLst>
              <a:gd fmla="val -35968" name="adj1"/>
              <a:gd fmla="val 68689" name="adj2"/>
            </a:avLst>
          </a:prstGeom>
          <a:noFill/>
          <a:ln cap="flat" cmpd="sng" w="9525">
            <a:solidFill>
              <a:srgbClr val="7F7F7F"/>
            </a:solidFill>
            <a:prstDash val="solid"/>
            <a:round/>
            <a:headEnd len="sm" w="sm" type="none"/>
            <a:tailEnd len="sm" w="sm" type="none"/>
          </a:ln>
          <a:effectLst>
            <a:outerShdw blurRad="635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3" name="Google Shape;223;p8"/>
          <p:cNvSpPr txBox="1"/>
          <p:nvPr/>
        </p:nvSpPr>
        <p:spPr>
          <a:xfrm>
            <a:off x="3381375" y="5001994"/>
            <a:ext cx="152400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Customers now want a bigger house and more windows by next week!</a:t>
            </a:r>
            <a:endParaRPr sz="1200">
              <a:solidFill>
                <a:schemeClr val="dk1"/>
              </a:solidFill>
              <a:latin typeface="Calibri"/>
              <a:ea typeface="Calibri"/>
              <a:cs typeface="Calibri"/>
              <a:sym typeface="Calibri"/>
            </a:endParaRPr>
          </a:p>
        </p:txBody>
      </p:sp>
      <p:pic>
        <p:nvPicPr>
          <p:cNvPr descr="C:\Users\cotero\AppData\Local\Microsoft\Windows\Temporary Internet Files\Content.IE5\6QQ1AAQV\MC900048773[1].wmf" id="224" name="Google Shape;224;p8"/>
          <p:cNvPicPr preferRelativeResize="0"/>
          <p:nvPr/>
        </p:nvPicPr>
        <p:blipFill rotWithShape="1">
          <a:blip r:embed="rId3">
            <a:alphaModFix/>
          </a:blip>
          <a:srcRect b="0" l="0" r="0" t="0"/>
          <a:stretch/>
        </p:blipFill>
        <p:spPr>
          <a:xfrm>
            <a:off x="5334000" y="5791200"/>
            <a:ext cx="685800" cy="609600"/>
          </a:xfrm>
          <a:prstGeom prst="rect">
            <a:avLst/>
          </a:prstGeom>
          <a:noFill/>
          <a:ln>
            <a:noFill/>
          </a:ln>
        </p:spPr>
      </p:pic>
      <p:sp>
        <p:nvSpPr>
          <p:cNvPr id="225" name="Google Shape;225;p8"/>
          <p:cNvSpPr/>
          <p:nvPr/>
        </p:nvSpPr>
        <p:spPr>
          <a:xfrm>
            <a:off x="5791200" y="5029200"/>
            <a:ext cx="1752600" cy="762000"/>
          </a:xfrm>
          <a:prstGeom prst="cloudCallout">
            <a:avLst>
              <a:gd fmla="val -35968" name="adj1"/>
              <a:gd fmla="val 68689" name="adj2"/>
            </a:avLst>
          </a:prstGeom>
          <a:noFill/>
          <a:ln cap="flat" cmpd="sng" w="9525">
            <a:solidFill>
              <a:srgbClr val="7F7F7F"/>
            </a:solidFill>
            <a:prstDash val="solid"/>
            <a:round/>
            <a:headEnd len="sm" w="sm" type="none"/>
            <a:tailEnd len="sm" w="sm" type="none"/>
          </a:ln>
          <a:effectLst>
            <a:outerShdw blurRad="635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6" name="Google Shape;226;p8"/>
          <p:cNvSpPr txBox="1"/>
          <p:nvPr/>
        </p:nvSpPr>
        <p:spPr>
          <a:xfrm>
            <a:off x="6019800" y="5181600"/>
            <a:ext cx="14478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There goes my job again!!</a:t>
            </a:r>
            <a:endParaRPr sz="12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9"/>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160"/>
              <a:buFont typeface="Times New Roman"/>
              <a:buNone/>
            </a:pPr>
            <a:r>
              <a:rPr lang="en-US" sz="2160"/>
              <a:t>Software Design Challenge #1 – </a:t>
            </a:r>
            <a:br>
              <a:rPr lang="en-US" sz="2160"/>
            </a:br>
            <a:r>
              <a:rPr lang="en-US" sz="2160"/>
              <a:t>Requirements Volatility</a:t>
            </a:r>
            <a:endParaRPr sz="2160"/>
          </a:p>
        </p:txBody>
      </p:sp>
      <p:sp>
        <p:nvSpPr>
          <p:cNvPr id="232" name="Google Shape;232;p9"/>
          <p:cNvSpPr txBox="1"/>
          <p:nvPr>
            <p:ph idx="1" type="body"/>
          </p:nvPr>
        </p:nvSpPr>
        <p:spPr>
          <a:xfrm>
            <a:off x="457200" y="1371601"/>
            <a:ext cx="8229600" cy="480059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Font typeface="Noto Sans Symbols"/>
              <a:buChar char="⮚"/>
            </a:pPr>
            <a:r>
              <a:rPr lang="en-US"/>
              <a:t>In software projects, although much effort is put into the requirements phase to ensure that requirements are complete and consistent, that is rarely the case.</a:t>
            </a:r>
            <a:endParaRPr/>
          </a:p>
          <a:p>
            <a:pPr indent="-285750" lvl="1" marL="742950" rtl="0" algn="l">
              <a:spcBef>
                <a:spcPts val="360"/>
              </a:spcBef>
              <a:spcAft>
                <a:spcPts val="0"/>
              </a:spcAft>
              <a:buClr>
                <a:schemeClr val="dk1"/>
              </a:buClr>
              <a:buSzPts val="1800"/>
              <a:buChar char="✔"/>
            </a:pPr>
            <a:r>
              <a:rPr lang="en-US"/>
              <a:t>This makes the software design phase the most influential one when it comes to minimizing the effects of new or changing requirements.</a:t>
            </a:r>
            <a:endParaRPr/>
          </a:p>
          <a:p>
            <a:pPr indent="-285750" lvl="1" marL="742950" rtl="0" algn="l">
              <a:spcBef>
                <a:spcPts val="360"/>
              </a:spcBef>
              <a:spcAft>
                <a:spcPts val="0"/>
              </a:spcAft>
              <a:buClr>
                <a:schemeClr val="dk1"/>
              </a:buClr>
              <a:buSzPts val="1800"/>
              <a:buChar char="✔"/>
            </a:pPr>
            <a:r>
              <a:rPr lang="en-US"/>
              <a:t>This forces designers to create designs that provide solutions to problems at a given state while also anticipating changes and accommodating them with minimal effort.</a:t>
            </a:r>
            <a:endParaRPr/>
          </a:p>
          <a:p>
            <a:pPr indent="-171450" lvl="1" marL="742950" rtl="0" algn="l">
              <a:spcBef>
                <a:spcPts val="360"/>
              </a:spcBef>
              <a:spcAft>
                <a:spcPts val="0"/>
              </a:spcAft>
              <a:buClr>
                <a:schemeClr val="dk1"/>
              </a:buClr>
              <a:buSzPts val="1800"/>
              <a:buNone/>
            </a:pPr>
            <a:r>
              <a:t/>
            </a:r>
            <a:endParaRPr/>
          </a:p>
          <a:p>
            <a:pPr indent="-342900" lvl="0" marL="342900" rtl="0" algn="l">
              <a:spcBef>
                <a:spcPts val="400"/>
              </a:spcBef>
              <a:spcAft>
                <a:spcPts val="0"/>
              </a:spcAft>
              <a:buClr>
                <a:schemeClr val="dk1"/>
              </a:buClr>
              <a:buSzPts val="2000"/>
              <a:buFont typeface="Noto Sans Symbols"/>
              <a:buChar char="⮚"/>
            </a:pPr>
            <a:r>
              <a:rPr lang="en-US"/>
              <a:t>Because of requirements’ volatility, software engineers must have a strong understanding of the principles of software design and develop skills to manage complexity and change in software projects.</a:t>
            </a:r>
            <a:endParaRPr/>
          </a:p>
        </p:txBody>
      </p:sp>
      <p:sp>
        <p:nvSpPr>
          <p:cNvPr id="233" name="Google Shape;233;p9"/>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8/24/2012</a:t>
            </a:r>
            <a:endParaRPr/>
          </a:p>
        </p:txBody>
      </p:sp>
      <p:sp>
        <p:nvSpPr>
          <p:cNvPr id="234" name="Google Shape;234;p9"/>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235" name="Google Shape;235;p9"/>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0"/>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160"/>
              <a:buFont typeface="Times New Roman"/>
              <a:buNone/>
            </a:pPr>
            <a:r>
              <a:rPr lang="en-US" sz="2160"/>
              <a:t>Software Design Challenge #2 – </a:t>
            </a:r>
            <a:br>
              <a:rPr lang="en-US" sz="2160"/>
            </a:br>
            <a:r>
              <a:rPr lang="en-US" sz="2160"/>
              <a:t>The Process</a:t>
            </a:r>
            <a:endParaRPr sz="2160"/>
          </a:p>
        </p:txBody>
      </p:sp>
      <p:sp>
        <p:nvSpPr>
          <p:cNvPr id="241" name="Google Shape;241;p10"/>
          <p:cNvSpPr txBox="1"/>
          <p:nvPr>
            <p:ph idx="1" type="body"/>
          </p:nvPr>
        </p:nvSpPr>
        <p:spPr>
          <a:xfrm>
            <a:off x="457200" y="1371601"/>
            <a:ext cx="8229600" cy="518159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Font typeface="Noto Sans Symbols"/>
              <a:buChar char="⮚"/>
            </a:pPr>
            <a:r>
              <a:rPr lang="en-US"/>
              <a:t>Software engineering is a process-oriented field.  In the design phase, processes involve a set of activities and tasks required to bridge the gap between requirements and construction.  For example:</a:t>
            </a:r>
            <a:endParaRPr/>
          </a:p>
          <a:p>
            <a:pPr indent="-285750" lvl="1" marL="742950" rtl="0" algn="l">
              <a:spcBef>
                <a:spcPts val="360"/>
              </a:spcBef>
              <a:spcAft>
                <a:spcPts val="0"/>
              </a:spcAft>
              <a:buClr>
                <a:schemeClr val="dk1"/>
              </a:buClr>
              <a:buSzPts val="1800"/>
              <a:buChar char="✔"/>
            </a:pPr>
            <a:r>
              <a:rPr lang="en-US"/>
              <a:t>Architectural and detailed designs</a:t>
            </a:r>
            <a:endParaRPr/>
          </a:p>
          <a:p>
            <a:pPr indent="-285750" lvl="1" marL="742950" rtl="0" algn="l">
              <a:spcBef>
                <a:spcPts val="360"/>
              </a:spcBef>
              <a:spcAft>
                <a:spcPts val="0"/>
              </a:spcAft>
              <a:buClr>
                <a:schemeClr val="dk1"/>
              </a:buClr>
              <a:buSzPts val="1800"/>
              <a:buChar char="✔"/>
            </a:pPr>
            <a:r>
              <a:rPr lang="en-US"/>
              <a:t>Design reviews</a:t>
            </a:r>
            <a:endParaRPr/>
          </a:p>
          <a:p>
            <a:pPr indent="-285750" lvl="1" marL="742950" rtl="0" algn="l">
              <a:spcBef>
                <a:spcPts val="360"/>
              </a:spcBef>
              <a:spcAft>
                <a:spcPts val="0"/>
              </a:spcAft>
              <a:buClr>
                <a:schemeClr val="dk1"/>
              </a:buClr>
              <a:buSzPts val="1800"/>
              <a:buChar char="✔"/>
            </a:pPr>
            <a:r>
              <a:rPr lang="en-US"/>
              <a:t>Establishing quality evaluation criteria</a:t>
            </a:r>
            <a:endParaRPr/>
          </a:p>
          <a:p>
            <a:pPr indent="-285750" lvl="1" marL="742950" rtl="0" algn="l">
              <a:spcBef>
                <a:spcPts val="360"/>
              </a:spcBef>
              <a:spcAft>
                <a:spcPts val="0"/>
              </a:spcAft>
              <a:buClr>
                <a:schemeClr val="dk1"/>
              </a:buClr>
              <a:buSzPts val="1800"/>
              <a:buChar char="✔"/>
            </a:pPr>
            <a:r>
              <a:rPr lang="en-US"/>
              <a:t>Establishing design change management and version control</a:t>
            </a:r>
            <a:endParaRPr/>
          </a:p>
          <a:p>
            <a:pPr indent="-285750" lvl="1" marL="742950" rtl="0" algn="l">
              <a:spcBef>
                <a:spcPts val="360"/>
              </a:spcBef>
              <a:spcAft>
                <a:spcPts val="0"/>
              </a:spcAft>
              <a:buClr>
                <a:schemeClr val="dk1"/>
              </a:buClr>
              <a:buSzPts val="1800"/>
              <a:buChar char="✔"/>
            </a:pPr>
            <a:r>
              <a:rPr lang="en-US"/>
              <a:t>Adopting design tools</a:t>
            </a:r>
            <a:endParaRPr/>
          </a:p>
          <a:p>
            <a:pPr indent="-285750" lvl="1" marL="742950" rtl="0" algn="l">
              <a:spcBef>
                <a:spcPts val="360"/>
              </a:spcBef>
              <a:spcAft>
                <a:spcPts val="0"/>
              </a:spcAft>
              <a:buClr>
                <a:schemeClr val="dk1"/>
              </a:buClr>
              <a:buSzPts val="1800"/>
              <a:buChar char="✔"/>
            </a:pPr>
            <a:r>
              <a:rPr lang="en-US"/>
              <a:t>…</a:t>
            </a:r>
            <a:endParaRPr/>
          </a:p>
          <a:p>
            <a:pPr indent="-342900" lvl="0" marL="342900" rtl="0" algn="l">
              <a:spcBef>
                <a:spcPts val="400"/>
              </a:spcBef>
              <a:spcAft>
                <a:spcPts val="0"/>
              </a:spcAft>
              <a:buClr>
                <a:schemeClr val="dk1"/>
              </a:buClr>
              <a:buSzPts val="2000"/>
              <a:buFont typeface="Noto Sans Symbols"/>
              <a:buChar char="⮚"/>
            </a:pPr>
            <a:r>
              <a:rPr lang="en-US"/>
              <a:t>The problem is that in many cases, a company’s design process</a:t>
            </a:r>
            <a:endParaRPr/>
          </a:p>
          <a:p>
            <a:pPr indent="-285750" lvl="1" marL="742950" rtl="0" algn="l">
              <a:spcBef>
                <a:spcPts val="360"/>
              </a:spcBef>
              <a:spcAft>
                <a:spcPts val="0"/>
              </a:spcAft>
              <a:buClr>
                <a:schemeClr val="dk1"/>
              </a:buClr>
              <a:buSzPts val="1800"/>
              <a:buChar char="✔"/>
            </a:pPr>
            <a:r>
              <a:rPr lang="en-US"/>
              <a:t>is not well established,</a:t>
            </a:r>
            <a:endParaRPr/>
          </a:p>
          <a:p>
            <a:pPr indent="-285750" lvl="1" marL="742950" rtl="0" algn="l">
              <a:spcBef>
                <a:spcPts val="360"/>
              </a:spcBef>
              <a:spcAft>
                <a:spcPts val="0"/>
              </a:spcAft>
              <a:buClr>
                <a:schemeClr val="dk1"/>
              </a:buClr>
              <a:buSzPts val="1800"/>
              <a:buChar char="✔"/>
            </a:pPr>
            <a:r>
              <a:rPr lang="en-US"/>
              <a:t>is poorly understood,</a:t>
            </a:r>
            <a:endParaRPr/>
          </a:p>
          <a:p>
            <a:pPr indent="-285750" lvl="1" marL="742950" rtl="0" algn="l">
              <a:spcBef>
                <a:spcPts val="360"/>
              </a:spcBef>
              <a:spcAft>
                <a:spcPts val="0"/>
              </a:spcAft>
              <a:buClr>
                <a:schemeClr val="dk1"/>
              </a:buClr>
              <a:buSzPts val="1800"/>
              <a:buChar char="✔"/>
            </a:pPr>
            <a:r>
              <a:rPr lang="en-US"/>
              <a:t>is approached with minimalistic expectations,</a:t>
            </a:r>
            <a:endParaRPr/>
          </a:p>
          <a:p>
            <a:pPr indent="-285750" lvl="1" marL="742950" rtl="0" algn="l">
              <a:spcBef>
                <a:spcPts val="360"/>
              </a:spcBef>
              <a:spcAft>
                <a:spcPts val="0"/>
              </a:spcAft>
              <a:buClr>
                <a:schemeClr val="dk1"/>
              </a:buClr>
              <a:buSzPts val="1800"/>
              <a:buChar char="✔"/>
            </a:pPr>
            <a:r>
              <a:rPr lang="en-US"/>
              <a:t>is focused on one form of design, e.g., user interface, while ignoring others, or,</a:t>
            </a:r>
            <a:endParaRPr/>
          </a:p>
          <a:p>
            <a:pPr indent="-285750" lvl="1" marL="742950" rtl="0" algn="l">
              <a:spcBef>
                <a:spcPts val="360"/>
              </a:spcBef>
              <a:spcAft>
                <a:spcPts val="0"/>
              </a:spcAft>
              <a:buClr>
                <a:schemeClr val="dk1"/>
              </a:buClr>
              <a:buSzPts val="1800"/>
              <a:buChar char="✔"/>
            </a:pPr>
            <a:r>
              <a:rPr lang="en-US"/>
              <a:t>is simply, not done at all!</a:t>
            </a:r>
            <a:endParaRPr/>
          </a:p>
        </p:txBody>
      </p:sp>
      <p:sp>
        <p:nvSpPr>
          <p:cNvPr id="242" name="Google Shape;242;p10"/>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8/24/2012</a:t>
            </a:r>
            <a:endParaRPr/>
          </a:p>
        </p:txBody>
      </p:sp>
      <p:sp>
        <p:nvSpPr>
          <p:cNvPr id="243" name="Google Shape;243;p10"/>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244" name="Google Shape;244;p10"/>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1"/>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160"/>
              <a:buFont typeface="Times New Roman"/>
              <a:buNone/>
            </a:pPr>
            <a:r>
              <a:rPr lang="en-US" sz="2160"/>
              <a:t>Software Design Challenge #3 – </a:t>
            </a:r>
            <a:br>
              <a:rPr lang="en-US" sz="2160"/>
            </a:br>
            <a:r>
              <a:rPr lang="en-US" sz="2160"/>
              <a:t>The Technology</a:t>
            </a:r>
            <a:endParaRPr sz="2160"/>
          </a:p>
        </p:txBody>
      </p:sp>
      <p:sp>
        <p:nvSpPr>
          <p:cNvPr id="250" name="Google Shape;250;p11"/>
          <p:cNvSpPr txBox="1"/>
          <p:nvPr>
            <p:ph idx="1" type="body"/>
          </p:nvPr>
        </p:nvSpPr>
        <p:spPr>
          <a:xfrm>
            <a:off x="457200" y="1371601"/>
            <a:ext cx="8229600" cy="510539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Font typeface="Noto Sans Symbols"/>
              <a:buChar char="⮚"/>
            </a:pPr>
            <a:r>
              <a:rPr lang="en-US"/>
              <a:t>The technology for designing and implementing today’ software systems continues to evolve to provide improved capabilities.  For example,</a:t>
            </a:r>
            <a:endParaRPr/>
          </a:p>
          <a:p>
            <a:pPr indent="-285750" lvl="1" marL="742950" rtl="0" algn="l">
              <a:spcBef>
                <a:spcPts val="360"/>
              </a:spcBef>
              <a:spcAft>
                <a:spcPts val="0"/>
              </a:spcAft>
              <a:buClr>
                <a:schemeClr val="dk1"/>
              </a:buClr>
              <a:buSzPts val="1800"/>
              <a:buChar char="✔"/>
            </a:pPr>
            <a:r>
              <a:rPr lang="en-US"/>
              <a:t>Modeling languages and tools</a:t>
            </a:r>
            <a:endParaRPr/>
          </a:p>
          <a:p>
            <a:pPr indent="-285750" lvl="1" marL="742950" rtl="0" algn="l">
              <a:spcBef>
                <a:spcPts val="360"/>
              </a:spcBef>
              <a:spcAft>
                <a:spcPts val="0"/>
              </a:spcAft>
              <a:buClr>
                <a:schemeClr val="dk1"/>
              </a:buClr>
              <a:buSzPts val="1800"/>
              <a:buChar char="✔"/>
            </a:pPr>
            <a:r>
              <a:rPr lang="en-US"/>
              <a:t>Programming languages</a:t>
            </a:r>
            <a:endParaRPr/>
          </a:p>
          <a:p>
            <a:pPr indent="-285750" lvl="1" marL="742950" rtl="0" algn="l">
              <a:spcBef>
                <a:spcPts val="360"/>
              </a:spcBef>
              <a:spcAft>
                <a:spcPts val="0"/>
              </a:spcAft>
              <a:buClr>
                <a:schemeClr val="dk1"/>
              </a:buClr>
              <a:buSzPts val="1800"/>
              <a:buChar char="✔"/>
            </a:pPr>
            <a:r>
              <a:rPr lang="en-US"/>
              <a:t>Integrated development environments </a:t>
            </a:r>
            <a:endParaRPr/>
          </a:p>
          <a:p>
            <a:pPr indent="-285750" lvl="1" marL="742950" rtl="0" algn="l">
              <a:spcBef>
                <a:spcPts val="360"/>
              </a:spcBef>
              <a:spcAft>
                <a:spcPts val="0"/>
              </a:spcAft>
              <a:buClr>
                <a:schemeClr val="dk1"/>
              </a:buClr>
              <a:buSzPts val="1800"/>
              <a:buChar char="✔"/>
            </a:pPr>
            <a:r>
              <a:rPr lang="en-US"/>
              <a:t>Design strategies, patterns, etc.</a:t>
            </a:r>
            <a:endParaRPr/>
          </a:p>
          <a:p>
            <a:pPr indent="-285750" lvl="1" marL="742950" rtl="0" algn="l">
              <a:spcBef>
                <a:spcPts val="360"/>
              </a:spcBef>
              <a:spcAft>
                <a:spcPts val="0"/>
              </a:spcAft>
              <a:buClr>
                <a:schemeClr val="dk1"/>
              </a:buClr>
              <a:buSzPts val="1800"/>
              <a:buChar char="✔"/>
            </a:pPr>
            <a:r>
              <a:rPr lang="en-US"/>
              <a:t>…</a:t>
            </a:r>
            <a:endParaRPr/>
          </a:p>
          <a:p>
            <a:pPr indent="-342900" lvl="0" marL="342900" rtl="0" algn="l">
              <a:spcBef>
                <a:spcPts val="400"/>
              </a:spcBef>
              <a:spcAft>
                <a:spcPts val="0"/>
              </a:spcAft>
              <a:buClr>
                <a:schemeClr val="dk1"/>
              </a:buClr>
              <a:buSzPts val="2000"/>
              <a:buFont typeface="Noto Sans Symbols"/>
              <a:buChar char="⮚"/>
            </a:pPr>
            <a:r>
              <a:rPr lang="en-US"/>
              <a:t>As new technologies emerge, software designers are required to assimilate and employ them all at the same time.</a:t>
            </a:r>
            <a:endParaRPr/>
          </a:p>
          <a:p>
            <a:pPr indent="-285750" lvl="1" marL="742950" rtl="0" algn="l">
              <a:spcBef>
                <a:spcPts val="360"/>
              </a:spcBef>
              <a:spcAft>
                <a:spcPts val="0"/>
              </a:spcAft>
              <a:buClr>
                <a:schemeClr val="dk1"/>
              </a:buClr>
              <a:buSzPts val="1800"/>
              <a:buChar char="✔"/>
            </a:pPr>
            <a:r>
              <a:rPr lang="en-US"/>
              <a:t>In some cases, old and new technology needs to coexist in the same project!</a:t>
            </a:r>
            <a:endParaRPr/>
          </a:p>
          <a:p>
            <a:pPr indent="-342900" lvl="0" marL="342900" rtl="0" algn="l">
              <a:spcBef>
                <a:spcPts val="400"/>
              </a:spcBef>
              <a:spcAft>
                <a:spcPts val="0"/>
              </a:spcAft>
              <a:buClr>
                <a:schemeClr val="dk1"/>
              </a:buClr>
              <a:buSzPts val="2000"/>
              <a:buFont typeface="Noto Sans Symbols"/>
              <a:buChar char="⮚"/>
            </a:pPr>
            <a:r>
              <a:rPr lang="en-US"/>
              <a:t>This creates a demand for capable designers that can assimilate new concepts and technology quickly and effectively.</a:t>
            </a:r>
            <a:endParaRPr/>
          </a:p>
          <a:p>
            <a:pPr indent="-285750" lvl="1" marL="742950" rtl="0" algn="l">
              <a:spcBef>
                <a:spcPts val="360"/>
              </a:spcBef>
              <a:spcAft>
                <a:spcPts val="0"/>
              </a:spcAft>
              <a:buClr>
                <a:schemeClr val="dk1"/>
              </a:buClr>
              <a:buSzPts val="1800"/>
              <a:buChar char="✔"/>
            </a:pPr>
            <a:r>
              <a:rPr lang="en-US"/>
              <a:t>This is challenging because of the time required for both learning new technology and completing a project on-time, while making sure that the new technology interoperates well with old legacy systems.</a:t>
            </a:r>
            <a:endParaRPr/>
          </a:p>
        </p:txBody>
      </p:sp>
      <p:sp>
        <p:nvSpPr>
          <p:cNvPr id="251" name="Google Shape;251;p11"/>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8/24/2012</a:t>
            </a:r>
            <a:endParaRPr/>
          </a:p>
        </p:txBody>
      </p:sp>
      <p:sp>
        <p:nvSpPr>
          <p:cNvPr id="252" name="Google Shape;252;p11"/>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253" name="Google Shape;253;p11"/>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2"/>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160"/>
              <a:buFont typeface="Times New Roman"/>
              <a:buNone/>
            </a:pPr>
            <a:r>
              <a:rPr lang="en-US" sz="2160"/>
              <a:t>Software Design Challenge #4 – </a:t>
            </a:r>
            <a:br>
              <a:rPr lang="en-US" sz="2160"/>
            </a:br>
            <a:r>
              <a:rPr lang="en-US" sz="2160"/>
              <a:t>Ethical and Professional Practices</a:t>
            </a:r>
            <a:endParaRPr sz="2160"/>
          </a:p>
        </p:txBody>
      </p:sp>
      <p:sp>
        <p:nvSpPr>
          <p:cNvPr id="259" name="Google Shape;259;p12"/>
          <p:cNvSpPr txBox="1"/>
          <p:nvPr>
            <p:ph idx="1" type="body"/>
          </p:nvPr>
        </p:nvSpPr>
        <p:spPr>
          <a:xfrm>
            <a:off x="457200" y="1371601"/>
            <a:ext cx="8229600" cy="4800599"/>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2000"/>
              <a:buFont typeface="Noto Sans Symbols"/>
              <a:buChar char="⮚"/>
            </a:pPr>
            <a:r>
              <a:rPr lang="en-US"/>
              <a:t>Designers create blueprints that drive the construction of software.</a:t>
            </a:r>
            <a:endParaRPr/>
          </a:p>
          <a:p>
            <a:pPr indent="-285750" lvl="1" marL="742950" rtl="0" algn="l">
              <a:lnSpc>
                <a:spcPct val="90000"/>
              </a:lnSpc>
              <a:spcBef>
                <a:spcPts val="360"/>
              </a:spcBef>
              <a:spcAft>
                <a:spcPts val="0"/>
              </a:spcAft>
              <a:buClr>
                <a:schemeClr val="dk1"/>
              </a:buClr>
              <a:buSzPts val="1800"/>
              <a:buChar char="✔"/>
            </a:pPr>
            <a:r>
              <a:rPr lang="en-US"/>
              <a:t>Tight schedules can create external pressures to deviate from the formal design process to get the product out the door.</a:t>
            </a:r>
            <a:endParaRPr/>
          </a:p>
          <a:p>
            <a:pPr indent="-285750" lvl="1" marL="742950" rtl="0" algn="l">
              <a:lnSpc>
                <a:spcPct val="90000"/>
              </a:lnSpc>
              <a:spcBef>
                <a:spcPts val="360"/>
              </a:spcBef>
              <a:spcAft>
                <a:spcPts val="0"/>
              </a:spcAft>
              <a:buClr>
                <a:schemeClr val="dk1"/>
              </a:buClr>
              <a:buSzPts val="1800"/>
              <a:buChar char="✔"/>
            </a:pPr>
            <a:r>
              <a:rPr lang="en-US"/>
              <a:t>In some cases, this can have catastrophic consequences</a:t>
            </a:r>
            <a:endParaRPr/>
          </a:p>
          <a:p>
            <a:pPr indent="-171450" lvl="1" marL="742950" rtl="0" algn="l">
              <a:lnSpc>
                <a:spcPct val="90000"/>
              </a:lnSpc>
              <a:spcBef>
                <a:spcPts val="360"/>
              </a:spcBef>
              <a:spcAft>
                <a:spcPts val="0"/>
              </a:spcAft>
              <a:buClr>
                <a:schemeClr val="dk1"/>
              </a:buClr>
              <a:buSzPts val="1800"/>
              <a:buNone/>
            </a:pPr>
            <a:r>
              <a:t/>
            </a:r>
            <a:endParaRPr/>
          </a:p>
          <a:p>
            <a:pPr indent="-342900" lvl="0" marL="342900" rtl="0" algn="l">
              <a:lnSpc>
                <a:spcPct val="90000"/>
              </a:lnSpc>
              <a:spcBef>
                <a:spcPts val="400"/>
              </a:spcBef>
              <a:spcAft>
                <a:spcPts val="0"/>
              </a:spcAft>
              <a:buClr>
                <a:schemeClr val="dk1"/>
              </a:buClr>
              <a:buSzPts val="2000"/>
              <a:buFont typeface="Noto Sans Symbols"/>
              <a:buChar char="⮚"/>
            </a:pPr>
            <a:r>
              <a:rPr lang="en-US"/>
              <a:t>To correctly and responsibly execute the design phase, designers are required to exert strong leadership skills to:</a:t>
            </a:r>
            <a:endParaRPr/>
          </a:p>
          <a:p>
            <a:pPr indent="-285750" lvl="1" marL="742950" rtl="0" algn="l">
              <a:lnSpc>
                <a:spcPct val="90000"/>
              </a:lnSpc>
              <a:spcBef>
                <a:spcPts val="360"/>
              </a:spcBef>
              <a:spcAft>
                <a:spcPts val="0"/>
              </a:spcAft>
              <a:buClr>
                <a:schemeClr val="dk1"/>
              </a:buClr>
              <a:buSzPts val="1800"/>
              <a:buChar char="✔"/>
            </a:pPr>
            <a:r>
              <a:rPr lang="en-US"/>
              <a:t>Influence and negotiate with stakeholders</a:t>
            </a:r>
            <a:endParaRPr/>
          </a:p>
          <a:p>
            <a:pPr indent="-285750" lvl="1" marL="742950" rtl="0" algn="l">
              <a:lnSpc>
                <a:spcPct val="90000"/>
              </a:lnSpc>
              <a:spcBef>
                <a:spcPts val="360"/>
              </a:spcBef>
              <a:spcAft>
                <a:spcPts val="0"/>
              </a:spcAft>
              <a:buClr>
                <a:schemeClr val="dk1"/>
              </a:buClr>
              <a:buSzPts val="1800"/>
              <a:buChar char="✔"/>
            </a:pPr>
            <a:r>
              <a:rPr lang="en-US"/>
              <a:t>Motivate the development team</a:t>
            </a:r>
            <a:endParaRPr/>
          </a:p>
          <a:p>
            <a:pPr indent="-285750" lvl="1" marL="742950" rtl="0" algn="l">
              <a:lnSpc>
                <a:spcPct val="90000"/>
              </a:lnSpc>
              <a:spcBef>
                <a:spcPts val="360"/>
              </a:spcBef>
              <a:spcAft>
                <a:spcPts val="0"/>
              </a:spcAft>
              <a:buClr>
                <a:schemeClr val="dk1"/>
              </a:buClr>
              <a:buSzPts val="1800"/>
              <a:buChar char="✔"/>
            </a:pPr>
            <a:r>
              <a:rPr lang="en-US"/>
              <a:t>Enforcing ethical guidelines</a:t>
            </a:r>
            <a:endParaRPr/>
          </a:p>
          <a:p>
            <a:pPr indent="-285750" lvl="1" marL="742950" rtl="0" algn="l">
              <a:lnSpc>
                <a:spcPct val="90000"/>
              </a:lnSpc>
              <a:spcBef>
                <a:spcPts val="360"/>
              </a:spcBef>
              <a:spcAft>
                <a:spcPts val="0"/>
              </a:spcAft>
              <a:buClr>
                <a:schemeClr val="dk1"/>
              </a:buClr>
              <a:buSzPts val="1800"/>
              <a:buChar char="✔"/>
            </a:pPr>
            <a:r>
              <a:rPr lang="en-US"/>
              <a:t>Evaluate the social impacts of their designs in the public domain or in safety-critical systems</a:t>
            </a:r>
            <a:endParaRPr/>
          </a:p>
          <a:p>
            <a:pPr indent="-285750" lvl="1" marL="742950" rtl="0" algn="l">
              <a:lnSpc>
                <a:spcPct val="90000"/>
              </a:lnSpc>
              <a:spcBef>
                <a:spcPts val="360"/>
              </a:spcBef>
              <a:spcAft>
                <a:spcPts val="0"/>
              </a:spcAft>
              <a:buClr>
                <a:schemeClr val="dk1"/>
              </a:buClr>
              <a:buSzPts val="1800"/>
              <a:buChar char="✔"/>
            </a:pPr>
            <a:r>
              <a:rPr lang="en-US"/>
              <a:t>Follow and enforce the ethical and professional practices</a:t>
            </a:r>
            <a:endParaRPr/>
          </a:p>
          <a:p>
            <a:pPr indent="-171450" lvl="1" marL="742950" rtl="0" algn="l">
              <a:lnSpc>
                <a:spcPct val="90000"/>
              </a:lnSpc>
              <a:spcBef>
                <a:spcPts val="360"/>
              </a:spcBef>
              <a:spcAft>
                <a:spcPts val="0"/>
              </a:spcAft>
              <a:buClr>
                <a:schemeClr val="dk1"/>
              </a:buClr>
              <a:buSzPts val="1800"/>
              <a:buNone/>
            </a:pPr>
            <a:r>
              <a:t/>
            </a:r>
            <a:endParaRPr/>
          </a:p>
          <a:p>
            <a:pPr indent="-342900" lvl="0" marL="342900" rtl="0" algn="l">
              <a:lnSpc>
                <a:spcPct val="90000"/>
              </a:lnSpc>
              <a:spcBef>
                <a:spcPts val="400"/>
              </a:spcBef>
              <a:spcAft>
                <a:spcPts val="0"/>
              </a:spcAft>
              <a:buClr>
                <a:schemeClr val="dk1"/>
              </a:buClr>
              <a:buSzPts val="2000"/>
              <a:buFont typeface="Noto Sans Symbols"/>
              <a:buChar char="⮚"/>
            </a:pPr>
            <a:r>
              <a:rPr lang="en-US"/>
              <a:t>This is a challenge when attempting under numerous pressures from different stakeholders, e.g., management, customer, peers, etc.</a:t>
            </a:r>
            <a:endParaRPr/>
          </a:p>
        </p:txBody>
      </p:sp>
      <p:sp>
        <p:nvSpPr>
          <p:cNvPr id="260" name="Google Shape;260;p12"/>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8/24/2012</a:t>
            </a:r>
            <a:endParaRPr/>
          </a:p>
        </p:txBody>
      </p:sp>
      <p:sp>
        <p:nvSpPr>
          <p:cNvPr id="261" name="Google Shape;261;p12"/>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262" name="Google Shape;262;p12"/>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3"/>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160"/>
              <a:buFont typeface="Times New Roman"/>
              <a:buNone/>
            </a:pPr>
            <a:r>
              <a:rPr lang="en-US" sz="2160"/>
              <a:t>Software Design Challenge #5 – </a:t>
            </a:r>
            <a:br>
              <a:rPr lang="en-US" sz="2160"/>
            </a:br>
            <a:r>
              <a:rPr lang="en-US" sz="2160"/>
              <a:t>Managing Design Influences</a:t>
            </a:r>
            <a:endParaRPr sz="2160"/>
          </a:p>
        </p:txBody>
      </p:sp>
      <p:sp>
        <p:nvSpPr>
          <p:cNvPr id="268" name="Google Shape;268;p13"/>
          <p:cNvSpPr txBox="1"/>
          <p:nvPr>
            <p:ph idx="1" type="body"/>
          </p:nvPr>
        </p:nvSpPr>
        <p:spPr>
          <a:xfrm>
            <a:off x="457200" y="1371601"/>
            <a:ext cx="8229600" cy="480059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Font typeface="Noto Sans Symbols"/>
              <a:buChar char="⮚"/>
            </a:pPr>
            <a:r>
              <a:rPr lang="en-US"/>
              <a:t>Besides negative pressures, designs are shaped by other influences from stakeholders, the development organization, and other factors (e.g., the designers’ own experiences).</a:t>
            </a:r>
            <a:endParaRPr/>
          </a:p>
          <a:p>
            <a:pPr indent="-215900" lvl="0" marL="342900" rtl="0" algn="l">
              <a:spcBef>
                <a:spcPts val="400"/>
              </a:spcBef>
              <a:spcAft>
                <a:spcPts val="0"/>
              </a:spcAft>
              <a:buClr>
                <a:schemeClr val="dk1"/>
              </a:buClr>
              <a:buSzPts val="2000"/>
              <a:buFont typeface="Noto Sans Symbols"/>
              <a:buNone/>
            </a:pPr>
            <a:r>
              <a:t/>
            </a:r>
            <a:endParaRPr/>
          </a:p>
          <a:p>
            <a:pPr indent="-342900" lvl="0" marL="342900" rtl="0" algn="l">
              <a:spcBef>
                <a:spcPts val="400"/>
              </a:spcBef>
              <a:spcAft>
                <a:spcPts val="0"/>
              </a:spcAft>
              <a:buClr>
                <a:schemeClr val="dk1"/>
              </a:buClr>
              <a:buSzPts val="2000"/>
              <a:buFont typeface="Noto Sans Symbols"/>
              <a:buChar char="⮚"/>
            </a:pPr>
            <a:r>
              <a:rPr lang="en-US"/>
              <a:t>These influences can have cyclical effects between the system and its external influences, such that external factors affect the development of the system and the system affects its external factors [1].</a:t>
            </a:r>
            <a:endParaRPr/>
          </a:p>
          <a:p>
            <a:pPr indent="-215900" lvl="0" marL="342900" rtl="0" algn="l">
              <a:spcBef>
                <a:spcPts val="400"/>
              </a:spcBef>
              <a:spcAft>
                <a:spcPts val="0"/>
              </a:spcAft>
              <a:buClr>
                <a:schemeClr val="dk1"/>
              </a:buClr>
              <a:buSzPts val="2000"/>
              <a:buFont typeface="Noto Sans Symbols"/>
              <a:buNone/>
            </a:pPr>
            <a:r>
              <a:t/>
            </a:r>
            <a:endParaRPr/>
          </a:p>
          <a:p>
            <a:pPr indent="-342900" lvl="0" marL="342900" rtl="0" algn="l">
              <a:spcBef>
                <a:spcPts val="400"/>
              </a:spcBef>
              <a:spcAft>
                <a:spcPts val="0"/>
              </a:spcAft>
              <a:buClr>
                <a:schemeClr val="dk1"/>
              </a:buClr>
              <a:buSzPts val="2000"/>
              <a:buFont typeface="Noto Sans Symbols"/>
              <a:buChar char="⮚"/>
            </a:pPr>
            <a:r>
              <a:rPr lang="en-US"/>
              <a:t>Managing these influences is essential for maximizing the quality of systems and their related influence on future business opportunities.	</a:t>
            </a:r>
            <a:endParaRPr/>
          </a:p>
          <a:p>
            <a:pPr indent="-171450" lvl="1" marL="742950" rtl="0" algn="l">
              <a:spcBef>
                <a:spcPts val="360"/>
              </a:spcBef>
              <a:spcAft>
                <a:spcPts val="0"/>
              </a:spcAft>
              <a:buClr>
                <a:schemeClr val="dk1"/>
              </a:buClr>
              <a:buSzPts val="1800"/>
              <a:buNone/>
            </a:pPr>
            <a:r>
              <a:t/>
            </a:r>
            <a:endParaRPr/>
          </a:p>
          <a:p>
            <a:pPr indent="-342900" lvl="0" marL="342900" rtl="0" algn="l">
              <a:spcBef>
                <a:spcPts val="400"/>
              </a:spcBef>
              <a:spcAft>
                <a:spcPts val="0"/>
              </a:spcAft>
              <a:buClr>
                <a:schemeClr val="dk1"/>
              </a:buClr>
              <a:buSzPts val="2000"/>
              <a:buFont typeface="Noto Sans Symbols"/>
              <a:buChar char="⮚"/>
            </a:pPr>
            <a:r>
              <a:rPr lang="en-US"/>
              <a:t>Of specific importance are design influences that come from</a:t>
            </a:r>
            <a:endParaRPr/>
          </a:p>
          <a:p>
            <a:pPr indent="-285750" lvl="1" marL="742950" rtl="0" algn="l">
              <a:spcBef>
                <a:spcPts val="360"/>
              </a:spcBef>
              <a:spcAft>
                <a:spcPts val="0"/>
              </a:spcAft>
              <a:buClr>
                <a:schemeClr val="dk1"/>
              </a:buClr>
              <a:buSzPts val="1800"/>
              <a:buChar char="✔"/>
            </a:pPr>
            <a:r>
              <a:rPr lang="en-US"/>
              <a:t>the system’s stakeholders and,</a:t>
            </a:r>
            <a:endParaRPr/>
          </a:p>
          <a:p>
            <a:pPr indent="-285750" lvl="1" marL="742950" rtl="0" algn="l">
              <a:spcBef>
                <a:spcPts val="360"/>
              </a:spcBef>
              <a:spcAft>
                <a:spcPts val="0"/>
              </a:spcAft>
              <a:buClr>
                <a:schemeClr val="dk1"/>
              </a:buClr>
              <a:buSzPts val="1800"/>
              <a:buChar char="✔"/>
            </a:pPr>
            <a:r>
              <a:rPr lang="en-US"/>
              <a:t>its developing organization</a:t>
            </a:r>
            <a:endParaRPr/>
          </a:p>
        </p:txBody>
      </p:sp>
      <p:sp>
        <p:nvSpPr>
          <p:cNvPr id="269" name="Google Shape;269;p13"/>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8/24/2012</a:t>
            </a:r>
            <a:endParaRPr/>
          </a:p>
        </p:txBody>
      </p:sp>
      <p:sp>
        <p:nvSpPr>
          <p:cNvPr id="270" name="Google Shape;270;p13"/>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271" name="Google Shape;271;p13"/>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grpSp>
        <p:nvGrpSpPr>
          <p:cNvPr id="276" name="Google Shape;276;p14"/>
          <p:cNvGrpSpPr/>
          <p:nvPr/>
        </p:nvGrpSpPr>
        <p:grpSpPr>
          <a:xfrm>
            <a:off x="3810000" y="3479515"/>
            <a:ext cx="4953000" cy="2845085"/>
            <a:chOff x="3886200" y="3276600"/>
            <a:chExt cx="4953000" cy="2845085"/>
          </a:xfrm>
        </p:grpSpPr>
        <p:sp>
          <p:nvSpPr>
            <p:cNvPr id="277" name="Google Shape;277;p14"/>
            <p:cNvSpPr/>
            <p:nvPr/>
          </p:nvSpPr>
          <p:spPr>
            <a:xfrm>
              <a:off x="3886200" y="4343400"/>
              <a:ext cx="3124200" cy="129540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78" name="Google Shape;278;p14"/>
            <p:cNvPicPr preferRelativeResize="0"/>
            <p:nvPr/>
          </p:nvPicPr>
          <p:blipFill rotWithShape="1">
            <a:blip r:embed="rId3">
              <a:alphaModFix/>
            </a:blip>
            <a:srcRect b="0" l="0" r="0" t="0"/>
            <a:stretch/>
          </p:blipFill>
          <p:spPr>
            <a:xfrm flipH="1">
              <a:off x="7620000" y="4343400"/>
              <a:ext cx="1066800" cy="1638300"/>
            </a:xfrm>
            <a:prstGeom prst="rect">
              <a:avLst/>
            </a:prstGeom>
            <a:noFill/>
            <a:ln>
              <a:noFill/>
            </a:ln>
          </p:spPr>
        </p:pic>
        <p:pic>
          <p:nvPicPr>
            <p:cNvPr id="279" name="Google Shape;279;p14"/>
            <p:cNvPicPr preferRelativeResize="0"/>
            <p:nvPr/>
          </p:nvPicPr>
          <p:blipFill rotWithShape="1">
            <a:blip r:embed="rId4">
              <a:alphaModFix/>
            </a:blip>
            <a:srcRect b="0" l="0" r="0" t="0"/>
            <a:stretch/>
          </p:blipFill>
          <p:spPr>
            <a:xfrm>
              <a:off x="5810250" y="3924300"/>
              <a:ext cx="648260" cy="990600"/>
            </a:xfrm>
            <a:prstGeom prst="rect">
              <a:avLst/>
            </a:prstGeom>
            <a:noFill/>
            <a:ln>
              <a:noFill/>
            </a:ln>
          </p:spPr>
        </p:pic>
        <p:pic>
          <p:nvPicPr>
            <p:cNvPr descr="C:\Users\cotero\AppData\Local\Microsoft\Windows\Temporary Internet Files\Content.IE5\6QQ1AAQV\MC900048773[1].wmf" id="280" name="Google Shape;280;p14"/>
            <p:cNvPicPr preferRelativeResize="0"/>
            <p:nvPr/>
          </p:nvPicPr>
          <p:blipFill rotWithShape="1">
            <a:blip r:embed="rId5">
              <a:alphaModFix/>
            </a:blip>
            <a:srcRect b="0" l="0" r="0" t="0"/>
            <a:stretch/>
          </p:blipFill>
          <p:spPr>
            <a:xfrm>
              <a:off x="6172200" y="5029200"/>
              <a:ext cx="685800" cy="609600"/>
            </a:xfrm>
            <a:prstGeom prst="rect">
              <a:avLst/>
            </a:prstGeom>
            <a:noFill/>
            <a:ln>
              <a:noFill/>
            </a:ln>
          </p:spPr>
        </p:pic>
        <p:sp>
          <p:nvSpPr>
            <p:cNvPr id="281" name="Google Shape;281;p14"/>
            <p:cNvSpPr/>
            <p:nvPr/>
          </p:nvSpPr>
          <p:spPr>
            <a:xfrm>
              <a:off x="6629400" y="4572000"/>
              <a:ext cx="1143000" cy="457200"/>
            </a:xfrm>
            <a:prstGeom prst="cloudCallout">
              <a:avLst>
                <a:gd fmla="val -35968" name="adj1"/>
                <a:gd fmla="val 68689" name="adj2"/>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2" name="Google Shape;282;p14"/>
            <p:cNvSpPr txBox="1"/>
            <p:nvPr/>
          </p:nvSpPr>
          <p:spPr>
            <a:xfrm>
              <a:off x="6934200" y="4648200"/>
              <a:ext cx="68580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Yikes!</a:t>
              </a:r>
              <a:endParaRPr sz="1200">
                <a:solidFill>
                  <a:schemeClr val="dk1"/>
                </a:solidFill>
                <a:latin typeface="Calibri"/>
                <a:ea typeface="Calibri"/>
                <a:cs typeface="Calibri"/>
                <a:sym typeface="Calibri"/>
              </a:endParaRPr>
            </a:p>
          </p:txBody>
        </p:sp>
        <p:pic>
          <p:nvPicPr>
            <p:cNvPr id="283" name="Google Shape;283;p14"/>
            <p:cNvPicPr preferRelativeResize="0"/>
            <p:nvPr/>
          </p:nvPicPr>
          <p:blipFill rotWithShape="1">
            <a:blip r:embed="rId3">
              <a:alphaModFix/>
            </a:blip>
            <a:srcRect b="0" l="0" r="0" t="0"/>
            <a:stretch/>
          </p:blipFill>
          <p:spPr>
            <a:xfrm>
              <a:off x="5029200" y="4724400"/>
              <a:ext cx="914400" cy="1397285"/>
            </a:xfrm>
            <a:prstGeom prst="rect">
              <a:avLst/>
            </a:prstGeom>
            <a:noFill/>
            <a:ln>
              <a:noFill/>
            </a:ln>
          </p:spPr>
        </p:pic>
        <p:sp>
          <p:nvSpPr>
            <p:cNvPr id="284" name="Google Shape;284;p14"/>
            <p:cNvSpPr/>
            <p:nvPr/>
          </p:nvSpPr>
          <p:spPr>
            <a:xfrm>
              <a:off x="6019800" y="3276600"/>
              <a:ext cx="1447800" cy="685800"/>
            </a:xfrm>
            <a:prstGeom prst="cloudCallout">
              <a:avLst>
                <a:gd fmla="val -35968" name="adj1"/>
                <a:gd fmla="val 68689" name="adj2"/>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5" name="Google Shape;285;p14"/>
            <p:cNvSpPr txBox="1"/>
            <p:nvPr/>
          </p:nvSpPr>
          <p:spPr>
            <a:xfrm>
              <a:off x="6172200" y="3352800"/>
              <a:ext cx="12192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I want performance!</a:t>
              </a:r>
              <a:endParaRPr sz="1200">
                <a:solidFill>
                  <a:schemeClr val="dk1"/>
                </a:solidFill>
                <a:latin typeface="Calibri"/>
                <a:ea typeface="Calibri"/>
                <a:cs typeface="Calibri"/>
                <a:sym typeface="Calibri"/>
              </a:endParaRPr>
            </a:p>
          </p:txBody>
        </p:sp>
        <p:sp>
          <p:nvSpPr>
            <p:cNvPr id="286" name="Google Shape;286;p14"/>
            <p:cNvSpPr/>
            <p:nvPr/>
          </p:nvSpPr>
          <p:spPr>
            <a:xfrm>
              <a:off x="4295775" y="4191000"/>
              <a:ext cx="1447800" cy="533400"/>
            </a:xfrm>
            <a:prstGeom prst="cloudCallout">
              <a:avLst>
                <a:gd fmla="val 16006" name="adj1"/>
                <a:gd fmla="val 72260" name="adj2"/>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7" name="Google Shape;287;p14"/>
            <p:cNvSpPr txBox="1"/>
            <p:nvPr/>
          </p:nvSpPr>
          <p:spPr>
            <a:xfrm>
              <a:off x="4371975" y="4295001"/>
              <a:ext cx="121920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I want Security!</a:t>
              </a:r>
              <a:endParaRPr sz="1200">
                <a:solidFill>
                  <a:schemeClr val="dk1"/>
                </a:solidFill>
                <a:latin typeface="Calibri"/>
                <a:ea typeface="Calibri"/>
                <a:cs typeface="Calibri"/>
                <a:sym typeface="Calibri"/>
              </a:endParaRPr>
            </a:p>
          </p:txBody>
        </p:sp>
        <p:sp>
          <p:nvSpPr>
            <p:cNvPr id="288" name="Google Shape;288;p14"/>
            <p:cNvSpPr txBox="1"/>
            <p:nvPr/>
          </p:nvSpPr>
          <p:spPr>
            <a:xfrm>
              <a:off x="7467600" y="3676650"/>
              <a:ext cx="121920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I want Usability!</a:t>
              </a:r>
              <a:endParaRPr sz="1200">
                <a:solidFill>
                  <a:schemeClr val="dk1"/>
                </a:solidFill>
                <a:latin typeface="Calibri"/>
                <a:ea typeface="Calibri"/>
                <a:cs typeface="Calibri"/>
                <a:sym typeface="Calibri"/>
              </a:endParaRPr>
            </a:p>
          </p:txBody>
        </p:sp>
        <p:sp>
          <p:nvSpPr>
            <p:cNvPr id="289" name="Google Shape;289;p14"/>
            <p:cNvSpPr/>
            <p:nvPr/>
          </p:nvSpPr>
          <p:spPr>
            <a:xfrm>
              <a:off x="7391400" y="3581400"/>
              <a:ext cx="1447800" cy="533400"/>
            </a:xfrm>
            <a:prstGeom prst="cloudCallout">
              <a:avLst>
                <a:gd fmla="val 216" name="adj1"/>
                <a:gd fmla="val 97260" name="adj2"/>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290" name="Google Shape;290;p14"/>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160"/>
              <a:buFont typeface="Times New Roman"/>
              <a:buNone/>
            </a:pPr>
            <a:r>
              <a:rPr lang="en-US" sz="2160"/>
              <a:t>Software Design Challenge #5 – </a:t>
            </a:r>
            <a:br>
              <a:rPr lang="en-US" sz="2160"/>
            </a:br>
            <a:r>
              <a:rPr lang="en-US" sz="2160"/>
              <a:t>Managing Design Influences</a:t>
            </a:r>
            <a:endParaRPr sz="2160"/>
          </a:p>
        </p:txBody>
      </p:sp>
      <p:sp>
        <p:nvSpPr>
          <p:cNvPr id="291" name="Google Shape;291;p14"/>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8/24/2012</a:t>
            </a:r>
            <a:endParaRPr/>
          </a:p>
        </p:txBody>
      </p:sp>
      <p:sp>
        <p:nvSpPr>
          <p:cNvPr id="292" name="Google Shape;292;p14"/>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293" name="Google Shape;293;p14"/>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94" name="Google Shape;294;p14"/>
          <p:cNvSpPr txBox="1"/>
          <p:nvPr>
            <p:ph idx="1" type="body"/>
          </p:nvPr>
        </p:nvSpPr>
        <p:spPr>
          <a:xfrm>
            <a:off x="457200" y="1371601"/>
            <a:ext cx="8229600" cy="3886199"/>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2000"/>
              <a:buFont typeface="Noto Sans Symbols"/>
              <a:buChar char="⮚"/>
            </a:pPr>
            <a:r>
              <a:rPr lang="en-US"/>
              <a:t>Software projects can have a multitude of stakeholders, each with specific wants and needs that influence the software design.</a:t>
            </a:r>
            <a:endParaRPr/>
          </a:p>
          <a:p>
            <a:pPr indent="-285750" lvl="1" marL="742950" rtl="0" algn="l">
              <a:lnSpc>
                <a:spcPct val="90000"/>
              </a:lnSpc>
              <a:spcBef>
                <a:spcPts val="360"/>
              </a:spcBef>
              <a:spcAft>
                <a:spcPts val="0"/>
              </a:spcAft>
              <a:buClr>
                <a:schemeClr val="dk1"/>
              </a:buClr>
              <a:buSzPts val="1800"/>
              <a:buChar char="✔"/>
            </a:pPr>
            <a:r>
              <a:rPr lang="en-US"/>
              <a:t>Some conflicting with each other!</a:t>
            </a:r>
            <a:endParaRPr/>
          </a:p>
          <a:p>
            <a:pPr indent="-285750" lvl="1" marL="742950" rtl="0" algn="l">
              <a:lnSpc>
                <a:spcPct val="90000"/>
              </a:lnSpc>
              <a:spcBef>
                <a:spcPts val="360"/>
              </a:spcBef>
              <a:spcAft>
                <a:spcPts val="0"/>
              </a:spcAft>
              <a:buClr>
                <a:schemeClr val="dk1"/>
              </a:buClr>
              <a:buSzPts val="1800"/>
              <a:buChar char="✔"/>
            </a:pPr>
            <a:r>
              <a:rPr lang="en-US"/>
              <a:t>Each stakeholder believes he/she is correct.</a:t>
            </a:r>
            <a:endParaRPr/>
          </a:p>
          <a:p>
            <a:pPr indent="-171450" lvl="1" marL="742950" rtl="0" algn="l">
              <a:lnSpc>
                <a:spcPct val="90000"/>
              </a:lnSpc>
              <a:spcBef>
                <a:spcPts val="360"/>
              </a:spcBef>
              <a:spcAft>
                <a:spcPts val="0"/>
              </a:spcAft>
              <a:buClr>
                <a:schemeClr val="dk1"/>
              </a:buClr>
              <a:buSzPts val="1800"/>
              <a:buNone/>
            </a:pPr>
            <a:r>
              <a:t/>
            </a:r>
            <a:endParaRPr/>
          </a:p>
          <a:p>
            <a:pPr indent="-342900" lvl="0" marL="342900" rtl="0" algn="l">
              <a:lnSpc>
                <a:spcPct val="90000"/>
              </a:lnSpc>
              <a:spcBef>
                <a:spcPts val="400"/>
              </a:spcBef>
              <a:spcAft>
                <a:spcPts val="0"/>
              </a:spcAft>
              <a:buClr>
                <a:schemeClr val="dk1"/>
              </a:buClr>
              <a:buSzPts val="2000"/>
              <a:buFont typeface="Noto Sans Symbols"/>
              <a:buChar char="⮚"/>
            </a:pPr>
            <a:r>
              <a:rPr lang="en-US"/>
              <a:t>This requires some design trade-offs to satisfy each customer.</a:t>
            </a:r>
            <a:endParaRPr/>
          </a:p>
          <a:p>
            <a:pPr indent="-285750" lvl="1" marL="742950" rtl="0" algn="l">
              <a:lnSpc>
                <a:spcPct val="90000"/>
              </a:lnSpc>
              <a:spcBef>
                <a:spcPts val="360"/>
              </a:spcBef>
              <a:spcAft>
                <a:spcPts val="0"/>
              </a:spcAft>
              <a:buClr>
                <a:schemeClr val="dk1"/>
              </a:buClr>
              <a:buSzPts val="1800"/>
              <a:buChar char="✔"/>
            </a:pPr>
            <a:r>
              <a:rPr lang="en-US"/>
              <a:t>Difficult to do in large-scale systems!</a:t>
            </a:r>
            <a:endParaRPr/>
          </a:p>
          <a:p>
            <a:pPr indent="-171450" lvl="1" marL="742950" rtl="0" algn="l">
              <a:lnSpc>
                <a:spcPct val="90000"/>
              </a:lnSpc>
              <a:spcBef>
                <a:spcPts val="360"/>
              </a:spcBef>
              <a:spcAft>
                <a:spcPts val="0"/>
              </a:spcAft>
              <a:buClr>
                <a:schemeClr val="dk1"/>
              </a:buClr>
              <a:buSzPts val="1800"/>
              <a:buNone/>
            </a:pPr>
            <a:r>
              <a:t/>
            </a:r>
            <a:endParaRPr/>
          </a:p>
          <a:p>
            <a:pPr indent="-342900" lvl="0" marL="342900" rtl="0" algn="l">
              <a:lnSpc>
                <a:spcPct val="90000"/>
              </a:lnSpc>
              <a:spcBef>
                <a:spcPts val="400"/>
              </a:spcBef>
              <a:spcAft>
                <a:spcPts val="0"/>
              </a:spcAft>
              <a:buClr>
                <a:schemeClr val="dk1"/>
              </a:buClr>
              <a:buSzPts val="2000"/>
              <a:buFont typeface="Noto Sans Symbols"/>
              <a:buChar char="⮚"/>
            </a:pPr>
            <a:r>
              <a:rPr lang="en-US"/>
              <a:t>This is difficult to do since design decisions                                            need to accommodate all concerns                                                                without negatively affecting the                                                                project.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15"/>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160"/>
              <a:buFont typeface="Times New Roman"/>
              <a:buNone/>
            </a:pPr>
            <a:r>
              <a:rPr lang="en-US" sz="2160"/>
              <a:t>Software Design Challenge #5 – </a:t>
            </a:r>
            <a:br>
              <a:rPr lang="en-US" sz="2160"/>
            </a:br>
            <a:r>
              <a:rPr lang="en-US" sz="2160"/>
              <a:t>Managing Design Influences</a:t>
            </a:r>
            <a:endParaRPr sz="2160"/>
          </a:p>
        </p:txBody>
      </p:sp>
      <p:sp>
        <p:nvSpPr>
          <p:cNvPr id="300" name="Google Shape;300;p15"/>
          <p:cNvSpPr txBox="1"/>
          <p:nvPr>
            <p:ph idx="1" type="body"/>
          </p:nvPr>
        </p:nvSpPr>
        <p:spPr>
          <a:xfrm>
            <a:off x="457200" y="1371601"/>
            <a:ext cx="8229600" cy="4800599"/>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1850"/>
              <a:buFont typeface="Noto Sans Symbols"/>
              <a:buChar char="⮚"/>
            </a:pPr>
            <a:r>
              <a:rPr lang="en-US" sz="1850"/>
              <a:t>The developing organization also influences designs significantly.</a:t>
            </a:r>
            <a:endParaRPr/>
          </a:p>
          <a:p>
            <a:pPr indent="-285750" lvl="1" marL="742950" rtl="0" algn="l">
              <a:lnSpc>
                <a:spcPct val="90000"/>
              </a:lnSpc>
              <a:spcBef>
                <a:spcPts val="333"/>
              </a:spcBef>
              <a:spcAft>
                <a:spcPts val="0"/>
              </a:spcAft>
              <a:buClr>
                <a:schemeClr val="dk1"/>
              </a:buClr>
              <a:buSzPts val="1665"/>
              <a:buChar char="✔"/>
            </a:pPr>
            <a:r>
              <a:rPr lang="en-US" sz="1665"/>
              <a:t>Consider software development across site boundaries!</a:t>
            </a:r>
            <a:endParaRPr/>
          </a:p>
          <a:p>
            <a:pPr indent="-228600" lvl="2" marL="1143000" rtl="0" algn="l">
              <a:lnSpc>
                <a:spcPct val="90000"/>
              </a:lnSpc>
              <a:spcBef>
                <a:spcPts val="296"/>
              </a:spcBef>
              <a:spcAft>
                <a:spcPts val="0"/>
              </a:spcAft>
              <a:buClr>
                <a:schemeClr val="dk1"/>
              </a:buClr>
              <a:buSzPts val="1480"/>
              <a:buChar char="▪"/>
            </a:pPr>
            <a:r>
              <a:rPr lang="en-US" sz="1480"/>
              <a:t>Consider coordinating design efforts</a:t>
            </a:r>
            <a:endParaRPr/>
          </a:p>
          <a:p>
            <a:pPr indent="-228600" lvl="2" marL="1143000" rtl="0" algn="l">
              <a:lnSpc>
                <a:spcPct val="90000"/>
              </a:lnSpc>
              <a:spcBef>
                <a:spcPts val="296"/>
              </a:spcBef>
              <a:spcAft>
                <a:spcPts val="0"/>
              </a:spcAft>
              <a:buClr>
                <a:schemeClr val="dk1"/>
              </a:buClr>
              <a:buSzPts val="1480"/>
              <a:buChar char="▪"/>
            </a:pPr>
            <a:r>
              <a:rPr lang="en-US" sz="1480"/>
              <a:t>Consider conducting peer reviews</a:t>
            </a:r>
            <a:endParaRPr/>
          </a:p>
          <a:p>
            <a:pPr indent="-228600" lvl="2" marL="1143000" rtl="0" algn="l">
              <a:lnSpc>
                <a:spcPct val="90000"/>
              </a:lnSpc>
              <a:spcBef>
                <a:spcPts val="296"/>
              </a:spcBef>
              <a:spcAft>
                <a:spcPts val="0"/>
              </a:spcAft>
              <a:buClr>
                <a:schemeClr val="dk1"/>
              </a:buClr>
              <a:buSzPts val="1480"/>
              <a:buChar char="▪"/>
            </a:pPr>
            <a:r>
              <a:rPr lang="en-US" sz="1480"/>
              <a:t>Consider developing code from design</a:t>
            </a:r>
            <a:endParaRPr/>
          </a:p>
          <a:p>
            <a:pPr indent="-228600" lvl="2" marL="1143000" rtl="0" algn="l">
              <a:lnSpc>
                <a:spcPct val="90000"/>
              </a:lnSpc>
              <a:spcBef>
                <a:spcPts val="296"/>
              </a:spcBef>
              <a:spcAft>
                <a:spcPts val="0"/>
              </a:spcAft>
              <a:buClr>
                <a:schemeClr val="dk1"/>
              </a:buClr>
              <a:buSzPts val="1480"/>
              <a:buChar char="▪"/>
            </a:pPr>
            <a:r>
              <a:rPr lang="en-US" sz="1480"/>
              <a:t>Consider managing version control</a:t>
            </a:r>
            <a:endParaRPr/>
          </a:p>
          <a:p>
            <a:pPr indent="-285750" lvl="1" marL="742950" rtl="0" algn="l">
              <a:lnSpc>
                <a:spcPct val="90000"/>
              </a:lnSpc>
              <a:spcBef>
                <a:spcPts val="333"/>
              </a:spcBef>
              <a:spcAft>
                <a:spcPts val="0"/>
              </a:spcAft>
              <a:buClr>
                <a:schemeClr val="dk1"/>
              </a:buClr>
              <a:buSzPts val="1665"/>
              <a:buChar char="✔"/>
            </a:pPr>
            <a:r>
              <a:rPr lang="en-US" sz="1665"/>
              <a:t>In this case, design must support such development!</a:t>
            </a:r>
            <a:endParaRPr/>
          </a:p>
          <a:p>
            <a:pPr indent="-180022" lvl="1" marL="742950" rtl="0" algn="l">
              <a:lnSpc>
                <a:spcPct val="90000"/>
              </a:lnSpc>
              <a:spcBef>
                <a:spcPts val="333"/>
              </a:spcBef>
              <a:spcAft>
                <a:spcPts val="0"/>
              </a:spcAft>
              <a:buClr>
                <a:schemeClr val="dk1"/>
              </a:buClr>
              <a:buSzPts val="1665"/>
              <a:buNone/>
            </a:pPr>
            <a:r>
              <a:t/>
            </a:r>
            <a:endParaRPr sz="1665"/>
          </a:p>
          <a:p>
            <a:pPr indent="-342900" lvl="0" marL="342900" rtl="0" algn="l">
              <a:lnSpc>
                <a:spcPct val="90000"/>
              </a:lnSpc>
              <a:spcBef>
                <a:spcPts val="370"/>
              </a:spcBef>
              <a:spcAft>
                <a:spcPts val="0"/>
              </a:spcAft>
              <a:buClr>
                <a:schemeClr val="dk1"/>
              </a:buClr>
              <a:buSzPts val="1850"/>
              <a:buFont typeface="Noto Sans Symbols"/>
              <a:buChar char="⮚"/>
            </a:pPr>
            <a:r>
              <a:rPr lang="en-US" sz="1850"/>
              <a:t>At the same time, designs can influence the developing organization to enter new areas of business.</a:t>
            </a:r>
            <a:endParaRPr/>
          </a:p>
          <a:p>
            <a:pPr indent="-285750" lvl="1" marL="742950" rtl="0" algn="l">
              <a:lnSpc>
                <a:spcPct val="90000"/>
              </a:lnSpc>
              <a:spcBef>
                <a:spcPts val="333"/>
              </a:spcBef>
              <a:spcAft>
                <a:spcPts val="0"/>
              </a:spcAft>
              <a:buClr>
                <a:schemeClr val="dk1"/>
              </a:buClr>
              <a:buSzPts val="1665"/>
              <a:buChar char="✔"/>
            </a:pPr>
            <a:r>
              <a:rPr lang="en-US" sz="1665"/>
              <a:t>Consider a design that supports plug-ins to enhance capabilities of the software.  Someone may realize that existing functionality can be enhanced via plug-in to solve a problem in a different domain, giving the developing organization a competitive advantage!</a:t>
            </a:r>
            <a:endParaRPr/>
          </a:p>
          <a:p>
            <a:pPr indent="-225425" lvl="0" marL="342900" rtl="0" algn="l">
              <a:lnSpc>
                <a:spcPct val="90000"/>
              </a:lnSpc>
              <a:spcBef>
                <a:spcPts val="370"/>
              </a:spcBef>
              <a:spcAft>
                <a:spcPts val="0"/>
              </a:spcAft>
              <a:buClr>
                <a:schemeClr val="dk1"/>
              </a:buClr>
              <a:buSzPts val="1850"/>
              <a:buFont typeface="Noto Sans Symbols"/>
              <a:buNone/>
            </a:pPr>
            <a:r>
              <a:t/>
            </a:r>
            <a:endParaRPr sz="1850"/>
          </a:p>
          <a:p>
            <a:pPr indent="-342900" lvl="0" marL="342900" rtl="0" algn="l">
              <a:lnSpc>
                <a:spcPct val="90000"/>
              </a:lnSpc>
              <a:spcBef>
                <a:spcPts val="370"/>
              </a:spcBef>
              <a:spcAft>
                <a:spcPts val="0"/>
              </a:spcAft>
              <a:buClr>
                <a:schemeClr val="dk1"/>
              </a:buClr>
              <a:buSzPts val="1850"/>
              <a:buFont typeface="Noto Sans Symbols"/>
              <a:buChar char="⮚"/>
            </a:pPr>
            <a:r>
              <a:rPr lang="en-US" sz="1850"/>
              <a:t>Managing these influences is challenging because it requires designers to span out of the technical domain to have keen interest in the organization as a whole.</a:t>
            </a:r>
            <a:endParaRPr sz="1850"/>
          </a:p>
        </p:txBody>
      </p:sp>
      <p:sp>
        <p:nvSpPr>
          <p:cNvPr id="301" name="Google Shape;301;p15"/>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8/24/2012</a:t>
            </a:r>
            <a:endParaRPr/>
          </a:p>
        </p:txBody>
      </p:sp>
      <p:sp>
        <p:nvSpPr>
          <p:cNvPr id="302" name="Google Shape;302;p15"/>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303" name="Google Shape;303;p15"/>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16"/>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Software Design Process</a:t>
            </a:r>
            <a:endParaRPr/>
          </a:p>
        </p:txBody>
      </p:sp>
      <p:sp>
        <p:nvSpPr>
          <p:cNvPr id="309" name="Google Shape;309;p16"/>
          <p:cNvSpPr txBox="1"/>
          <p:nvPr>
            <p:ph idx="1" type="body"/>
          </p:nvPr>
        </p:nvSpPr>
        <p:spPr>
          <a:xfrm>
            <a:off x="457200" y="1371601"/>
            <a:ext cx="8229600" cy="518159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Font typeface="Noto Sans Symbols"/>
              <a:buChar char="⮚"/>
            </a:pPr>
            <a:r>
              <a:rPr lang="en-US"/>
              <a:t>Up until now, we have spent quite a bit of time discussing properties of software design.  We have also defined software design from the </a:t>
            </a:r>
            <a:r>
              <a:rPr i="1" lang="en-US"/>
              <a:t>process perspective</a:t>
            </a:r>
            <a:r>
              <a:rPr lang="en-US"/>
              <a:t>, which referred to the phase, activities, tasks, and interrelationship between them required to model software’s structure and behavior before construction.</a:t>
            </a:r>
            <a:endParaRPr/>
          </a:p>
          <a:p>
            <a:pPr indent="-285750" lvl="1" marL="742950" rtl="0" algn="l">
              <a:spcBef>
                <a:spcPts val="360"/>
              </a:spcBef>
              <a:spcAft>
                <a:spcPts val="0"/>
              </a:spcAft>
              <a:buClr>
                <a:schemeClr val="dk1"/>
              </a:buClr>
              <a:buSzPts val="1800"/>
              <a:buChar char="✔"/>
            </a:pPr>
            <a:r>
              <a:rPr lang="en-US"/>
              <a:t>However, we have not formally described what goes on within the design phase.  </a:t>
            </a:r>
            <a:endParaRPr/>
          </a:p>
          <a:p>
            <a:pPr indent="-285750" lvl="1" marL="742950" rtl="0" algn="l">
              <a:spcBef>
                <a:spcPts val="360"/>
              </a:spcBef>
              <a:spcAft>
                <a:spcPts val="0"/>
              </a:spcAft>
              <a:buClr>
                <a:schemeClr val="dk1"/>
              </a:buClr>
              <a:buSzPts val="1800"/>
              <a:buChar char="✔"/>
            </a:pPr>
            <a:r>
              <a:rPr lang="en-US"/>
              <a:t>Let‘s examine in depth the software design process…</a:t>
            </a:r>
            <a:endParaRPr/>
          </a:p>
          <a:p>
            <a:pPr indent="-215900" lvl="0" marL="342900" rtl="0" algn="l">
              <a:spcBef>
                <a:spcPts val="400"/>
              </a:spcBef>
              <a:spcAft>
                <a:spcPts val="0"/>
              </a:spcAft>
              <a:buClr>
                <a:schemeClr val="dk1"/>
              </a:buClr>
              <a:buSzPts val="2000"/>
              <a:buFont typeface="Noto Sans Symbols"/>
              <a:buNone/>
            </a:pPr>
            <a:r>
              <a:t/>
            </a:r>
            <a:endParaRPr/>
          </a:p>
          <a:p>
            <a:pPr indent="-342900" lvl="0" marL="342900" rtl="0" algn="l">
              <a:spcBef>
                <a:spcPts val="400"/>
              </a:spcBef>
              <a:spcAft>
                <a:spcPts val="0"/>
              </a:spcAft>
              <a:buClr>
                <a:schemeClr val="dk1"/>
              </a:buClr>
              <a:buSzPts val="2000"/>
              <a:buFont typeface="Noto Sans Symbols"/>
              <a:buChar char="⮚"/>
            </a:pPr>
            <a:r>
              <a:rPr lang="en-US"/>
              <a:t>A software design process is a set of activities and controls that specify how resources work together for the production of software design artifacts. </a:t>
            </a:r>
            <a:endParaRPr/>
          </a:p>
          <a:p>
            <a:pPr indent="-285750" lvl="1" marL="742950" rtl="0" algn="l">
              <a:spcBef>
                <a:spcPts val="360"/>
              </a:spcBef>
              <a:spcAft>
                <a:spcPts val="0"/>
              </a:spcAft>
              <a:buClr>
                <a:schemeClr val="dk1"/>
              </a:buClr>
              <a:buSzPts val="1800"/>
              <a:buChar char="✔"/>
            </a:pPr>
            <a:r>
              <a:rPr lang="en-US"/>
              <a:t>Two major activities of the software design process include:</a:t>
            </a:r>
            <a:endParaRPr/>
          </a:p>
          <a:p>
            <a:pPr indent="-228600" lvl="2" marL="1143000" rtl="0" algn="l">
              <a:spcBef>
                <a:spcPts val="320"/>
              </a:spcBef>
              <a:spcAft>
                <a:spcPts val="0"/>
              </a:spcAft>
              <a:buClr>
                <a:schemeClr val="dk1"/>
              </a:buClr>
              <a:buSzPts val="1600"/>
              <a:buChar char="▪"/>
            </a:pPr>
            <a:r>
              <a:rPr lang="en-US"/>
              <a:t>Software Architecture</a:t>
            </a:r>
            <a:endParaRPr/>
          </a:p>
          <a:p>
            <a:pPr indent="-228600" lvl="2" marL="1143000" rtl="0" algn="l">
              <a:spcBef>
                <a:spcPts val="320"/>
              </a:spcBef>
              <a:spcAft>
                <a:spcPts val="0"/>
              </a:spcAft>
              <a:buClr>
                <a:schemeClr val="dk1"/>
              </a:buClr>
              <a:buSzPts val="1600"/>
              <a:buChar char="▪"/>
            </a:pPr>
            <a:r>
              <a:rPr lang="en-US"/>
              <a:t>Detailed Design</a:t>
            </a:r>
            <a:endParaRPr/>
          </a:p>
        </p:txBody>
      </p:sp>
      <p:sp>
        <p:nvSpPr>
          <p:cNvPr id="310" name="Google Shape;310;p16"/>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8/24/2012</a:t>
            </a:r>
            <a:endParaRPr/>
          </a:p>
        </p:txBody>
      </p:sp>
      <p:sp>
        <p:nvSpPr>
          <p:cNvPr id="311" name="Google Shape;311;p16"/>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312" name="Google Shape;312;p16"/>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17"/>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Software Design Process</a:t>
            </a:r>
            <a:endParaRPr/>
          </a:p>
        </p:txBody>
      </p:sp>
      <p:sp>
        <p:nvSpPr>
          <p:cNvPr id="318" name="Google Shape;318;p17"/>
          <p:cNvSpPr txBox="1"/>
          <p:nvPr>
            <p:ph idx="1" type="body"/>
          </p:nvPr>
        </p:nvSpPr>
        <p:spPr>
          <a:xfrm>
            <a:off x="457200" y="1371601"/>
            <a:ext cx="8229600" cy="510539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Font typeface="Noto Sans Symbols"/>
              <a:buChar char="⮚"/>
            </a:pPr>
            <a:r>
              <a:rPr lang="en-US"/>
              <a:t>Software Architecture</a:t>
            </a:r>
            <a:endParaRPr/>
          </a:p>
          <a:p>
            <a:pPr indent="-285750" lvl="1" marL="742950" rtl="0" algn="l">
              <a:spcBef>
                <a:spcPts val="360"/>
              </a:spcBef>
              <a:spcAft>
                <a:spcPts val="0"/>
              </a:spcAft>
              <a:buClr>
                <a:schemeClr val="dk1"/>
              </a:buClr>
              <a:buSzPts val="1800"/>
              <a:buChar char="✔"/>
            </a:pPr>
            <a:r>
              <a:rPr lang="en-US"/>
              <a:t>Corresponds to a macro design approach for creating models that depict the quality and function of the software system.</a:t>
            </a:r>
            <a:endParaRPr/>
          </a:p>
          <a:p>
            <a:pPr indent="-285750" lvl="1" marL="742950" rtl="0" algn="l">
              <a:spcBef>
                <a:spcPts val="360"/>
              </a:spcBef>
              <a:spcAft>
                <a:spcPts val="0"/>
              </a:spcAft>
              <a:buClr>
                <a:schemeClr val="dk1"/>
              </a:buClr>
              <a:buSzPts val="1800"/>
              <a:buChar char="✔"/>
            </a:pPr>
            <a:r>
              <a:rPr lang="en-US"/>
              <a:t>Provides black-box models used to evaluate the system’s projected capabilities as well as its expected quality.</a:t>
            </a:r>
            <a:endParaRPr/>
          </a:p>
          <a:p>
            <a:pPr indent="-285750" lvl="1" marL="742950" rtl="0" algn="l">
              <a:spcBef>
                <a:spcPts val="360"/>
              </a:spcBef>
              <a:spcAft>
                <a:spcPts val="0"/>
              </a:spcAft>
              <a:buClr>
                <a:schemeClr val="dk1"/>
              </a:buClr>
              <a:buSzPts val="1800"/>
              <a:buChar char="✔"/>
            </a:pPr>
            <a:r>
              <a:rPr lang="en-US"/>
              <a:t>Designed using multiple perspectives, therefore, allows different stakeholders with different backgrounds to evaluate the design to ensure that it addresses their concerns.</a:t>
            </a:r>
            <a:endParaRPr/>
          </a:p>
          <a:p>
            <a:pPr indent="-285750" lvl="1" marL="742950" rtl="0" algn="l">
              <a:spcBef>
                <a:spcPts val="360"/>
              </a:spcBef>
              <a:spcAft>
                <a:spcPts val="0"/>
              </a:spcAft>
              <a:buClr>
                <a:schemeClr val="dk1"/>
              </a:buClr>
              <a:buSzPts val="1800"/>
              <a:buChar char="✔"/>
            </a:pPr>
            <a:r>
              <a:rPr lang="en-US"/>
              <a:t>It provides the major structural components and interfaces of the system.</a:t>
            </a:r>
            <a:endParaRPr/>
          </a:p>
          <a:p>
            <a:pPr indent="-285750" lvl="1" marL="742950" rtl="0" algn="l">
              <a:spcBef>
                <a:spcPts val="360"/>
              </a:spcBef>
              <a:spcAft>
                <a:spcPts val="0"/>
              </a:spcAft>
              <a:buClr>
                <a:schemeClr val="dk1"/>
              </a:buClr>
              <a:buSzPts val="1800"/>
              <a:buChar char="✔"/>
            </a:pPr>
            <a:r>
              <a:rPr lang="en-US"/>
              <a:t>It focuses on the quality aspects of the system before detailed design or construction can begin.</a:t>
            </a:r>
            <a:endParaRPr/>
          </a:p>
          <a:p>
            <a:pPr indent="-285750" lvl="1" marL="742950" rtl="0" algn="l">
              <a:spcBef>
                <a:spcPts val="360"/>
              </a:spcBef>
              <a:spcAft>
                <a:spcPts val="0"/>
              </a:spcAft>
              <a:buClr>
                <a:schemeClr val="dk1"/>
              </a:buClr>
              <a:buSzPts val="1800"/>
              <a:buChar char="✔"/>
            </a:pPr>
            <a:r>
              <a:rPr lang="en-US"/>
              <a:t>They serve as important communication, reasoning, and analysis tool that supports the development and growth of the system [1]</a:t>
            </a:r>
            <a:endParaRPr/>
          </a:p>
          <a:p>
            <a:pPr indent="-285750" lvl="1" marL="742950" rtl="0" algn="l">
              <a:spcBef>
                <a:spcPts val="360"/>
              </a:spcBef>
              <a:spcAft>
                <a:spcPts val="0"/>
              </a:spcAft>
              <a:buClr>
                <a:schemeClr val="dk1"/>
              </a:buClr>
              <a:buSzPts val="1800"/>
              <a:buChar char="✔"/>
            </a:pPr>
            <a:r>
              <a:rPr lang="en-US"/>
              <a:t>Lays the foundation for all subsequent work in the software engineering life-cycle.</a:t>
            </a:r>
            <a:endParaRPr/>
          </a:p>
          <a:p>
            <a:pPr indent="-228600" lvl="2" marL="1143000" rtl="0" algn="l">
              <a:spcBef>
                <a:spcPts val="320"/>
              </a:spcBef>
              <a:spcAft>
                <a:spcPts val="0"/>
              </a:spcAft>
              <a:buClr>
                <a:schemeClr val="dk1"/>
              </a:buClr>
              <a:buSzPts val="1600"/>
              <a:buNone/>
            </a:pPr>
            <a:r>
              <a:rPr lang="en-US"/>
              <a:t>  </a:t>
            </a:r>
            <a:endParaRPr/>
          </a:p>
        </p:txBody>
      </p:sp>
      <p:sp>
        <p:nvSpPr>
          <p:cNvPr id="319" name="Google Shape;319;p17"/>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8/24/2012</a:t>
            </a:r>
            <a:endParaRPr/>
          </a:p>
        </p:txBody>
      </p:sp>
      <p:sp>
        <p:nvSpPr>
          <p:cNvPr id="320" name="Google Shape;320;p17"/>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321" name="Google Shape;321;p17"/>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18"/>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Software Design Process</a:t>
            </a:r>
            <a:endParaRPr/>
          </a:p>
        </p:txBody>
      </p:sp>
      <p:sp>
        <p:nvSpPr>
          <p:cNvPr id="327" name="Google Shape;327;p18"/>
          <p:cNvSpPr txBox="1"/>
          <p:nvPr>
            <p:ph idx="1" type="body"/>
          </p:nvPr>
        </p:nvSpPr>
        <p:spPr>
          <a:xfrm>
            <a:off x="457200" y="1371601"/>
            <a:ext cx="8229600" cy="510539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Font typeface="Noto Sans Symbols"/>
              <a:buChar char="⮚"/>
            </a:pPr>
            <a:r>
              <a:rPr lang="en-US"/>
              <a:t>Detailed Design</a:t>
            </a:r>
            <a:endParaRPr/>
          </a:p>
          <a:p>
            <a:pPr indent="-285750" lvl="1" marL="742950" rtl="0" algn="l">
              <a:spcBef>
                <a:spcPts val="360"/>
              </a:spcBef>
              <a:spcAft>
                <a:spcPts val="0"/>
              </a:spcAft>
              <a:buClr>
                <a:schemeClr val="dk1"/>
              </a:buClr>
              <a:buSzPts val="1800"/>
              <a:buChar char="✔"/>
            </a:pPr>
            <a:r>
              <a:rPr lang="en-US"/>
              <a:t>Whereas software architecture deals with the major structural components and interfaces of the system, detailed design focuses mostly on the internals of those components and interfaces.</a:t>
            </a:r>
            <a:endParaRPr/>
          </a:p>
          <a:p>
            <a:pPr indent="-285750" lvl="1" marL="742950" rtl="0" algn="l">
              <a:spcBef>
                <a:spcPts val="360"/>
              </a:spcBef>
              <a:spcAft>
                <a:spcPts val="0"/>
              </a:spcAft>
              <a:buClr>
                <a:schemeClr val="dk1"/>
              </a:buClr>
              <a:buSzPts val="1800"/>
              <a:buChar char="✔"/>
            </a:pPr>
            <a:r>
              <a:rPr lang="en-US"/>
              <a:t>Begins after the software architecture activity is specified, reviewed, and deemed </a:t>
            </a:r>
            <a:r>
              <a:rPr i="1" lang="en-US"/>
              <a:t>sufficiently</a:t>
            </a:r>
            <a:r>
              <a:rPr lang="en-US"/>
              <a:t> complete.</a:t>
            </a:r>
            <a:endParaRPr/>
          </a:p>
          <a:p>
            <a:pPr indent="-285750" lvl="1" marL="742950" rtl="0" algn="l">
              <a:spcBef>
                <a:spcPts val="360"/>
              </a:spcBef>
              <a:spcAft>
                <a:spcPts val="0"/>
              </a:spcAft>
              <a:buClr>
                <a:schemeClr val="dk1"/>
              </a:buClr>
              <a:buSzPts val="1800"/>
              <a:buChar char="✔"/>
            </a:pPr>
            <a:r>
              <a:rPr lang="en-US"/>
              <a:t>Builds on the software architecture to provide a </a:t>
            </a:r>
            <a:r>
              <a:rPr i="1" lang="en-US"/>
              <a:t>white-box</a:t>
            </a:r>
            <a:r>
              <a:rPr lang="en-US"/>
              <a:t> approach to design the structure and behavior of the system.</a:t>
            </a:r>
            <a:endParaRPr/>
          </a:p>
          <a:p>
            <a:pPr indent="-285750" lvl="1" marL="742950" rtl="0" algn="l">
              <a:spcBef>
                <a:spcPts val="360"/>
              </a:spcBef>
              <a:spcAft>
                <a:spcPts val="0"/>
              </a:spcAft>
              <a:buClr>
                <a:schemeClr val="dk1"/>
              </a:buClr>
              <a:buSzPts val="1800"/>
              <a:buChar char="✔"/>
            </a:pPr>
            <a:r>
              <a:rPr lang="en-US"/>
              <a:t>Refines the architecture to reach a point where the software design, including architecture and detailed design, is deemed sufficiently complete for the construction phase to begin.</a:t>
            </a:r>
            <a:endParaRPr/>
          </a:p>
          <a:p>
            <a:pPr indent="-285750" lvl="1" marL="742950" rtl="0" algn="l">
              <a:spcBef>
                <a:spcPts val="360"/>
              </a:spcBef>
              <a:spcAft>
                <a:spcPts val="0"/>
              </a:spcAft>
              <a:buClr>
                <a:schemeClr val="dk1"/>
              </a:buClr>
              <a:buSzPts val="1800"/>
              <a:buChar char="✔"/>
            </a:pPr>
            <a:r>
              <a:rPr lang="en-US"/>
              <a:t>Focuses on functional requirements, whereas the architecture focuses mostly on non-functional, or quality, requirements.</a:t>
            </a:r>
            <a:endParaRPr/>
          </a:p>
          <a:p>
            <a:pPr indent="-285750" lvl="1" marL="742950" rtl="0" algn="l">
              <a:spcBef>
                <a:spcPts val="360"/>
              </a:spcBef>
              <a:spcAft>
                <a:spcPts val="0"/>
              </a:spcAft>
              <a:buClr>
                <a:schemeClr val="dk1"/>
              </a:buClr>
              <a:buSzPts val="1800"/>
              <a:buChar char="✔"/>
            </a:pPr>
            <a:r>
              <a:rPr lang="en-US"/>
              <a:t>Two important tasks of the detailed design activity include:</a:t>
            </a:r>
            <a:endParaRPr/>
          </a:p>
          <a:p>
            <a:pPr indent="-228600" lvl="2" marL="1143000" rtl="0" algn="l">
              <a:spcBef>
                <a:spcPts val="320"/>
              </a:spcBef>
              <a:spcAft>
                <a:spcPts val="0"/>
              </a:spcAft>
              <a:buClr>
                <a:schemeClr val="dk1"/>
              </a:buClr>
              <a:buSzPts val="1600"/>
              <a:buChar char="▪"/>
            </a:pPr>
            <a:r>
              <a:rPr lang="en-US"/>
              <a:t>Interface Design</a:t>
            </a:r>
            <a:endParaRPr/>
          </a:p>
          <a:p>
            <a:pPr indent="-228600" lvl="2" marL="1143000" rtl="0" algn="l">
              <a:spcBef>
                <a:spcPts val="320"/>
              </a:spcBef>
              <a:spcAft>
                <a:spcPts val="0"/>
              </a:spcAft>
              <a:buClr>
                <a:schemeClr val="dk1"/>
              </a:buClr>
              <a:buSzPts val="1600"/>
              <a:buChar char="▪"/>
            </a:pPr>
            <a:r>
              <a:rPr lang="en-US"/>
              <a:t>Component Design</a:t>
            </a:r>
            <a:endParaRPr/>
          </a:p>
        </p:txBody>
      </p:sp>
      <p:sp>
        <p:nvSpPr>
          <p:cNvPr id="328" name="Google Shape;328;p18"/>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8/24/2012</a:t>
            </a:r>
            <a:endParaRPr/>
          </a:p>
        </p:txBody>
      </p:sp>
      <p:sp>
        <p:nvSpPr>
          <p:cNvPr id="329" name="Google Shape;329;p18"/>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330" name="Google Shape;330;p18"/>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19"/>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Software Design Process</a:t>
            </a:r>
            <a:endParaRPr/>
          </a:p>
        </p:txBody>
      </p:sp>
      <p:sp>
        <p:nvSpPr>
          <p:cNvPr id="336" name="Google Shape;336;p19"/>
          <p:cNvSpPr txBox="1"/>
          <p:nvPr>
            <p:ph idx="1" type="body"/>
          </p:nvPr>
        </p:nvSpPr>
        <p:spPr>
          <a:xfrm>
            <a:off x="457200" y="1371601"/>
            <a:ext cx="8229600" cy="5181599"/>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2000"/>
              <a:buFont typeface="Noto Sans Symbols"/>
              <a:buChar char="⮚"/>
            </a:pPr>
            <a:r>
              <a:rPr lang="en-US"/>
              <a:t>Interface design</a:t>
            </a:r>
            <a:endParaRPr/>
          </a:p>
          <a:p>
            <a:pPr indent="-285750" lvl="1" marL="742950" rtl="0" algn="l">
              <a:lnSpc>
                <a:spcPct val="90000"/>
              </a:lnSpc>
              <a:spcBef>
                <a:spcPts val="360"/>
              </a:spcBef>
              <a:spcAft>
                <a:spcPts val="0"/>
              </a:spcAft>
              <a:buClr>
                <a:schemeClr val="dk1"/>
              </a:buClr>
              <a:buSzPts val="1800"/>
              <a:buChar char="✔"/>
            </a:pPr>
            <a:r>
              <a:rPr lang="en-US"/>
              <a:t>Refers to the design activity that deals with specification of interfaces between components in the design.</a:t>
            </a:r>
            <a:endParaRPr/>
          </a:p>
          <a:p>
            <a:pPr indent="-285750" lvl="1" marL="742950" rtl="0" algn="l">
              <a:lnSpc>
                <a:spcPct val="90000"/>
              </a:lnSpc>
              <a:spcBef>
                <a:spcPts val="360"/>
              </a:spcBef>
              <a:spcAft>
                <a:spcPts val="0"/>
              </a:spcAft>
              <a:buClr>
                <a:schemeClr val="dk1"/>
              </a:buClr>
              <a:buSzPts val="1800"/>
              <a:buChar char="✔"/>
            </a:pPr>
            <a:r>
              <a:rPr lang="en-US"/>
              <a:t>Provide a standardized way for accessing services provided by software components.</a:t>
            </a:r>
            <a:endParaRPr/>
          </a:p>
          <a:p>
            <a:pPr indent="-285750" lvl="1" marL="742950" rtl="0" algn="l">
              <a:lnSpc>
                <a:spcPct val="90000"/>
              </a:lnSpc>
              <a:spcBef>
                <a:spcPts val="360"/>
              </a:spcBef>
              <a:spcAft>
                <a:spcPts val="0"/>
              </a:spcAft>
              <a:buClr>
                <a:schemeClr val="dk1"/>
              </a:buClr>
              <a:buSzPts val="1800"/>
              <a:buChar char="✔"/>
            </a:pPr>
            <a:r>
              <a:rPr lang="en-US"/>
              <a:t>Allow for multiple efforts to occur in parallel, as long as interfaces are obeyed, therefore, it is one of the first tasks during detailed design.</a:t>
            </a:r>
            <a:endParaRPr/>
          </a:p>
          <a:p>
            <a:pPr indent="-285750" lvl="1" marL="742950" rtl="0" algn="l">
              <a:lnSpc>
                <a:spcPct val="90000"/>
              </a:lnSpc>
              <a:spcBef>
                <a:spcPts val="360"/>
              </a:spcBef>
              <a:spcAft>
                <a:spcPts val="0"/>
              </a:spcAft>
              <a:buClr>
                <a:schemeClr val="dk1"/>
              </a:buClr>
              <a:buSzPts val="1800"/>
              <a:buChar char="✔"/>
            </a:pPr>
            <a:r>
              <a:rPr lang="en-US"/>
              <a:t>Can be performed for both internal interfaces and external interfaces, e.g., XML messaging specification for communication across the network.</a:t>
            </a:r>
            <a:endParaRPr/>
          </a:p>
          <a:p>
            <a:pPr indent="-342900" lvl="0" marL="342900" rtl="0" algn="l">
              <a:lnSpc>
                <a:spcPct val="90000"/>
              </a:lnSpc>
              <a:spcBef>
                <a:spcPts val="400"/>
              </a:spcBef>
              <a:spcAft>
                <a:spcPts val="0"/>
              </a:spcAft>
              <a:buClr>
                <a:schemeClr val="dk1"/>
              </a:buClr>
              <a:buSzPts val="2000"/>
              <a:buFont typeface="Noto Sans Symbols"/>
              <a:buChar char="⮚"/>
            </a:pPr>
            <a:r>
              <a:rPr lang="en-US"/>
              <a:t>Component design</a:t>
            </a:r>
            <a:endParaRPr/>
          </a:p>
          <a:p>
            <a:pPr indent="-285750" lvl="1" marL="742950" rtl="0" algn="l">
              <a:lnSpc>
                <a:spcPct val="90000"/>
              </a:lnSpc>
              <a:spcBef>
                <a:spcPts val="360"/>
              </a:spcBef>
              <a:spcAft>
                <a:spcPts val="0"/>
              </a:spcAft>
              <a:buClr>
                <a:schemeClr val="dk1"/>
              </a:buClr>
              <a:buSzPts val="1800"/>
              <a:buChar char="✔"/>
            </a:pPr>
            <a:r>
              <a:rPr lang="en-US"/>
              <a:t>During architecture, major components are identified.  During component design, the internal design of (the structure and behavior of) these components is created.</a:t>
            </a:r>
            <a:endParaRPr/>
          </a:p>
          <a:p>
            <a:pPr indent="-285750" lvl="1" marL="742950" rtl="0" algn="l">
              <a:lnSpc>
                <a:spcPct val="90000"/>
              </a:lnSpc>
              <a:spcBef>
                <a:spcPts val="360"/>
              </a:spcBef>
              <a:spcAft>
                <a:spcPts val="0"/>
              </a:spcAft>
              <a:buClr>
                <a:schemeClr val="dk1"/>
              </a:buClr>
              <a:buSzPts val="1800"/>
              <a:buChar char="✔"/>
            </a:pPr>
            <a:r>
              <a:rPr lang="en-US"/>
              <a:t>In object-oriented systems, using UML, component designs are typically in the form of class diagrams, sequence diagrams, etc.</a:t>
            </a:r>
            <a:endParaRPr/>
          </a:p>
          <a:p>
            <a:pPr indent="-285750" lvl="1" marL="742950" rtl="0" algn="l">
              <a:lnSpc>
                <a:spcPct val="90000"/>
              </a:lnSpc>
              <a:spcBef>
                <a:spcPts val="360"/>
              </a:spcBef>
              <a:spcAft>
                <a:spcPts val="0"/>
              </a:spcAft>
              <a:buClr>
                <a:schemeClr val="dk1"/>
              </a:buClr>
              <a:buSzPts val="1800"/>
              <a:buChar char="✔"/>
            </a:pPr>
            <a:r>
              <a:rPr lang="en-US"/>
              <a:t>When creating these designs, several design principles, heuristics, and patterns are often used in professional practice.</a:t>
            </a:r>
            <a:endParaRPr/>
          </a:p>
          <a:p>
            <a:pPr indent="-285750" lvl="1" marL="742950" rtl="0" algn="l">
              <a:lnSpc>
                <a:spcPct val="90000"/>
              </a:lnSpc>
              <a:spcBef>
                <a:spcPts val="360"/>
              </a:spcBef>
              <a:spcAft>
                <a:spcPts val="0"/>
              </a:spcAft>
              <a:buClr>
                <a:schemeClr val="dk1"/>
              </a:buClr>
              <a:buSzPts val="1800"/>
              <a:buChar char="✔"/>
            </a:pPr>
            <a:r>
              <a:rPr lang="en-US"/>
              <a:t>Sometimes referred to as component-level design.</a:t>
            </a:r>
            <a:endParaRPr/>
          </a:p>
          <a:p>
            <a:pPr indent="-171450" lvl="1" marL="742950" rtl="0" algn="l">
              <a:lnSpc>
                <a:spcPct val="90000"/>
              </a:lnSpc>
              <a:spcBef>
                <a:spcPts val="360"/>
              </a:spcBef>
              <a:spcAft>
                <a:spcPts val="0"/>
              </a:spcAft>
              <a:buClr>
                <a:schemeClr val="dk1"/>
              </a:buClr>
              <a:buSzPts val="1800"/>
              <a:buNone/>
            </a:pPr>
            <a:r>
              <a:t/>
            </a:r>
            <a:endParaRPr/>
          </a:p>
        </p:txBody>
      </p:sp>
      <p:sp>
        <p:nvSpPr>
          <p:cNvPr id="337" name="Google Shape;337;p19"/>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8/24/2012</a:t>
            </a:r>
            <a:endParaRPr/>
          </a:p>
        </p:txBody>
      </p:sp>
      <p:sp>
        <p:nvSpPr>
          <p:cNvPr id="338" name="Google Shape;338;p19"/>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339" name="Google Shape;339;p19"/>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20"/>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Software Design Process</a:t>
            </a:r>
            <a:endParaRPr/>
          </a:p>
        </p:txBody>
      </p:sp>
      <p:sp>
        <p:nvSpPr>
          <p:cNvPr id="345" name="Google Shape;345;p20"/>
          <p:cNvSpPr txBox="1"/>
          <p:nvPr>
            <p:ph idx="1" type="body"/>
          </p:nvPr>
        </p:nvSpPr>
        <p:spPr>
          <a:xfrm>
            <a:off x="457200" y="1371601"/>
            <a:ext cx="8229600" cy="5181599"/>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chemeClr val="dk1"/>
              </a:buClr>
              <a:buSzPts val="1700"/>
              <a:buFont typeface="Noto Sans Symbols"/>
              <a:buChar char="⮚"/>
            </a:pPr>
            <a:r>
              <a:rPr lang="en-US" sz="1700"/>
              <a:t>Software architecture and detailed design are well-known activities of the software design phase, however, other important activities are required for supporting the creation of architectural and detailed designs.</a:t>
            </a:r>
            <a:endParaRPr/>
          </a:p>
          <a:p>
            <a:pPr indent="-285750" lvl="1" marL="742950" rtl="0" algn="l">
              <a:lnSpc>
                <a:spcPct val="80000"/>
              </a:lnSpc>
              <a:spcBef>
                <a:spcPts val="306"/>
              </a:spcBef>
              <a:spcAft>
                <a:spcPts val="0"/>
              </a:spcAft>
              <a:buClr>
                <a:schemeClr val="dk1"/>
              </a:buClr>
              <a:buSzPts val="1530"/>
              <a:buChar char="✔"/>
            </a:pPr>
            <a:r>
              <a:rPr lang="en-US" sz="1530"/>
              <a:t>Therefore, when scoping the software design process, the effort required for these other activities must be considered!</a:t>
            </a:r>
            <a:endParaRPr/>
          </a:p>
          <a:p>
            <a:pPr indent="-188594" lvl="1" marL="742950" rtl="0" algn="l">
              <a:lnSpc>
                <a:spcPct val="80000"/>
              </a:lnSpc>
              <a:spcBef>
                <a:spcPts val="306"/>
              </a:spcBef>
              <a:spcAft>
                <a:spcPts val="0"/>
              </a:spcAft>
              <a:buClr>
                <a:schemeClr val="dk1"/>
              </a:buClr>
              <a:buSzPts val="1530"/>
              <a:buNone/>
            </a:pPr>
            <a:r>
              <a:t/>
            </a:r>
            <a:endParaRPr sz="1530"/>
          </a:p>
          <a:p>
            <a:pPr indent="-342900" lvl="0" marL="342900" rtl="0" algn="l">
              <a:lnSpc>
                <a:spcPct val="80000"/>
              </a:lnSpc>
              <a:spcBef>
                <a:spcPts val="340"/>
              </a:spcBef>
              <a:spcAft>
                <a:spcPts val="0"/>
              </a:spcAft>
              <a:buClr>
                <a:schemeClr val="dk1"/>
              </a:buClr>
              <a:buSzPts val="1700"/>
              <a:buFont typeface="Noto Sans Symbols"/>
              <a:buChar char="⮚"/>
            </a:pPr>
            <a:r>
              <a:rPr lang="en-US" sz="1700"/>
              <a:t>Other important activities that require time and effort include:</a:t>
            </a:r>
            <a:endParaRPr/>
          </a:p>
          <a:p>
            <a:pPr indent="-285750" lvl="1" marL="742950" rtl="0" algn="l">
              <a:lnSpc>
                <a:spcPct val="80000"/>
              </a:lnSpc>
              <a:spcBef>
                <a:spcPts val="306"/>
              </a:spcBef>
              <a:spcAft>
                <a:spcPts val="0"/>
              </a:spcAft>
              <a:buClr>
                <a:schemeClr val="dk1"/>
              </a:buClr>
              <a:buSzPts val="1530"/>
              <a:buChar char="✔"/>
            </a:pPr>
            <a:r>
              <a:rPr lang="en-US" sz="1530"/>
              <a:t>Design documentation</a:t>
            </a:r>
            <a:endParaRPr/>
          </a:p>
          <a:p>
            <a:pPr indent="-285750" lvl="1" marL="742950" rtl="0" algn="l">
              <a:lnSpc>
                <a:spcPct val="80000"/>
              </a:lnSpc>
              <a:spcBef>
                <a:spcPts val="306"/>
              </a:spcBef>
              <a:spcAft>
                <a:spcPts val="0"/>
              </a:spcAft>
              <a:buClr>
                <a:schemeClr val="dk1"/>
              </a:buClr>
              <a:buSzPts val="1530"/>
              <a:buChar char="✔"/>
            </a:pPr>
            <a:r>
              <a:rPr lang="en-US" sz="1530"/>
              <a:t>Management activities</a:t>
            </a:r>
            <a:endParaRPr/>
          </a:p>
          <a:p>
            <a:pPr indent="-188594" lvl="1" marL="742950" rtl="0" algn="l">
              <a:lnSpc>
                <a:spcPct val="80000"/>
              </a:lnSpc>
              <a:spcBef>
                <a:spcPts val="306"/>
              </a:spcBef>
              <a:spcAft>
                <a:spcPts val="0"/>
              </a:spcAft>
              <a:buClr>
                <a:schemeClr val="dk1"/>
              </a:buClr>
              <a:buSzPts val="1530"/>
              <a:buNone/>
            </a:pPr>
            <a:r>
              <a:t/>
            </a:r>
            <a:endParaRPr sz="1530"/>
          </a:p>
          <a:p>
            <a:pPr indent="-342900" lvl="0" marL="342900" rtl="0" algn="l">
              <a:lnSpc>
                <a:spcPct val="80000"/>
              </a:lnSpc>
              <a:spcBef>
                <a:spcPts val="340"/>
              </a:spcBef>
              <a:spcAft>
                <a:spcPts val="0"/>
              </a:spcAft>
              <a:buClr>
                <a:schemeClr val="dk1"/>
              </a:buClr>
              <a:buSzPts val="1700"/>
              <a:buFont typeface="Noto Sans Symbols"/>
              <a:buChar char="⮚"/>
            </a:pPr>
            <a:r>
              <a:rPr lang="en-US" sz="1700"/>
              <a:t>An often neglected activity when scoping design efforts is the design that occurs during construction.  This form of design is important to model complex functions or routines identified during detailed design.  </a:t>
            </a:r>
            <a:endParaRPr/>
          </a:p>
          <a:p>
            <a:pPr indent="-285750" lvl="1" marL="742950" rtl="0" algn="l">
              <a:lnSpc>
                <a:spcPct val="80000"/>
              </a:lnSpc>
              <a:spcBef>
                <a:spcPts val="306"/>
              </a:spcBef>
              <a:spcAft>
                <a:spcPts val="0"/>
              </a:spcAft>
              <a:buClr>
                <a:schemeClr val="dk1"/>
              </a:buClr>
              <a:buSzPts val="1530"/>
              <a:buChar char="✔"/>
            </a:pPr>
            <a:r>
              <a:rPr lang="en-US" sz="1530"/>
              <a:t>Construction design is a form of detailed design that occurs mostly during the construction phase.</a:t>
            </a:r>
            <a:endParaRPr/>
          </a:p>
          <a:p>
            <a:pPr indent="-285750" lvl="1" marL="742950" rtl="0" algn="l">
              <a:lnSpc>
                <a:spcPct val="80000"/>
              </a:lnSpc>
              <a:spcBef>
                <a:spcPts val="306"/>
              </a:spcBef>
              <a:spcAft>
                <a:spcPts val="0"/>
              </a:spcAft>
              <a:buClr>
                <a:schemeClr val="dk1"/>
              </a:buClr>
              <a:buSzPts val="1530"/>
              <a:buChar char="✔"/>
            </a:pPr>
            <a:r>
              <a:rPr lang="en-US" sz="1530"/>
              <a:t>Construction design is important to reason, communicate, and document the solution to complex programming problems.</a:t>
            </a:r>
            <a:endParaRPr/>
          </a:p>
          <a:p>
            <a:pPr indent="-285750" lvl="1" marL="742950" rtl="0" algn="l">
              <a:lnSpc>
                <a:spcPct val="80000"/>
              </a:lnSpc>
              <a:spcBef>
                <a:spcPts val="306"/>
              </a:spcBef>
              <a:spcAft>
                <a:spcPts val="0"/>
              </a:spcAft>
              <a:buClr>
                <a:schemeClr val="dk1"/>
              </a:buClr>
              <a:buSzPts val="1530"/>
              <a:buNone/>
            </a:pPr>
            <a:r>
              <a:t/>
            </a:r>
            <a:endParaRPr sz="1530"/>
          </a:p>
          <a:p>
            <a:pPr indent="-342900" lvl="0" marL="342900" rtl="0" algn="l">
              <a:lnSpc>
                <a:spcPct val="80000"/>
              </a:lnSpc>
              <a:spcBef>
                <a:spcPts val="340"/>
              </a:spcBef>
              <a:spcAft>
                <a:spcPts val="0"/>
              </a:spcAft>
              <a:buClr>
                <a:schemeClr val="dk1"/>
              </a:buClr>
              <a:buSzPts val="1700"/>
              <a:buFont typeface="Noto Sans Symbols"/>
              <a:buChar char="⮚"/>
            </a:pPr>
            <a:r>
              <a:rPr lang="en-US" sz="1700"/>
              <a:t>Another important design activity is the Human-computer interface design.</a:t>
            </a:r>
            <a:endParaRPr/>
          </a:p>
          <a:p>
            <a:pPr indent="-285750" lvl="1" marL="742950" rtl="0" algn="l">
              <a:lnSpc>
                <a:spcPct val="80000"/>
              </a:lnSpc>
              <a:spcBef>
                <a:spcPts val="306"/>
              </a:spcBef>
              <a:spcAft>
                <a:spcPts val="0"/>
              </a:spcAft>
              <a:buClr>
                <a:schemeClr val="dk1"/>
              </a:buClr>
              <a:buSzPts val="1530"/>
              <a:buChar char="✔"/>
            </a:pPr>
            <a:r>
              <a:rPr lang="en-US" sz="1530"/>
              <a:t>Design activity where general principles are applied to optimize the interface between humans and computers.  </a:t>
            </a:r>
            <a:endParaRPr sz="1530"/>
          </a:p>
        </p:txBody>
      </p:sp>
      <p:sp>
        <p:nvSpPr>
          <p:cNvPr id="346" name="Google Shape;346;p20"/>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8/24/2012</a:t>
            </a:r>
            <a:endParaRPr/>
          </a:p>
        </p:txBody>
      </p:sp>
      <p:sp>
        <p:nvSpPr>
          <p:cNvPr id="347" name="Google Shape;347;p20"/>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348" name="Google Shape;348;p20"/>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pic>
        <p:nvPicPr>
          <p:cNvPr id="353" name="Google Shape;353;p21"/>
          <p:cNvPicPr preferRelativeResize="0"/>
          <p:nvPr/>
        </p:nvPicPr>
        <p:blipFill rotWithShape="1">
          <a:blip r:embed="rId3">
            <a:alphaModFix/>
          </a:blip>
          <a:srcRect b="0" l="0" r="0" t="0"/>
          <a:stretch/>
        </p:blipFill>
        <p:spPr>
          <a:xfrm>
            <a:off x="3733800" y="1828800"/>
            <a:ext cx="5105400" cy="3847154"/>
          </a:xfrm>
          <a:prstGeom prst="rect">
            <a:avLst/>
          </a:prstGeom>
          <a:noFill/>
          <a:ln>
            <a:noFill/>
          </a:ln>
        </p:spPr>
      </p:pic>
      <p:sp>
        <p:nvSpPr>
          <p:cNvPr id="354" name="Google Shape;354;p21"/>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Software Design Process</a:t>
            </a:r>
            <a:endParaRPr/>
          </a:p>
        </p:txBody>
      </p:sp>
      <p:sp>
        <p:nvSpPr>
          <p:cNvPr id="355" name="Google Shape;355;p21"/>
          <p:cNvSpPr txBox="1"/>
          <p:nvPr>
            <p:ph idx="1" type="body"/>
          </p:nvPr>
        </p:nvSpPr>
        <p:spPr>
          <a:xfrm>
            <a:off x="457200" y="1371601"/>
            <a:ext cx="8229600" cy="5181599"/>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chemeClr val="dk1"/>
              </a:buClr>
              <a:buSzPts val="1700"/>
              <a:buFont typeface="Noto Sans Symbols"/>
              <a:buChar char="⮚"/>
            </a:pPr>
            <a:r>
              <a:rPr lang="en-US" sz="1700"/>
              <a:t>The software design phase has several activities, each having one or more tasks.</a:t>
            </a:r>
            <a:endParaRPr/>
          </a:p>
          <a:p>
            <a:pPr indent="-285750" lvl="1" marL="742950" rtl="0" algn="l">
              <a:lnSpc>
                <a:spcPct val="80000"/>
              </a:lnSpc>
              <a:spcBef>
                <a:spcPts val="306"/>
              </a:spcBef>
              <a:spcAft>
                <a:spcPts val="0"/>
              </a:spcAft>
              <a:buClr>
                <a:schemeClr val="dk1"/>
              </a:buClr>
              <a:buSzPts val="1530"/>
              <a:buChar char="✔"/>
            </a:pPr>
            <a:r>
              <a:rPr lang="en-US" sz="1530"/>
              <a:t>Architecture</a:t>
            </a:r>
            <a:endParaRPr/>
          </a:p>
          <a:p>
            <a:pPr indent="-228600" lvl="2" marL="1143000" rtl="0" algn="l">
              <a:lnSpc>
                <a:spcPct val="80000"/>
              </a:lnSpc>
              <a:spcBef>
                <a:spcPts val="272"/>
              </a:spcBef>
              <a:spcAft>
                <a:spcPts val="0"/>
              </a:spcAft>
              <a:buClr>
                <a:schemeClr val="dk1"/>
              </a:buClr>
              <a:buSzPts val="1360"/>
              <a:buChar char="▪"/>
            </a:pPr>
            <a:r>
              <a:rPr lang="en-US" sz="1360"/>
              <a:t>Identifying views</a:t>
            </a:r>
            <a:endParaRPr/>
          </a:p>
          <a:p>
            <a:pPr indent="-228600" lvl="2" marL="1143000" rtl="0" algn="l">
              <a:lnSpc>
                <a:spcPct val="80000"/>
              </a:lnSpc>
              <a:spcBef>
                <a:spcPts val="272"/>
              </a:spcBef>
              <a:spcAft>
                <a:spcPts val="0"/>
              </a:spcAft>
              <a:buClr>
                <a:schemeClr val="dk1"/>
              </a:buClr>
              <a:buSzPts val="1360"/>
              <a:buChar char="▪"/>
            </a:pPr>
            <a:r>
              <a:rPr lang="en-US" sz="1360"/>
              <a:t>Identifying patterns</a:t>
            </a:r>
            <a:endParaRPr/>
          </a:p>
          <a:p>
            <a:pPr indent="-228600" lvl="2" marL="1143000" rtl="0" algn="l">
              <a:lnSpc>
                <a:spcPct val="80000"/>
              </a:lnSpc>
              <a:spcBef>
                <a:spcPts val="272"/>
              </a:spcBef>
              <a:spcAft>
                <a:spcPts val="0"/>
              </a:spcAft>
              <a:buClr>
                <a:schemeClr val="dk1"/>
              </a:buClr>
              <a:buSzPts val="1360"/>
              <a:buChar char="▪"/>
            </a:pPr>
            <a:r>
              <a:rPr lang="en-US" sz="1360"/>
              <a:t>…</a:t>
            </a:r>
            <a:endParaRPr/>
          </a:p>
          <a:p>
            <a:pPr indent="-285750" lvl="1" marL="742950" rtl="0" algn="l">
              <a:lnSpc>
                <a:spcPct val="80000"/>
              </a:lnSpc>
              <a:spcBef>
                <a:spcPts val="306"/>
              </a:spcBef>
              <a:spcAft>
                <a:spcPts val="0"/>
              </a:spcAft>
              <a:buClr>
                <a:schemeClr val="dk1"/>
              </a:buClr>
              <a:buSzPts val="1530"/>
              <a:buChar char="✔"/>
            </a:pPr>
            <a:r>
              <a:rPr lang="en-US" sz="1530"/>
              <a:t>Detailed Design</a:t>
            </a:r>
            <a:endParaRPr/>
          </a:p>
          <a:p>
            <a:pPr indent="-228600" lvl="2" marL="1143000" rtl="0" algn="l">
              <a:lnSpc>
                <a:spcPct val="80000"/>
              </a:lnSpc>
              <a:spcBef>
                <a:spcPts val="272"/>
              </a:spcBef>
              <a:spcAft>
                <a:spcPts val="0"/>
              </a:spcAft>
              <a:buClr>
                <a:schemeClr val="dk1"/>
              </a:buClr>
              <a:buSzPts val="1360"/>
              <a:buChar char="▪"/>
            </a:pPr>
            <a:r>
              <a:rPr lang="en-US" sz="1360"/>
              <a:t>Interface design</a:t>
            </a:r>
            <a:endParaRPr/>
          </a:p>
          <a:p>
            <a:pPr indent="-228600" lvl="2" marL="1143000" rtl="0" algn="l">
              <a:lnSpc>
                <a:spcPct val="80000"/>
              </a:lnSpc>
              <a:spcBef>
                <a:spcPts val="272"/>
              </a:spcBef>
              <a:spcAft>
                <a:spcPts val="0"/>
              </a:spcAft>
              <a:buClr>
                <a:schemeClr val="dk1"/>
              </a:buClr>
              <a:buSzPts val="1360"/>
              <a:buChar char="▪"/>
            </a:pPr>
            <a:r>
              <a:rPr lang="en-US" sz="1360"/>
              <a:t>Component design</a:t>
            </a:r>
            <a:endParaRPr/>
          </a:p>
          <a:p>
            <a:pPr indent="-228600" lvl="2" marL="1143000" rtl="0" algn="l">
              <a:lnSpc>
                <a:spcPct val="80000"/>
              </a:lnSpc>
              <a:spcBef>
                <a:spcPts val="272"/>
              </a:spcBef>
              <a:spcAft>
                <a:spcPts val="0"/>
              </a:spcAft>
              <a:buClr>
                <a:schemeClr val="dk1"/>
              </a:buClr>
              <a:buSzPts val="1360"/>
              <a:buChar char="▪"/>
            </a:pPr>
            <a:r>
              <a:rPr lang="en-US" sz="1360"/>
              <a:t>…</a:t>
            </a:r>
            <a:endParaRPr/>
          </a:p>
          <a:p>
            <a:pPr indent="-285750" lvl="1" marL="742950" rtl="0" algn="l">
              <a:lnSpc>
                <a:spcPct val="80000"/>
              </a:lnSpc>
              <a:spcBef>
                <a:spcPts val="306"/>
              </a:spcBef>
              <a:spcAft>
                <a:spcPts val="0"/>
              </a:spcAft>
              <a:buClr>
                <a:schemeClr val="dk1"/>
              </a:buClr>
              <a:buSzPts val="1530"/>
              <a:buChar char="✔"/>
            </a:pPr>
            <a:r>
              <a:rPr lang="en-US" sz="1530"/>
              <a:t>Construction Design</a:t>
            </a:r>
            <a:endParaRPr/>
          </a:p>
          <a:p>
            <a:pPr indent="-228600" lvl="2" marL="1143000" rtl="0" algn="l">
              <a:lnSpc>
                <a:spcPct val="80000"/>
              </a:lnSpc>
              <a:spcBef>
                <a:spcPts val="272"/>
              </a:spcBef>
              <a:spcAft>
                <a:spcPts val="0"/>
              </a:spcAft>
              <a:buClr>
                <a:schemeClr val="dk1"/>
              </a:buClr>
              <a:buSzPts val="1360"/>
              <a:buChar char="▪"/>
            </a:pPr>
            <a:r>
              <a:rPr lang="en-US" sz="1360"/>
              <a:t>Flow-based design</a:t>
            </a:r>
            <a:endParaRPr/>
          </a:p>
          <a:p>
            <a:pPr indent="-228600" lvl="2" marL="1143000" rtl="0" algn="l">
              <a:lnSpc>
                <a:spcPct val="80000"/>
              </a:lnSpc>
              <a:spcBef>
                <a:spcPts val="272"/>
              </a:spcBef>
              <a:spcAft>
                <a:spcPts val="0"/>
              </a:spcAft>
              <a:buClr>
                <a:schemeClr val="dk1"/>
              </a:buClr>
              <a:buSzPts val="1360"/>
              <a:buChar char="▪"/>
            </a:pPr>
            <a:r>
              <a:rPr lang="en-US" sz="1360"/>
              <a:t>Table-based design</a:t>
            </a:r>
            <a:endParaRPr/>
          </a:p>
          <a:p>
            <a:pPr indent="-228600" lvl="2" marL="1143000" rtl="0" algn="l">
              <a:lnSpc>
                <a:spcPct val="80000"/>
              </a:lnSpc>
              <a:spcBef>
                <a:spcPts val="272"/>
              </a:spcBef>
              <a:spcAft>
                <a:spcPts val="0"/>
              </a:spcAft>
              <a:buClr>
                <a:schemeClr val="dk1"/>
              </a:buClr>
              <a:buSzPts val="1360"/>
              <a:buChar char="▪"/>
            </a:pPr>
            <a:r>
              <a:rPr lang="en-US" sz="1360"/>
              <a:t>…</a:t>
            </a:r>
            <a:endParaRPr/>
          </a:p>
          <a:p>
            <a:pPr indent="-285750" lvl="1" marL="742950" rtl="0" algn="l">
              <a:lnSpc>
                <a:spcPct val="80000"/>
              </a:lnSpc>
              <a:spcBef>
                <a:spcPts val="306"/>
              </a:spcBef>
              <a:spcAft>
                <a:spcPts val="0"/>
              </a:spcAft>
              <a:buClr>
                <a:schemeClr val="dk1"/>
              </a:buClr>
              <a:buSzPts val="1530"/>
              <a:buChar char="✔"/>
            </a:pPr>
            <a:r>
              <a:rPr lang="en-US" sz="1530"/>
              <a:t>Human-computer Interface Design</a:t>
            </a:r>
            <a:endParaRPr/>
          </a:p>
          <a:p>
            <a:pPr indent="-228600" lvl="2" marL="1143000" rtl="0" algn="l">
              <a:lnSpc>
                <a:spcPct val="80000"/>
              </a:lnSpc>
              <a:spcBef>
                <a:spcPts val="272"/>
              </a:spcBef>
              <a:spcAft>
                <a:spcPts val="0"/>
              </a:spcAft>
              <a:buClr>
                <a:schemeClr val="dk1"/>
              </a:buClr>
              <a:buSzPts val="1360"/>
              <a:buChar char="▪"/>
            </a:pPr>
            <a:r>
              <a:rPr lang="en-US" sz="1360"/>
              <a:t>…</a:t>
            </a:r>
            <a:endParaRPr/>
          </a:p>
          <a:p>
            <a:pPr indent="-234950" lvl="0" marL="342900" rtl="0" algn="l">
              <a:lnSpc>
                <a:spcPct val="80000"/>
              </a:lnSpc>
              <a:spcBef>
                <a:spcPts val="340"/>
              </a:spcBef>
              <a:spcAft>
                <a:spcPts val="0"/>
              </a:spcAft>
              <a:buClr>
                <a:schemeClr val="dk1"/>
              </a:buClr>
              <a:buSzPts val="1700"/>
              <a:buFont typeface="Noto Sans Symbols"/>
              <a:buNone/>
            </a:pPr>
            <a:r>
              <a:t/>
            </a:r>
            <a:endParaRPr sz="1700"/>
          </a:p>
          <a:p>
            <a:pPr indent="-342900" lvl="0" marL="342900" rtl="0" algn="l">
              <a:lnSpc>
                <a:spcPct val="80000"/>
              </a:lnSpc>
              <a:spcBef>
                <a:spcPts val="340"/>
              </a:spcBef>
              <a:spcAft>
                <a:spcPts val="0"/>
              </a:spcAft>
              <a:buClr>
                <a:schemeClr val="dk1"/>
              </a:buClr>
              <a:buSzPts val="1700"/>
              <a:buFont typeface="Noto Sans Symbols"/>
              <a:buChar char="⮚"/>
            </a:pPr>
            <a:r>
              <a:rPr lang="en-US" sz="1700"/>
              <a:t>Each design activity needs to be</a:t>
            </a:r>
            <a:endParaRPr/>
          </a:p>
          <a:p>
            <a:pPr indent="-285750" lvl="1" marL="742950" rtl="0" algn="l">
              <a:lnSpc>
                <a:spcPct val="80000"/>
              </a:lnSpc>
              <a:spcBef>
                <a:spcPts val="306"/>
              </a:spcBef>
              <a:spcAft>
                <a:spcPts val="0"/>
              </a:spcAft>
              <a:buClr>
                <a:schemeClr val="dk1"/>
              </a:buClr>
              <a:buSzPts val="1530"/>
              <a:buChar char="✔"/>
            </a:pPr>
            <a:r>
              <a:rPr i="1" lang="en-US" sz="1530"/>
              <a:t>Documented</a:t>
            </a:r>
            <a:r>
              <a:rPr lang="en-US" sz="1530"/>
              <a:t>, and</a:t>
            </a:r>
            <a:endParaRPr/>
          </a:p>
          <a:p>
            <a:pPr indent="-285750" lvl="1" marL="742950" rtl="0" algn="l">
              <a:lnSpc>
                <a:spcPct val="80000"/>
              </a:lnSpc>
              <a:spcBef>
                <a:spcPts val="306"/>
              </a:spcBef>
              <a:spcAft>
                <a:spcPts val="0"/>
              </a:spcAft>
              <a:buClr>
                <a:schemeClr val="dk1"/>
              </a:buClr>
              <a:buSzPts val="1530"/>
              <a:buChar char="✔"/>
            </a:pPr>
            <a:r>
              <a:rPr lang="en-US" sz="1530"/>
              <a:t>All processes need to be managed!</a:t>
            </a:r>
            <a:endParaRPr/>
          </a:p>
          <a:p>
            <a:pPr indent="-234950" lvl="0" marL="342900" rtl="0" algn="l">
              <a:lnSpc>
                <a:spcPct val="80000"/>
              </a:lnSpc>
              <a:spcBef>
                <a:spcPts val="340"/>
              </a:spcBef>
              <a:spcAft>
                <a:spcPts val="0"/>
              </a:spcAft>
              <a:buClr>
                <a:schemeClr val="dk1"/>
              </a:buClr>
              <a:buSzPts val="1700"/>
              <a:buFont typeface="Noto Sans Symbols"/>
              <a:buNone/>
            </a:pPr>
            <a:r>
              <a:t/>
            </a:r>
            <a:endParaRPr sz="1700"/>
          </a:p>
          <a:p>
            <a:pPr indent="-342900" lvl="0" marL="342900" rtl="0" algn="l">
              <a:lnSpc>
                <a:spcPct val="80000"/>
              </a:lnSpc>
              <a:spcBef>
                <a:spcPts val="340"/>
              </a:spcBef>
              <a:spcAft>
                <a:spcPts val="0"/>
              </a:spcAft>
              <a:buClr>
                <a:srgbClr val="FF0000"/>
              </a:buClr>
              <a:buSzPts val="1700"/>
              <a:buFont typeface="Noto Sans Symbols"/>
              <a:buChar char="⮚"/>
            </a:pPr>
            <a:r>
              <a:rPr b="1" lang="en-US" sz="1700">
                <a:solidFill>
                  <a:srgbClr val="FF0000"/>
                </a:solidFill>
              </a:rPr>
              <a:t>We will spend the rest of the semester </a:t>
            </a:r>
            <a:r>
              <a:rPr lang="en-US" sz="1700"/>
              <a:t>learning how to carry out these activities (including tasks), how to document these efforts, and how to manage them! </a:t>
            </a:r>
            <a:endParaRPr sz="1700"/>
          </a:p>
        </p:txBody>
      </p:sp>
      <p:sp>
        <p:nvSpPr>
          <p:cNvPr id="356" name="Google Shape;356;p21"/>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8/24/2012</a:t>
            </a:r>
            <a:endParaRPr/>
          </a:p>
        </p:txBody>
      </p:sp>
      <p:sp>
        <p:nvSpPr>
          <p:cNvPr id="357" name="Google Shape;357;p21"/>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358" name="Google Shape;358;p21"/>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22"/>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Software Design Process</a:t>
            </a:r>
            <a:endParaRPr/>
          </a:p>
        </p:txBody>
      </p:sp>
      <p:sp>
        <p:nvSpPr>
          <p:cNvPr id="364" name="Google Shape;364;p22"/>
          <p:cNvSpPr txBox="1"/>
          <p:nvPr>
            <p:ph idx="1" type="body"/>
          </p:nvPr>
        </p:nvSpPr>
        <p:spPr>
          <a:xfrm>
            <a:off x="457200" y="1371601"/>
            <a:ext cx="8229600" cy="3886199"/>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1700"/>
              <a:buFont typeface="Noto Sans Symbols"/>
              <a:buChar char="⮚"/>
            </a:pPr>
            <a:r>
              <a:rPr lang="en-US" sz="1700"/>
              <a:t>In the previous slide, it is seen that architectural designs are elaborated through detailed design, which are further elaborated through construction design.  In practice, design activities are not carried out in such orderly and controlled fashion.</a:t>
            </a:r>
            <a:endParaRPr/>
          </a:p>
          <a:p>
            <a:pPr indent="-285750" lvl="1" marL="742950" rtl="0" algn="l">
              <a:lnSpc>
                <a:spcPct val="90000"/>
              </a:lnSpc>
              <a:spcBef>
                <a:spcPts val="306"/>
              </a:spcBef>
              <a:spcAft>
                <a:spcPts val="0"/>
              </a:spcAft>
              <a:buClr>
                <a:schemeClr val="dk1"/>
              </a:buClr>
              <a:buSzPts val="1530"/>
              <a:buChar char="✔"/>
            </a:pPr>
            <a:r>
              <a:rPr lang="en-US" sz="1530"/>
              <a:t>Quite a bit of iteration occurs between these activities.</a:t>
            </a:r>
            <a:endParaRPr/>
          </a:p>
          <a:p>
            <a:pPr indent="-234950" lvl="0" marL="342900" rtl="0" algn="l">
              <a:lnSpc>
                <a:spcPct val="90000"/>
              </a:lnSpc>
              <a:spcBef>
                <a:spcPts val="340"/>
              </a:spcBef>
              <a:spcAft>
                <a:spcPts val="0"/>
              </a:spcAft>
              <a:buClr>
                <a:schemeClr val="dk1"/>
              </a:buClr>
              <a:buSzPts val="1700"/>
              <a:buFont typeface="Noto Sans Symbols"/>
              <a:buNone/>
            </a:pPr>
            <a:r>
              <a:t/>
            </a:r>
            <a:endParaRPr sz="1700"/>
          </a:p>
          <a:p>
            <a:pPr indent="-342900" lvl="1" marL="342900" rtl="0" algn="l">
              <a:lnSpc>
                <a:spcPct val="90000"/>
              </a:lnSpc>
              <a:spcBef>
                <a:spcPts val="340"/>
              </a:spcBef>
              <a:spcAft>
                <a:spcPts val="0"/>
              </a:spcAft>
              <a:buClr>
                <a:schemeClr val="dk1"/>
              </a:buClr>
              <a:buSzPts val="1700"/>
              <a:buFont typeface="Noto Sans Symbols"/>
              <a:buChar char="⮚"/>
            </a:pPr>
            <a:r>
              <a:rPr lang="en-US" sz="1700"/>
              <a:t>In a perfect world, all design work would take place during the design phase.  In practice, the distribution of design activities varies throughout the software development life-cycle.</a:t>
            </a:r>
            <a:endParaRPr/>
          </a:p>
          <a:p>
            <a:pPr indent="-285750" lvl="1" marL="742950" rtl="0" algn="l">
              <a:lnSpc>
                <a:spcPct val="90000"/>
              </a:lnSpc>
              <a:spcBef>
                <a:spcPts val="306"/>
              </a:spcBef>
              <a:spcAft>
                <a:spcPts val="0"/>
              </a:spcAft>
              <a:buClr>
                <a:schemeClr val="dk1"/>
              </a:buClr>
              <a:buSzPts val="1530"/>
              <a:buChar char="✔"/>
            </a:pPr>
            <a:r>
              <a:rPr lang="en-US" sz="1530"/>
              <a:t>In most projects, most of the design efforts occur during the design phase, but some design inevitably occurs in other life-cycle phases, e.g.,</a:t>
            </a:r>
            <a:endParaRPr/>
          </a:p>
          <a:p>
            <a:pPr indent="-228600" lvl="2" marL="1143000" rtl="0" algn="l">
              <a:lnSpc>
                <a:spcPct val="90000"/>
              </a:lnSpc>
              <a:spcBef>
                <a:spcPts val="272"/>
              </a:spcBef>
              <a:spcAft>
                <a:spcPts val="0"/>
              </a:spcAft>
              <a:buClr>
                <a:schemeClr val="dk1"/>
              </a:buClr>
              <a:buSzPts val="1360"/>
              <a:buChar char="▪"/>
            </a:pPr>
            <a:r>
              <a:rPr lang="en-US" sz="1360"/>
              <a:t>Requirements</a:t>
            </a:r>
            <a:endParaRPr/>
          </a:p>
          <a:p>
            <a:pPr indent="-228600" lvl="2" marL="1143000" rtl="0" algn="l">
              <a:lnSpc>
                <a:spcPct val="90000"/>
              </a:lnSpc>
              <a:spcBef>
                <a:spcPts val="272"/>
              </a:spcBef>
              <a:spcAft>
                <a:spcPts val="0"/>
              </a:spcAft>
              <a:buClr>
                <a:schemeClr val="dk1"/>
              </a:buClr>
              <a:buSzPts val="1360"/>
              <a:buChar char="▪"/>
            </a:pPr>
            <a:r>
              <a:rPr lang="en-US" sz="1360"/>
              <a:t>Construction</a:t>
            </a:r>
            <a:endParaRPr/>
          </a:p>
          <a:p>
            <a:pPr indent="-285750" lvl="1" marL="742950" rtl="0" algn="l">
              <a:lnSpc>
                <a:spcPct val="90000"/>
              </a:lnSpc>
              <a:spcBef>
                <a:spcPts val="306"/>
              </a:spcBef>
              <a:spcAft>
                <a:spcPts val="0"/>
              </a:spcAft>
              <a:buClr>
                <a:schemeClr val="dk1"/>
              </a:buClr>
              <a:buSzPts val="1530"/>
              <a:buChar char="✔"/>
            </a:pPr>
            <a:r>
              <a:rPr lang="en-US" sz="1530"/>
              <a:t>In some cases, architectural design efforts occur during the requirement’s phase.</a:t>
            </a:r>
            <a:endParaRPr/>
          </a:p>
          <a:p>
            <a:pPr indent="-285750" lvl="1" marL="742950" rtl="0" algn="l">
              <a:lnSpc>
                <a:spcPct val="90000"/>
              </a:lnSpc>
              <a:spcBef>
                <a:spcPts val="306"/>
              </a:spcBef>
              <a:spcAft>
                <a:spcPts val="0"/>
              </a:spcAft>
              <a:buClr>
                <a:schemeClr val="dk1"/>
              </a:buClr>
              <a:buSzPts val="1530"/>
              <a:buChar char="✔"/>
            </a:pPr>
            <a:r>
              <a:rPr lang="en-US" sz="1530"/>
              <a:t>In some cases, detailed design occurs during the construction phase.</a:t>
            </a:r>
            <a:endParaRPr/>
          </a:p>
          <a:p>
            <a:pPr indent="-285750" lvl="1" marL="742950" rtl="0" algn="l">
              <a:lnSpc>
                <a:spcPct val="90000"/>
              </a:lnSpc>
              <a:spcBef>
                <a:spcPts val="306"/>
              </a:spcBef>
              <a:spcAft>
                <a:spcPts val="0"/>
              </a:spcAft>
              <a:buClr>
                <a:schemeClr val="dk1"/>
              </a:buClr>
              <a:buSzPts val="1530"/>
              <a:buChar char="✔"/>
            </a:pPr>
            <a:r>
              <a:rPr lang="en-US" sz="1530"/>
              <a:t>These cases will become evident as we cover these activities during the course.</a:t>
            </a:r>
            <a:endParaRPr/>
          </a:p>
          <a:p>
            <a:pPr indent="-188594" lvl="1" marL="742950" rtl="0" algn="l">
              <a:lnSpc>
                <a:spcPct val="90000"/>
              </a:lnSpc>
              <a:spcBef>
                <a:spcPts val="306"/>
              </a:spcBef>
              <a:spcAft>
                <a:spcPts val="0"/>
              </a:spcAft>
              <a:buClr>
                <a:schemeClr val="dk1"/>
              </a:buClr>
              <a:buSzPts val="1530"/>
              <a:buNone/>
            </a:pPr>
            <a:r>
              <a:t/>
            </a:r>
            <a:endParaRPr sz="1530"/>
          </a:p>
        </p:txBody>
      </p:sp>
      <p:sp>
        <p:nvSpPr>
          <p:cNvPr id="365" name="Google Shape;365;p22"/>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8/24/2012</a:t>
            </a:r>
            <a:endParaRPr/>
          </a:p>
        </p:txBody>
      </p:sp>
      <p:sp>
        <p:nvSpPr>
          <p:cNvPr id="366" name="Google Shape;366;p22"/>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367" name="Google Shape;367;p22"/>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368" name="Google Shape;368;p22"/>
          <p:cNvGrpSpPr/>
          <p:nvPr/>
        </p:nvGrpSpPr>
        <p:grpSpPr>
          <a:xfrm>
            <a:off x="2797820" y="5476875"/>
            <a:ext cx="3679180" cy="847725"/>
            <a:chOff x="2667000" y="5629275"/>
            <a:chExt cx="3679180" cy="847725"/>
          </a:xfrm>
        </p:grpSpPr>
        <p:pic>
          <p:nvPicPr>
            <p:cNvPr id="369" name="Google Shape;369;p22"/>
            <p:cNvPicPr preferRelativeResize="0"/>
            <p:nvPr/>
          </p:nvPicPr>
          <p:blipFill rotWithShape="1">
            <a:blip r:embed="rId3">
              <a:alphaModFix/>
            </a:blip>
            <a:srcRect b="0" l="0" r="0" t="0"/>
            <a:stretch/>
          </p:blipFill>
          <p:spPr>
            <a:xfrm>
              <a:off x="2667000" y="5638800"/>
              <a:ext cx="3679180" cy="838200"/>
            </a:xfrm>
            <a:prstGeom prst="rect">
              <a:avLst/>
            </a:prstGeom>
            <a:noFill/>
            <a:ln>
              <a:noFill/>
            </a:ln>
          </p:spPr>
        </p:pic>
        <p:sp>
          <p:nvSpPr>
            <p:cNvPr id="370" name="Google Shape;370;p22"/>
            <p:cNvSpPr/>
            <p:nvPr/>
          </p:nvSpPr>
          <p:spPr>
            <a:xfrm>
              <a:off x="2962275" y="5667375"/>
              <a:ext cx="447675" cy="762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1" name="Google Shape;371;p22"/>
            <p:cNvSpPr/>
            <p:nvPr/>
          </p:nvSpPr>
          <p:spPr>
            <a:xfrm>
              <a:off x="4219575" y="5629275"/>
              <a:ext cx="447675" cy="762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2" name="Google Shape;372;p22"/>
            <p:cNvSpPr/>
            <p:nvPr/>
          </p:nvSpPr>
          <p:spPr>
            <a:xfrm>
              <a:off x="5581650" y="5676900"/>
              <a:ext cx="447675" cy="762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73" name="Google Shape;373;p22"/>
            <p:cNvCxnSpPr/>
            <p:nvPr/>
          </p:nvCxnSpPr>
          <p:spPr>
            <a:xfrm rot="5400000">
              <a:off x="3781425" y="5019675"/>
              <a:ext cx="38100" cy="1257300"/>
            </a:xfrm>
            <a:prstGeom prst="curvedConnector3">
              <a:avLst>
                <a:gd fmla="val -475000" name="adj1"/>
              </a:avLst>
            </a:prstGeom>
            <a:noFill/>
            <a:ln cap="flat" cmpd="sng" w="9525">
              <a:solidFill>
                <a:srgbClr val="FF0000"/>
              </a:solidFill>
              <a:prstDash val="dash"/>
              <a:round/>
              <a:headEnd len="sm" w="sm" type="none"/>
              <a:tailEnd len="med" w="med" type="stealth"/>
            </a:ln>
          </p:spPr>
        </p:cxnSp>
        <p:cxnSp>
          <p:nvCxnSpPr>
            <p:cNvPr id="374" name="Google Shape;374;p22"/>
            <p:cNvCxnSpPr/>
            <p:nvPr/>
          </p:nvCxnSpPr>
          <p:spPr>
            <a:xfrm flipH="1" rot="5400000">
              <a:off x="5191125" y="5076825"/>
              <a:ext cx="38100" cy="1162050"/>
            </a:xfrm>
            <a:prstGeom prst="curvedConnector3">
              <a:avLst>
                <a:gd fmla="val 575000" name="adj1"/>
              </a:avLst>
            </a:prstGeom>
            <a:noFill/>
            <a:ln cap="flat" cmpd="sng" w="9525">
              <a:solidFill>
                <a:srgbClr val="FF0000"/>
              </a:solidFill>
              <a:prstDash val="dash"/>
              <a:round/>
              <a:headEnd len="sm" w="sm" type="none"/>
              <a:tailEnd len="med" w="med" type="stealth"/>
            </a:ln>
          </p:spPr>
        </p:cxnSp>
        <p:sp>
          <p:nvSpPr>
            <p:cNvPr id="375" name="Google Shape;375;p22"/>
            <p:cNvSpPr/>
            <p:nvPr/>
          </p:nvSpPr>
          <p:spPr>
            <a:xfrm>
              <a:off x="4419600" y="5638800"/>
              <a:ext cx="447675" cy="762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23"/>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What’s next…</a:t>
            </a:r>
            <a:endParaRPr/>
          </a:p>
        </p:txBody>
      </p:sp>
      <p:sp>
        <p:nvSpPr>
          <p:cNvPr id="381" name="Google Shape;381;p23"/>
          <p:cNvSpPr txBox="1"/>
          <p:nvPr>
            <p:ph idx="1" type="body"/>
          </p:nvPr>
        </p:nvSpPr>
        <p:spPr>
          <a:xfrm>
            <a:off x="457200" y="1371601"/>
            <a:ext cx="8229600" cy="4800599"/>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1850"/>
              <a:buFont typeface="Noto Sans Symbols"/>
              <a:buChar char="⮚"/>
            </a:pPr>
            <a:r>
              <a:rPr lang="en-US" sz="1850"/>
              <a:t>In the next session, we will continue the focused discussions on software engineering design.  Specifically,</a:t>
            </a:r>
            <a:endParaRPr/>
          </a:p>
          <a:p>
            <a:pPr indent="-285750" lvl="1" marL="742950" rtl="0" algn="l">
              <a:lnSpc>
                <a:spcPct val="90000"/>
              </a:lnSpc>
              <a:spcBef>
                <a:spcPts val="333"/>
              </a:spcBef>
              <a:spcAft>
                <a:spcPts val="0"/>
              </a:spcAft>
              <a:buClr>
                <a:schemeClr val="dk1"/>
              </a:buClr>
              <a:buSzPts val="1665"/>
              <a:buChar char="✔"/>
            </a:pPr>
            <a:r>
              <a:rPr lang="en-US" sz="1665"/>
              <a:t>Roles of software designers</a:t>
            </a:r>
            <a:endParaRPr/>
          </a:p>
          <a:p>
            <a:pPr indent="-228600" lvl="2" marL="1143000" rtl="0" algn="l">
              <a:lnSpc>
                <a:spcPct val="90000"/>
              </a:lnSpc>
              <a:spcBef>
                <a:spcPts val="296"/>
              </a:spcBef>
              <a:spcAft>
                <a:spcPts val="0"/>
              </a:spcAft>
              <a:buClr>
                <a:schemeClr val="dk1"/>
              </a:buClr>
              <a:buSzPts val="1480"/>
              <a:buChar char="▪"/>
            </a:pPr>
            <a:r>
              <a:rPr lang="en-US" sz="1480"/>
              <a:t>Systems Engineer</a:t>
            </a:r>
            <a:endParaRPr/>
          </a:p>
          <a:p>
            <a:pPr indent="-228600" lvl="2" marL="1143000" rtl="0" algn="l">
              <a:lnSpc>
                <a:spcPct val="90000"/>
              </a:lnSpc>
              <a:spcBef>
                <a:spcPts val="296"/>
              </a:spcBef>
              <a:spcAft>
                <a:spcPts val="0"/>
              </a:spcAft>
              <a:buClr>
                <a:schemeClr val="dk1"/>
              </a:buClr>
              <a:buSzPts val="1480"/>
              <a:buChar char="▪"/>
            </a:pPr>
            <a:r>
              <a:rPr lang="en-US" sz="1480"/>
              <a:t>Software architect</a:t>
            </a:r>
            <a:endParaRPr/>
          </a:p>
          <a:p>
            <a:pPr indent="-228600" lvl="2" marL="1143000" rtl="0" algn="l">
              <a:lnSpc>
                <a:spcPct val="90000"/>
              </a:lnSpc>
              <a:spcBef>
                <a:spcPts val="296"/>
              </a:spcBef>
              <a:spcAft>
                <a:spcPts val="0"/>
              </a:spcAft>
              <a:buClr>
                <a:schemeClr val="dk1"/>
              </a:buClr>
              <a:buSzPts val="1480"/>
              <a:buChar char="▪"/>
            </a:pPr>
            <a:r>
              <a:rPr lang="en-US" sz="1480"/>
              <a:t>Component designer</a:t>
            </a:r>
            <a:endParaRPr/>
          </a:p>
          <a:p>
            <a:pPr indent="-228600" lvl="2" marL="1143000" rtl="0" algn="l">
              <a:lnSpc>
                <a:spcPct val="90000"/>
              </a:lnSpc>
              <a:spcBef>
                <a:spcPts val="296"/>
              </a:spcBef>
              <a:spcAft>
                <a:spcPts val="0"/>
              </a:spcAft>
              <a:buClr>
                <a:schemeClr val="dk1"/>
              </a:buClr>
              <a:buSzPts val="1480"/>
              <a:buChar char="▪"/>
            </a:pPr>
            <a:r>
              <a:rPr lang="en-US" sz="1480"/>
              <a:t>User interface designer</a:t>
            </a:r>
            <a:endParaRPr/>
          </a:p>
          <a:p>
            <a:pPr indent="-285750" lvl="1" marL="742950" rtl="0" algn="l">
              <a:lnSpc>
                <a:spcPct val="90000"/>
              </a:lnSpc>
              <a:spcBef>
                <a:spcPts val="333"/>
              </a:spcBef>
              <a:spcAft>
                <a:spcPts val="0"/>
              </a:spcAft>
              <a:buClr>
                <a:schemeClr val="dk1"/>
              </a:buClr>
              <a:buSzPts val="1665"/>
              <a:buChar char="✔"/>
            </a:pPr>
            <a:r>
              <a:rPr lang="en-US" sz="1665"/>
              <a:t>Design principles</a:t>
            </a:r>
            <a:endParaRPr/>
          </a:p>
          <a:p>
            <a:pPr indent="-228600" lvl="2" marL="1143000" rtl="0" algn="l">
              <a:lnSpc>
                <a:spcPct val="90000"/>
              </a:lnSpc>
              <a:spcBef>
                <a:spcPts val="296"/>
              </a:spcBef>
              <a:spcAft>
                <a:spcPts val="0"/>
              </a:spcAft>
              <a:buClr>
                <a:schemeClr val="dk1"/>
              </a:buClr>
              <a:buSzPts val="1480"/>
              <a:buChar char="▪"/>
            </a:pPr>
            <a:r>
              <a:rPr lang="en-US" sz="1480"/>
              <a:t>Modularization</a:t>
            </a:r>
            <a:endParaRPr/>
          </a:p>
          <a:p>
            <a:pPr indent="-228600" lvl="2" marL="1143000" rtl="0" algn="l">
              <a:lnSpc>
                <a:spcPct val="90000"/>
              </a:lnSpc>
              <a:spcBef>
                <a:spcPts val="296"/>
              </a:spcBef>
              <a:spcAft>
                <a:spcPts val="0"/>
              </a:spcAft>
              <a:buClr>
                <a:schemeClr val="dk1"/>
              </a:buClr>
              <a:buSzPts val="1480"/>
              <a:buChar char="▪"/>
            </a:pPr>
            <a:r>
              <a:rPr lang="en-US" sz="1480"/>
              <a:t>Abstraction</a:t>
            </a:r>
            <a:endParaRPr/>
          </a:p>
          <a:p>
            <a:pPr indent="-228600" lvl="2" marL="1143000" rtl="0" algn="l">
              <a:lnSpc>
                <a:spcPct val="90000"/>
              </a:lnSpc>
              <a:spcBef>
                <a:spcPts val="296"/>
              </a:spcBef>
              <a:spcAft>
                <a:spcPts val="0"/>
              </a:spcAft>
              <a:buClr>
                <a:schemeClr val="dk1"/>
              </a:buClr>
              <a:buSzPts val="1480"/>
              <a:buChar char="▪"/>
            </a:pPr>
            <a:r>
              <a:rPr lang="en-US" sz="1480"/>
              <a:t>Encapsulation</a:t>
            </a:r>
            <a:endParaRPr/>
          </a:p>
          <a:p>
            <a:pPr indent="-228600" lvl="2" marL="1143000" rtl="0" algn="l">
              <a:lnSpc>
                <a:spcPct val="90000"/>
              </a:lnSpc>
              <a:spcBef>
                <a:spcPts val="296"/>
              </a:spcBef>
              <a:spcAft>
                <a:spcPts val="0"/>
              </a:spcAft>
              <a:buClr>
                <a:schemeClr val="dk1"/>
              </a:buClr>
              <a:buSzPts val="1480"/>
              <a:buChar char="▪"/>
            </a:pPr>
            <a:r>
              <a:rPr lang="en-US" sz="1480"/>
              <a:t>Cohesion and coupling</a:t>
            </a:r>
            <a:endParaRPr/>
          </a:p>
          <a:p>
            <a:pPr indent="-228600" lvl="2" marL="1143000" rtl="0" algn="l">
              <a:lnSpc>
                <a:spcPct val="90000"/>
              </a:lnSpc>
              <a:spcBef>
                <a:spcPts val="296"/>
              </a:spcBef>
              <a:spcAft>
                <a:spcPts val="0"/>
              </a:spcAft>
              <a:buClr>
                <a:schemeClr val="dk1"/>
              </a:buClr>
              <a:buSzPts val="1480"/>
              <a:buChar char="▪"/>
            </a:pPr>
            <a:r>
              <a:rPr lang="en-US" sz="1480"/>
              <a:t>Separation of interface and implementation</a:t>
            </a:r>
            <a:endParaRPr/>
          </a:p>
          <a:p>
            <a:pPr indent="-228600" lvl="2" marL="1143000" rtl="0" algn="l">
              <a:lnSpc>
                <a:spcPct val="90000"/>
              </a:lnSpc>
              <a:spcBef>
                <a:spcPts val="296"/>
              </a:spcBef>
              <a:spcAft>
                <a:spcPts val="0"/>
              </a:spcAft>
              <a:buClr>
                <a:schemeClr val="dk1"/>
              </a:buClr>
              <a:buSzPts val="1480"/>
              <a:buChar char="▪"/>
            </a:pPr>
            <a:r>
              <a:rPr lang="en-US" sz="1480"/>
              <a:t>Sufficiency and completeness</a:t>
            </a:r>
            <a:endParaRPr/>
          </a:p>
          <a:p>
            <a:pPr indent="-285750" lvl="1" marL="742950" rtl="0" algn="l">
              <a:lnSpc>
                <a:spcPct val="90000"/>
              </a:lnSpc>
              <a:spcBef>
                <a:spcPts val="333"/>
              </a:spcBef>
              <a:spcAft>
                <a:spcPts val="0"/>
              </a:spcAft>
              <a:buClr>
                <a:schemeClr val="dk1"/>
              </a:buClr>
              <a:buSzPts val="1665"/>
              <a:buChar char="✔"/>
            </a:pPr>
            <a:r>
              <a:rPr lang="en-US" sz="1665"/>
              <a:t>Design strategies</a:t>
            </a:r>
            <a:endParaRPr/>
          </a:p>
          <a:p>
            <a:pPr indent="-228600" lvl="2" marL="1143000" rtl="0" algn="l">
              <a:lnSpc>
                <a:spcPct val="90000"/>
              </a:lnSpc>
              <a:spcBef>
                <a:spcPts val="296"/>
              </a:spcBef>
              <a:spcAft>
                <a:spcPts val="0"/>
              </a:spcAft>
              <a:buClr>
                <a:schemeClr val="dk1"/>
              </a:buClr>
              <a:buSzPts val="1480"/>
              <a:buChar char="▪"/>
            </a:pPr>
            <a:r>
              <a:rPr lang="en-US" sz="1480"/>
              <a:t>Object-oriented vs. structured design</a:t>
            </a:r>
            <a:endParaRPr/>
          </a:p>
          <a:p>
            <a:pPr indent="-285750" lvl="1" marL="742950" rtl="0" algn="l">
              <a:lnSpc>
                <a:spcPct val="90000"/>
              </a:lnSpc>
              <a:spcBef>
                <a:spcPts val="333"/>
              </a:spcBef>
              <a:spcAft>
                <a:spcPts val="0"/>
              </a:spcAft>
              <a:buClr>
                <a:schemeClr val="dk1"/>
              </a:buClr>
              <a:buSzPts val="1665"/>
              <a:buChar char="✔"/>
            </a:pPr>
            <a:r>
              <a:rPr lang="en-US" sz="1665"/>
              <a:t>Practical design considerations</a:t>
            </a:r>
            <a:endParaRPr/>
          </a:p>
          <a:p>
            <a:pPr indent="-180022" lvl="1" marL="742950" rtl="0" algn="l">
              <a:lnSpc>
                <a:spcPct val="90000"/>
              </a:lnSpc>
              <a:spcBef>
                <a:spcPts val="333"/>
              </a:spcBef>
              <a:spcAft>
                <a:spcPts val="0"/>
              </a:spcAft>
              <a:buClr>
                <a:schemeClr val="dk1"/>
              </a:buClr>
              <a:buSzPts val="1665"/>
              <a:buNone/>
            </a:pPr>
            <a:r>
              <a:t/>
            </a:r>
            <a:endParaRPr sz="1665"/>
          </a:p>
        </p:txBody>
      </p:sp>
      <p:sp>
        <p:nvSpPr>
          <p:cNvPr id="382" name="Google Shape;382;p23"/>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8/24/2012</a:t>
            </a:r>
            <a:endParaRPr/>
          </a:p>
        </p:txBody>
      </p:sp>
      <p:sp>
        <p:nvSpPr>
          <p:cNvPr id="383" name="Google Shape;383;p23"/>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384" name="Google Shape;384;p23"/>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24"/>
          <p:cNvSpPr txBox="1"/>
          <p:nvPr>
            <p:ph type="title"/>
          </p:nvPr>
        </p:nvSpPr>
        <p:spPr>
          <a:xfrm>
            <a:off x="457200" y="503238"/>
            <a:ext cx="8229600" cy="7921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Times New Roman"/>
              <a:buNone/>
            </a:pPr>
            <a:r>
              <a:rPr lang="en-US"/>
              <a:t>References</a:t>
            </a:r>
            <a:endParaRPr/>
          </a:p>
        </p:txBody>
      </p:sp>
      <p:sp>
        <p:nvSpPr>
          <p:cNvPr id="390" name="Google Shape;390;p24"/>
          <p:cNvSpPr txBox="1"/>
          <p:nvPr>
            <p:ph idx="1" type="body"/>
          </p:nvPr>
        </p:nvSpPr>
        <p:spPr>
          <a:xfrm>
            <a:off x="457200" y="1371601"/>
            <a:ext cx="8229600" cy="480059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Font typeface="Noto Sans Symbols"/>
              <a:buChar char="⮚"/>
            </a:pPr>
            <a:r>
              <a:rPr lang="en-US"/>
              <a:t>[1] Bass, Len, Paul Clements, and Rick Kazman.  Software Architecture in Practice, 2d ed. Boston: Addison-Wesley, 2003.</a:t>
            </a:r>
            <a:endParaRPr/>
          </a:p>
        </p:txBody>
      </p:sp>
      <p:sp>
        <p:nvSpPr>
          <p:cNvPr id="391" name="Google Shape;391;p24"/>
          <p:cNvSpPr txBox="1"/>
          <p:nvPr>
            <p:ph idx="10" type="dt"/>
          </p:nvPr>
        </p:nvSpPr>
        <p:spPr>
          <a:xfrm>
            <a:off x="457200" y="6584950"/>
            <a:ext cx="990600" cy="273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8/24/2012</a:t>
            </a:r>
            <a:endParaRPr/>
          </a:p>
        </p:txBody>
      </p:sp>
      <p:sp>
        <p:nvSpPr>
          <p:cNvPr id="392" name="Google Shape;392;p24"/>
          <p:cNvSpPr txBox="1"/>
          <p:nvPr>
            <p:ph idx="11" type="ftr"/>
          </p:nvPr>
        </p:nvSpPr>
        <p:spPr>
          <a:xfrm>
            <a:off x="1447800" y="6584950"/>
            <a:ext cx="6096000" cy="27305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Software Engineering Design: Theory and Practice</a:t>
            </a:r>
            <a:endParaRPr/>
          </a:p>
        </p:txBody>
      </p:sp>
      <p:sp>
        <p:nvSpPr>
          <p:cNvPr id="393" name="Google Shape;393;p24"/>
          <p:cNvSpPr txBox="1"/>
          <p:nvPr>
            <p:ph idx="12" type="sldNum"/>
          </p:nvPr>
        </p:nvSpPr>
        <p:spPr>
          <a:xfrm>
            <a:off x="7543800" y="6553200"/>
            <a:ext cx="1143000" cy="3048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UVa-Wise-Clean-BW">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ceo7k</dc:creator>
</cp:coreProperties>
</file>