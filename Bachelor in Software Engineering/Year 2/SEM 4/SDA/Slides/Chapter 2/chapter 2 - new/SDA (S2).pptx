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21"/>
  </p:notesMasterIdLst>
  <p:sldIdLst>
    <p:sldId id="256" r:id="rId2"/>
    <p:sldId id="257" r:id="rId3"/>
    <p:sldId id="295" r:id="rId4"/>
    <p:sldId id="298" r:id="rId5"/>
    <p:sldId id="299" r:id="rId6"/>
    <p:sldId id="308" r:id="rId7"/>
    <p:sldId id="309" r:id="rId8"/>
    <p:sldId id="310" r:id="rId9"/>
    <p:sldId id="313" r:id="rId10"/>
    <p:sldId id="314" r:id="rId11"/>
    <p:sldId id="307" r:id="rId12"/>
    <p:sldId id="301" r:id="rId13"/>
    <p:sldId id="302" r:id="rId14"/>
    <p:sldId id="300" r:id="rId15"/>
    <p:sldId id="303" r:id="rId16"/>
    <p:sldId id="304" r:id="rId17"/>
    <p:sldId id="306" r:id="rId18"/>
    <p:sldId id="286" r:id="rId19"/>
    <p:sldId id="287" r:id="rId20"/>
  </p:sldIdLst>
  <p:sldSz cx="12192000" cy="6858000"/>
  <p:notesSz cx="6858000" cy="9144000"/>
  <p:embeddedFontLst>
    <p:embeddedFont>
      <p:font typeface="Bradley Hand ITC" panose="03070402050302030203" pitchFamily="66" charset="0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  <p:embeddedFont>
      <p:font typeface="Poppins Medium" panose="000006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8945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7586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449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0985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9550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5786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2762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5120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6689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157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99642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11918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35859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52642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93143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55ca97c17c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g255ca97c17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55ca97c17c_0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g255ca97c17c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">
  <p:cSld name="intr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9" y="0"/>
            <a:ext cx="873652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346" y="943365"/>
            <a:ext cx="1963312" cy="66402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>
            <a:spLocks noGrp="1"/>
          </p:cNvSpPr>
          <p:nvPr>
            <p:ph type="pic" idx="2"/>
          </p:nvPr>
        </p:nvSpPr>
        <p:spPr>
          <a:xfrm>
            <a:off x="7093358" y="-16187"/>
            <a:ext cx="5097012" cy="688096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tro">
  <p:cSld name="1_intro">
    <p:bg>
      <p:bgPr>
        <a:solidFill>
          <a:srgbClr val="2C2C2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52000">
                <a:schemeClr val="lt1"/>
              </a:gs>
              <a:gs pos="82000">
                <a:srgbClr val="F2F2F2"/>
              </a:gs>
              <a:gs pos="100000">
                <a:schemeClr val="lt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22;p3"/>
          <p:cNvSpPr>
            <a:spLocks noGrp="1"/>
          </p:cNvSpPr>
          <p:nvPr>
            <p:ph type="pic" idx="2"/>
          </p:nvPr>
        </p:nvSpPr>
        <p:spPr>
          <a:xfrm>
            <a:off x="4527052" y="-39938"/>
            <a:ext cx="7679193" cy="7005082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3"/>
          <p:cNvSpPr/>
          <p:nvPr/>
        </p:nvSpPr>
        <p:spPr>
          <a:xfrm>
            <a:off x="876629" y="-15775"/>
            <a:ext cx="7686809" cy="6857999"/>
          </a:xfrm>
          <a:custGeom>
            <a:avLst/>
            <a:gdLst/>
            <a:ahLst/>
            <a:cxnLst/>
            <a:rect l="l" t="t" r="r" b="b"/>
            <a:pathLst>
              <a:path w="10000" h="10000" extrusionOk="0">
                <a:moveTo>
                  <a:pt x="0" y="6404"/>
                </a:moveTo>
                <a:lnTo>
                  <a:pt x="0" y="10000"/>
                </a:lnTo>
                <a:lnTo>
                  <a:pt x="4844" y="10000"/>
                </a:lnTo>
                <a:lnTo>
                  <a:pt x="10000" y="0"/>
                </a:lnTo>
                <a:lnTo>
                  <a:pt x="3033" y="0"/>
                </a:lnTo>
                <a:lnTo>
                  <a:pt x="0" y="6404"/>
                </a:lnTo>
                <a:close/>
              </a:path>
            </a:pathLst>
          </a:custGeom>
          <a:gradFill>
            <a:gsLst>
              <a:gs pos="0">
                <a:srgbClr val="2C2C2C"/>
              </a:gs>
              <a:gs pos="5000">
                <a:srgbClr val="2C2C2C"/>
              </a:gs>
              <a:gs pos="62000">
                <a:srgbClr val="989898"/>
              </a:gs>
              <a:gs pos="100000">
                <a:srgbClr val="7F7F7F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-32223" y="-14401"/>
            <a:ext cx="8108976" cy="6902576"/>
          </a:xfrm>
          <a:custGeom>
            <a:avLst/>
            <a:gdLst/>
            <a:ahLst/>
            <a:cxnLst/>
            <a:rect l="l" t="t" r="r" b="b"/>
            <a:pathLst>
              <a:path w="13036" h="10065" extrusionOk="0">
                <a:moveTo>
                  <a:pt x="8" y="0"/>
                </a:moveTo>
                <a:lnTo>
                  <a:pt x="13036" y="26"/>
                </a:lnTo>
                <a:lnTo>
                  <a:pt x="6689" y="10065"/>
                </a:lnTo>
                <a:lnTo>
                  <a:pt x="0" y="10044"/>
                </a:lnTo>
                <a:cubicBezTo>
                  <a:pt x="17" y="6703"/>
                  <a:pt x="-9" y="3341"/>
                  <a:pt x="8" y="0"/>
                </a:cubicBezTo>
                <a:close/>
              </a:path>
            </a:pathLst>
          </a:custGeom>
          <a:gradFill>
            <a:gsLst>
              <a:gs pos="0">
                <a:srgbClr val="3F3F3F"/>
              </a:gs>
              <a:gs pos="52000">
                <a:srgbClr val="3F3F3F"/>
              </a:gs>
              <a:gs pos="82000">
                <a:srgbClr val="5A5A5A"/>
              </a:gs>
              <a:gs pos="100000">
                <a:srgbClr val="5F5F5F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209176" y="3456710"/>
            <a:ext cx="4299176" cy="3429000"/>
          </a:xfrm>
          <a:custGeom>
            <a:avLst/>
            <a:gdLst/>
            <a:ahLst/>
            <a:cxnLst/>
            <a:rect l="l" t="t" r="r" b="b"/>
            <a:pathLst>
              <a:path w="499" h="398" extrusionOk="0">
                <a:moveTo>
                  <a:pt x="499" y="0"/>
                </a:moveTo>
                <a:lnTo>
                  <a:pt x="226" y="0"/>
                </a:lnTo>
                <a:lnTo>
                  <a:pt x="0" y="398"/>
                </a:lnTo>
                <a:lnTo>
                  <a:pt x="273" y="398"/>
                </a:lnTo>
                <a:lnTo>
                  <a:pt x="499" y="0"/>
                </a:lnTo>
                <a:close/>
              </a:path>
            </a:pathLst>
          </a:custGeom>
          <a:gradFill>
            <a:gsLst>
              <a:gs pos="0">
                <a:srgbClr val="595959"/>
              </a:gs>
              <a:gs pos="68000">
                <a:srgbClr val="989898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960220" y="3450562"/>
            <a:ext cx="2619136" cy="3429000"/>
          </a:xfrm>
          <a:custGeom>
            <a:avLst/>
            <a:gdLst/>
            <a:ahLst/>
            <a:cxnLst/>
            <a:rect l="l" t="t" r="r" b="b"/>
            <a:pathLst>
              <a:path w="304" h="398" extrusionOk="0">
                <a:moveTo>
                  <a:pt x="0" y="398"/>
                </a:moveTo>
                <a:lnTo>
                  <a:pt x="74" y="398"/>
                </a:lnTo>
                <a:lnTo>
                  <a:pt x="304" y="0"/>
                </a:lnTo>
                <a:lnTo>
                  <a:pt x="223" y="0"/>
                </a:lnTo>
                <a:lnTo>
                  <a:pt x="0" y="398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0367888" y="3713311"/>
            <a:ext cx="1835121" cy="3144689"/>
          </a:xfrm>
          <a:custGeom>
            <a:avLst/>
            <a:gdLst/>
            <a:ahLst/>
            <a:cxnLst/>
            <a:rect l="l" t="t" r="r" b="b"/>
            <a:pathLst>
              <a:path w="213" h="365" extrusionOk="0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" name="Google Shape;28;p3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097" y="970721"/>
            <a:ext cx="1963312" cy="66402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 rot="175485">
            <a:off x="1821520" y="4675411"/>
            <a:ext cx="2314796" cy="2272379"/>
          </a:xfrm>
          <a:custGeom>
            <a:avLst/>
            <a:gdLst/>
            <a:ahLst/>
            <a:cxnLst/>
            <a:rect l="l" t="t" r="r" b="b"/>
            <a:pathLst>
              <a:path w="2314796" h="2272379" extrusionOk="0">
                <a:moveTo>
                  <a:pt x="0" y="2272379"/>
                </a:moveTo>
                <a:lnTo>
                  <a:pt x="1183658" y="0"/>
                </a:lnTo>
                <a:lnTo>
                  <a:pt x="2314796" y="0"/>
                </a:lnTo>
                <a:lnTo>
                  <a:pt x="1226913" y="2162664"/>
                </a:lnTo>
                <a:lnTo>
                  <a:pt x="0" y="2272379"/>
                </a:lnTo>
                <a:close/>
              </a:path>
            </a:pathLst>
          </a:custGeom>
          <a:solidFill>
            <a:srgbClr val="BFBFBF">
              <a:alpha val="1686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30;p3"/>
          <p:cNvSpPr/>
          <p:nvPr/>
        </p:nvSpPr>
        <p:spPr>
          <a:xfrm rot="10800000">
            <a:off x="0" y="5616"/>
            <a:ext cx="1317018" cy="2121303"/>
          </a:xfrm>
          <a:custGeom>
            <a:avLst/>
            <a:gdLst/>
            <a:ahLst/>
            <a:cxnLst/>
            <a:rect l="l" t="t" r="r" b="b"/>
            <a:pathLst>
              <a:path w="213" h="365" extrusionOk="0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469449" y="3095152"/>
            <a:ext cx="1758053" cy="3140035"/>
          </a:xfrm>
          <a:custGeom>
            <a:avLst/>
            <a:gdLst/>
            <a:ahLst/>
            <a:cxnLst/>
            <a:rect l="l" t="t" r="r" b="b"/>
            <a:pathLst>
              <a:path w="6254" h="8532" extrusionOk="0">
                <a:moveTo>
                  <a:pt x="0" y="8532"/>
                </a:moveTo>
                <a:lnTo>
                  <a:pt x="2434" y="8532"/>
                </a:lnTo>
                <a:lnTo>
                  <a:pt x="6254" y="3388"/>
                </a:lnTo>
                <a:cubicBezTo>
                  <a:pt x="6237" y="2259"/>
                  <a:pt x="6219" y="1129"/>
                  <a:pt x="6202" y="0"/>
                </a:cubicBezTo>
                <a:lnTo>
                  <a:pt x="0" y="8532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1">
  <p:cSld name="Layout_0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4612640" y="921703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/>
          <p:nvPr/>
        </p:nvSpPr>
        <p:spPr>
          <a:xfrm rot="10800000">
            <a:off x="-1" y="1719943"/>
            <a:ext cx="622301" cy="309558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4612641" y="2573973"/>
            <a:ext cx="7081520" cy="262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>
            <a:spLocks noGrp="1"/>
          </p:cNvSpPr>
          <p:nvPr>
            <p:ph type="pic" idx="2"/>
          </p:nvPr>
        </p:nvSpPr>
        <p:spPr>
          <a:xfrm>
            <a:off x="1228724" y="921703"/>
            <a:ext cx="2905785" cy="4278630"/>
          </a:xfrm>
          <a:prstGeom prst="rect">
            <a:avLst/>
          </a:prstGeom>
          <a:noFill/>
          <a:ln>
            <a:noFill/>
          </a:ln>
        </p:spPr>
      </p:sp>
      <p:pic>
        <p:nvPicPr>
          <p:cNvPr id="40" name="Google Shape;40;p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layout_02">
  <p:cSld name="blank_layout_02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" name="Google Shape;4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Google Shape;45;p5"/>
          <p:cNvSpPr/>
          <p:nvPr/>
        </p:nvSpPr>
        <p:spPr>
          <a:xfrm rot="10800000">
            <a:off x="2093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5"/>
          <p:cNvSpPr/>
          <p:nvPr/>
        </p:nvSpPr>
        <p:spPr>
          <a:xfrm rot="10800000">
            <a:off x="209518" y="3139623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" name="Google Shape;47;p5"/>
          <p:cNvSpPr/>
          <p:nvPr/>
        </p:nvSpPr>
        <p:spPr>
          <a:xfrm rot="10800000">
            <a:off x="209321" y="3654629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" name="Google Shape;48;p5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_layout_02">
  <p:cSld name="2_blank_layout_0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 flipH="1">
            <a:off x="11899557" y="0"/>
            <a:ext cx="61784" cy="627723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" name="Google Shape;59;p7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4">
  <p:cSld name="Layout_04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/>
          <p:nvPr/>
        </p:nvSpPr>
        <p:spPr>
          <a:xfrm>
            <a:off x="729342" y="0"/>
            <a:ext cx="4285887" cy="62375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1" name="Google Shape;71;p9"/>
          <p:cNvGrpSpPr/>
          <p:nvPr/>
        </p:nvGrpSpPr>
        <p:grpSpPr>
          <a:xfrm>
            <a:off x="2561933" y="419857"/>
            <a:ext cx="613993" cy="75107"/>
            <a:chOff x="-1587" y="4763"/>
            <a:chExt cx="300037" cy="42862"/>
          </a:xfrm>
        </p:grpSpPr>
        <p:sp>
          <p:nvSpPr>
            <p:cNvPr id="72" name="Google Shape;72;p9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3" name="Google Shape;73;p9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" name="Google Shape;74;p9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1008176" y="2103437"/>
            <a:ext cx="38157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8">
  <p:cSld name="Layout_08">
    <p:bg>
      <p:bgPr>
        <a:solidFill>
          <a:srgbClr val="C04C4C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/>
          <p:nvPr/>
        </p:nvSpPr>
        <p:spPr>
          <a:xfrm>
            <a:off x="0" y="0"/>
            <a:ext cx="12192000" cy="4737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215900" dir="5400000" sx="98000" sy="98000" algn="t" rotWithShape="0">
              <a:srgbClr val="000000">
                <a:alpha val="1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10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3">
  <p:cSld name="Layout_03">
    <p:bg>
      <p:bgPr>
        <a:solidFill>
          <a:srgbClr val="C04C4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/>
          <p:nvPr/>
        </p:nvSpPr>
        <p:spPr>
          <a:xfrm rot="-8100000">
            <a:off x="2009576" y="3640922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11"/>
          <p:cNvSpPr/>
          <p:nvPr/>
        </p:nvSpPr>
        <p:spPr>
          <a:xfrm>
            <a:off x="7293428" y="0"/>
            <a:ext cx="4365171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431800" dist="508000" dir="7860000" algn="r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8" name="Google Shape;88;p11"/>
          <p:cNvGrpSpPr/>
          <p:nvPr/>
        </p:nvGrpSpPr>
        <p:grpSpPr>
          <a:xfrm rot="10800000">
            <a:off x="9169016" y="6004017"/>
            <a:ext cx="613993" cy="75107"/>
            <a:chOff x="-1587" y="4763"/>
            <a:chExt cx="300037" cy="42862"/>
          </a:xfrm>
        </p:grpSpPr>
        <p:sp>
          <p:nvSpPr>
            <p:cNvPr id="89" name="Google Shape;89;p11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1" name="Google Shape;91;p11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2" name="Google Shape;92;p11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326572" y="1388382"/>
            <a:ext cx="667294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/>
          <p:nvPr/>
        </p:nvSpPr>
        <p:spPr>
          <a:xfrm rot="-5400000">
            <a:off x="5061976" y="2610139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5">
  <p:cSld name="Layout_05">
    <p:bg>
      <p:bgPr>
        <a:solidFill>
          <a:srgbClr val="C04C4C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/>
          <p:nvPr/>
        </p:nvSpPr>
        <p:spPr>
          <a:xfrm rot="10800000">
            <a:off x="11064240" y="0"/>
            <a:ext cx="1127760" cy="1447800"/>
          </a:xfrm>
          <a:custGeom>
            <a:avLst/>
            <a:gdLst/>
            <a:ahLst/>
            <a:cxnLst/>
            <a:rect l="l" t="t" r="r" b="b"/>
            <a:pathLst>
              <a:path w="10001" h="10000" extrusionOk="0">
                <a:moveTo>
                  <a:pt x="30" y="0"/>
                </a:moveTo>
                <a:lnTo>
                  <a:pt x="10001" y="9971"/>
                </a:lnTo>
                <a:lnTo>
                  <a:pt x="1255" y="10000"/>
                </a:lnTo>
                <a:cubicBezTo>
                  <a:pt x="-92" y="10000"/>
                  <a:pt x="1" y="9419"/>
                  <a:pt x="1" y="8750"/>
                </a:cubicBezTo>
                <a:cubicBezTo>
                  <a:pt x="11" y="5833"/>
                  <a:pt x="20" y="2917"/>
                  <a:pt x="30" y="0"/>
                </a:cubicBezTo>
                <a:close/>
              </a:path>
            </a:pathLst>
          </a:cu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2"/>
          <p:cNvSpPr/>
          <p:nvPr/>
        </p:nvSpPr>
        <p:spPr>
          <a:xfrm>
            <a:off x="0" y="0"/>
            <a:ext cx="5148943" cy="6858000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rgbClr val="CBCBC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457200" dist="215900" sx="96000" sy="960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2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title"/>
          </p:nvPr>
        </p:nvSpPr>
        <p:spPr>
          <a:xfrm>
            <a:off x="500742" y="1286581"/>
            <a:ext cx="416922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2"/>
          <p:cNvSpPr>
            <a:spLocks noGrp="1"/>
          </p:cNvSpPr>
          <p:nvPr>
            <p:ph type="pic" idx="2"/>
          </p:nvPr>
        </p:nvSpPr>
        <p:spPr>
          <a:xfrm>
            <a:off x="8752114" y="733425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2"/>
          <p:cNvSpPr>
            <a:spLocks noGrp="1"/>
          </p:cNvSpPr>
          <p:nvPr>
            <p:ph type="pic" idx="3"/>
          </p:nvPr>
        </p:nvSpPr>
        <p:spPr>
          <a:xfrm>
            <a:off x="5595258" y="733425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8752114" y="3244668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>
            <a:spLocks noGrp="1"/>
          </p:cNvSpPr>
          <p:nvPr>
            <p:ph type="pic" idx="5"/>
          </p:nvPr>
        </p:nvSpPr>
        <p:spPr>
          <a:xfrm>
            <a:off x="5595258" y="3244668"/>
            <a:ext cx="2939143" cy="2363380"/>
          </a:xfrm>
          <a:prstGeom prst="rect">
            <a:avLst/>
          </a:prstGeom>
          <a:noFill/>
          <a:ln>
            <a:noFill/>
          </a:ln>
        </p:spPr>
      </p:sp>
      <p:pic>
        <p:nvPicPr>
          <p:cNvPr id="105" name="Google Shape;105;p12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6">
  <p:cSld name="Layout_06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/>
          <p:nvPr/>
        </p:nvSpPr>
        <p:spPr>
          <a:xfrm>
            <a:off x="0" y="0"/>
            <a:ext cx="4539343" cy="6126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/>
          </p:nvPr>
        </p:nvSpPr>
        <p:spPr>
          <a:xfrm>
            <a:off x="6151338" y="2766217"/>
            <a:ext cx="582294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580088" y="1982368"/>
            <a:ext cx="5265908" cy="2893260"/>
            <a:chOff x="-548507" y="477868"/>
            <a:chExt cx="11570449" cy="6357177"/>
          </a:xfrm>
        </p:grpSpPr>
        <p:sp>
          <p:nvSpPr>
            <p:cNvPr id="113" name="Google Shape;113;p13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/>
              <a:ahLst/>
              <a:cxnLst/>
              <a:rect l="l" t="t" r="r" b="b"/>
              <a:pathLst>
                <a:path w="1657350" h="57150" extrusionOk="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/>
              <a:ahLst/>
              <a:cxnLst/>
              <a:rect l="l" t="t" r="r" b="b"/>
              <a:pathLst>
                <a:path w="1314450" h="857250" extrusionOk="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/>
              <a:ahLst/>
              <a:cxnLst/>
              <a:rect l="l" t="t" r="r" b="b"/>
              <a:pathLst>
                <a:path w="1200150" h="733425" extrusionOk="0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/>
              <a:ahLst/>
              <a:cxnLst/>
              <a:rect l="l" t="t" r="r" b="b"/>
              <a:pathLst>
                <a:path w="1676400" h="66675" extrusionOk="0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/>
              <a:ahLst/>
              <a:cxnLst/>
              <a:rect l="l" t="t" r="r" b="b"/>
              <a:pathLst>
                <a:path w="1618413" h="184076" extrusionOk="0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18" name="Google Shape;118;p13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19" name="Google Shape;119;p13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21" name="Google Shape;121;p13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22" name="Google Shape;122;p13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3" name="Google Shape;123;p13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24" name="Google Shape;124;p13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/>
              <a:ahLst/>
              <a:cxnLst/>
              <a:rect l="l" t="t" r="r" b="b"/>
              <a:pathLst>
                <a:path w="3976489" h="4035268" extrusionOk="0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25" name="Google Shape;125;p13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_layout_02">
  <p:cSld name="3_blank_layout_02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/>
        </p:nvSpPr>
        <p:spPr>
          <a:xfrm>
            <a:off x="0" y="0"/>
            <a:ext cx="12192000" cy="193765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5939" y="1901929"/>
            <a:ext cx="12192000" cy="313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9">
  <p:cSld name="Layout_09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838200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5"/>
          <p:cNvSpPr>
            <a:spLocks noGrp="1"/>
          </p:cNvSpPr>
          <p:nvPr>
            <p:ph type="pic" idx="3"/>
          </p:nvPr>
        </p:nvSpPr>
        <p:spPr>
          <a:xfrm>
            <a:off x="4495800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5"/>
          <p:cNvSpPr>
            <a:spLocks noGrp="1"/>
          </p:cNvSpPr>
          <p:nvPr>
            <p:ph type="pic" idx="4"/>
          </p:nvPr>
        </p:nvSpPr>
        <p:spPr>
          <a:xfrm>
            <a:off x="8158725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pic>
        <p:nvPicPr>
          <p:cNvPr id="137" name="Google Shape;137;p15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10">
  <p:cSld name="Layout_10">
    <p:bg>
      <p:bgPr>
        <a:solidFill>
          <a:schemeClr val="lt1">
            <a:alpha val="36862"/>
          </a:schemeClr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17"/>
          <p:cNvSpPr>
            <a:spLocks noGrp="1"/>
          </p:cNvSpPr>
          <p:nvPr>
            <p:ph type="pic" idx="2"/>
          </p:nvPr>
        </p:nvSpPr>
        <p:spPr>
          <a:xfrm>
            <a:off x="0" y="0"/>
            <a:ext cx="2222500" cy="2036763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17"/>
          <p:cNvSpPr>
            <a:spLocks noGrp="1"/>
          </p:cNvSpPr>
          <p:nvPr>
            <p:ph type="pic" idx="3"/>
          </p:nvPr>
        </p:nvSpPr>
        <p:spPr>
          <a:xfrm>
            <a:off x="2222200" y="2048338"/>
            <a:ext cx="2222500" cy="2036763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17"/>
          <p:cNvSpPr>
            <a:spLocks noGrp="1"/>
          </p:cNvSpPr>
          <p:nvPr>
            <p:ph type="pic" idx="4"/>
          </p:nvPr>
        </p:nvSpPr>
        <p:spPr>
          <a:xfrm>
            <a:off x="0" y="4096676"/>
            <a:ext cx="2222500" cy="2036762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17"/>
          <p:cNvSpPr txBox="1">
            <a:spLocks noGrp="1"/>
          </p:cNvSpPr>
          <p:nvPr>
            <p:ph type="title"/>
          </p:nvPr>
        </p:nvSpPr>
        <p:spPr>
          <a:xfrm>
            <a:off x="5370653" y="355599"/>
            <a:ext cx="664290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7"/>
          <p:cNvSpPr/>
          <p:nvPr/>
        </p:nvSpPr>
        <p:spPr>
          <a:xfrm rot="10800000">
            <a:off x="2234075" y="7088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17"/>
          <p:cNvSpPr/>
          <p:nvPr/>
        </p:nvSpPr>
        <p:spPr>
          <a:xfrm rot="10800000">
            <a:off x="0" y="2048637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17"/>
          <p:cNvSpPr/>
          <p:nvPr/>
        </p:nvSpPr>
        <p:spPr>
          <a:xfrm rot="10800000">
            <a:off x="2238562" y="4096676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6" name="Google Shape;156;p17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11">
  <p:cSld name="Layout_11">
    <p:bg>
      <p:bgPr>
        <a:solidFill>
          <a:schemeClr val="lt1">
            <a:alpha val="33725"/>
          </a:schemeClr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/>
          <p:nvPr/>
        </p:nvSpPr>
        <p:spPr>
          <a:xfrm rot="10800000">
            <a:off x="-26938" y="-20387"/>
            <a:ext cx="5402774" cy="6014786"/>
          </a:xfrm>
          <a:custGeom>
            <a:avLst/>
            <a:gdLst/>
            <a:ahLst/>
            <a:cxnLst/>
            <a:rect l="l" t="t" r="r" b="b"/>
            <a:pathLst>
              <a:path w="5402774" h="6002085" extrusionOk="0">
                <a:moveTo>
                  <a:pt x="2910621" y="7074"/>
                </a:moveTo>
                <a:lnTo>
                  <a:pt x="5402774" y="0"/>
                </a:lnTo>
                <a:cubicBezTo>
                  <a:pt x="5397067" y="2000695"/>
                  <a:pt x="5391361" y="4001390"/>
                  <a:pt x="5385654" y="6002085"/>
                </a:cubicBezTo>
                <a:lnTo>
                  <a:pt x="0" y="5983539"/>
                </a:lnTo>
                <a:lnTo>
                  <a:pt x="2910621" y="7074"/>
                </a:lnTo>
                <a:close/>
              </a:path>
            </a:pathLst>
          </a:custGeom>
          <a:gradFill>
            <a:gsLst>
              <a:gs pos="0">
                <a:srgbClr val="464646"/>
              </a:gs>
              <a:gs pos="92697">
                <a:srgbClr val="464646"/>
              </a:gs>
              <a:gs pos="100000">
                <a:srgbClr val="464646"/>
              </a:gs>
            </a:gsLst>
            <a:lin ang="5400000" scaled="0"/>
          </a:gradFill>
          <a:ln w="12700" cap="flat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18"/>
          <p:cNvSpPr txBox="1">
            <a:spLocks noGrp="1"/>
          </p:cNvSpPr>
          <p:nvPr>
            <p:ph type="title"/>
          </p:nvPr>
        </p:nvSpPr>
        <p:spPr>
          <a:xfrm>
            <a:off x="5177642" y="863600"/>
            <a:ext cx="660240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/>
          <p:nvPr/>
        </p:nvSpPr>
        <p:spPr>
          <a:xfrm rot="10800000">
            <a:off x="589750" y="-12702"/>
            <a:ext cx="4953000" cy="6007101"/>
          </a:xfrm>
          <a:custGeom>
            <a:avLst/>
            <a:gdLst/>
            <a:ahLst/>
            <a:cxnLst/>
            <a:rect l="l" t="t" r="r" b="b"/>
            <a:pathLst>
              <a:path w="4953000" h="6007101" extrusionOk="0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C04C4C"/>
          </a:solidFill>
          <a:ln w="12700" cap="flat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3" name="Google Shape;163;p18"/>
          <p:cNvGrpSpPr/>
          <p:nvPr/>
        </p:nvGrpSpPr>
        <p:grpSpPr>
          <a:xfrm>
            <a:off x="1433777" y="5528221"/>
            <a:ext cx="613993" cy="75107"/>
            <a:chOff x="-1587" y="4763"/>
            <a:chExt cx="300037" cy="42862"/>
          </a:xfrm>
        </p:grpSpPr>
        <p:sp>
          <p:nvSpPr>
            <p:cNvPr id="164" name="Google Shape;164;p18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8" name="Google Shape;168;p18"/>
          <p:cNvSpPr/>
          <p:nvPr/>
        </p:nvSpPr>
        <p:spPr>
          <a:xfrm rot="10800000">
            <a:off x="2231874" y="4927332"/>
            <a:ext cx="1150304" cy="1395112"/>
          </a:xfrm>
          <a:custGeom>
            <a:avLst/>
            <a:gdLst/>
            <a:ahLst/>
            <a:cxnLst/>
            <a:rect l="l" t="t" r="r" b="b"/>
            <a:pathLst>
              <a:path w="4953000" h="6007101" extrusionOk="0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p18"/>
          <p:cNvSpPr>
            <a:spLocks noGrp="1"/>
          </p:cNvSpPr>
          <p:nvPr>
            <p:ph type="pic" idx="2"/>
          </p:nvPr>
        </p:nvSpPr>
        <p:spPr>
          <a:xfrm>
            <a:off x="68665" y="921703"/>
            <a:ext cx="4459468" cy="4278630"/>
          </a:xfrm>
          <a:prstGeom prst="rect">
            <a:avLst/>
          </a:prstGeom>
          <a:noFill/>
          <a:ln>
            <a:noFill/>
          </a:ln>
        </p:spPr>
      </p:sp>
      <p:pic>
        <p:nvPicPr>
          <p:cNvPr id="170" name="Google Shape;170;p18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layout_01">
  <p:cSld name="blank_layout_01">
    <p:bg>
      <p:bgPr>
        <a:solidFill>
          <a:srgbClr val="C04C4C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/>
          <p:nvPr/>
        </p:nvSpPr>
        <p:spPr>
          <a:xfrm rot="-8100000">
            <a:off x="8565369" y="-3309433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19"/>
          <p:cNvSpPr/>
          <p:nvPr/>
        </p:nvSpPr>
        <p:spPr>
          <a:xfrm rot="1408779">
            <a:off x="6843673" y="-6248482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19"/>
          <p:cNvSpPr>
            <a:spLocks noGrp="1"/>
          </p:cNvSpPr>
          <p:nvPr>
            <p:ph type="pic" idx="2"/>
          </p:nvPr>
        </p:nvSpPr>
        <p:spPr>
          <a:xfrm>
            <a:off x="-109538" y="-83942"/>
            <a:ext cx="7441671" cy="70937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_layout_02">
  <p:cSld name="1_blank_layout_02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 rot="10800000">
            <a:off x="120965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20"/>
          <p:cNvSpPr/>
          <p:nvPr/>
        </p:nvSpPr>
        <p:spPr>
          <a:xfrm rot="10800000">
            <a:off x="12096718" y="3139623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20"/>
          <p:cNvSpPr/>
          <p:nvPr/>
        </p:nvSpPr>
        <p:spPr>
          <a:xfrm rot="10800000">
            <a:off x="12096521" y="3654629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36862"/>
          </a:srgb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 sz="3200" b="1" i="0" u="none" strike="noStrike" cap="none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5553075" y="6413500"/>
            <a:ext cx="1085850" cy="444500"/>
          </a:xfrm>
          <a:custGeom>
            <a:avLst/>
            <a:gdLst/>
            <a:ahLst/>
            <a:cxnLst/>
            <a:rect l="l" t="t" r="r" b="b"/>
            <a:pathLst>
              <a:path w="2344943" h="407428" extrusionOk="0">
                <a:moveTo>
                  <a:pt x="550981" y="0"/>
                </a:moveTo>
                <a:lnTo>
                  <a:pt x="940996" y="0"/>
                </a:lnTo>
                <a:lnTo>
                  <a:pt x="1403945" y="0"/>
                </a:lnTo>
                <a:lnTo>
                  <a:pt x="1793961" y="0"/>
                </a:lnTo>
                <a:cubicBezTo>
                  <a:pt x="2111814" y="387"/>
                  <a:pt x="2144200" y="198956"/>
                  <a:pt x="2288061" y="355358"/>
                </a:cubicBezTo>
                <a:lnTo>
                  <a:pt x="2344943" y="407428"/>
                </a:lnTo>
                <a:lnTo>
                  <a:pt x="0" y="407428"/>
                </a:lnTo>
                <a:lnTo>
                  <a:pt x="56882" y="355358"/>
                </a:lnTo>
                <a:cubicBezTo>
                  <a:pt x="200743" y="198956"/>
                  <a:pt x="233129" y="387"/>
                  <a:pt x="550981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3" r:id="rId13"/>
    <p:sldLayoutId id="2147483664" r:id="rId14"/>
    <p:sldLayoutId id="2147483665" r:id="rId15"/>
    <p:sldLayoutId id="2147483666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emf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emf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jpe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jpe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emf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emf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emf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emf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emf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microsoft.com/office/2007/relationships/hdphoto" Target="../media/hdphoto2.wdp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/>
        </p:nvSpPr>
        <p:spPr>
          <a:xfrm>
            <a:off x="816918" y="2013450"/>
            <a:ext cx="7097400" cy="2939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</a:t>
            </a:r>
            <a: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OFTWARE DESIGN </a:t>
            </a:r>
            <a:b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AND ARCHITECTURE</a:t>
            </a:r>
            <a:b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(SDA)</a:t>
            </a:r>
            <a:b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b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SESSION 2</a:t>
            </a:r>
            <a:endParaRPr dirty="0"/>
          </a:p>
        </p:txBody>
      </p:sp>
      <p:sp>
        <p:nvSpPr>
          <p:cNvPr id="191" name="Google Shape;191;p21"/>
          <p:cNvSpPr txBox="1"/>
          <p:nvPr/>
        </p:nvSpPr>
        <p:spPr>
          <a:xfrm>
            <a:off x="8090212" y="6595095"/>
            <a:ext cx="16818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 KUALA LUMPUR</a:t>
            </a:r>
            <a:endParaRPr/>
          </a:p>
        </p:txBody>
      </p:sp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998" y="6499364"/>
            <a:ext cx="2033624" cy="153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UTMSPACE">
            <a:extLst>
              <a:ext uri="{FF2B5EF4-FFF2-40B4-BE49-F238E27FC236}">
                <a16:creationId xmlns:a16="http://schemas.microsoft.com/office/drawing/2014/main" id="{06D66BE5-D0D0-3336-7372-310A4EC3B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837" y="5792231"/>
            <a:ext cx="2798763" cy="78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67691489-E6FF-BF2B-526D-D8F0B6951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DC8705-5F2F-01DB-3AD3-59FAC65FBD52}"/>
              </a:ext>
            </a:extLst>
          </p:cNvPr>
          <p:cNvGrpSpPr/>
          <p:nvPr/>
        </p:nvGrpSpPr>
        <p:grpSpPr>
          <a:xfrm>
            <a:off x="1427955" y="1675302"/>
            <a:ext cx="4925595" cy="3507396"/>
            <a:chOff x="2086323" y="2184140"/>
            <a:chExt cx="4925595" cy="3507396"/>
          </a:xfrm>
        </p:grpSpPr>
        <p:sp>
          <p:nvSpPr>
            <p:cNvPr id="198" name="Google Shape;198;p22"/>
            <p:cNvSpPr txBox="1"/>
            <p:nvPr/>
          </p:nvSpPr>
          <p:spPr>
            <a:xfrm>
              <a:off x="2086324" y="2184140"/>
              <a:ext cx="823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931926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01</a:t>
              </a:r>
              <a:endParaRPr/>
            </a:p>
          </p:txBody>
        </p:sp>
        <p:sp>
          <p:nvSpPr>
            <p:cNvPr id="199" name="Google Shape;199;p22"/>
            <p:cNvSpPr txBox="1"/>
            <p:nvPr/>
          </p:nvSpPr>
          <p:spPr>
            <a:xfrm>
              <a:off x="3027182" y="2184140"/>
              <a:ext cx="2553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INTRODUCTION</a:t>
              </a:r>
              <a:endParaRPr/>
            </a:p>
          </p:txBody>
        </p:sp>
        <p:sp>
          <p:nvSpPr>
            <p:cNvPr id="200" name="Google Shape;200;p22"/>
            <p:cNvSpPr txBox="1"/>
            <p:nvPr/>
          </p:nvSpPr>
          <p:spPr>
            <a:xfrm>
              <a:off x="2086324" y="3483695"/>
              <a:ext cx="823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931926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02</a:t>
              </a:r>
              <a:endParaRPr/>
            </a:p>
          </p:txBody>
        </p:sp>
        <p:sp>
          <p:nvSpPr>
            <p:cNvPr id="201" name="Google Shape;201;p22"/>
            <p:cNvSpPr txBox="1"/>
            <p:nvPr/>
          </p:nvSpPr>
          <p:spPr>
            <a:xfrm>
              <a:off x="3027183" y="3483331"/>
              <a:ext cx="2553000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BEHAVIORAL MODEL</a:t>
              </a:r>
              <a:endParaRPr lang="en-US" dirty="0"/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3005656" y="2567643"/>
              <a:ext cx="3984737" cy="5790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>
                  <a:solidFill>
                    <a:srgbClr val="7F7F7F"/>
                  </a:solidFill>
                  <a:latin typeface="Poppins"/>
                  <a:ea typeface="Poppins"/>
                  <a:cs typeface="Poppins"/>
                  <a:sym typeface="Poppins"/>
                </a:rPr>
                <a:t>Intro to UML. </a:t>
              </a:r>
              <a:endParaRPr dirty="0"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3005656" y="3828416"/>
              <a:ext cx="3606161" cy="5790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>
                  <a:solidFill>
                    <a:srgbClr val="7F7F7F"/>
                  </a:solidFill>
                  <a:latin typeface="Poppins"/>
                  <a:ea typeface="Poppins"/>
                  <a:cs typeface="Poppins"/>
                  <a:sym typeface="Poppins"/>
                </a:rPr>
                <a:t>Use Case Diagram, Sequence Diagram, Activity Diagram and etc.. </a:t>
              </a:r>
              <a:endParaRPr dirty="0"/>
            </a:p>
          </p:txBody>
        </p:sp>
        <p:sp>
          <p:nvSpPr>
            <p:cNvPr id="6" name="Google Shape;202;p22">
              <a:extLst>
                <a:ext uri="{FF2B5EF4-FFF2-40B4-BE49-F238E27FC236}">
                  <a16:creationId xmlns:a16="http://schemas.microsoft.com/office/drawing/2014/main" id="{50F4D3FD-C90B-846F-5183-BD0AD3125355}"/>
                </a:ext>
              </a:extLst>
            </p:cNvPr>
            <p:cNvSpPr txBox="1"/>
            <p:nvPr/>
          </p:nvSpPr>
          <p:spPr>
            <a:xfrm>
              <a:off x="2086323" y="4777593"/>
              <a:ext cx="823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931926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03</a:t>
              </a:r>
              <a:endParaRPr/>
            </a:p>
          </p:txBody>
        </p:sp>
        <p:sp>
          <p:nvSpPr>
            <p:cNvPr id="7" name="Google Shape;203;p22">
              <a:extLst>
                <a:ext uri="{FF2B5EF4-FFF2-40B4-BE49-F238E27FC236}">
                  <a16:creationId xmlns:a16="http://schemas.microsoft.com/office/drawing/2014/main" id="{13AD60EE-BDF8-85DD-8656-21DBCAFA7005}"/>
                </a:ext>
              </a:extLst>
            </p:cNvPr>
            <p:cNvSpPr txBox="1"/>
            <p:nvPr/>
          </p:nvSpPr>
          <p:spPr>
            <a:xfrm>
              <a:off x="3027182" y="4761693"/>
              <a:ext cx="2553000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b="1" dirty="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STRUCTURE MODEL</a:t>
              </a:r>
              <a:endParaRPr dirty="0"/>
            </a:p>
          </p:txBody>
        </p:sp>
        <p:sp>
          <p:nvSpPr>
            <p:cNvPr id="8" name="Google Shape;212;p22">
              <a:extLst>
                <a:ext uri="{FF2B5EF4-FFF2-40B4-BE49-F238E27FC236}">
                  <a16:creationId xmlns:a16="http://schemas.microsoft.com/office/drawing/2014/main" id="{1598CC2D-5000-054A-0ABE-43A78B36F159}"/>
                </a:ext>
              </a:extLst>
            </p:cNvPr>
            <p:cNvSpPr/>
            <p:nvPr/>
          </p:nvSpPr>
          <p:spPr>
            <a:xfrm>
              <a:off x="3027181" y="5112531"/>
              <a:ext cx="3984737" cy="5790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>
                  <a:solidFill>
                    <a:srgbClr val="7F7F7F"/>
                  </a:solidFill>
                  <a:latin typeface="Poppins"/>
                  <a:ea typeface="Poppins"/>
                  <a:cs typeface="Poppins"/>
                  <a:sym typeface="Poppins"/>
                </a:rPr>
                <a:t>Component Diagram, Class Diagram</a:t>
              </a:r>
              <a:endParaRPr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9" name="Google Shape;419;p27"/>
          <p:cNvCxnSpPr/>
          <p:nvPr/>
        </p:nvCxnSpPr>
        <p:spPr>
          <a:xfrm rot="10800000" flipH="1">
            <a:off x="2613089" y="3251237"/>
            <a:ext cx="6647100" cy="1500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420" name="Google Shape;420;p27"/>
          <p:cNvSpPr/>
          <p:nvPr/>
        </p:nvSpPr>
        <p:spPr>
          <a:xfrm>
            <a:off x="2487359" y="2692157"/>
            <a:ext cx="962700" cy="962700"/>
          </a:xfrm>
          <a:prstGeom prst="ellipse">
            <a:avLst/>
          </a:prstGeom>
          <a:solidFill>
            <a:srgbClr val="580C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1" name="Google Shape;421;p27"/>
          <p:cNvSpPr/>
          <p:nvPr/>
        </p:nvSpPr>
        <p:spPr>
          <a:xfrm>
            <a:off x="5416243" y="2639948"/>
            <a:ext cx="961200" cy="96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2" name="Google Shape;422;p27"/>
          <p:cNvSpPr/>
          <p:nvPr/>
        </p:nvSpPr>
        <p:spPr>
          <a:xfrm>
            <a:off x="8542641" y="2639948"/>
            <a:ext cx="961200" cy="962700"/>
          </a:xfrm>
          <a:prstGeom prst="ellipse">
            <a:avLst/>
          </a:prstGeom>
          <a:solidFill>
            <a:srgbClr val="C522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23" name="Google Shape;423;p27"/>
          <p:cNvGrpSpPr/>
          <p:nvPr/>
        </p:nvGrpSpPr>
        <p:grpSpPr>
          <a:xfrm>
            <a:off x="5636484" y="2925660"/>
            <a:ext cx="528103" cy="545072"/>
            <a:chOff x="2500313" y="3883026"/>
            <a:chExt cx="395287" cy="407988"/>
          </a:xfrm>
        </p:grpSpPr>
        <p:sp>
          <p:nvSpPr>
            <p:cNvPr id="424" name="Google Shape;424;p27"/>
            <p:cNvSpPr/>
            <p:nvPr/>
          </p:nvSpPr>
          <p:spPr>
            <a:xfrm>
              <a:off x="2500313" y="4076701"/>
              <a:ext cx="261937" cy="214313"/>
            </a:xfrm>
            <a:custGeom>
              <a:avLst/>
              <a:gdLst/>
              <a:ahLst/>
              <a:cxnLst/>
              <a:rect l="l" t="t" r="r" b="b"/>
              <a:pathLst>
                <a:path w="72" h="57" extrusionOk="0">
                  <a:moveTo>
                    <a:pt x="35" y="1"/>
                  </a:moveTo>
                  <a:cubicBezTo>
                    <a:pt x="2" y="0"/>
                    <a:pt x="0" y="42"/>
                    <a:pt x="0" y="42"/>
                  </a:cubicBezTo>
                  <a:cubicBezTo>
                    <a:pt x="20" y="57"/>
                    <a:pt x="70" y="45"/>
                    <a:pt x="70" y="45"/>
                  </a:cubicBezTo>
                  <a:cubicBezTo>
                    <a:pt x="71" y="44"/>
                    <a:pt x="72" y="2"/>
                    <a:pt x="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2547938" y="3927476"/>
              <a:ext cx="147637" cy="138113"/>
            </a:xfrm>
            <a:custGeom>
              <a:avLst/>
              <a:gdLst/>
              <a:ahLst/>
              <a:cxnLst/>
              <a:rect l="l" t="t" r="r" b="b"/>
              <a:pathLst>
                <a:path w="41" h="37" extrusionOk="0">
                  <a:moveTo>
                    <a:pt x="31" y="5"/>
                  </a:moveTo>
                  <a:cubicBezTo>
                    <a:pt x="28" y="2"/>
                    <a:pt x="23" y="0"/>
                    <a:pt x="18" y="1"/>
                  </a:cubicBezTo>
                  <a:cubicBezTo>
                    <a:pt x="8" y="2"/>
                    <a:pt x="0" y="10"/>
                    <a:pt x="1" y="20"/>
                  </a:cubicBezTo>
                  <a:cubicBezTo>
                    <a:pt x="2" y="30"/>
                    <a:pt x="11" y="37"/>
                    <a:pt x="21" y="36"/>
                  </a:cubicBezTo>
                  <a:cubicBezTo>
                    <a:pt x="28" y="35"/>
                    <a:pt x="34" y="31"/>
                    <a:pt x="36" y="25"/>
                  </a:cubicBezTo>
                  <a:cubicBezTo>
                    <a:pt x="41" y="13"/>
                    <a:pt x="32" y="4"/>
                    <a:pt x="31" y="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2663825" y="3883026"/>
              <a:ext cx="231775" cy="193675"/>
            </a:xfrm>
            <a:custGeom>
              <a:avLst/>
              <a:gdLst/>
              <a:ahLst/>
              <a:cxnLst/>
              <a:rect l="l" t="t" r="r" b="b"/>
              <a:pathLst>
                <a:path w="64" h="52" extrusionOk="0">
                  <a:moveTo>
                    <a:pt x="4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1" y="0"/>
                    <a:pt x="4" y="6"/>
                    <a:pt x="0" y="14"/>
                  </a:cubicBezTo>
                  <a:cubicBezTo>
                    <a:pt x="2" y="15"/>
                    <a:pt x="7" y="18"/>
                    <a:pt x="8" y="24"/>
                  </a:cubicBezTo>
                  <a:cubicBezTo>
                    <a:pt x="10" y="29"/>
                    <a:pt x="10" y="35"/>
                    <a:pt x="7" y="40"/>
                  </a:cubicBezTo>
                  <a:cubicBezTo>
                    <a:pt x="9" y="42"/>
                    <a:pt x="11" y="43"/>
                    <a:pt x="15" y="44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54" y="44"/>
                    <a:pt x="64" y="35"/>
                    <a:pt x="64" y="23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4" y="10"/>
                    <a:pt x="54" y="0"/>
                    <a:pt x="42" y="0"/>
                  </a:cubicBezTo>
                  <a:close/>
                  <a:moveTo>
                    <a:pt x="48" y="29"/>
                  </a:moveTo>
                  <a:cubicBezTo>
                    <a:pt x="14" y="29"/>
                    <a:pt x="14" y="29"/>
                    <a:pt x="14" y="29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48" y="24"/>
                    <a:pt x="48" y="24"/>
                    <a:pt x="48" y="24"/>
                  </a:cubicBezTo>
                  <a:lnTo>
                    <a:pt x="48" y="29"/>
                  </a:lnTo>
                  <a:close/>
                  <a:moveTo>
                    <a:pt x="48" y="20"/>
                  </a:moveTo>
                  <a:cubicBezTo>
                    <a:pt x="14" y="20"/>
                    <a:pt x="14" y="20"/>
                    <a:pt x="14" y="20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48" y="16"/>
                    <a:pt x="48" y="16"/>
                    <a:pt x="48" y="16"/>
                  </a:cubicBezTo>
                  <a:lnTo>
                    <a:pt x="48" y="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27" name="Google Shape;427;p27"/>
          <p:cNvSpPr/>
          <p:nvPr/>
        </p:nvSpPr>
        <p:spPr>
          <a:xfrm>
            <a:off x="8770295" y="2900262"/>
            <a:ext cx="596675" cy="528805"/>
          </a:xfrm>
          <a:custGeom>
            <a:avLst/>
            <a:gdLst/>
            <a:ahLst/>
            <a:cxnLst/>
            <a:rect l="l" t="t" r="r" b="b"/>
            <a:pathLst>
              <a:path w="123" h="106" extrusionOk="0">
                <a:moveTo>
                  <a:pt x="2" y="52"/>
                </a:moveTo>
                <a:cubicBezTo>
                  <a:pt x="8" y="65"/>
                  <a:pt x="23" y="65"/>
                  <a:pt x="23" y="65"/>
                </a:cubicBezTo>
                <a:cubicBezTo>
                  <a:pt x="36" y="66"/>
                  <a:pt x="36" y="66"/>
                  <a:pt x="36" y="66"/>
                </a:cubicBezTo>
                <a:cubicBezTo>
                  <a:pt x="36" y="66"/>
                  <a:pt x="37" y="73"/>
                  <a:pt x="38" y="80"/>
                </a:cubicBezTo>
                <a:cubicBezTo>
                  <a:pt x="42" y="96"/>
                  <a:pt x="42" y="96"/>
                  <a:pt x="42" y="96"/>
                </a:cubicBezTo>
                <a:cubicBezTo>
                  <a:pt x="42" y="96"/>
                  <a:pt x="43" y="106"/>
                  <a:pt x="54" y="104"/>
                </a:cubicBezTo>
                <a:cubicBezTo>
                  <a:pt x="70" y="101"/>
                  <a:pt x="66" y="92"/>
                  <a:pt x="66" y="92"/>
                </a:cubicBezTo>
                <a:cubicBezTo>
                  <a:pt x="60" y="66"/>
                  <a:pt x="60" y="66"/>
                  <a:pt x="60" y="66"/>
                </a:cubicBezTo>
                <a:cubicBezTo>
                  <a:pt x="60" y="66"/>
                  <a:pt x="73" y="66"/>
                  <a:pt x="80" y="72"/>
                </a:cubicBezTo>
                <a:cubicBezTo>
                  <a:pt x="84" y="76"/>
                  <a:pt x="90" y="80"/>
                  <a:pt x="100" y="80"/>
                </a:cubicBezTo>
                <a:cubicBezTo>
                  <a:pt x="123" y="79"/>
                  <a:pt x="118" y="27"/>
                  <a:pt x="110" y="13"/>
                </a:cubicBezTo>
                <a:cubicBezTo>
                  <a:pt x="102" y="0"/>
                  <a:pt x="88" y="6"/>
                  <a:pt x="85" y="13"/>
                </a:cubicBezTo>
                <a:cubicBezTo>
                  <a:pt x="65" y="21"/>
                  <a:pt x="32" y="22"/>
                  <a:pt x="21" y="22"/>
                </a:cubicBezTo>
                <a:cubicBezTo>
                  <a:pt x="6" y="21"/>
                  <a:pt x="1" y="39"/>
                  <a:pt x="1" y="39"/>
                </a:cubicBezTo>
                <a:cubicBezTo>
                  <a:pt x="1" y="39"/>
                  <a:pt x="0" y="45"/>
                  <a:pt x="2" y="52"/>
                </a:cubicBezTo>
                <a:close/>
                <a:moveTo>
                  <a:pt x="86" y="33"/>
                </a:moveTo>
                <a:cubicBezTo>
                  <a:pt x="86" y="23"/>
                  <a:pt x="92" y="15"/>
                  <a:pt x="97" y="14"/>
                </a:cubicBezTo>
                <a:cubicBezTo>
                  <a:pt x="101" y="13"/>
                  <a:pt x="111" y="14"/>
                  <a:pt x="112" y="43"/>
                </a:cubicBezTo>
                <a:cubicBezTo>
                  <a:pt x="114" y="71"/>
                  <a:pt x="101" y="76"/>
                  <a:pt x="95" y="73"/>
                </a:cubicBezTo>
                <a:cubicBezTo>
                  <a:pt x="85" y="68"/>
                  <a:pt x="86" y="55"/>
                  <a:pt x="86" y="55"/>
                </a:cubicBezTo>
                <a:cubicBezTo>
                  <a:pt x="88" y="54"/>
                  <a:pt x="100" y="53"/>
                  <a:pt x="99" y="42"/>
                </a:cubicBezTo>
                <a:cubicBezTo>
                  <a:pt x="98" y="35"/>
                  <a:pt x="92" y="32"/>
                  <a:pt x="86" y="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8" name="Google Shape;428;p27"/>
          <p:cNvSpPr txBox="1"/>
          <p:nvPr/>
        </p:nvSpPr>
        <p:spPr>
          <a:xfrm>
            <a:off x="1654390" y="453747"/>
            <a:ext cx="8883221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Unified Modeling Language </a:t>
            </a:r>
            <a:endParaRPr dirty="0"/>
          </a:p>
        </p:txBody>
      </p:sp>
      <p:sp>
        <p:nvSpPr>
          <p:cNvPr id="429" name="Google Shape;429;p27"/>
          <p:cNvSpPr/>
          <p:nvPr/>
        </p:nvSpPr>
        <p:spPr>
          <a:xfrm>
            <a:off x="4808145" y="4478518"/>
            <a:ext cx="25908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Different language proficiency</a:t>
            </a:r>
            <a: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7728769" y="4468236"/>
            <a:ext cx="25908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Clear and concise process to address all requirements.</a:t>
            </a:r>
            <a:endParaRPr sz="11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1875735" y="4488700"/>
            <a:ext cx="25908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Always get documented then verify and validate with stakeholders.</a:t>
            </a:r>
            <a:endParaRPr sz="11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2" name="Google Shape;432;p27"/>
          <p:cNvSpPr txBox="1"/>
          <p:nvPr/>
        </p:nvSpPr>
        <p:spPr>
          <a:xfrm>
            <a:off x="4808145" y="3960146"/>
            <a:ext cx="249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LANGUAGE</a:t>
            </a:r>
            <a:endParaRPr dirty="0"/>
          </a:p>
        </p:txBody>
      </p:sp>
      <p:sp>
        <p:nvSpPr>
          <p:cNvPr id="433" name="Google Shape;433;p27"/>
          <p:cNvSpPr txBox="1"/>
          <p:nvPr/>
        </p:nvSpPr>
        <p:spPr>
          <a:xfrm>
            <a:off x="7802550" y="3946850"/>
            <a:ext cx="24918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COMPLETENESS</a:t>
            </a:r>
            <a:endParaRPr dirty="0"/>
          </a:p>
        </p:txBody>
      </p:sp>
      <p:sp>
        <p:nvSpPr>
          <p:cNvPr id="434" name="Google Shape;434;p27"/>
          <p:cNvSpPr txBox="1"/>
          <p:nvPr/>
        </p:nvSpPr>
        <p:spPr>
          <a:xfrm>
            <a:off x="1868504" y="3949986"/>
            <a:ext cx="249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SECURITY PROOF</a:t>
            </a:r>
            <a:endParaRPr dirty="0"/>
          </a:p>
        </p:txBody>
      </p:sp>
      <p:sp>
        <p:nvSpPr>
          <p:cNvPr id="435" name="Google Shape;435;p27"/>
          <p:cNvSpPr/>
          <p:nvPr/>
        </p:nvSpPr>
        <p:spPr>
          <a:xfrm>
            <a:off x="4170730" y="3142407"/>
            <a:ext cx="291600" cy="291600"/>
          </a:xfrm>
          <a:prstGeom prst="ellipse">
            <a:avLst/>
          </a:prstGeom>
          <a:solidFill>
            <a:srgbClr val="580C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" name="Google Shape;436;p27"/>
          <p:cNvSpPr/>
          <p:nvPr/>
        </p:nvSpPr>
        <p:spPr>
          <a:xfrm>
            <a:off x="7374122" y="3142408"/>
            <a:ext cx="294300" cy="291600"/>
          </a:xfrm>
          <a:prstGeom prst="ellipse">
            <a:avLst/>
          </a:prstGeom>
          <a:solidFill>
            <a:srgbClr val="7D26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7" name="Google Shape;437;p27"/>
          <p:cNvSpPr/>
          <p:nvPr/>
        </p:nvSpPr>
        <p:spPr>
          <a:xfrm>
            <a:off x="2086128" y="1320365"/>
            <a:ext cx="79746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Why? </a:t>
            </a:r>
            <a:endParaRPr sz="1600" dirty="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To help to communicate efficiently.</a:t>
            </a:r>
            <a:endParaRPr sz="1600" dirty="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9" name="Google Shape;439;p27"/>
          <p:cNvSpPr/>
          <p:nvPr/>
        </p:nvSpPr>
        <p:spPr>
          <a:xfrm>
            <a:off x="2774995" y="2834283"/>
            <a:ext cx="387413" cy="574051"/>
          </a:xfrm>
          <a:custGeom>
            <a:avLst/>
            <a:gdLst/>
            <a:ahLst/>
            <a:cxnLst/>
            <a:rect l="l" t="t" r="r" b="b"/>
            <a:pathLst>
              <a:path w="80" h="115" extrusionOk="0">
                <a:moveTo>
                  <a:pt x="65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2" y="47"/>
                  <a:pt x="22" y="45"/>
                  <a:pt x="22" y="44"/>
                </a:cubicBezTo>
                <a:cubicBezTo>
                  <a:pt x="22" y="33"/>
                  <a:pt x="22" y="33"/>
                  <a:pt x="22" y="33"/>
                </a:cubicBezTo>
                <a:cubicBezTo>
                  <a:pt x="22" y="21"/>
                  <a:pt x="30" y="11"/>
                  <a:pt x="39" y="11"/>
                </a:cubicBezTo>
                <a:cubicBezTo>
                  <a:pt x="49" y="11"/>
                  <a:pt x="56" y="21"/>
                  <a:pt x="56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15"/>
                  <a:pt x="54" y="0"/>
                  <a:pt x="39" y="0"/>
                </a:cubicBezTo>
                <a:cubicBezTo>
                  <a:pt x="24" y="0"/>
                  <a:pt x="12" y="15"/>
                  <a:pt x="12" y="33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9"/>
                  <a:pt x="0" y="55"/>
                  <a:pt x="0" y="62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108"/>
                  <a:pt x="6" y="115"/>
                  <a:pt x="14" y="115"/>
                </a:cubicBezTo>
                <a:cubicBezTo>
                  <a:pt x="66" y="115"/>
                  <a:pt x="66" y="115"/>
                  <a:pt x="66" y="115"/>
                </a:cubicBezTo>
                <a:cubicBezTo>
                  <a:pt x="74" y="115"/>
                  <a:pt x="80" y="108"/>
                  <a:pt x="80" y="100"/>
                </a:cubicBezTo>
                <a:cubicBezTo>
                  <a:pt x="80" y="62"/>
                  <a:pt x="80" y="62"/>
                  <a:pt x="80" y="62"/>
                </a:cubicBezTo>
                <a:cubicBezTo>
                  <a:pt x="80" y="54"/>
                  <a:pt x="73" y="48"/>
                  <a:pt x="65" y="48"/>
                </a:cubicBezTo>
                <a:close/>
                <a:moveTo>
                  <a:pt x="45" y="81"/>
                </a:moveTo>
                <a:cubicBezTo>
                  <a:pt x="48" y="94"/>
                  <a:pt x="48" y="94"/>
                  <a:pt x="48" y="94"/>
                </a:cubicBezTo>
                <a:cubicBezTo>
                  <a:pt x="48" y="99"/>
                  <a:pt x="45" y="103"/>
                  <a:pt x="41" y="103"/>
                </a:cubicBezTo>
                <a:cubicBezTo>
                  <a:pt x="37" y="103"/>
                  <a:pt x="33" y="99"/>
                  <a:pt x="33" y="94"/>
                </a:cubicBezTo>
                <a:cubicBezTo>
                  <a:pt x="36" y="80"/>
                  <a:pt x="36" y="80"/>
                  <a:pt x="36" y="80"/>
                </a:cubicBezTo>
                <a:cubicBezTo>
                  <a:pt x="33" y="79"/>
                  <a:pt x="31" y="76"/>
                  <a:pt x="31" y="72"/>
                </a:cubicBezTo>
                <a:cubicBezTo>
                  <a:pt x="31" y="67"/>
                  <a:pt x="35" y="63"/>
                  <a:pt x="40" y="63"/>
                </a:cubicBezTo>
                <a:cubicBezTo>
                  <a:pt x="46" y="63"/>
                  <a:pt x="50" y="67"/>
                  <a:pt x="50" y="72"/>
                </a:cubicBezTo>
                <a:cubicBezTo>
                  <a:pt x="50" y="76"/>
                  <a:pt x="48" y="79"/>
                  <a:pt x="45" y="80"/>
                </a:cubicBezTo>
                <a:cubicBezTo>
                  <a:pt x="45" y="80"/>
                  <a:pt x="45" y="80"/>
                  <a:pt x="45" y="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34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7"/>
          <p:cNvSpPr txBox="1"/>
          <p:nvPr/>
        </p:nvSpPr>
        <p:spPr>
          <a:xfrm>
            <a:off x="7915735" y="441958"/>
            <a:ext cx="3075595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Unified Modeling Language </a:t>
            </a:r>
            <a:endParaRPr dirty="0"/>
          </a:p>
        </p:txBody>
      </p:sp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BAEAC6-9C35-78EE-4D38-7BF4C86DB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82727"/>
            <a:ext cx="6867656" cy="6315394"/>
          </a:xfrm>
          <a:prstGeom prst="rect">
            <a:avLst/>
          </a:prstGeom>
        </p:spPr>
      </p:pic>
      <p:sp>
        <p:nvSpPr>
          <p:cNvPr id="5" name="Google Shape;437;p27">
            <a:extLst>
              <a:ext uri="{FF2B5EF4-FFF2-40B4-BE49-F238E27FC236}">
                <a16:creationId xmlns:a16="http://schemas.microsoft.com/office/drawing/2014/main" id="{A75E60F1-EB5F-F5FF-1962-150E9AC79729}"/>
              </a:ext>
            </a:extLst>
          </p:cNvPr>
          <p:cNvSpPr/>
          <p:nvPr/>
        </p:nvSpPr>
        <p:spPr>
          <a:xfrm>
            <a:off x="7680244" y="4292425"/>
            <a:ext cx="3546576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br>
              <a:rPr lang="en-MY" sz="160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MY" sz="160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https://www.uml-diagrams.org/</a:t>
            </a:r>
            <a:endParaRPr sz="1600" dirty="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97644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09696" y="551150"/>
            <a:ext cx="7675351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BEHAVIORAL MODEL (USE CASE DIAGRAM)</a:t>
            </a:r>
            <a:endParaRPr sz="2500" dirty="0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A70D8BD5-510A-337F-DDE3-66E66D9664FB}"/>
              </a:ext>
            </a:extLst>
          </p:cNvPr>
          <p:cNvSpPr txBox="1">
            <a:spLocks/>
          </p:cNvSpPr>
          <p:nvPr/>
        </p:nvSpPr>
        <p:spPr>
          <a:xfrm>
            <a:off x="1981200" y="1371601"/>
            <a:ext cx="8229600" cy="4952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Use case diagram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Behavioral diagram used to capture, specify, and visualize required system behavior.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Required system behavior are just requirements!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 main elements of use case diagrams are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actors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use cases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, and the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relationships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connecting them together.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Use cases are entities used in use case diagrams to specify the required behavior of a system.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They provide the means to capture, model, and visualize the systems’ required behavior.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They do this without any knowledge of programming technology, so that different stakeholders with different backgrounds can reason about the system.</a:t>
            </a:r>
            <a:r>
              <a:rPr lang="en-US" dirty="0"/>
              <a:t> Common UML relationships applied in use case diagrams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19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6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09696" y="551150"/>
            <a:ext cx="7675351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BEHAVIORAL MODEL (USE CASE DIAGRAM)</a:t>
            </a:r>
            <a:endParaRPr sz="25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49AC2D5-F2C0-81F9-7CB0-5D3FC2E3FB5A}"/>
              </a:ext>
            </a:extLst>
          </p:cNvPr>
          <p:cNvGrpSpPr/>
          <p:nvPr/>
        </p:nvGrpSpPr>
        <p:grpSpPr>
          <a:xfrm>
            <a:off x="1790699" y="1371601"/>
            <a:ext cx="8610602" cy="4724399"/>
            <a:chOff x="457200" y="1371601"/>
            <a:chExt cx="8610602" cy="4724399"/>
          </a:xfrm>
        </p:grpSpPr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324FE403-E41A-584C-AB4B-E19422D0F9E8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1371601"/>
              <a:ext cx="8229600" cy="53339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Wingdings" pitchFamily="2" charset="2"/>
                <a:buChar char="Ø"/>
                <a:defRPr sz="20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Wingdings" pitchFamily="2" charset="2"/>
                <a:buChar char="ü"/>
                <a:defRPr sz="18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2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Ø"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Common UML relationships applied in use case diagrams.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649D2B9-AD7F-EB10-F9CF-E4E98A714A87}"/>
                </a:ext>
              </a:extLst>
            </p:cNvPr>
            <p:cNvGrpSpPr/>
            <p:nvPr/>
          </p:nvGrpSpPr>
          <p:grpSpPr>
            <a:xfrm>
              <a:off x="609600" y="2107049"/>
              <a:ext cx="8458202" cy="3988951"/>
              <a:chOff x="609600" y="2107049"/>
              <a:chExt cx="8458202" cy="3988951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F15A67A7-26BA-3D61-954B-2B4C531B4BE2}"/>
                  </a:ext>
                </a:extLst>
              </p:cNvPr>
              <p:cNvGrpSpPr/>
              <p:nvPr/>
            </p:nvGrpSpPr>
            <p:grpSpPr>
              <a:xfrm>
                <a:off x="609600" y="2107049"/>
                <a:ext cx="8458202" cy="3988951"/>
                <a:chOff x="609600" y="2219980"/>
                <a:chExt cx="8458202" cy="3988951"/>
              </a:xfrm>
            </p:grpSpPr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0A536DF7-4ACF-C3D4-56B0-13742EC128C8}"/>
                    </a:ext>
                  </a:extLst>
                </p:cNvPr>
                <p:cNvGrpSpPr/>
                <p:nvPr/>
              </p:nvGrpSpPr>
              <p:grpSpPr>
                <a:xfrm>
                  <a:off x="609600" y="2219980"/>
                  <a:ext cx="8458202" cy="3163907"/>
                  <a:chOff x="533400" y="2362200"/>
                  <a:chExt cx="8458202" cy="3163907"/>
                </a:xfrm>
              </p:grpSpPr>
              <p:pic>
                <p:nvPicPr>
                  <p:cNvPr id="37" name="Picture 2">
                    <a:extLst>
                      <a:ext uri="{FF2B5EF4-FFF2-40B4-BE49-F238E27FC236}">
                        <a16:creationId xmlns:a16="http://schemas.microsoft.com/office/drawing/2014/main" id="{82F149E5-A18C-3B2E-72FA-488FB4452E2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/>
                  <a:srcRect/>
                  <a:stretch>
                    <a:fillRect/>
                  </a:stretch>
                </p:blipFill>
                <p:spPr bwMode="auto">
                  <a:xfrm>
                    <a:off x="2667000" y="2514600"/>
                    <a:ext cx="3457575" cy="264795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</p:pic>
              <p:sp>
                <p:nvSpPr>
                  <p:cNvPr id="38" name="Freeform 8">
                    <a:extLst>
                      <a:ext uri="{FF2B5EF4-FFF2-40B4-BE49-F238E27FC236}">
                        <a16:creationId xmlns:a16="http://schemas.microsoft.com/office/drawing/2014/main" id="{894CAE2D-DA37-D3F8-EB42-0657E7DD854B}"/>
                      </a:ext>
                    </a:extLst>
                  </p:cNvPr>
                  <p:cNvSpPr/>
                  <p:nvPr/>
                </p:nvSpPr>
                <p:spPr>
                  <a:xfrm rot="6795077">
                    <a:off x="2471737" y="3583407"/>
                    <a:ext cx="333376" cy="247650"/>
                  </a:xfrm>
                  <a:custGeom>
                    <a:avLst/>
                    <a:gdLst>
                      <a:gd name="connsiteX0" fmla="*/ 619125 w 619125"/>
                      <a:gd name="connsiteY0" fmla="*/ 400050 h 400050"/>
                      <a:gd name="connsiteX1" fmla="*/ 257175 w 619125"/>
                      <a:gd name="connsiteY1" fmla="*/ 361950 h 400050"/>
                      <a:gd name="connsiteX2" fmla="*/ 47625 w 619125"/>
                      <a:gd name="connsiteY2" fmla="*/ 247650 h 400050"/>
                      <a:gd name="connsiteX3" fmla="*/ 0 w 619125"/>
                      <a:gd name="connsiteY3" fmla="*/ 0 h 4000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19125" h="400050">
                        <a:moveTo>
                          <a:pt x="619125" y="400050"/>
                        </a:moveTo>
                        <a:cubicBezTo>
                          <a:pt x="485775" y="393700"/>
                          <a:pt x="352425" y="387350"/>
                          <a:pt x="257175" y="361950"/>
                        </a:cubicBezTo>
                        <a:cubicBezTo>
                          <a:pt x="161925" y="336550"/>
                          <a:pt x="90487" y="307975"/>
                          <a:pt x="47625" y="247650"/>
                        </a:cubicBezTo>
                        <a:cubicBezTo>
                          <a:pt x="4763" y="187325"/>
                          <a:pt x="2381" y="93662"/>
                          <a:pt x="0" y="0"/>
                        </a:cubicBezTo>
                      </a:path>
                    </a:pathLst>
                  </a:custGeom>
                  <a:noFill/>
                  <a:ln w="9525" cap="flat" cmpd="sng" algn="ctr">
                    <a:solidFill>
                      <a:srgbClr val="C00000"/>
                    </a:solidFill>
                    <a:prstDash val="solid"/>
                    <a:tailEnd type="stealth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90583063-05A6-3E2C-7830-44BEBD503407}"/>
                      </a:ext>
                    </a:extLst>
                  </p:cNvPr>
                  <p:cNvSpPr txBox="1"/>
                  <p:nvPr/>
                </p:nvSpPr>
                <p:spPr>
                  <a:xfrm>
                    <a:off x="1676400" y="2514600"/>
                    <a:ext cx="1371600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Bradley Hand ITC" pitchFamily="66" charset="0"/>
                        <a:ea typeface="+mn-ea"/>
                        <a:cs typeface="+mn-cs"/>
                      </a:rPr>
                      <a:t>Named actor</a:t>
                    </a:r>
                  </a:p>
                </p:txBody>
              </p:sp>
              <p:sp>
                <p:nvSpPr>
                  <p:cNvPr id="40" name="Freeform 11">
                    <a:extLst>
                      <a:ext uri="{FF2B5EF4-FFF2-40B4-BE49-F238E27FC236}">
                        <a16:creationId xmlns:a16="http://schemas.microsoft.com/office/drawing/2014/main" id="{9EC97C75-F885-0B49-1633-7210825A449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590800" y="2819400"/>
                    <a:ext cx="485775" cy="314325"/>
                  </a:xfrm>
                  <a:custGeom>
                    <a:avLst/>
                    <a:gdLst>
                      <a:gd name="connsiteX0" fmla="*/ 485775 w 485775"/>
                      <a:gd name="connsiteY0" fmla="*/ 314325 h 314325"/>
                      <a:gd name="connsiteX1" fmla="*/ 438150 w 485775"/>
                      <a:gd name="connsiteY1" fmla="*/ 114300 h 314325"/>
                      <a:gd name="connsiteX2" fmla="*/ 333375 w 485775"/>
                      <a:gd name="connsiteY2" fmla="*/ 19050 h 314325"/>
                      <a:gd name="connsiteX3" fmla="*/ 0 w 485775"/>
                      <a:gd name="connsiteY3" fmla="*/ 0 h 3143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5775" h="314325">
                        <a:moveTo>
                          <a:pt x="485775" y="314325"/>
                        </a:moveTo>
                        <a:cubicBezTo>
                          <a:pt x="474662" y="238918"/>
                          <a:pt x="463550" y="163512"/>
                          <a:pt x="438150" y="114300"/>
                        </a:cubicBezTo>
                        <a:cubicBezTo>
                          <a:pt x="412750" y="65088"/>
                          <a:pt x="406400" y="38100"/>
                          <a:pt x="333375" y="19050"/>
                        </a:cubicBezTo>
                        <a:cubicBezTo>
                          <a:pt x="260350" y="0"/>
                          <a:pt x="130175" y="0"/>
                          <a:pt x="0" y="0"/>
                        </a:cubicBezTo>
                      </a:path>
                    </a:pathLst>
                  </a:custGeom>
                  <a:noFill/>
                  <a:ln w="9525" cap="flat" cmpd="sng" algn="ctr">
                    <a:solidFill>
                      <a:srgbClr val="C00000"/>
                    </a:solidFill>
                    <a:prstDash val="solid"/>
                    <a:tailEnd type="stealth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164CC6EB-B0DF-CD24-6718-9B7F1A6E4B3B}"/>
                      </a:ext>
                    </a:extLst>
                  </p:cNvPr>
                  <p:cNvSpPr txBox="1"/>
                  <p:nvPr/>
                </p:nvSpPr>
                <p:spPr>
                  <a:xfrm>
                    <a:off x="5181600" y="2362200"/>
                    <a:ext cx="3810002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Bradley Hand ITC" pitchFamily="66" charset="0"/>
                        <a:ea typeface="+mn-ea"/>
                        <a:cs typeface="+mn-cs"/>
                      </a:rPr>
                      <a:t>Actor and use case communicate, for example, actor executes use case.</a:t>
                    </a:r>
                  </a:p>
                </p:txBody>
              </p:sp>
              <p:sp>
                <p:nvSpPr>
                  <p:cNvPr id="42" name="Freeform 13">
                    <a:extLst>
                      <a:ext uri="{FF2B5EF4-FFF2-40B4-BE49-F238E27FC236}">
                        <a16:creationId xmlns:a16="http://schemas.microsoft.com/office/drawing/2014/main" id="{8629DD0A-5C41-0448-FE11-F6C82191A86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772854" y="2605112"/>
                    <a:ext cx="485775" cy="314325"/>
                  </a:xfrm>
                  <a:custGeom>
                    <a:avLst/>
                    <a:gdLst>
                      <a:gd name="connsiteX0" fmla="*/ 485775 w 485775"/>
                      <a:gd name="connsiteY0" fmla="*/ 314325 h 314325"/>
                      <a:gd name="connsiteX1" fmla="*/ 438150 w 485775"/>
                      <a:gd name="connsiteY1" fmla="*/ 114300 h 314325"/>
                      <a:gd name="connsiteX2" fmla="*/ 333375 w 485775"/>
                      <a:gd name="connsiteY2" fmla="*/ 19050 h 314325"/>
                      <a:gd name="connsiteX3" fmla="*/ 0 w 485775"/>
                      <a:gd name="connsiteY3" fmla="*/ 0 h 3143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5775" h="314325">
                        <a:moveTo>
                          <a:pt x="485775" y="314325"/>
                        </a:moveTo>
                        <a:cubicBezTo>
                          <a:pt x="474662" y="238918"/>
                          <a:pt x="463550" y="163512"/>
                          <a:pt x="438150" y="114300"/>
                        </a:cubicBezTo>
                        <a:cubicBezTo>
                          <a:pt x="412750" y="65088"/>
                          <a:pt x="406400" y="38100"/>
                          <a:pt x="333375" y="19050"/>
                        </a:cubicBezTo>
                        <a:cubicBezTo>
                          <a:pt x="260350" y="0"/>
                          <a:pt x="130175" y="0"/>
                          <a:pt x="0" y="0"/>
                        </a:cubicBezTo>
                      </a:path>
                    </a:pathLst>
                  </a:custGeom>
                  <a:noFill/>
                  <a:ln w="9525" cap="flat" cmpd="sng" algn="ctr">
                    <a:solidFill>
                      <a:srgbClr val="C00000"/>
                    </a:solidFill>
                    <a:prstDash val="solid"/>
                    <a:tailEnd type="stealth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337AF01F-4411-9C49-8FF6-10F294BD2518}"/>
                      </a:ext>
                    </a:extLst>
                  </p:cNvPr>
                  <p:cNvSpPr txBox="1"/>
                  <p:nvPr/>
                </p:nvSpPr>
                <p:spPr>
                  <a:xfrm>
                    <a:off x="533400" y="3753505"/>
                    <a:ext cx="2209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Bradley Hand ITC" pitchFamily="66" charset="0"/>
                        <a:ea typeface="+mn-ea"/>
                        <a:cs typeface="+mn-cs"/>
                      </a:rPr>
                      <a:t>Use case A requires the behavior from use case B</a:t>
                    </a:r>
                  </a:p>
                </p:txBody>
              </p: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199B1E28-CF0E-2512-E713-721DEE766ECF}"/>
                      </a:ext>
                    </a:extLst>
                  </p:cNvPr>
                  <p:cNvSpPr txBox="1"/>
                  <p:nvPr/>
                </p:nvSpPr>
                <p:spPr>
                  <a:xfrm>
                    <a:off x="5943600" y="4572000"/>
                    <a:ext cx="2819400" cy="95410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Bradley Hand ITC" pitchFamily="66" charset="0"/>
                        <a:ea typeface="+mn-ea"/>
                        <a:cs typeface="+mn-cs"/>
                      </a:rPr>
                      <a:t>Use case A extends the behavior of use case B.  Use case B may be executed when use case A is executed, but it is not mandatory.</a:t>
                    </a:r>
                  </a:p>
                </p:txBody>
              </p:sp>
              <p:sp>
                <p:nvSpPr>
                  <p:cNvPr id="45" name="Freeform 16">
                    <a:extLst>
                      <a:ext uri="{FF2B5EF4-FFF2-40B4-BE49-F238E27FC236}">
                        <a16:creationId xmlns:a16="http://schemas.microsoft.com/office/drawing/2014/main" id="{164239E2-3F3B-E6EE-6F15-0A46443B1E96}"/>
                      </a:ext>
                    </a:extLst>
                  </p:cNvPr>
                  <p:cNvSpPr/>
                  <p:nvPr/>
                </p:nvSpPr>
                <p:spPr>
                  <a:xfrm rot="21387382">
                    <a:off x="5952850" y="4205713"/>
                    <a:ext cx="485775" cy="314325"/>
                  </a:xfrm>
                  <a:custGeom>
                    <a:avLst/>
                    <a:gdLst>
                      <a:gd name="connsiteX0" fmla="*/ 485775 w 485775"/>
                      <a:gd name="connsiteY0" fmla="*/ 314325 h 314325"/>
                      <a:gd name="connsiteX1" fmla="*/ 438150 w 485775"/>
                      <a:gd name="connsiteY1" fmla="*/ 114300 h 314325"/>
                      <a:gd name="connsiteX2" fmla="*/ 333375 w 485775"/>
                      <a:gd name="connsiteY2" fmla="*/ 19050 h 314325"/>
                      <a:gd name="connsiteX3" fmla="*/ 0 w 485775"/>
                      <a:gd name="connsiteY3" fmla="*/ 0 h 3143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5775" h="314325">
                        <a:moveTo>
                          <a:pt x="485775" y="314325"/>
                        </a:moveTo>
                        <a:cubicBezTo>
                          <a:pt x="474662" y="238918"/>
                          <a:pt x="463550" y="163512"/>
                          <a:pt x="438150" y="114300"/>
                        </a:cubicBezTo>
                        <a:cubicBezTo>
                          <a:pt x="412750" y="65088"/>
                          <a:pt x="406400" y="38100"/>
                          <a:pt x="333375" y="19050"/>
                        </a:cubicBezTo>
                        <a:cubicBezTo>
                          <a:pt x="260350" y="0"/>
                          <a:pt x="130175" y="0"/>
                          <a:pt x="0" y="0"/>
                        </a:cubicBezTo>
                      </a:path>
                    </a:pathLst>
                  </a:custGeom>
                  <a:noFill/>
                  <a:ln w="9525" cap="flat" cmpd="sng" algn="ctr">
                    <a:solidFill>
                      <a:srgbClr val="C00000"/>
                    </a:solidFill>
                    <a:prstDash val="solid"/>
                    <a:tailEnd type="stealth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97C0CB8F-78F2-702B-30A8-6959CDA75673}"/>
                      </a:ext>
                    </a:extLst>
                  </p:cNvPr>
                  <p:cNvSpPr txBox="1"/>
                  <p:nvPr/>
                </p:nvSpPr>
                <p:spPr>
                  <a:xfrm>
                    <a:off x="914400" y="4953000"/>
                    <a:ext cx="22098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Bradley Hand ITC" pitchFamily="66" charset="0"/>
                        <a:ea typeface="+mn-ea"/>
                        <a:cs typeface="+mn-cs"/>
                      </a:rPr>
                      <a:t>Use case A is a specialization of use case B</a:t>
                    </a:r>
                  </a:p>
                </p:txBody>
              </p:sp>
              <p:sp>
                <p:nvSpPr>
                  <p:cNvPr id="48" name="Freeform 18">
                    <a:extLst>
                      <a:ext uri="{FF2B5EF4-FFF2-40B4-BE49-F238E27FC236}">
                        <a16:creationId xmlns:a16="http://schemas.microsoft.com/office/drawing/2014/main" id="{7E6CB971-17DD-54AF-E430-C7C6A14C7B57}"/>
                      </a:ext>
                    </a:extLst>
                  </p:cNvPr>
                  <p:cNvSpPr/>
                  <p:nvPr/>
                </p:nvSpPr>
                <p:spPr>
                  <a:xfrm rot="6795077">
                    <a:off x="2451283" y="4703343"/>
                    <a:ext cx="333376" cy="247650"/>
                  </a:xfrm>
                  <a:custGeom>
                    <a:avLst/>
                    <a:gdLst>
                      <a:gd name="connsiteX0" fmla="*/ 619125 w 619125"/>
                      <a:gd name="connsiteY0" fmla="*/ 400050 h 400050"/>
                      <a:gd name="connsiteX1" fmla="*/ 257175 w 619125"/>
                      <a:gd name="connsiteY1" fmla="*/ 361950 h 400050"/>
                      <a:gd name="connsiteX2" fmla="*/ 47625 w 619125"/>
                      <a:gd name="connsiteY2" fmla="*/ 247650 h 400050"/>
                      <a:gd name="connsiteX3" fmla="*/ 0 w 619125"/>
                      <a:gd name="connsiteY3" fmla="*/ 0 h 4000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19125" h="400050">
                        <a:moveTo>
                          <a:pt x="619125" y="400050"/>
                        </a:moveTo>
                        <a:cubicBezTo>
                          <a:pt x="485775" y="393700"/>
                          <a:pt x="352425" y="387350"/>
                          <a:pt x="257175" y="361950"/>
                        </a:cubicBezTo>
                        <a:cubicBezTo>
                          <a:pt x="161925" y="336550"/>
                          <a:pt x="90487" y="307975"/>
                          <a:pt x="47625" y="247650"/>
                        </a:cubicBezTo>
                        <a:cubicBezTo>
                          <a:pt x="4763" y="187325"/>
                          <a:pt x="2381" y="93662"/>
                          <a:pt x="0" y="0"/>
                        </a:cubicBezTo>
                      </a:path>
                    </a:pathLst>
                  </a:custGeom>
                  <a:noFill/>
                  <a:ln w="9525" cap="flat" cmpd="sng" algn="ctr">
                    <a:solidFill>
                      <a:srgbClr val="C00000"/>
                    </a:solidFill>
                    <a:prstDash val="solid"/>
                    <a:tailEnd type="stealth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80E54B3-494A-4401-5863-A7BF61786EAA}"/>
                    </a:ext>
                  </a:extLst>
                </p:cNvPr>
                <p:cNvSpPr txBox="1"/>
                <p:nvPr/>
              </p:nvSpPr>
              <p:spPr>
                <a:xfrm>
                  <a:off x="6076950" y="3295650"/>
                  <a:ext cx="2438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Bradley Hand ITC" pitchFamily="66" charset="0"/>
                      <a:ea typeface="+mn-ea"/>
                      <a:cs typeface="+mn-cs"/>
                    </a:rPr>
                    <a:t>Use case B MUST be executed when use case A is executed!</a:t>
                  </a:r>
                </a:p>
              </p:txBody>
            </p:sp>
            <p:sp>
              <p:nvSpPr>
                <p:cNvPr id="35" name="Freeform 22">
                  <a:extLst>
                    <a:ext uri="{FF2B5EF4-FFF2-40B4-BE49-F238E27FC236}">
                      <a16:creationId xmlns:a16="http://schemas.microsoft.com/office/drawing/2014/main" id="{150019D8-65FB-1E20-A639-4B5E5A6784FC}"/>
                    </a:ext>
                  </a:extLst>
                </p:cNvPr>
                <p:cNvSpPr/>
                <p:nvPr/>
              </p:nvSpPr>
              <p:spPr>
                <a:xfrm rot="19289192">
                  <a:off x="5988628" y="3226218"/>
                  <a:ext cx="485775" cy="314325"/>
                </a:xfrm>
                <a:custGeom>
                  <a:avLst/>
                  <a:gdLst>
                    <a:gd name="connsiteX0" fmla="*/ 485775 w 485775"/>
                    <a:gd name="connsiteY0" fmla="*/ 314325 h 314325"/>
                    <a:gd name="connsiteX1" fmla="*/ 438150 w 485775"/>
                    <a:gd name="connsiteY1" fmla="*/ 114300 h 314325"/>
                    <a:gd name="connsiteX2" fmla="*/ 333375 w 485775"/>
                    <a:gd name="connsiteY2" fmla="*/ 19050 h 314325"/>
                    <a:gd name="connsiteX3" fmla="*/ 0 w 485775"/>
                    <a:gd name="connsiteY3" fmla="*/ 0 h 314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5775" h="314325">
                      <a:moveTo>
                        <a:pt x="485775" y="314325"/>
                      </a:moveTo>
                      <a:cubicBezTo>
                        <a:pt x="474662" y="238918"/>
                        <a:pt x="463550" y="163512"/>
                        <a:pt x="438150" y="114300"/>
                      </a:cubicBezTo>
                      <a:cubicBezTo>
                        <a:pt x="412750" y="65088"/>
                        <a:pt x="406400" y="38100"/>
                        <a:pt x="333375" y="19050"/>
                      </a:cubicBezTo>
                      <a:cubicBezTo>
                        <a:pt x="260350" y="0"/>
                        <a:pt x="130175" y="0"/>
                        <a:pt x="0" y="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rgbClr val="C00000"/>
                  </a:solidFill>
                  <a:prstDash val="solid"/>
                  <a:tailEnd type="stealth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CE41E8A-FF3E-ACAC-F493-ABDC182747D2}"/>
                    </a:ext>
                  </a:extLst>
                </p:cNvPr>
                <p:cNvSpPr txBox="1"/>
                <p:nvPr/>
              </p:nvSpPr>
              <p:spPr>
                <a:xfrm>
                  <a:off x="2696684" y="5562600"/>
                  <a:ext cx="3627916" cy="646331"/>
                </a:xfrm>
                <a:prstGeom prst="rect">
                  <a:avLst/>
                </a:prstGeom>
                <a:noFill/>
                <a:ln>
                  <a:solidFill>
                    <a:sysClr val="window" lastClr="FFFFFF">
                      <a:lumMod val="50000"/>
                    </a:sysClr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Bradley Hand ITC" pitchFamily="66" charset="0"/>
                      <a:ea typeface="+mn-ea"/>
                      <a:cs typeface="+mn-cs"/>
                    </a:rPr>
                    <a:t>Important</a:t>
                  </a:r>
                  <a:r>
                    <a:rPr kumimoji="0" 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Bradley Hand ITC" pitchFamily="66" charset="0"/>
                      <a:ea typeface="+mn-ea"/>
                      <a:cs typeface="+mn-cs"/>
                    </a:rPr>
                    <a:t>:</a:t>
                  </a:r>
                </a:p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Bradley Hand ITC" pitchFamily="66" charset="0"/>
                      <a:ea typeface="+mn-ea"/>
                      <a:cs typeface="+mn-cs"/>
                    </a:rPr>
                    <a:t>include  relationship specifies a mandatory inclusion</a:t>
                  </a:r>
                </a:p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Bradley Hand ITC" pitchFamily="66" charset="0"/>
                      <a:ea typeface="+mn-ea"/>
                      <a:cs typeface="+mn-cs"/>
                    </a:rPr>
                    <a:t>Extend relationship specifies an optional inclusion</a:t>
                  </a:r>
                </a:p>
              </p:txBody>
            </p:sp>
          </p:grp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E3AEC23-EC69-27AE-AC52-256A38C17031}"/>
                  </a:ext>
                </a:extLst>
              </p:cNvPr>
              <p:cNvSpPr/>
              <p:nvPr/>
            </p:nvSpPr>
            <p:spPr>
              <a:xfrm>
                <a:off x="3876675" y="3886200"/>
                <a:ext cx="1066800" cy="15240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4A423B7-67A0-69EB-FF0F-E1E272EF9A48}"/>
                  </a:ext>
                </a:extLst>
              </p:cNvPr>
              <p:cNvCxnSpPr/>
              <p:nvPr/>
            </p:nvCxnSpPr>
            <p:spPr>
              <a:xfrm>
                <a:off x="3886200" y="3962400"/>
                <a:ext cx="1066800" cy="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dash"/>
              </a:ln>
              <a:effectLst/>
            </p:spPr>
          </p:cxn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623EEDC-8191-B500-978E-5F88B9D30019}"/>
                  </a:ext>
                </a:extLst>
              </p:cNvPr>
              <p:cNvSpPr/>
              <p:nvPr/>
            </p:nvSpPr>
            <p:spPr>
              <a:xfrm>
                <a:off x="3886200" y="3381375"/>
                <a:ext cx="1066800" cy="15240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82DFEDC9-32FE-32B6-9FAE-8F1878A75A26}"/>
                  </a:ext>
                </a:extLst>
              </p:cNvPr>
              <p:cNvCxnSpPr/>
              <p:nvPr/>
            </p:nvCxnSpPr>
            <p:spPr>
              <a:xfrm>
                <a:off x="3895725" y="3438525"/>
                <a:ext cx="1066800" cy="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dash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984262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7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09696" y="551150"/>
            <a:ext cx="7675351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BEHAVIORAL MODEL (USE CASE DIAGRAM)</a:t>
            </a:r>
            <a:endParaRPr sz="25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1346CC7-B534-1C85-5AF2-D4619713F279}"/>
              </a:ext>
            </a:extLst>
          </p:cNvPr>
          <p:cNvGrpSpPr/>
          <p:nvPr/>
        </p:nvGrpSpPr>
        <p:grpSpPr>
          <a:xfrm>
            <a:off x="1861316" y="1235369"/>
            <a:ext cx="8458200" cy="4990445"/>
            <a:chOff x="457200" y="1447800"/>
            <a:chExt cx="8458200" cy="4990445"/>
          </a:xfrm>
        </p:grpSpPr>
        <p:pic>
          <p:nvPicPr>
            <p:cNvPr id="384" name="Picture 4">
              <a:extLst>
                <a:ext uri="{FF2B5EF4-FFF2-40B4-BE49-F238E27FC236}">
                  <a16:creationId xmlns:a16="http://schemas.microsoft.com/office/drawing/2014/main" id="{140B9246-C130-9DC1-380B-FB2A4DB6A4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133600" y="1676400"/>
              <a:ext cx="4343400" cy="4381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385" name="Straight Arrow Connector 384">
              <a:extLst>
                <a:ext uri="{FF2B5EF4-FFF2-40B4-BE49-F238E27FC236}">
                  <a16:creationId xmlns:a16="http://schemas.microsoft.com/office/drawing/2014/main" id="{F47C423D-B7BE-9F4C-186D-01FBF15C3D71}"/>
                </a:ext>
              </a:extLst>
            </p:cNvPr>
            <p:cNvCxnSpPr/>
            <p:nvPr/>
          </p:nvCxnSpPr>
          <p:spPr>
            <a:xfrm flipV="1">
              <a:off x="4953000" y="4629150"/>
              <a:ext cx="0" cy="53340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  <a:tailEnd type="arrow"/>
            </a:ln>
            <a:effectLst/>
          </p:spPr>
        </p:cxnSp>
        <p:grpSp>
          <p:nvGrpSpPr>
            <p:cNvPr id="386" name="Group 385">
              <a:extLst>
                <a:ext uri="{FF2B5EF4-FFF2-40B4-BE49-F238E27FC236}">
                  <a16:creationId xmlns:a16="http://schemas.microsoft.com/office/drawing/2014/main" id="{F40E5657-F72C-A908-9477-D285EAB90570}"/>
                </a:ext>
              </a:extLst>
            </p:cNvPr>
            <p:cNvGrpSpPr/>
            <p:nvPr/>
          </p:nvGrpSpPr>
          <p:grpSpPr>
            <a:xfrm>
              <a:off x="5524500" y="3657600"/>
              <a:ext cx="533400" cy="1743076"/>
              <a:chOff x="5524500" y="3657600"/>
              <a:chExt cx="533400" cy="1743076"/>
            </a:xfrm>
          </p:grpSpPr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8F62D726-242D-B088-89F8-514BF37385E9}"/>
                  </a:ext>
                </a:extLst>
              </p:cNvPr>
              <p:cNvCxnSpPr/>
              <p:nvPr/>
            </p:nvCxnSpPr>
            <p:spPr>
              <a:xfrm>
                <a:off x="5524500" y="5400675"/>
                <a:ext cx="533400" cy="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dash"/>
              </a:ln>
              <a:effectLst/>
            </p:spPr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40A5325F-91EF-7DDE-C9DC-8234E72DC724}"/>
                  </a:ext>
                </a:extLst>
              </p:cNvPr>
              <p:cNvCxnSpPr/>
              <p:nvPr/>
            </p:nvCxnSpPr>
            <p:spPr>
              <a:xfrm flipV="1">
                <a:off x="6057900" y="3657600"/>
                <a:ext cx="0" cy="1743076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dash"/>
              </a:ln>
              <a:effectLst/>
            </p:spPr>
          </p:cxnSp>
          <p:cxnSp>
            <p:nvCxnSpPr>
              <p:cNvPr id="401" name="Straight Arrow Connector 400">
                <a:extLst>
                  <a:ext uri="{FF2B5EF4-FFF2-40B4-BE49-F238E27FC236}">
                    <a16:creationId xmlns:a16="http://schemas.microsoft.com/office/drawing/2014/main" id="{3FC972A7-32CE-8B02-AAC5-C26453B83755}"/>
                  </a:ext>
                </a:extLst>
              </p:cNvPr>
              <p:cNvCxnSpPr/>
              <p:nvPr/>
            </p:nvCxnSpPr>
            <p:spPr>
              <a:xfrm flipH="1">
                <a:off x="5562600" y="3657600"/>
                <a:ext cx="49530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dash"/>
                <a:tailEnd type="arrow"/>
              </a:ln>
              <a:effectLst/>
            </p:spPr>
          </p:cxnSp>
        </p:grp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C18CF8D2-7E7E-9F34-1C93-6947C57C2F3E}"/>
                </a:ext>
              </a:extLst>
            </p:cNvPr>
            <p:cNvSpPr txBox="1"/>
            <p:nvPr/>
          </p:nvSpPr>
          <p:spPr>
            <a:xfrm>
              <a:off x="457200" y="2057400"/>
              <a:ext cx="259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radley Hand ITC" pitchFamily="66" charset="0"/>
                  <a:ea typeface="+mn-ea"/>
                  <a:cs typeface="+mn-cs"/>
                </a:rPr>
                <a:t>Actor interacts with the system.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EE662716-C0CB-D577-E2BA-EE2B50B00F18}"/>
                </a:ext>
              </a:extLst>
            </p:cNvPr>
            <p:cNvSpPr txBox="1"/>
            <p:nvPr/>
          </p:nvSpPr>
          <p:spPr>
            <a:xfrm>
              <a:off x="6248400" y="1447800"/>
              <a:ext cx="2362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radley Hand ITC" pitchFamily="66" charset="0"/>
                  <a:ea typeface="+mn-ea"/>
                  <a:cs typeface="+mn-cs"/>
                </a:rPr>
                <a:t>Optional System Boundary to model the Subject</a:t>
              </a:r>
            </a:p>
          </p:txBody>
        </p:sp>
        <p:sp>
          <p:nvSpPr>
            <p:cNvPr id="389" name="Freeform 23">
              <a:extLst>
                <a:ext uri="{FF2B5EF4-FFF2-40B4-BE49-F238E27FC236}">
                  <a16:creationId xmlns:a16="http://schemas.microsoft.com/office/drawing/2014/main" id="{7223F02A-7853-7703-A8B7-7F22E4B76707}"/>
                </a:ext>
              </a:extLst>
            </p:cNvPr>
            <p:cNvSpPr/>
            <p:nvPr/>
          </p:nvSpPr>
          <p:spPr>
            <a:xfrm rot="16200000">
              <a:off x="6281737" y="1785283"/>
              <a:ext cx="333376" cy="247650"/>
            </a:xfrm>
            <a:custGeom>
              <a:avLst/>
              <a:gdLst>
                <a:gd name="connsiteX0" fmla="*/ 619125 w 619125"/>
                <a:gd name="connsiteY0" fmla="*/ 400050 h 400050"/>
                <a:gd name="connsiteX1" fmla="*/ 257175 w 619125"/>
                <a:gd name="connsiteY1" fmla="*/ 361950 h 400050"/>
                <a:gd name="connsiteX2" fmla="*/ 47625 w 619125"/>
                <a:gd name="connsiteY2" fmla="*/ 247650 h 400050"/>
                <a:gd name="connsiteX3" fmla="*/ 0 w 619125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125" h="400050">
                  <a:moveTo>
                    <a:pt x="619125" y="400050"/>
                  </a:moveTo>
                  <a:cubicBezTo>
                    <a:pt x="485775" y="393700"/>
                    <a:pt x="352425" y="387350"/>
                    <a:pt x="257175" y="361950"/>
                  </a:cubicBezTo>
                  <a:cubicBezTo>
                    <a:pt x="161925" y="336550"/>
                    <a:pt x="90487" y="307975"/>
                    <a:pt x="47625" y="247650"/>
                  </a:cubicBezTo>
                  <a:cubicBezTo>
                    <a:pt x="4763" y="187325"/>
                    <a:pt x="2381" y="93662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5B370408-8AD4-FB01-29AE-E79242E8859F}"/>
                </a:ext>
              </a:extLst>
            </p:cNvPr>
            <p:cNvSpPr txBox="1"/>
            <p:nvPr/>
          </p:nvSpPr>
          <p:spPr>
            <a:xfrm>
              <a:off x="609600" y="3810000"/>
              <a:ext cx="2362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radley Hand ITC" pitchFamily="66" charset="0"/>
                  <a:ea typeface="+mn-ea"/>
                  <a:cs typeface="+mn-cs"/>
                </a:rPr>
                <a:t>A specialized user</a:t>
              </a:r>
            </a:p>
          </p:txBody>
        </p:sp>
        <p:sp>
          <p:nvSpPr>
            <p:cNvPr id="391" name="Freeform 26">
              <a:extLst>
                <a:ext uri="{FF2B5EF4-FFF2-40B4-BE49-F238E27FC236}">
                  <a16:creationId xmlns:a16="http://schemas.microsoft.com/office/drawing/2014/main" id="{74025104-2931-B5AA-2E43-EAD9D899DF61}"/>
                </a:ext>
              </a:extLst>
            </p:cNvPr>
            <p:cNvSpPr/>
            <p:nvPr/>
          </p:nvSpPr>
          <p:spPr>
            <a:xfrm rot="11353511">
              <a:off x="1922205" y="4084449"/>
              <a:ext cx="593165" cy="262483"/>
            </a:xfrm>
            <a:custGeom>
              <a:avLst/>
              <a:gdLst>
                <a:gd name="connsiteX0" fmla="*/ 485775 w 485775"/>
                <a:gd name="connsiteY0" fmla="*/ 314325 h 314325"/>
                <a:gd name="connsiteX1" fmla="*/ 438150 w 485775"/>
                <a:gd name="connsiteY1" fmla="*/ 114300 h 314325"/>
                <a:gd name="connsiteX2" fmla="*/ 333375 w 485775"/>
                <a:gd name="connsiteY2" fmla="*/ 19050 h 314325"/>
                <a:gd name="connsiteX3" fmla="*/ 0 w 485775"/>
                <a:gd name="connsiteY3" fmla="*/ 0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775" h="314325">
                  <a:moveTo>
                    <a:pt x="485775" y="314325"/>
                  </a:moveTo>
                  <a:cubicBezTo>
                    <a:pt x="474662" y="238918"/>
                    <a:pt x="463550" y="163512"/>
                    <a:pt x="438150" y="114300"/>
                  </a:cubicBezTo>
                  <a:cubicBezTo>
                    <a:pt x="412750" y="65088"/>
                    <a:pt x="406400" y="38100"/>
                    <a:pt x="333375" y="19050"/>
                  </a:cubicBezTo>
                  <a:cubicBezTo>
                    <a:pt x="260350" y="0"/>
                    <a:pt x="130175" y="0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92ED2A9-FCCD-9917-B547-B9AF89CE3205}"/>
                </a:ext>
              </a:extLst>
            </p:cNvPr>
            <p:cNvSpPr txBox="1"/>
            <p:nvPr/>
          </p:nvSpPr>
          <p:spPr>
            <a:xfrm>
              <a:off x="1219200" y="5915025"/>
              <a:ext cx="3124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radley Hand ITC" pitchFamily="66" charset="0"/>
                  <a:ea typeface="+mn-ea"/>
                  <a:cs typeface="+mn-cs"/>
                </a:rPr>
                <a:t>You cannot cancel a course unless your identity has been authenticated!</a:t>
              </a:r>
            </a:p>
          </p:txBody>
        </p:sp>
        <p:sp>
          <p:nvSpPr>
            <p:cNvPr id="393" name="Freeform 32">
              <a:extLst>
                <a:ext uri="{FF2B5EF4-FFF2-40B4-BE49-F238E27FC236}">
                  <a16:creationId xmlns:a16="http://schemas.microsoft.com/office/drawing/2014/main" id="{B45524A3-7233-9558-10D2-7C7021B2176D}"/>
                </a:ext>
              </a:extLst>
            </p:cNvPr>
            <p:cNvSpPr/>
            <p:nvPr/>
          </p:nvSpPr>
          <p:spPr>
            <a:xfrm rot="7058849">
              <a:off x="4300697" y="5754977"/>
              <a:ext cx="593165" cy="262483"/>
            </a:xfrm>
            <a:custGeom>
              <a:avLst/>
              <a:gdLst>
                <a:gd name="connsiteX0" fmla="*/ 485775 w 485775"/>
                <a:gd name="connsiteY0" fmla="*/ 314325 h 314325"/>
                <a:gd name="connsiteX1" fmla="*/ 438150 w 485775"/>
                <a:gd name="connsiteY1" fmla="*/ 114300 h 314325"/>
                <a:gd name="connsiteX2" fmla="*/ 333375 w 485775"/>
                <a:gd name="connsiteY2" fmla="*/ 19050 h 314325"/>
                <a:gd name="connsiteX3" fmla="*/ 0 w 485775"/>
                <a:gd name="connsiteY3" fmla="*/ 0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775" h="314325">
                  <a:moveTo>
                    <a:pt x="485775" y="314325"/>
                  </a:moveTo>
                  <a:cubicBezTo>
                    <a:pt x="474662" y="238918"/>
                    <a:pt x="463550" y="163512"/>
                    <a:pt x="438150" y="114300"/>
                  </a:cubicBezTo>
                  <a:cubicBezTo>
                    <a:pt x="412750" y="65088"/>
                    <a:pt x="406400" y="38100"/>
                    <a:pt x="333375" y="19050"/>
                  </a:cubicBezTo>
                  <a:cubicBezTo>
                    <a:pt x="260350" y="0"/>
                    <a:pt x="130175" y="0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98285B27-2808-2C2E-6C75-285ED67925C0}"/>
                </a:ext>
              </a:extLst>
            </p:cNvPr>
            <p:cNvSpPr txBox="1"/>
            <p:nvPr/>
          </p:nvSpPr>
          <p:spPr>
            <a:xfrm>
              <a:off x="6248400" y="3429000"/>
              <a:ext cx="2438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radley Hand ITC" pitchFamily="66" charset="0"/>
                  <a:ea typeface="+mn-ea"/>
                  <a:cs typeface="+mn-cs"/>
                </a:rPr>
                <a:t>To cancel a course, you may want to search for the course</a:t>
              </a:r>
            </a:p>
          </p:txBody>
        </p:sp>
        <p:sp>
          <p:nvSpPr>
            <p:cNvPr id="395" name="Freeform 34">
              <a:extLst>
                <a:ext uri="{FF2B5EF4-FFF2-40B4-BE49-F238E27FC236}">
                  <a16:creationId xmlns:a16="http://schemas.microsoft.com/office/drawing/2014/main" id="{765210C0-B6E1-AE6C-8585-4EABA94D8D7F}"/>
                </a:ext>
              </a:extLst>
            </p:cNvPr>
            <p:cNvSpPr/>
            <p:nvPr/>
          </p:nvSpPr>
          <p:spPr>
            <a:xfrm rot="16200000">
              <a:off x="6129337" y="3900487"/>
              <a:ext cx="333376" cy="247650"/>
            </a:xfrm>
            <a:custGeom>
              <a:avLst/>
              <a:gdLst>
                <a:gd name="connsiteX0" fmla="*/ 619125 w 619125"/>
                <a:gd name="connsiteY0" fmla="*/ 400050 h 400050"/>
                <a:gd name="connsiteX1" fmla="*/ 257175 w 619125"/>
                <a:gd name="connsiteY1" fmla="*/ 361950 h 400050"/>
                <a:gd name="connsiteX2" fmla="*/ 47625 w 619125"/>
                <a:gd name="connsiteY2" fmla="*/ 247650 h 400050"/>
                <a:gd name="connsiteX3" fmla="*/ 0 w 619125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125" h="400050">
                  <a:moveTo>
                    <a:pt x="619125" y="400050"/>
                  </a:moveTo>
                  <a:cubicBezTo>
                    <a:pt x="485775" y="393700"/>
                    <a:pt x="352425" y="387350"/>
                    <a:pt x="257175" y="361950"/>
                  </a:cubicBezTo>
                  <a:cubicBezTo>
                    <a:pt x="161925" y="336550"/>
                    <a:pt x="90487" y="307975"/>
                    <a:pt x="47625" y="247650"/>
                  </a:cubicBezTo>
                  <a:cubicBezTo>
                    <a:pt x="4763" y="187325"/>
                    <a:pt x="2381" y="93662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4DB24D75-0DDE-CF3C-12D1-C6A8DABA72D3}"/>
                </a:ext>
              </a:extLst>
            </p:cNvPr>
            <p:cNvSpPr txBox="1"/>
            <p:nvPr/>
          </p:nvSpPr>
          <p:spPr>
            <a:xfrm>
              <a:off x="6781800" y="4379893"/>
              <a:ext cx="21336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radley Hand ITC" pitchFamily="66" charset="0"/>
                  <a:ea typeface="+mn-ea"/>
                  <a:cs typeface="+mn-cs"/>
                </a:rPr>
                <a:t>Alternatively, you may want to enter the course number directly without searching for it.</a:t>
              </a:r>
            </a:p>
          </p:txBody>
        </p:sp>
        <p:sp>
          <p:nvSpPr>
            <p:cNvPr id="397" name="Freeform 36">
              <a:extLst>
                <a:ext uri="{FF2B5EF4-FFF2-40B4-BE49-F238E27FC236}">
                  <a16:creationId xmlns:a16="http://schemas.microsoft.com/office/drawing/2014/main" id="{522AA374-77D7-8C25-1DAF-1C40ED810F15}"/>
                </a:ext>
              </a:extLst>
            </p:cNvPr>
            <p:cNvSpPr/>
            <p:nvPr/>
          </p:nvSpPr>
          <p:spPr>
            <a:xfrm rot="14532592">
              <a:off x="8326371" y="4043768"/>
              <a:ext cx="333376" cy="247650"/>
            </a:xfrm>
            <a:custGeom>
              <a:avLst/>
              <a:gdLst>
                <a:gd name="connsiteX0" fmla="*/ 619125 w 619125"/>
                <a:gd name="connsiteY0" fmla="*/ 400050 h 400050"/>
                <a:gd name="connsiteX1" fmla="*/ 257175 w 619125"/>
                <a:gd name="connsiteY1" fmla="*/ 361950 h 400050"/>
                <a:gd name="connsiteX2" fmla="*/ 47625 w 619125"/>
                <a:gd name="connsiteY2" fmla="*/ 247650 h 400050"/>
                <a:gd name="connsiteX3" fmla="*/ 0 w 619125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125" h="400050">
                  <a:moveTo>
                    <a:pt x="619125" y="400050"/>
                  </a:moveTo>
                  <a:cubicBezTo>
                    <a:pt x="485775" y="393700"/>
                    <a:pt x="352425" y="387350"/>
                    <a:pt x="257175" y="361950"/>
                  </a:cubicBezTo>
                  <a:cubicBezTo>
                    <a:pt x="161925" y="336550"/>
                    <a:pt x="90487" y="307975"/>
                    <a:pt x="47625" y="247650"/>
                  </a:cubicBezTo>
                  <a:cubicBezTo>
                    <a:pt x="4763" y="187325"/>
                    <a:pt x="2381" y="93662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8" name="Freeform 37">
              <a:extLst>
                <a:ext uri="{FF2B5EF4-FFF2-40B4-BE49-F238E27FC236}">
                  <a16:creationId xmlns:a16="http://schemas.microsoft.com/office/drawing/2014/main" id="{DEAD4A92-26DA-0676-74B5-67AF2B442EC5}"/>
                </a:ext>
              </a:extLst>
            </p:cNvPr>
            <p:cNvSpPr/>
            <p:nvPr/>
          </p:nvSpPr>
          <p:spPr>
            <a:xfrm rot="11353511">
              <a:off x="1998404" y="2408050"/>
              <a:ext cx="593165" cy="262483"/>
            </a:xfrm>
            <a:custGeom>
              <a:avLst/>
              <a:gdLst>
                <a:gd name="connsiteX0" fmla="*/ 485775 w 485775"/>
                <a:gd name="connsiteY0" fmla="*/ 314325 h 314325"/>
                <a:gd name="connsiteX1" fmla="*/ 438150 w 485775"/>
                <a:gd name="connsiteY1" fmla="*/ 114300 h 314325"/>
                <a:gd name="connsiteX2" fmla="*/ 333375 w 485775"/>
                <a:gd name="connsiteY2" fmla="*/ 19050 h 314325"/>
                <a:gd name="connsiteX3" fmla="*/ 0 w 485775"/>
                <a:gd name="connsiteY3" fmla="*/ 0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775" h="314325">
                  <a:moveTo>
                    <a:pt x="485775" y="314325"/>
                  </a:moveTo>
                  <a:cubicBezTo>
                    <a:pt x="474662" y="238918"/>
                    <a:pt x="463550" y="163512"/>
                    <a:pt x="438150" y="114300"/>
                  </a:cubicBezTo>
                  <a:cubicBezTo>
                    <a:pt x="412750" y="65088"/>
                    <a:pt x="406400" y="38100"/>
                    <a:pt x="333375" y="19050"/>
                  </a:cubicBezTo>
                  <a:cubicBezTo>
                    <a:pt x="260350" y="0"/>
                    <a:pt x="130175" y="0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6715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8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09696" y="551150"/>
            <a:ext cx="7675351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BEHAVIORAL MODEL (SEQUENCE DIAGRAM)</a:t>
            </a:r>
            <a:endParaRPr sz="2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CBEB51-106B-A4CE-74AC-B43FF9861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7863" y="1233181"/>
            <a:ext cx="7516274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8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9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946136" y="441958"/>
            <a:ext cx="3154679" cy="1246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BEHAVIORAL MODEL (SEQUENCE DIAGRAM)</a:t>
            </a:r>
            <a:endParaRPr sz="25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07E588F-6E9F-8003-1F96-899AF5090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59" y="138618"/>
            <a:ext cx="7494758" cy="658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3081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10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09696" y="551150"/>
            <a:ext cx="7675351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BEHAVIORAL MODEL (ACTIVITY vs STATE)</a:t>
            </a:r>
            <a:endParaRPr sz="25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5C0B772-43C5-3901-501E-8E1C6F79D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15" y="1525554"/>
            <a:ext cx="4171950" cy="441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D799EBB1-4A77-D094-A5CC-4780DFCC482C}"/>
              </a:ext>
            </a:extLst>
          </p:cNvPr>
          <p:cNvGrpSpPr/>
          <p:nvPr/>
        </p:nvGrpSpPr>
        <p:grpSpPr>
          <a:xfrm>
            <a:off x="5049721" y="1695286"/>
            <a:ext cx="2894889" cy="4070611"/>
            <a:chOff x="5217361" y="1702580"/>
            <a:chExt cx="2894889" cy="407061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C91BDAC-18A1-9B3C-F9AA-E7ABD4253FEA}"/>
                </a:ext>
              </a:extLst>
            </p:cNvPr>
            <p:cNvSpPr/>
            <p:nvPr/>
          </p:nvSpPr>
          <p:spPr>
            <a:xfrm>
              <a:off x="6213348" y="1702580"/>
              <a:ext cx="219456" cy="210312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AF7F5A6-0226-83B1-0B05-E02FE91D64EE}"/>
                </a:ext>
              </a:extLst>
            </p:cNvPr>
            <p:cNvSpPr/>
            <p:nvPr/>
          </p:nvSpPr>
          <p:spPr>
            <a:xfrm>
              <a:off x="6021324" y="2400074"/>
              <a:ext cx="1472184" cy="47701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VERIFYING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44354AC-3EAC-14CD-8961-6D8ECD29A659}"/>
                </a:ext>
              </a:extLst>
            </p:cNvPr>
            <p:cNvCxnSpPr>
              <a:cxnSpLocks/>
              <a:stCxn id="3" idx="4"/>
            </p:cNvCxnSpPr>
            <p:nvPr/>
          </p:nvCxnSpPr>
          <p:spPr>
            <a:xfrm>
              <a:off x="6323076" y="1912892"/>
              <a:ext cx="0" cy="4973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58C3009-E74D-768F-BFC2-D04B76393320}"/>
                </a:ext>
              </a:extLst>
            </p:cNvPr>
            <p:cNvSpPr/>
            <p:nvPr/>
          </p:nvSpPr>
          <p:spPr>
            <a:xfrm>
              <a:off x="6021324" y="3190493"/>
              <a:ext cx="1472184" cy="47701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CHECKING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2B441BA-D60C-490D-7430-B28A71364DE0}"/>
                </a:ext>
              </a:extLst>
            </p:cNvPr>
            <p:cNvSpPr/>
            <p:nvPr/>
          </p:nvSpPr>
          <p:spPr>
            <a:xfrm>
              <a:off x="7008876" y="1702580"/>
              <a:ext cx="219456" cy="21031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869E730-C8FF-A55B-B6DC-ED6A3998926F}"/>
                </a:ext>
              </a:extLst>
            </p:cNvPr>
            <p:cNvCxnSpPr>
              <a:cxnSpLocks/>
              <a:endCxn id="12" idx="4"/>
            </p:cNvCxnSpPr>
            <p:nvPr/>
          </p:nvCxnSpPr>
          <p:spPr>
            <a:xfrm flipV="1">
              <a:off x="7118604" y="1912892"/>
              <a:ext cx="0" cy="4871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91E58C7-E3D6-DCCB-E92B-0ED8C18A618F}"/>
                </a:ext>
              </a:extLst>
            </p:cNvPr>
            <p:cNvSpPr/>
            <p:nvPr/>
          </p:nvSpPr>
          <p:spPr>
            <a:xfrm>
              <a:off x="7051548" y="1732230"/>
              <a:ext cx="147828" cy="151012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7605AA5-AA4A-6951-63D5-F054AA16D5C4}"/>
                </a:ext>
              </a:extLst>
            </p:cNvPr>
            <p:cNvCxnSpPr>
              <a:cxnSpLocks/>
              <a:stCxn id="6" idx="2"/>
              <a:endCxn id="10" idx="0"/>
            </p:cNvCxnSpPr>
            <p:nvPr/>
          </p:nvCxnSpPr>
          <p:spPr>
            <a:xfrm>
              <a:off x="6757416" y="2877087"/>
              <a:ext cx="0" cy="3134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DBBA66F-F307-CBF3-1966-DDF133BB5499}"/>
                </a:ext>
              </a:extLst>
            </p:cNvPr>
            <p:cNvSpPr/>
            <p:nvPr/>
          </p:nvSpPr>
          <p:spPr>
            <a:xfrm>
              <a:off x="6026408" y="3979731"/>
              <a:ext cx="1472184" cy="47701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PAYING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DD0845D-F1F8-A145-4037-3F87FC1607E3}"/>
                </a:ext>
              </a:extLst>
            </p:cNvPr>
            <p:cNvCxnSpPr>
              <a:cxnSpLocks/>
            </p:cNvCxnSpPr>
            <p:nvPr/>
          </p:nvCxnSpPr>
          <p:spPr>
            <a:xfrm>
              <a:off x="6763512" y="3666325"/>
              <a:ext cx="0" cy="3134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5DAE67-B946-0B1E-72C0-E0757F1120F1}"/>
                </a:ext>
              </a:extLst>
            </p:cNvPr>
            <p:cNvSpPr txBox="1"/>
            <p:nvPr/>
          </p:nvSpPr>
          <p:spPr>
            <a:xfrm>
              <a:off x="5312039" y="2001606"/>
              <a:ext cx="10607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800" dirty="0"/>
                <a:t>Showing ticket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1A9033E-A680-B6DE-CADC-B59E0B1A11DF}"/>
                </a:ext>
              </a:extLst>
            </p:cNvPr>
            <p:cNvSpPr txBox="1"/>
            <p:nvPr/>
          </p:nvSpPr>
          <p:spPr>
            <a:xfrm>
              <a:off x="7051548" y="2023085"/>
              <a:ext cx="10607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800" dirty="0"/>
                <a:t>Unverified, refer to CS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170723E-78A2-BA2B-FC7C-E24C11874D36}"/>
                </a:ext>
              </a:extLst>
            </p:cNvPr>
            <p:cNvSpPr txBox="1"/>
            <p:nvPr/>
          </p:nvSpPr>
          <p:spPr>
            <a:xfrm>
              <a:off x="6816092" y="2926507"/>
              <a:ext cx="10607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800" dirty="0"/>
                <a:t>Check in luggage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8B2409EF-8CA5-C191-E4CB-76D6455EB393}"/>
                </a:ext>
              </a:extLst>
            </p:cNvPr>
            <p:cNvSpPr/>
            <p:nvPr/>
          </p:nvSpPr>
          <p:spPr>
            <a:xfrm>
              <a:off x="6021324" y="4768969"/>
              <a:ext cx="1472184" cy="47701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ISSUING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5846D6DD-1543-5AFB-FF90-20FAFB18EAA4}"/>
                </a:ext>
              </a:extLst>
            </p:cNvPr>
            <p:cNvCxnSpPr>
              <a:cxnSpLocks/>
            </p:cNvCxnSpPr>
            <p:nvPr/>
          </p:nvCxnSpPr>
          <p:spPr>
            <a:xfrm>
              <a:off x="6757416" y="4456744"/>
              <a:ext cx="0" cy="3134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DED6E7B-A522-7C3D-762C-03F554598B46}"/>
                </a:ext>
              </a:extLst>
            </p:cNvPr>
            <p:cNvSpPr txBox="1"/>
            <p:nvPr/>
          </p:nvSpPr>
          <p:spPr>
            <a:xfrm>
              <a:off x="6821426" y="3719053"/>
              <a:ext cx="10607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800" dirty="0"/>
                <a:t>Luggage Fee</a:t>
              </a:r>
            </a:p>
          </p:txBody>
        </p: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DB0E9024-9A6C-AC10-6F6F-5E24348979D2}"/>
                </a:ext>
              </a:extLst>
            </p:cNvPr>
            <p:cNvCxnSpPr>
              <a:stCxn id="10" idx="1"/>
              <a:endCxn id="27" idx="1"/>
            </p:cNvCxnSpPr>
            <p:nvPr/>
          </p:nvCxnSpPr>
          <p:spPr>
            <a:xfrm rot="10800000" flipV="1">
              <a:off x="6021324" y="3429000"/>
              <a:ext cx="12700" cy="1578476"/>
            </a:xfrm>
            <a:prstGeom prst="bent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058867B-45BD-AB15-8C7E-BC86EEFDE3E8}"/>
                </a:ext>
              </a:extLst>
            </p:cNvPr>
            <p:cNvSpPr txBox="1"/>
            <p:nvPr/>
          </p:nvSpPr>
          <p:spPr>
            <a:xfrm>
              <a:off x="6846573" y="4496362"/>
              <a:ext cx="10607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800" dirty="0"/>
                <a:t>Paid, get pass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B839F88-DC01-E7F0-4298-F851D16D48A4}"/>
                </a:ext>
              </a:extLst>
            </p:cNvPr>
            <p:cNvSpPr txBox="1"/>
            <p:nvPr/>
          </p:nvSpPr>
          <p:spPr>
            <a:xfrm>
              <a:off x="5217361" y="4048960"/>
              <a:ext cx="6582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800" dirty="0"/>
                <a:t>Free, get pass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025978A-566B-E2BB-7C13-7934D5A3461D}"/>
                </a:ext>
              </a:extLst>
            </p:cNvPr>
            <p:cNvGrpSpPr/>
            <p:nvPr/>
          </p:nvGrpSpPr>
          <p:grpSpPr>
            <a:xfrm>
              <a:off x="6649212" y="5558207"/>
              <a:ext cx="216407" cy="214984"/>
              <a:chOff x="6630165" y="5409947"/>
              <a:chExt cx="219456" cy="210312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425A6462-FF2B-C13F-7630-7E7888F4152A}"/>
                  </a:ext>
                </a:extLst>
              </p:cNvPr>
              <p:cNvSpPr/>
              <p:nvPr/>
            </p:nvSpPr>
            <p:spPr>
              <a:xfrm>
                <a:off x="6630165" y="5409947"/>
                <a:ext cx="219456" cy="21031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B008BA5B-9408-B01E-16CD-5912FBD8FA38}"/>
                  </a:ext>
                </a:extLst>
              </p:cNvPr>
              <p:cNvSpPr/>
              <p:nvPr/>
            </p:nvSpPr>
            <p:spPr>
              <a:xfrm>
                <a:off x="6672837" y="5439597"/>
                <a:ext cx="147828" cy="151012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D50F520-FA17-D991-493B-02F1663B9ED6}"/>
                </a:ext>
              </a:extLst>
            </p:cNvPr>
            <p:cNvCxnSpPr>
              <a:cxnSpLocks/>
            </p:cNvCxnSpPr>
            <p:nvPr/>
          </p:nvCxnSpPr>
          <p:spPr>
            <a:xfrm>
              <a:off x="6757415" y="5244801"/>
              <a:ext cx="0" cy="3134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5B32A2D7-E9D2-1E74-DF57-500E8C098BB7}"/>
              </a:ext>
            </a:extLst>
          </p:cNvPr>
          <p:cNvGrpSpPr/>
          <p:nvPr/>
        </p:nvGrpSpPr>
        <p:grpSpPr>
          <a:xfrm>
            <a:off x="8681320" y="1653266"/>
            <a:ext cx="2541524" cy="4079170"/>
            <a:chOff x="8681320" y="1615166"/>
            <a:chExt cx="2541524" cy="407917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23F6C0F-8B90-7992-D3D2-0C224752BFFB}"/>
                </a:ext>
              </a:extLst>
            </p:cNvPr>
            <p:cNvSpPr/>
            <p:nvPr/>
          </p:nvSpPr>
          <p:spPr>
            <a:xfrm>
              <a:off x="9857286" y="1615166"/>
              <a:ext cx="219456" cy="210312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B354ADBE-8C31-3CAA-F08E-774354C05DA2}"/>
                </a:ext>
              </a:extLst>
            </p:cNvPr>
            <p:cNvSpPr/>
            <p:nvPr/>
          </p:nvSpPr>
          <p:spPr>
            <a:xfrm>
              <a:off x="9229398" y="2321219"/>
              <a:ext cx="1472184" cy="47701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Ticket Counter / Page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9867C02-A157-4833-D024-F048706AECB6}"/>
                </a:ext>
              </a:extLst>
            </p:cNvPr>
            <p:cNvCxnSpPr>
              <a:cxnSpLocks/>
              <a:stCxn id="40" idx="4"/>
            </p:cNvCxnSpPr>
            <p:nvPr/>
          </p:nvCxnSpPr>
          <p:spPr>
            <a:xfrm>
              <a:off x="9967014" y="1825478"/>
              <a:ext cx="0" cy="4973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1B131670-EF67-DE35-EEA1-690CE588030B}"/>
                </a:ext>
              </a:extLst>
            </p:cNvPr>
            <p:cNvSpPr/>
            <p:nvPr/>
          </p:nvSpPr>
          <p:spPr>
            <a:xfrm>
              <a:off x="9229398" y="3111638"/>
              <a:ext cx="1472184" cy="47701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Luggage Counter / Page</a:t>
              </a: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0346BB7D-0448-4692-0259-AC200843C631}"/>
                </a:ext>
              </a:extLst>
            </p:cNvPr>
            <p:cNvSpPr/>
            <p:nvPr/>
          </p:nvSpPr>
          <p:spPr>
            <a:xfrm>
              <a:off x="9234482" y="3900876"/>
              <a:ext cx="1472184" cy="47701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Fee Counter / Page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B271566-D4E8-04DA-AB55-D42592E6A624}"/>
                </a:ext>
              </a:extLst>
            </p:cNvPr>
            <p:cNvCxnSpPr>
              <a:cxnSpLocks/>
            </p:cNvCxnSpPr>
            <p:nvPr/>
          </p:nvCxnSpPr>
          <p:spPr>
            <a:xfrm>
              <a:off x="9971586" y="3587470"/>
              <a:ext cx="0" cy="3134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1EC3C3FF-0C16-B858-3540-2306334005F4}"/>
                </a:ext>
              </a:extLst>
            </p:cNvPr>
            <p:cNvSpPr/>
            <p:nvPr/>
          </p:nvSpPr>
          <p:spPr>
            <a:xfrm>
              <a:off x="9229398" y="4690114"/>
              <a:ext cx="1472184" cy="47701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Boarding Counter / Page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2EDF8B5C-8C43-A120-7867-C85D46EFAABE}"/>
                </a:ext>
              </a:extLst>
            </p:cNvPr>
            <p:cNvCxnSpPr>
              <a:cxnSpLocks/>
            </p:cNvCxnSpPr>
            <p:nvPr/>
          </p:nvCxnSpPr>
          <p:spPr>
            <a:xfrm>
              <a:off x="9965490" y="4377889"/>
              <a:ext cx="0" cy="3134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id="{D6DAB031-691E-176A-C721-E2E4D7388405}"/>
                </a:ext>
              </a:extLst>
            </p:cNvPr>
            <p:cNvCxnSpPr>
              <a:cxnSpLocks/>
              <a:endCxn id="53" idx="1"/>
            </p:cNvCxnSpPr>
            <p:nvPr/>
          </p:nvCxnSpPr>
          <p:spPr>
            <a:xfrm rot="16200000" flipH="1">
              <a:off x="8468185" y="4167408"/>
              <a:ext cx="1216862" cy="30556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58C334C-18DB-31C6-3E22-70E136AB0AC3}"/>
                </a:ext>
              </a:extLst>
            </p:cNvPr>
            <p:cNvGrpSpPr/>
            <p:nvPr/>
          </p:nvGrpSpPr>
          <p:grpSpPr>
            <a:xfrm>
              <a:off x="9857286" y="5479352"/>
              <a:ext cx="216407" cy="214984"/>
              <a:chOff x="6630165" y="5409947"/>
              <a:chExt cx="219456" cy="210312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5010746E-9A9B-08AE-58A7-8DE2A1FA32AF}"/>
                  </a:ext>
                </a:extLst>
              </p:cNvPr>
              <p:cNvSpPr/>
              <p:nvPr/>
            </p:nvSpPr>
            <p:spPr>
              <a:xfrm>
                <a:off x="6630165" y="5409947"/>
                <a:ext cx="219456" cy="21031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3D82289D-48B8-7E89-E369-86676A154F79}"/>
                  </a:ext>
                </a:extLst>
              </p:cNvPr>
              <p:cNvSpPr/>
              <p:nvPr/>
            </p:nvSpPr>
            <p:spPr>
              <a:xfrm>
                <a:off x="6672837" y="5439597"/>
                <a:ext cx="147828" cy="151012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13621D4-FB63-EC44-FB33-6172670317F3}"/>
                </a:ext>
              </a:extLst>
            </p:cNvPr>
            <p:cNvCxnSpPr>
              <a:cxnSpLocks/>
            </p:cNvCxnSpPr>
            <p:nvPr/>
          </p:nvCxnSpPr>
          <p:spPr>
            <a:xfrm>
              <a:off x="9965489" y="5165946"/>
              <a:ext cx="0" cy="3134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38B54B66-DAEA-9674-4EAF-728C8C47E255}"/>
                </a:ext>
              </a:extLst>
            </p:cNvPr>
            <p:cNvCxnSpPr>
              <a:cxnSpLocks/>
            </p:cNvCxnSpPr>
            <p:nvPr/>
          </p:nvCxnSpPr>
          <p:spPr>
            <a:xfrm>
              <a:off x="9763360" y="2927986"/>
              <a:ext cx="145948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7" name="Straight Arrow Connector 386">
              <a:extLst>
                <a:ext uri="{FF2B5EF4-FFF2-40B4-BE49-F238E27FC236}">
                  <a16:creationId xmlns:a16="http://schemas.microsoft.com/office/drawing/2014/main" id="{AC3C1D39-4B9C-8EBE-15F3-3CBBA08F51A0}"/>
                </a:ext>
              </a:extLst>
            </p:cNvPr>
            <p:cNvCxnSpPr>
              <a:cxnSpLocks/>
              <a:stCxn id="41" idx="2"/>
            </p:cNvCxnSpPr>
            <p:nvPr/>
          </p:nvCxnSpPr>
          <p:spPr>
            <a:xfrm>
              <a:off x="9965490" y="2798232"/>
              <a:ext cx="0" cy="1297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Arrow Connector 389">
              <a:extLst>
                <a:ext uri="{FF2B5EF4-FFF2-40B4-BE49-F238E27FC236}">
                  <a16:creationId xmlns:a16="http://schemas.microsoft.com/office/drawing/2014/main" id="{7180C1A2-F83B-DEF6-A480-1007295FEBEF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9965490" y="2950632"/>
              <a:ext cx="0" cy="1610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Connector: Elbow 394">
              <a:extLst>
                <a:ext uri="{FF2B5EF4-FFF2-40B4-BE49-F238E27FC236}">
                  <a16:creationId xmlns:a16="http://schemas.microsoft.com/office/drawing/2014/main" id="{5FCE9308-32F6-0BB3-7DB6-C868F4814C18}"/>
                </a:ext>
              </a:extLst>
            </p:cNvPr>
            <p:cNvCxnSpPr>
              <a:cxnSpLocks/>
              <a:endCxn id="61" idx="6"/>
            </p:cNvCxnSpPr>
            <p:nvPr/>
          </p:nvCxnSpPr>
          <p:spPr>
            <a:xfrm rot="5400000">
              <a:off x="9222314" y="3802013"/>
              <a:ext cx="2636210" cy="93345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F7533E2E-8E07-F49C-8219-2E4CC2876723}"/>
                </a:ext>
              </a:extLst>
            </p:cNvPr>
            <p:cNvCxnSpPr>
              <a:cxnSpLocks/>
            </p:cNvCxnSpPr>
            <p:nvPr/>
          </p:nvCxnSpPr>
          <p:spPr>
            <a:xfrm>
              <a:off x="8681320" y="3713665"/>
              <a:ext cx="145948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0" name="Straight Arrow Connector 399">
              <a:extLst>
                <a:ext uri="{FF2B5EF4-FFF2-40B4-BE49-F238E27FC236}">
                  <a16:creationId xmlns:a16="http://schemas.microsoft.com/office/drawing/2014/main" id="{55F2C55A-8646-001C-D576-C4CC07CE2137}"/>
                </a:ext>
              </a:extLst>
            </p:cNvPr>
            <p:cNvCxnSpPr>
              <a:cxnSpLocks/>
            </p:cNvCxnSpPr>
            <p:nvPr/>
          </p:nvCxnSpPr>
          <p:spPr>
            <a:xfrm>
              <a:off x="9965489" y="3599763"/>
              <a:ext cx="0" cy="1297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7773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11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09696" y="551150"/>
            <a:ext cx="7675351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STRUCTURE MODEL (COMPONENT DIAGRAM)</a:t>
            </a:r>
            <a:endParaRPr sz="25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E6104C2-9BC6-FAAD-C468-3B7DAE7F44AF}"/>
              </a:ext>
            </a:extLst>
          </p:cNvPr>
          <p:cNvGrpSpPr/>
          <p:nvPr/>
        </p:nvGrpSpPr>
        <p:grpSpPr>
          <a:xfrm>
            <a:off x="1981200" y="1371601"/>
            <a:ext cx="8229600" cy="5181599"/>
            <a:chOff x="457200" y="1371601"/>
            <a:chExt cx="8229600" cy="5181599"/>
          </a:xfrm>
        </p:grpSpPr>
        <p:sp>
          <p:nvSpPr>
            <p:cNvPr id="34" name="Content Placeholder 2">
              <a:extLst>
                <a:ext uri="{FF2B5EF4-FFF2-40B4-BE49-F238E27FC236}">
                  <a16:creationId xmlns:a16="http://schemas.microsoft.com/office/drawing/2014/main" id="{65AFE6F2-D410-EAF5-3AF8-469F4AC7FBC4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1371601"/>
              <a:ext cx="8229600" cy="518159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775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Wingdings" pitchFamily="2" charset="2"/>
                <a:buChar char="Ø"/>
                <a:defRPr sz="20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Wingdings" pitchFamily="2" charset="2"/>
                <a:buChar char="ü"/>
                <a:defRPr sz="18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2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Ø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A component represents a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modular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part of a system that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encapsulates its contents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and whose manifestation is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replaceable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within its environment.  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Ø"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Ø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Component diagrams are used to model software as group of components connected to each other through well-defined interfaces. They help decompose systems and represent their structural architecture from a logical perspective.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Ø"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Ø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Components can be modeled using an external black-box or internal white-box approach.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ü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Black-box approach hides the component’s internal structure.</a:t>
              </a:r>
            </a:p>
            <a:p>
              <a:pPr marL="1143000" marR="0" lvl="2" indent="-2286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Components interact with each other only through identified interfaces.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ü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White-box approach shows the component’s internal structure (e.g., realizing classifiers).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ü"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Ø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Component interfaces are classified as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provided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or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required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 interfaces.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ü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Required interfaces are those the components need to carry out their functions.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ü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Provided interfaces are used by other external components to interact with the component providing the services.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Ø"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Ø"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Ø"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Ø"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Ø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Let’s formally see how the UML relationships defined in previous sessions apply to the component classifier…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91EEF0E-1CD3-82D3-125C-5BE88DB89968}"/>
                </a:ext>
              </a:extLst>
            </p:cNvPr>
            <p:cNvGrpSpPr/>
            <p:nvPr/>
          </p:nvGrpSpPr>
          <p:grpSpPr>
            <a:xfrm>
              <a:off x="2114550" y="4677430"/>
              <a:ext cx="5353050" cy="1132820"/>
              <a:chOff x="1476375" y="4495800"/>
              <a:chExt cx="5353050" cy="113282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42C65C9-FEFD-C686-67F5-E1E6757D0F34}"/>
                  </a:ext>
                </a:extLst>
              </p:cNvPr>
              <p:cNvGrpSpPr/>
              <p:nvPr/>
            </p:nvGrpSpPr>
            <p:grpSpPr>
              <a:xfrm>
                <a:off x="1476375" y="4572000"/>
                <a:ext cx="2819400" cy="1056620"/>
                <a:chOff x="609600" y="4343400"/>
                <a:chExt cx="2819400" cy="1056620"/>
              </a:xfrm>
            </p:grpSpPr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C7BF19BC-975C-0BC2-0DDF-BBCC97E1A6FF}"/>
                    </a:ext>
                  </a:extLst>
                </p:cNvPr>
                <p:cNvSpPr txBox="1"/>
                <p:nvPr/>
              </p:nvSpPr>
              <p:spPr>
                <a:xfrm>
                  <a:off x="1981200" y="4876800"/>
                  <a:ext cx="14478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rgbClr val="C00000"/>
                      </a:solidFill>
                      <a:latin typeface="Bradley Hand ITC" pitchFamily="66" charset="0"/>
                    </a:rPr>
                    <a:t>I need a schedule to operate!</a:t>
                  </a:r>
                </a:p>
              </p:txBody>
            </p:sp>
            <p:pic>
              <p:nvPicPr>
                <p:cNvPr id="43" name="Picture 5">
                  <a:extLst>
                    <a:ext uri="{FF2B5EF4-FFF2-40B4-BE49-F238E27FC236}">
                      <a16:creationId xmlns:a16="http://schemas.microsoft.com/office/drawing/2014/main" id="{82390236-E8CC-71A4-E7C1-DE4A7378894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609600" y="4343400"/>
                  <a:ext cx="2286000" cy="9715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pic>
              <p:nvPicPr>
                <p:cNvPr id="44" name="Picture 10">
                  <a:extLst>
                    <a:ext uri="{FF2B5EF4-FFF2-40B4-BE49-F238E27FC236}">
                      <a16:creationId xmlns:a16="http://schemas.microsoft.com/office/drawing/2014/main" id="{B49171A5-9F7B-72F3-4EAC-34C26AE330E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838200" y="4810125"/>
                  <a:ext cx="876300" cy="1619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3FBBE995-F4BA-3CDD-468A-6AFEB71350E3}"/>
                  </a:ext>
                </a:extLst>
              </p:cNvPr>
              <p:cNvGrpSpPr/>
              <p:nvPr/>
            </p:nvGrpSpPr>
            <p:grpSpPr>
              <a:xfrm>
                <a:off x="4572000" y="4495800"/>
                <a:ext cx="2257425" cy="1132820"/>
                <a:chOff x="5867400" y="4267200"/>
                <a:chExt cx="2257425" cy="1132820"/>
              </a:xfrm>
            </p:grpSpPr>
            <p:pic>
              <p:nvPicPr>
                <p:cNvPr id="38" name="Picture 6">
                  <a:extLst>
                    <a:ext uri="{FF2B5EF4-FFF2-40B4-BE49-F238E27FC236}">
                      <a16:creationId xmlns:a16="http://schemas.microsoft.com/office/drawing/2014/main" id="{60D57AEC-8D16-A642-4241-C758860F3FB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5943600" y="4267200"/>
                  <a:ext cx="2181225" cy="10096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65E81FE-21D7-0CAE-A4A2-29386248862E}"/>
                    </a:ext>
                  </a:extLst>
                </p:cNvPr>
                <p:cNvSpPr txBox="1"/>
                <p:nvPr/>
              </p:nvSpPr>
              <p:spPr>
                <a:xfrm>
                  <a:off x="5867400" y="4876800"/>
                  <a:ext cx="9906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rgbClr val="C00000"/>
                      </a:solidFill>
                      <a:latin typeface="Bradley Hand ITC" pitchFamily="66" charset="0"/>
                    </a:rPr>
                    <a:t>I provide a schedule </a:t>
                  </a: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71DB8237-C4B6-457C-AE63-8E8B6376C038}"/>
                    </a:ext>
                  </a:extLst>
                </p:cNvPr>
                <p:cNvSpPr/>
                <p:nvPr/>
              </p:nvSpPr>
              <p:spPr>
                <a:xfrm>
                  <a:off x="7686675" y="4867275"/>
                  <a:ext cx="152400" cy="7620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1" name="Picture 12">
                  <a:extLst>
                    <a:ext uri="{FF2B5EF4-FFF2-40B4-BE49-F238E27FC236}">
                      <a16:creationId xmlns:a16="http://schemas.microsoft.com/office/drawing/2014/main" id="{7913BD9E-9A36-7E20-CEAE-70CA3F1045B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6819900" y="4772025"/>
                  <a:ext cx="838200" cy="1428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20D4228-61F1-99F8-9C9E-4F37C9893B07}"/>
                </a:ext>
              </a:extLst>
            </p:cNvPr>
            <p:cNvSpPr txBox="1"/>
            <p:nvPr/>
          </p:nvSpPr>
          <p:spPr>
            <a:xfrm rot="21323516">
              <a:off x="801423" y="5021850"/>
              <a:ext cx="931665" cy="52322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  <a:latin typeface="Bradley Hand ITC" pitchFamily="66" charset="0"/>
                </a:rPr>
                <a:t>Black-box</a:t>
              </a:r>
            </a:p>
            <a:p>
              <a:r>
                <a:rPr lang="en-US" sz="1400" b="1" dirty="0">
                  <a:solidFill>
                    <a:srgbClr val="C00000"/>
                  </a:solidFill>
                  <a:latin typeface="Bradley Hand ITC" pitchFamily="66" charset="0"/>
                </a:rPr>
                <a:t>Approach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8942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12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09696" y="551150"/>
            <a:ext cx="7675351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STRUCTURE MODEL (COMPONENT DIAGRAM)</a:t>
            </a:r>
            <a:endParaRPr sz="2500" dirty="0"/>
          </a:p>
        </p:txBody>
      </p: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5A55C729-28F3-DE90-59C0-E51C650C278D}"/>
              </a:ext>
            </a:extLst>
          </p:cNvPr>
          <p:cNvGrpSpPr/>
          <p:nvPr/>
        </p:nvGrpSpPr>
        <p:grpSpPr>
          <a:xfrm>
            <a:off x="1905000" y="1371601"/>
            <a:ext cx="8382000" cy="4876799"/>
            <a:chOff x="868680" y="1371601"/>
            <a:chExt cx="8382000" cy="4876799"/>
          </a:xfrm>
        </p:grpSpPr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A7962D12-FBDA-422C-145B-61586D308A06}"/>
                </a:ext>
              </a:extLst>
            </p:cNvPr>
            <p:cNvSpPr txBox="1">
              <a:spLocks/>
            </p:cNvSpPr>
            <p:nvPr/>
          </p:nvSpPr>
          <p:spPr>
            <a:xfrm>
              <a:off x="868680" y="1371601"/>
              <a:ext cx="8229600" cy="4800599"/>
            </a:xfrm>
            <a:prstGeom prst="rect">
              <a:avLst/>
            </a:prstGeom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/>
                <a:t>UML relationships applied to the component classifier.</a:t>
              </a:r>
              <a:endParaRPr lang="en-US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82AAA74-BB48-13CA-8EB9-878A042372B1}"/>
                </a:ext>
              </a:extLst>
            </p:cNvPr>
            <p:cNvGrpSpPr/>
            <p:nvPr/>
          </p:nvGrpSpPr>
          <p:grpSpPr>
            <a:xfrm>
              <a:off x="887730" y="1868984"/>
              <a:ext cx="8362950" cy="4379416"/>
              <a:chOff x="476250" y="1868984"/>
              <a:chExt cx="8362950" cy="437941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7D190B5C-3E3B-54E8-309C-EFA8591692F4}"/>
                  </a:ext>
                </a:extLst>
              </p:cNvPr>
              <p:cNvGrpSpPr/>
              <p:nvPr/>
            </p:nvGrpSpPr>
            <p:grpSpPr>
              <a:xfrm>
                <a:off x="7439025" y="2754809"/>
                <a:ext cx="542925" cy="228600"/>
                <a:chOff x="6924675" y="2105025"/>
                <a:chExt cx="542925" cy="228600"/>
              </a:xfrm>
            </p:grpSpPr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6E3B3571-5BC8-7D04-916C-BC0A76C2DEE4}"/>
                    </a:ext>
                  </a:extLst>
                </p:cNvPr>
                <p:cNvSpPr/>
                <p:nvPr/>
              </p:nvSpPr>
              <p:spPr>
                <a:xfrm>
                  <a:off x="7086600" y="2133600"/>
                  <a:ext cx="152400" cy="15240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2" name="Rectangle 391">
                  <a:extLst>
                    <a:ext uri="{FF2B5EF4-FFF2-40B4-BE49-F238E27FC236}">
                      <a16:creationId xmlns:a16="http://schemas.microsoft.com/office/drawing/2014/main" id="{6EB965F7-FA6C-02C9-1CD4-7CDDC4D7FE28}"/>
                    </a:ext>
                  </a:extLst>
                </p:cNvPr>
                <p:cNvSpPr/>
                <p:nvPr/>
              </p:nvSpPr>
              <p:spPr>
                <a:xfrm>
                  <a:off x="6924675" y="2105025"/>
                  <a:ext cx="228600" cy="2286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0482154E-C7FC-8E1A-C897-A5487810BE13}"/>
                    </a:ext>
                  </a:extLst>
                </p:cNvPr>
                <p:cNvCxnSpPr/>
                <p:nvPr/>
              </p:nvCxnSpPr>
              <p:spPr>
                <a:xfrm flipH="1">
                  <a:off x="7239000" y="2209800"/>
                  <a:ext cx="22860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00A1997-0C85-8E5E-F3DA-9DA877A54CDE}"/>
                  </a:ext>
                </a:extLst>
              </p:cNvPr>
              <p:cNvGrpSpPr/>
              <p:nvPr/>
            </p:nvGrpSpPr>
            <p:grpSpPr>
              <a:xfrm>
                <a:off x="6400800" y="2783384"/>
                <a:ext cx="381000" cy="152400"/>
                <a:chOff x="6248400" y="2133600"/>
                <a:chExt cx="381000" cy="152400"/>
              </a:xfrm>
            </p:grpSpPr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C6194AEA-0B0B-1AD1-4DFB-CB4E3E446B51}"/>
                    </a:ext>
                  </a:extLst>
                </p:cNvPr>
                <p:cNvSpPr/>
                <p:nvPr/>
              </p:nvSpPr>
              <p:spPr>
                <a:xfrm>
                  <a:off x="6477000" y="2133600"/>
                  <a:ext cx="152400" cy="15240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90" name="Straight Connector 389">
                  <a:extLst>
                    <a:ext uri="{FF2B5EF4-FFF2-40B4-BE49-F238E27FC236}">
                      <a16:creationId xmlns:a16="http://schemas.microsoft.com/office/drawing/2014/main" id="{FE4F641C-1D87-2B09-DF6B-849E47386434}"/>
                    </a:ext>
                  </a:extLst>
                </p:cNvPr>
                <p:cNvCxnSpPr>
                  <a:stCxn id="389" idx="2"/>
                </p:cNvCxnSpPr>
                <p:nvPr/>
              </p:nvCxnSpPr>
              <p:spPr>
                <a:xfrm flipH="1">
                  <a:off x="6248400" y="2209800"/>
                  <a:ext cx="22860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F6F562F-6F59-9754-8654-9AF8B1F03C95}"/>
                  </a:ext>
                </a:extLst>
              </p:cNvPr>
              <p:cNvCxnSpPr/>
              <p:nvPr/>
            </p:nvCxnSpPr>
            <p:spPr>
              <a:xfrm>
                <a:off x="6838950" y="2859584"/>
                <a:ext cx="8382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FE70DBF-C2AA-3AC0-48BF-1250E9ADCFA1}"/>
                  </a:ext>
                </a:extLst>
              </p:cNvPr>
              <p:cNvGrpSpPr/>
              <p:nvPr/>
            </p:nvGrpSpPr>
            <p:grpSpPr>
              <a:xfrm>
                <a:off x="6934200" y="4002584"/>
                <a:ext cx="657225" cy="304800"/>
                <a:chOff x="7696200" y="2514600"/>
                <a:chExt cx="657225" cy="304800"/>
              </a:xfrm>
            </p:grpSpPr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898DD596-502E-236C-A96B-3C1758CC0166}"/>
                    </a:ext>
                  </a:extLst>
                </p:cNvPr>
                <p:cNvGrpSpPr/>
                <p:nvPr/>
              </p:nvGrpSpPr>
              <p:grpSpPr>
                <a:xfrm>
                  <a:off x="7800975" y="2514600"/>
                  <a:ext cx="552450" cy="304800"/>
                  <a:chOff x="7839075" y="2514600"/>
                  <a:chExt cx="552450" cy="304800"/>
                </a:xfrm>
              </p:grpSpPr>
              <p:sp>
                <p:nvSpPr>
                  <p:cNvPr id="386" name="Oval 385">
                    <a:extLst>
                      <a:ext uri="{FF2B5EF4-FFF2-40B4-BE49-F238E27FC236}">
                        <a16:creationId xmlns:a16="http://schemas.microsoft.com/office/drawing/2014/main" id="{4FC1E276-984D-CB99-DE67-00AB95437FB5}"/>
                      </a:ext>
                    </a:extLst>
                  </p:cNvPr>
                  <p:cNvSpPr/>
                  <p:nvPr/>
                </p:nvSpPr>
                <p:spPr>
                  <a:xfrm>
                    <a:off x="8010525" y="2552700"/>
                    <a:ext cx="152400" cy="2032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7" name="Rectangle 386">
                    <a:extLst>
                      <a:ext uri="{FF2B5EF4-FFF2-40B4-BE49-F238E27FC236}">
                        <a16:creationId xmlns:a16="http://schemas.microsoft.com/office/drawing/2014/main" id="{E356B9BD-4A98-6A0A-7758-9710EE3953A7}"/>
                      </a:ext>
                    </a:extLst>
                  </p:cNvPr>
                  <p:cNvSpPr/>
                  <p:nvPr/>
                </p:nvSpPr>
                <p:spPr>
                  <a:xfrm>
                    <a:off x="7839075" y="2514600"/>
                    <a:ext cx="2286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88" name="Straight Connector 387">
                    <a:extLst>
                      <a:ext uri="{FF2B5EF4-FFF2-40B4-BE49-F238E27FC236}">
                        <a16:creationId xmlns:a16="http://schemas.microsoft.com/office/drawing/2014/main" id="{AD5365EB-DA9B-BCB0-3704-67FE938A1D4C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8162925" y="2654300"/>
                    <a:ext cx="22860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975BF6FC-914D-63DE-31C3-EBC6D91776A6}"/>
                    </a:ext>
                  </a:extLst>
                </p:cNvPr>
                <p:cNvGrpSpPr/>
                <p:nvPr/>
              </p:nvGrpSpPr>
              <p:grpSpPr>
                <a:xfrm>
                  <a:off x="7696200" y="2571750"/>
                  <a:ext cx="381000" cy="152400"/>
                  <a:chOff x="6248400" y="2133600"/>
                  <a:chExt cx="381000" cy="152400"/>
                </a:xfrm>
              </p:grpSpPr>
              <p:sp>
                <p:nvSpPr>
                  <p:cNvPr id="384" name="Oval 383">
                    <a:extLst>
                      <a:ext uri="{FF2B5EF4-FFF2-40B4-BE49-F238E27FC236}">
                        <a16:creationId xmlns:a16="http://schemas.microsoft.com/office/drawing/2014/main" id="{6FC47F7B-473F-63FF-9246-C7993036C612}"/>
                      </a:ext>
                    </a:extLst>
                  </p:cNvPr>
                  <p:cNvSpPr/>
                  <p:nvPr/>
                </p:nvSpPr>
                <p:spPr>
                  <a:xfrm>
                    <a:off x="6477000" y="2133600"/>
                    <a:ext cx="152400" cy="1524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85" name="Straight Connector 384">
                    <a:extLst>
                      <a:ext uri="{FF2B5EF4-FFF2-40B4-BE49-F238E27FC236}">
                        <a16:creationId xmlns:a16="http://schemas.microsoft.com/office/drawing/2014/main" id="{6C02AFB1-91CD-AAB8-3B4B-50AEB2AF0853}"/>
                      </a:ext>
                    </a:extLst>
                  </p:cNvPr>
                  <p:cNvCxnSpPr>
                    <a:stCxn id="384" idx="2"/>
                  </p:cNvCxnSpPr>
                  <p:nvPr/>
                </p:nvCxnSpPr>
                <p:spPr>
                  <a:xfrm flipH="1">
                    <a:off x="6248400" y="2209800"/>
                    <a:ext cx="22860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6936B1-A770-D974-15C3-13226F0BE5CD}"/>
                  </a:ext>
                </a:extLst>
              </p:cNvPr>
              <p:cNvSpPr txBox="1"/>
              <p:nvPr/>
            </p:nvSpPr>
            <p:spPr>
              <a:xfrm>
                <a:off x="5867400" y="3187720"/>
                <a:ext cx="28956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C00000"/>
                    </a:solidFill>
                    <a:latin typeface="Bradley Hand ITC" pitchFamily="66" charset="0"/>
                  </a:rPr>
                  <a:t>Dependency between required and provided interfaces is equivalent to the assembly connector.</a:t>
                </a:r>
              </a:p>
            </p:txBody>
          </p:sp>
          <p:sp>
            <p:nvSpPr>
              <p:cNvPr id="11" name="Freeform 61">
                <a:extLst>
                  <a:ext uri="{FF2B5EF4-FFF2-40B4-BE49-F238E27FC236}">
                    <a16:creationId xmlns:a16="http://schemas.microsoft.com/office/drawing/2014/main" id="{9392F37D-7B8F-A1C9-173A-12203D7A8D79}"/>
                  </a:ext>
                </a:extLst>
              </p:cNvPr>
              <p:cNvSpPr/>
              <p:nvPr/>
            </p:nvSpPr>
            <p:spPr>
              <a:xfrm rot="5400000">
                <a:off x="5900737" y="2902447"/>
                <a:ext cx="333376" cy="247650"/>
              </a:xfrm>
              <a:custGeom>
                <a:avLst/>
                <a:gdLst>
                  <a:gd name="connsiteX0" fmla="*/ 619125 w 619125"/>
                  <a:gd name="connsiteY0" fmla="*/ 400050 h 400050"/>
                  <a:gd name="connsiteX1" fmla="*/ 257175 w 619125"/>
                  <a:gd name="connsiteY1" fmla="*/ 361950 h 400050"/>
                  <a:gd name="connsiteX2" fmla="*/ 47625 w 619125"/>
                  <a:gd name="connsiteY2" fmla="*/ 247650 h 400050"/>
                  <a:gd name="connsiteX3" fmla="*/ 0 w 619125"/>
                  <a:gd name="connsiteY3" fmla="*/ 0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9125" h="400050">
                    <a:moveTo>
                      <a:pt x="619125" y="400050"/>
                    </a:moveTo>
                    <a:cubicBezTo>
                      <a:pt x="485775" y="393700"/>
                      <a:pt x="352425" y="387350"/>
                      <a:pt x="257175" y="361950"/>
                    </a:cubicBezTo>
                    <a:cubicBezTo>
                      <a:pt x="161925" y="336550"/>
                      <a:pt x="90487" y="307975"/>
                      <a:pt x="47625" y="247650"/>
                    </a:cubicBezTo>
                    <a:cubicBezTo>
                      <a:pt x="4763" y="187325"/>
                      <a:pt x="2381" y="93662"/>
                      <a:pt x="0" y="0"/>
                    </a:cubicBezTo>
                  </a:path>
                </a:pathLst>
              </a:custGeom>
              <a:ln>
                <a:solidFill>
                  <a:srgbClr val="C0000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form 62">
                <a:extLst>
                  <a:ext uri="{FF2B5EF4-FFF2-40B4-BE49-F238E27FC236}">
                    <a16:creationId xmlns:a16="http://schemas.microsoft.com/office/drawing/2014/main" id="{55DA5CDB-0E29-32DB-D1E6-9D047AAA7497}"/>
                  </a:ext>
                </a:extLst>
              </p:cNvPr>
              <p:cNvSpPr/>
              <p:nvPr/>
            </p:nvSpPr>
            <p:spPr>
              <a:xfrm rot="16200000">
                <a:off x="8048878" y="3821861"/>
                <a:ext cx="381000" cy="285248"/>
              </a:xfrm>
              <a:custGeom>
                <a:avLst/>
                <a:gdLst>
                  <a:gd name="connsiteX0" fmla="*/ 619125 w 619125"/>
                  <a:gd name="connsiteY0" fmla="*/ 400050 h 400050"/>
                  <a:gd name="connsiteX1" fmla="*/ 257175 w 619125"/>
                  <a:gd name="connsiteY1" fmla="*/ 361950 h 400050"/>
                  <a:gd name="connsiteX2" fmla="*/ 47625 w 619125"/>
                  <a:gd name="connsiteY2" fmla="*/ 247650 h 400050"/>
                  <a:gd name="connsiteX3" fmla="*/ 0 w 619125"/>
                  <a:gd name="connsiteY3" fmla="*/ 0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9125" h="400050">
                    <a:moveTo>
                      <a:pt x="619125" y="400050"/>
                    </a:moveTo>
                    <a:cubicBezTo>
                      <a:pt x="485775" y="393700"/>
                      <a:pt x="352425" y="387350"/>
                      <a:pt x="257175" y="361950"/>
                    </a:cubicBezTo>
                    <a:cubicBezTo>
                      <a:pt x="161925" y="336550"/>
                      <a:pt x="90487" y="307975"/>
                      <a:pt x="47625" y="247650"/>
                    </a:cubicBezTo>
                    <a:cubicBezTo>
                      <a:pt x="4763" y="187325"/>
                      <a:pt x="2381" y="93662"/>
                      <a:pt x="0" y="0"/>
                    </a:cubicBezTo>
                  </a:path>
                </a:pathLst>
              </a:custGeom>
              <a:ln>
                <a:solidFill>
                  <a:srgbClr val="C0000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1096D3-E46A-9A59-9786-62D686A042C8}"/>
                  </a:ext>
                </a:extLst>
              </p:cNvPr>
              <p:cNvSpPr txBox="1"/>
              <p:nvPr/>
            </p:nvSpPr>
            <p:spPr>
              <a:xfrm>
                <a:off x="6934200" y="1868984"/>
                <a:ext cx="1905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C00000"/>
                    </a:solidFill>
                    <a:latin typeface="Bradley Hand ITC" pitchFamily="66" charset="0"/>
                  </a:rPr>
                  <a:t>UML Dependency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0A9A8A0-A8D7-422D-5868-C150E3DD7F71}"/>
                  </a:ext>
                </a:extLst>
              </p:cNvPr>
              <p:cNvCxnSpPr/>
              <p:nvPr/>
            </p:nvCxnSpPr>
            <p:spPr>
              <a:xfrm flipH="1">
                <a:off x="7391400" y="2173784"/>
                <a:ext cx="228600" cy="53340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1467C528-21F1-7041-3184-3CD5DC9BC2BE}"/>
                  </a:ext>
                </a:extLst>
              </p:cNvPr>
              <p:cNvGrpSpPr/>
              <p:nvPr/>
            </p:nvGrpSpPr>
            <p:grpSpPr>
              <a:xfrm>
                <a:off x="476250" y="1868984"/>
                <a:ext cx="6457950" cy="4379416"/>
                <a:chOff x="247650" y="2067580"/>
                <a:chExt cx="6457950" cy="4379416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33FA01F6-73B5-B8EA-1237-9340D892784D}"/>
                    </a:ext>
                  </a:extLst>
                </p:cNvPr>
                <p:cNvGrpSpPr/>
                <p:nvPr/>
              </p:nvGrpSpPr>
              <p:grpSpPr>
                <a:xfrm>
                  <a:off x="1704975" y="2067580"/>
                  <a:ext cx="5000625" cy="3799820"/>
                  <a:chOff x="1143000" y="2067580"/>
                  <a:chExt cx="5000625" cy="3799820"/>
                </a:xfrm>
              </p:grpSpPr>
              <p:grpSp>
                <p:nvGrpSpPr>
                  <p:cNvPr id="47" name="Group 46">
                    <a:extLst>
                      <a:ext uri="{FF2B5EF4-FFF2-40B4-BE49-F238E27FC236}">
                        <a16:creationId xmlns:a16="http://schemas.microsoft.com/office/drawing/2014/main" id="{29D7E1CC-2102-1CC6-D541-0DF28F25FBBA}"/>
                      </a:ext>
                    </a:extLst>
                  </p:cNvPr>
                  <p:cNvGrpSpPr/>
                  <p:nvPr/>
                </p:nvGrpSpPr>
                <p:grpSpPr>
                  <a:xfrm>
                    <a:off x="1143000" y="2067580"/>
                    <a:ext cx="3933825" cy="3286125"/>
                    <a:chOff x="2466975" y="1971675"/>
                    <a:chExt cx="3933825" cy="3286125"/>
                  </a:xfrm>
                </p:grpSpPr>
                <p:pic>
                  <p:nvPicPr>
                    <p:cNvPr id="52" name="Picture 2">
                      <a:extLst>
                        <a:ext uri="{FF2B5EF4-FFF2-40B4-BE49-F238E27FC236}">
                          <a16:creationId xmlns:a16="http://schemas.microsoft.com/office/drawing/2014/main" id="{146670BD-A49F-7557-B207-056AF83A85B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5" cstate="print"/>
                    <a:srcRect/>
                    <a:stretch>
                      <a:fillRect/>
                    </a:stretch>
                  </p:blipFill>
                  <p:spPr bwMode="auto">
                    <a:xfrm>
                      <a:off x="2466975" y="1971675"/>
                      <a:ext cx="3933825" cy="3286125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</p:pic>
                <p:sp>
                  <p:nvSpPr>
                    <p:cNvPr id="53" name="Rectangle 52">
                      <a:extLst>
                        <a:ext uri="{FF2B5EF4-FFF2-40B4-BE49-F238E27FC236}">
                          <a16:creationId xmlns:a16="http://schemas.microsoft.com/office/drawing/2014/main" id="{6A7F597E-4BBC-860C-E87D-F6F15DBE39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8100" y="3981450"/>
                      <a:ext cx="1066800" cy="14287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54" name="Straight Connector 53">
                      <a:extLst>
                        <a:ext uri="{FF2B5EF4-FFF2-40B4-BE49-F238E27FC236}">
                          <a16:creationId xmlns:a16="http://schemas.microsoft.com/office/drawing/2014/main" id="{6A375839-BB6A-32E8-17DF-3C126EC0914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886200" y="4019550"/>
                      <a:ext cx="10668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254D3197-4B89-39E3-8DD4-58EFBC24EDB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848100" y="3543300"/>
                      <a:ext cx="1104900" cy="142875"/>
                      <a:chOff x="7429500" y="4133850"/>
                      <a:chExt cx="1104900" cy="142875"/>
                    </a:xfrm>
                  </p:grpSpPr>
                  <p:sp>
                    <p:nvSpPr>
                      <p:cNvPr id="60" name="Rectangle 59">
                        <a:extLst>
                          <a:ext uri="{FF2B5EF4-FFF2-40B4-BE49-F238E27FC236}">
                            <a16:creationId xmlns:a16="http://schemas.microsoft.com/office/drawing/2014/main" id="{13F6629B-25D3-6152-A233-6B22C9A185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29500" y="4133850"/>
                        <a:ext cx="1066800" cy="1428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61" name="Straight Connector 60">
                        <a:extLst>
                          <a:ext uri="{FF2B5EF4-FFF2-40B4-BE49-F238E27FC236}">
                            <a16:creationId xmlns:a16="http://schemas.microsoft.com/office/drawing/2014/main" id="{2A5F1E44-EF05-87DE-B8D9-B14204B22A9C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7467600" y="4171950"/>
                        <a:ext cx="1066800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dash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56" name="Rectangle 55">
                      <a:extLst>
                        <a:ext uri="{FF2B5EF4-FFF2-40B4-BE49-F238E27FC236}">
                          <a16:creationId xmlns:a16="http://schemas.microsoft.com/office/drawing/2014/main" id="{2E20F360-4274-7704-D63D-D3649D5CA5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8100" y="4371975"/>
                      <a:ext cx="962025" cy="20002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57" name="Straight Connector 56">
                      <a:extLst>
                        <a:ext uri="{FF2B5EF4-FFF2-40B4-BE49-F238E27FC236}">
                          <a16:creationId xmlns:a16="http://schemas.microsoft.com/office/drawing/2014/main" id="{22A331EE-33DF-F5A1-3942-61261A639CC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886200" y="4448175"/>
                      <a:ext cx="9144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8" name="Rectangle 57">
                      <a:extLst>
                        <a:ext uri="{FF2B5EF4-FFF2-40B4-BE49-F238E27FC236}">
                          <a16:creationId xmlns:a16="http://schemas.microsoft.com/office/drawing/2014/main" id="{34B94E90-1A08-6A6F-D922-BC8230225B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48125" y="4819650"/>
                      <a:ext cx="962025" cy="20002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59" name="Straight Connector 58">
                      <a:extLst>
                        <a:ext uri="{FF2B5EF4-FFF2-40B4-BE49-F238E27FC236}">
                          <a16:creationId xmlns:a16="http://schemas.microsoft.com/office/drawing/2014/main" id="{72C202A9-6061-781B-B941-804DDD83048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076700" y="4867275"/>
                      <a:ext cx="9144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F2E2163D-17E6-E80A-E9D4-27CF69C4D101}"/>
                      </a:ext>
                    </a:extLst>
                  </p:cNvPr>
                  <p:cNvSpPr txBox="1"/>
                  <p:nvPr/>
                </p:nvSpPr>
                <p:spPr>
                  <a:xfrm>
                    <a:off x="5000625" y="5344180"/>
                    <a:ext cx="9906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solidFill>
                          <a:srgbClr val="C00000"/>
                        </a:solidFill>
                        <a:latin typeface="Bradley Hand ITC" pitchFamily="66" charset="0"/>
                      </a:rPr>
                      <a:t>Notice this is a class</a:t>
                    </a:r>
                  </a:p>
                </p:txBody>
              </p:sp>
              <p:sp>
                <p:nvSpPr>
                  <p:cNvPr id="49" name="Freeform 34">
                    <a:extLst>
                      <a:ext uri="{FF2B5EF4-FFF2-40B4-BE49-F238E27FC236}">
                        <a16:creationId xmlns:a16="http://schemas.microsoft.com/office/drawing/2014/main" id="{52096744-B666-661B-245F-50B902CA7E27}"/>
                      </a:ext>
                    </a:extLst>
                  </p:cNvPr>
                  <p:cNvSpPr/>
                  <p:nvPr/>
                </p:nvSpPr>
                <p:spPr>
                  <a:xfrm>
                    <a:off x="4467225" y="5201305"/>
                    <a:ext cx="619125" cy="400050"/>
                  </a:xfrm>
                  <a:custGeom>
                    <a:avLst/>
                    <a:gdLst>
                      <a:gd name="connsiteX0" fmla="*/ 619125 w 619125"/>
                      <a:gd name="connsiteY0" fmla="*/ 400050 h 400050"/>
                      <a:gd name="connsiteX1" fmla="*/ 257175 w 619125"/>
                      <a:gd name="connsiteY1" fmla="*/ 361950 h 400050"/>
                      <a:gd name="connsiteX2" fmla="*/ 47625 w 619125"/>
                      <a:gd name="connsiteY2" fmla="*/ 247650 h 400050"/>
                      <a:gd name="connsiteX3" fmla="*/ 0 w 619125"/>
                      <a:gd name="connsiteY3" fmla="*/ 0 h 4000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19125" h="400050">
                        <a:moveTo>
                          <a:pt x="619125" y="400050"/>
                        </a:moveTo>
                        <a:cubicBezTo>
                          <a:pt x="485775" y="393700"/>
                          <a:pt x="352425" y="387350"/>
                          <a:pt x="257175" y="361950"/>
                        </a:cubicBezTo>
                        <a:cubicBezTo>
                          <a:pt x="161925" y="336550"/>
                          <a:pt x="90487" y="307975"/>
                          <a:pt x="47625" y="247650"/>
                        </a:cubicBezTo>
                        <a:cubicBezTo>
                          <a:pt x="4763" y="187325"/>
                          <a:pt x="2381" y="93662"/>
                          <a:pt x="0" y="0"/>
                        </a:cubicBezTo>
                      </a:path>
                    </a:pathLst>
                  </a:custGeom>
                  <a:ln>
                    <a:solidFill>
                      <a:srgbClr val="C00000"/>
                    </a:solidFill>
                    <a:tailEnd type="stealt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77D63BDE-AD1B-E8DC-47CB-2565CABEBEB9}"/>
                      </a:ext>
                    </a:extLst>
                  </p:cNvPr>
                  <p:cNvSpPr txBox="1"/>
                  <p:nvPr/>
                </p:nvSpPr>
                <p:spPr>
                  <a:xfrm>
                    <a:off x="4772025" y="4667905"/>
                    <a:ext cx="13716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solidFill>
                          <a:srgbClr val="C00000"/>
                        </a:solidFill>
                        <a:latin typeface="Bradley Hand ITC" pitchFamily="66" charset="0"/>
                      </a:rPr>
                      <a:t>Notice these</a:t>
                    </a:r>
                  </a:p>
                  <a:p>
                    <a:pPr algn="ctr"/>
                    <a:r>
                      <a:rPr lang="en-US" sz="1400" b="1" dirty="0">
                        <a:solidFill>
                          <a:srgbClr val="C00000"/>
                        </a:solidFill>
                        <a:latin typeface="Bradley Hand ITC" pitchFamily="66" charset="0"/>
                      </a:rPr>
                      <a:t>are interfaces</a:t>
                    </a:r>
                  </a:p>
                </p:txBody>
              </p:sp>
              <p:sp>
                <p:nvSpPr>
                  <p:cNvPr id="51" name="Freeform 36">
                    <a:extLst>
                      <a:ext uri="{FF2B5EF4-FFF2-40B4-BE49-F238E27FC236}">
                        <a16:creationId xmlns:a16="http://schemas.microsoft.com/office/drawing/2014/main" id="{FFD37D2E-C32A-3E60-06F1-6B988950CBA5}"/>
                      </a:ext>
                    </a:extLst>
                  </p:cNvPr>
                  <p:cNvSpPr/>
                  <p:nvPr/>
                </p:nvSpPr>
                <p:spPr>
                  <a:xfrm>
                    <a:off x="4924425" y="4334530"/>
                    <a:ext cx="485775" cy="314325"/>
                  </a:xfrm>
                  <a:custGeom>
                    <a:avLst/>
                    <a:gdLst>
                      <a:gd name="connsiteX0" fmla="*/ 485775 w 485775"/>
                      <a:gd name="connsiteY0" fmla="*/ 314325 h 314325"/>
                      <a:gd name="connsiteX1" fmla="*/ 438150 w 485775"/>
                      <a:gd name="connsiteY1" fmla="*/ 114300 h 314325"/>
                      <a:gd name="connsiteX2" fmla="*/ 333375 w 485775"/>
                      <a:gd name="connsiteY2" fmla="*/ 19050 h 314325"/>
                      <a:gd name="connsiteX3" fmla="*/ 0 w 485775"/>
                      <a:gd name="connsiteY3" fmla="*/ 0 h 3143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5775" h="314325">
                        <a:moveTo>
                          <a:pt x="485775" y="314325"/>
                        </a:moveTo>
                        <a:cubicBezTo>
                          <a:pt x="474662" y="238918"/>
                          <a:pt x="463550" y="163512"/>
                          <a:pt x="438150" y="114300"/>
                        </a:cubicBezTo>
                        <a:cubicBezTo>
                          <a:pt x="412750" y="65088"/>
                          <a:pt x="406400" y="38100"/>
                          <a:pt x="333375" y="19050"/>
                        </a:cubicBezTo>
                        <a:cubicBezTo>
                          <a:pt x="260350" y="0"/>
                          <a:pt x="130175" y="0"/>
                          <a:pt x="0" y="0"/>
                        </a:cubicBezTo>
                      </a:path>
                    </a:pathLst>
                  </a:custGeom>
                  <a:ln>
                    <a:solidFill>
                      <a:srgbClr val="C00000"/>
                    </a:solidFill>
                    <a:tailEnd type="stealt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F4968E6-1A71-15A4-16F9-FBF1804B8885}"/>
                    </a:ext>
                  </a:extLst>
                </p:cNvPr>
                <p:cNvSpPr txBox="1"/>
                <p:nvPr/>
              </p:nvSpPr>
              <p:spPr>
                <a:xfrm>
                  <a:off x="304800" y="2398693"/>
                  <a:ext cx="1524000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rgbClr val="C00000"/>
                      </a:solidFill>
                      <a:latin typeface="Bradley Hand ITC" pitchFamily="66" charset="0"/>
                    </a:rPr>
                    <a:t>Dependency without specifying interfaces!</a:t>
                  </a:r>
                </a:p>
              </p:txBody>
            </p:sp>
            <p:sp>
              <p:nvSpPr>
                <p:cNvPr id="18" name="Freeform 70">
                  <a:extLst>
                    <a:ext uri="{FF2B5EF4-FFF2-40B4-BE49-F238E27FC236}">
                      <a16:creationId xmlns:a16="http://schemas.microsoft.com/office/drawing/2014/main" id="{11DC9032-04BA-CA49-64CE-A3508EAFFE3B}"/>
                    </a:ext>
                  </a:extLst>
                </p:cNvPr>
                <p:cNvSpPr/>
                <p:nvPr/>
              </p:nvSpPr>
              <p:spPr>
                <a:xfrm rot="10800000">
                  <a:off x="1343025" y="3352800"/>
                  <a:ext cx="485775" cy="314325"/>
                </a:xfrm>
                <a:custGeom>
                  <a:avLst/>
                  <a:gdLst>
                    <a:gd name="connsiteX0" fmla="*/ 485775 w 485775"/>
                    <a:gd name="connsiteY0" fmla="*/ 314325 h 314325"/>
                    <a:gd name="connsiteX1" fmla="*/ 438150 w 485775"/>
                    <a:gd name="connsiteY1" fmla="*/ 114300 h 314325"/>
                    <a:gd name="connsiteX2" fmla="*/ 333375 w 485775"/>
                    <a:gd name="connsiteY2" fmla="*/ 19050 h 314325"/>
                    <a:gd name="connsiteX3" fmla="*/ 0 w 485775"/>
                    <a:gd name="connsiteY3" fmla="*/ 0 h 314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5775" h="314325">
                      <a:moveTo>
                        <a:pt x="485775" y="314325"/>
                      </a:moveTo>
                      <a:cubicBezTo>
                        <a:pt x="474662" y="238918"/>
                        <a:pt x="463550" y="163512"/>
                        <a:pt x="438150" y="114300"/>
                      </a:cubicBezTo>
                      <a:cubicBezTo>
                        <a:pt x="412750" y="65088"/>
                        <a:pt x="406400" y="38100"/>
                        <a:pt x="333375" y="19050"/>
                      </a:cubicBezTo>
                      <a:cubicBezTo>
                        <a:pt x="260350" y="0"/>
                        <a:pt x="130175" y="0"/>
                        <a:pt x="0" y="0"/>
                      </a:cubicBezTo>
                    </a:path>
                  </a:pathLst>
                </a:custGeom>
                <a:ln>
                  <a:solidFill>
                    <a:srgbClr val="C00000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5C85AA47-FB4E-BFDB-3BFB-E9A2A20E8195}"/>
                    </a:ext>
                  </a:extLst>
                </p:cNvPr>
                <p:cNvGrpSpPr/>
                <p:nvPr/>
              </p:nvGrpSpPr>
              <p:grpSpPr>
                <a:xfrm>
                  <a:off x="1448332" y="5486400"/>
                  <a:ext cx="1599668" cy="427196"/>
                  <a:chOff x="1143000" y="5791200"/>
                  <a:chExt cx="1599668" cy="427196"/>
                </a:xfrm>
              </p:grpSpPr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44EBA5CD-4A63-B08E-7D7E-436EB1A590DA}"/>
                      </a:ext>
                    </a:extLst>
                  </p:cNvPr>
                  <p:cNvSpPr/>
                  <p:nvPr/>
                </p:nvSpPr>
                <p:spPr>
                  <a:xfrm>
                    <a:off x="1143000" y="5791200"/>
                    <a:ext cx="914400" cy="304800"/>
                  </a:xfrm>
                  <a:prstGeom prst="rect">
                    <a:avLst/>
                  </a:prstGeom>
                  <a:no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10427AB5-3BD7-A93C-3D44-D3A89EF4192A}"/>
                      </a:ext>
                    </a:extLst>
                  </p:cNvPr>
                  <p:cNvSpPr/>
                  <p:nvPr/>
                </p:nvSpPr>
                <p:spPr>
                  <a:xfrm>
                    <a:off x="2286000" y="5867400"/>
                    <a:ext cx="152400" cy="1524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2952CB5D-F7F5-0DC8-2D9F-F4C95D0D795E}"/>
                      </a:ext>
                    </a:extLst>
                  </p:cNvPr>
                  <p:cNvCxnSpPr>
                    <a:stCxn id="31" idx="2"/>
                  </p:cNvCxnSpPr>
                  <p:nvPr/>
                </p:nvCxnSpPr>
                <p:spPr>
                  <a:xfrm flipH="1">
                    <a:off x="2057400" y="5943600"/>
                    <a:ext cx="22860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82EAE01C-67B3-E97C-725C-820BF1E66AB7}"/>
                      </a:ext>
                    </a:extLst>
                  </p:cNvPr>
                  <p:cNvSpPr txBox="1"/>
                  <p:nvPr/>
                </p:nvSpPr>
                <p:spPr>
                  <a:xfrm>
                    <a:off x="1143000" y="5819775"/>
                    <a:ext cx="873957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00" dirty="0">
                        <a:latin typeface="+mj-lt"/>
                      </a:rPr>
                      <a:t>ComponentA</a:t>
                    </a: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F24572E8-17D4-30D5-6978-79085891D824}"/>
                      </a:ext>
                    </a:extLst>
                  </p:cNvPr>
                  <p:cNvSpPr txBox="1"/>
                  <p:nvPr/>
                </p:nvSpPr>
                <p:spPr>
                  <a:xfrm>
                    <a:off x="2009775" y="5972175"/>
                    <a:ext cx="732893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00" dirty="0">
                        <a:latin typeface="+mj-lt"/>
                      </a:rPr>
                      <a:t>InterfaceB</a:t>
                    </a:r>
                  </a:p>
                </p:txBody>
              </p:sp>
            </p:grpSp>
            <p:sp>
              <p:nvSpPr>
                <p:cNvPr id="20" name="Freeform 76">
                  <a:extLst>
                    <a:ext uri="{FF2B5EF4-FFF2-40B4-BE49-F238E27FC236}">
                      <a16:creationId xmlns:a16="http://schemas.microsoft.com/office/drawing/2014/main" id="{BDAF8C0D-D397-FE57-7702-3BAE6A879A6C}"/>
                    </a:ext>
                  </a:extLst>
                </p:cNvPr>
                <p:cNvSpPr/>
                <p:nvPr/>
              </p:nvSpPr>
              <p:spPr>
                <a:xfrm>
                  <a:off x="1427163" y="4572001"/>
                  <a:ext cx="458787" cy="914400"/>
                </a:xfrm>
                <a:custGeom>
                  <a:avLst/>
                  <a:gdLst>
                    <a:gd name="connsiteX0" fmla="*/ 153987 w 458787"/>
                    <a:gd name="connsiteY0" fmla="*/ 1209675 h 1209675"/>
                    <a:gd name="connsiteX1" fmla="*/ 144462 w 458787"/>
                    <a:gd name="connsiteY1" fmla="*/ 1028700 h 1209675"/>
                    <a:gd name="connsiteX2" fmla="*/ 87312 w 458787"/>
                    <a:gd name="connsiteY2" fmla="*/ 742950 h 1209675"/>
                    <a:gd name="connsiteX3" fmla="*/ 1587 w 458787"/>
                    <a:gd name="connsiteY3" fmla="*/ 352425 h 1209675"/>
                    <a:gd name="connsiteX4" fmla="*/ 96837 w 458787"/>
                    <a:gd name="connsiteY4" fmla="*/ 114300 h 1209675"/>
                    <a:gd name="connsiteX5" fmla="*/ 458787 w 458787"/>
                    <a:gd name="connsiteY5" fmla="*/ 0 h 1209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8787" h="1209675">
                      <a:moveTo>
                        <a:pt x="153987" y="1209675"/>
                      </a:moveTo>
                      <a:cubicBezTo>
                        <a:pt x="154781" y="1158081"/>
                        <a:pt x="155575" y="1106488"/>
                        <a:pt x="144462" y="1028700"/>
                      </a:cubicBezTo>
                      <a:cubicBezTo>
                        <a:pt x="133350" y="950913"/>
                        <a:pt x="111124" y="855662"/>
                        <a:pt x="87312" y="742950"/>
                      </a:cubicBezTo>
                      <a:cubicBezTo>
                        <a:pt x="63500" y="630238"/>
                        <a:pt x="0" y="457200"/>
                        <a:pt x="1587" y="352425"/>
                      </a:cubicBezTo>
                      <a:cubicBezTo>
                        <a:pt x="3175" y="247650"/>
                        <a:pt x="20637" y="173037"/>
                        <a:pt x="96837" y="114300"/>
                      </a:cubicBezTo>
                      <a:cubicBezTo>
                        <a:pt x="173037" y="55563"/>
                        <a:pt x="315912" y="27781"/>
                        <a:pt x="458787" y="0"/>
                      </a:cubicBezTo>
                    </a:path>
                  </a:pathLst>
                </a:custGeom>
                <a:ln>
                  <a:solidFill>
                    <a:srgbClr val="C00000"/>
                  </a:solidFill>
                  <a:headEnd type="stealth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F56CD46-5340-7ADC-A027-4F5566B069E4}"/>
                    </a:ext>
                  </a:extLst>
                </p:cNvPr>
                <p:cNvSpPr txBox="1"/>
                <p:nvPr/>
              </p:nvSpPr>
              <p:spPr>
                <a:xfrm>
                  <a:off x="247650" y="4800600"/>
                  <a:ext cx="15240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rgbClr val="C00000"/>
                      </a:solidFill>
                      <a:latin typeface="Bradley Hand ITC" pitchFamily="66" charset="0"/>
                    </a:rPr>
                    <a:t>These are equivalent!</a:t>
                  </a:r>
                </a:p>
              </p:txBody>
            </p: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60022BB6-C27A-A60A-8E19-6A813FDBD02D}"/>
                    </a:ext>
                  </a:extLst>
                </p:cNvPr>
                <p:cNvGrpSpPr/>
                <p:nvPr/>
              </p:nvGrpSpPr>
              <p:grpSpPr>
                <a:xfrm>
                  <a:off x="1447800" y="6019800"/>
                  <a:ext cx="1599668" cy="427196"/>
                  <a:chOff x="1143000" y="5791200"/>
                  <a:chExt cx="1599668" cy="427196"/>
                </a:xfrm>
              </p:grpSpPr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0F4DB433-34AF-1960-89FA-E3E2318E4F2A}"/>
                      </a:ext>
                    </a:extLst>
                  </p:cNvPr>
                  <p:cNvSpPr/>
                  <p:nvPr/>
                </p:nvSpPr>
                <p:spPr>
                  <a:xfrm>
                    <a:off x="1143000" y="5791200"/>
                    <a:ext cx="914400" cy="304800"/>
                  </a:xfrm>
                  <a:prstGeom prst="rect">
                    <a:avLst/>
                  </a:prstGeom>
                  <a:no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530BCFD7-0533-DE24-FDB6-E131AE6C4787}"/>
                      </a:ext>
                    </a:extLst>
                  </p:cNvPr>
                  <p:cNvSpPr/>
                  <p:nvPr/>
                </p:nvSpPr>
                <p:spPr>
                  <a:xfrm>
                    <a:off x="2286000" y="5867400"/>
                    <a:ext cx="152400" cy="152400"/>
                  </a:xfrm>
                  <a:prstGeom prst="ellipse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60F6D364-25AB-E8E5-14B6-0D9E53279D16}"/>
                      </a:ext>
                    </a:extLst>
                  </p:cNvPr>
                  <p:cNvCxnSpPr>
                    <a:stCxn id="26" idx="2"/>
                  </p:cNvCxnSpPr>
                  <p:nvPr/>
                </p:nvCxnSpPr>
                <p:spPr>
                  <a:xfrm flipH="1">
                    <a:off x="2057400" y="5943600"/>
                    <a:ext cx="22860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B59DB25D-8E33-CF33-CF86-72479DEECCD5}"/>
                      </a:ext>
                    </a:extLst>
                  </p:cNvPr>
                  <p:cNvSpPr txBox="1"/>
                  <p:nvPr/>
                </p:nvSpPr>
                <p:spPr>
                  <a:xfrm>
                    <a:off x="1143000" y="5819775"/>
                    <a:ext cx="873957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00" dirty="0">
                        <a:latin typeface="+mj-lt"/>
                      </a:rPr>
                      <a:t>ComponentA</a:t>
                    </a:r>
                  </a:p>
                </p:txBody>
              </p: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0C7CEF8D-1217-A5C4-D0D1-D938C0071618}"/>
                      </a:ext>
                    </a:extLst>
                  </p:cNvPr>
                  <p:cNvSpPr txBox="1"/>
                  <p:nvPr/>
                </p:nvSpPr>
                <p:spPr>
                  <a:xfrm>
                    <a:off x="2009775" y="5972175"/>
                    <a:ext cx="732893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00" dirty="0">
                        <a:latin typeface="+mj-lt"/>
                      </a:rPr>
                      <a:t>InterfaceB</a:t>
                    </a:r>
                  </a:p>
                </p:txBody>
              </p:sp>
            </p:grp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298D3B8-7206-75A0-7140-5DBF042A321D}"/>
                    </a:ext>
                  </a:extLst>
                </p:cNvPr>
                <p:cNvSpPr/>
                <p:nvPr/>
              </p:nvSpPr>
              <p:spPr>
                <a:xfrm>
                  <a:off x="2686050" y="6048375"/>
                  <a:ext cx="228600" cy="2286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Freeform 87">
                  <a:extLst>
                    <a:ext uri="{FF2B5EF4-FFF2-40B4-BE49-F238E27FC236}">
                      <a16:creationId xmlns:a16="http://schemas.microsoft.com/office/drawing/2014/main" id="{5C3B4FCF-406A-9DC0-7A82-96FC1DF88577}"/>
                    </a:ext>
                  </a:extLst>
                </p:cNvPr>
                <p:cNvSpPr/>
                <p:nvPr/>
              </p:nvSpPr>
              <p:spPr>
                <a:xfrm>
                  <a:off x="515938" y="4057650"/>
                  <a:ext cx="1350962" cy="2133600"/>
                </a:xfrm>
                <a:custGeom>
                  <a:avLst/>
                  <a:gdLst>
                    <a:gd name="connsiteX0" fmla="*/ 912812 w 1350962"/>
                    <a:gd name="connsiteY0" fmla="*/ 2133600 h 2133600"/>
                    <a:gd name="connsiteX1" fmla="*/ 179387 w 1350962"/>
                    <a:gd name="connsiteY1" fmla="*/ 1828800 h 2133600"/>
                    <a:gd name="connsiteX2" fmla="*/ 7937 w 1350962"/>
                    <a:gd name="connsiteY2" fmla="*/ 1028700 h 2133600"/>
                    <a:gd name="connsiteX3" fmla="*/ 227012 w 1350962"/>
                    <a:gd name="connsiteY3" fmla="*/ 419100 h 2133600"/>
                    <a:gd name="connsiteX4" fmla="*/ 884237 w 1350962"/>
                    <a:gd name="connsiteY4" fmla="*/ 66675 h 2133600"/>
                    <a:gd name="connsiteX5" fmla="*/ 1350962 w 1350962"/>
                    <a:gd name="connsiteY5" fmla="*/ 19050 h 213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50962" h="2133600">
                      <a:moveTo>
                        <a:pt x="912812" y="2133600"/>
                      </a:moveTo>
                      <a:cubicBezTo>
                        <a:pt x="621506" y="2073275"/>
                        <a:pt x="330200" y="2012950"/>
                        <a:pt x="179387" y="1828800"/>
                      </a:cubicBezTo>
                      <a:cubicBezTo>
                        <a:pt x="28575" y="1644650"/>
                        <a:pt x="0" y="1263650"/>
                        <a:pt x="7937" y="1028700"/>
                      </a:cubicBezTo>
                      <a:cubicBezTo>
                        <a:pt x="15875" y="793750"/>
                        <a:pt x="80962" y="579437"/>
                        <a:pt x="227012" y="419100"/>
                      </a:cubicBezTo>
                      <a:cubicBezTo>
                        <a:pt x="373062" y="258763"/>
                        <a:pt x="696912" y="133350"/>
                        <a:pt x="884237" y="66675"/>
                      </a:cubicBezTo>
                      <a:cubicBezTo>
                        <a:pt x="1071562" y="0"/>
                        <a:pt x="1211262" y="9525"/>
                        <a:pt x="1350962" y="19050"/>
                      </a:cubicBezTo>
                    </a:path>
                  </a:pathLst>
                </a:custGeom>
                <a:ln>
                  <a:solidFill>
                    <a:srgbClr val="C00000"/>
                  </a:solidFill>
                  <a:headEnd type="stealth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819526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13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09696" y="551150"/>
            <a:ext cx="7675351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STRUCTURE MODEL (COMPONENT DIAGRAM)</a:t>
            </a:r>
            <a:endParaRPr sz="2500" dirty="0"/>
          </a:p>
        </p:txBody>
      </p: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BA35243F-49B0-D752-7BDE-6D4678274088}"/>
              </a:ext>
            </a:extLst>
          </p:cNvPr>
          <p:cNvGrpSpPr/>
          <p:nvPr/>
        </p:nvGrpSpPr>
        <p:grpSpPr>
          <a:xfrm>
            <a:off x="1752600" y="1371601"/>
            <a:ext cx="8686800" cy="5029199"/>
            <a:chOff x="457200" y="1371601"/>
            <a:chExt cx="8686800" cy="5029199"/>
          </a:xfrm>
        </p:grpSpPr>
        <p:sp>
          <p:nvSpPr>
            <p:cNvPr id="397" name="Content Placeholder 2">
              <a:extLst>
                <a:ext uri="{FF2B5EF4-FFF2-40B4-BE49-F238E27FC236}">
                  <a16:creationId xmlns:a16="http://schemas.microsoft.com/office/drawing/2014/main" id="{E15621AD-5C97-8BE8-0966-01CE871DFD3F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1371601"/>
              <a:ext cx="8229600" cy="335279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Wingdings" pitchFamily="2" charset="2"/>
                <a:buChar char="Ø"/>
                <a:defRPr sz="20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Wingdings" pitchFamily="2" charset="2"/>
                <a:buChar char="ü"/>
                <a:defRPr sz="18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2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Ø"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Two more important concepts used in component diagrams are: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ü"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Ports</a:t>
              </a:r>
            </a:p>
            <a:p>
              <a:pPr marL="1143000" marR="0" lvl="2" indent="-2286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Abstraction used to model access points for allowing the external environment to access the component’s services and for allowing components to interact with their external environment.</a:t>
              </a:r>
            </a:p>
            <a:p>
              <a:pPr marL="1143000" marR="0" lvl="2" indent="-2286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Modeled using a small square at the boundary of a </a:t>
              </a:r>
              <a:r>
                <a:rPr kumimoji="0" lang="en-US" sz="1600" b="0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classifier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, in this case, a component.</a:t>
              </a:r>
            </a:p>
            <a:p>
              <a:pPr marL="1143000" marR="0" lvl="2" indent="-2286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Ports can be named, e.g., port names below are Port 1 and Port 2.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ü"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Delegation connectors</a:t>
              </a:r>
            </a:p>
            <a:p>
              <a:pPr marL="1143000" marR="0" lvl="2" indent="-2286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Used to model the link between the external provided interfaces of a component to the realization of those interfaces internally within the component.</a:t>
              </a:r>
            </a:p>
            <a:p>
              <a:pPr marL="1143000" marR="0" lvl="2" indent="-2286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Similarly, delegation connectors model the link between internally required interfaces to ports requiring the interface from external components.</a:t>
              </a:r>
            </a:p>
            <a:p>
              <a:pPr marL="1143000" marR="0" lvl="2" indent="-2286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Modeled using a directed arrow with the stereotype &lt;&lt;delegate&gt;&gt;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pic>
          <p:nvPicPr>
            <p:cNvPr id="398" name="Picture 2">
              <a:extLst>
                <a:ext uri="{FF2B5EF4-FFF2-40B4-BE49-F238E27FC236}">
                  <a16:creationId xmlns:a16="http://schemas.microsoft.com/office/drawing/2014/main" id="{7B3843A7-CFFA-CEE4-2922-6357B25051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071688" y="4873823"/>
              <a:ext cx="5000625" cy="1276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C51F6B52-E28F-3596-F23F-DCAFCFC1F625}"/>
                </a:ext>
              </a:extLst>
            </p:cNvPr>
            <p:cNvSpPr txBox="1"/>
            <p:nvPr/>
          </p:nvSpPr>
          <p:spPr>
            <a:xfrm>
              <a:off x="1714500" y="6093023"/>
              <a:ext cx="762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en-US" b="1" kern="1200" dirty="0">
                  <a:solidFill>
                    <a:srgbClr val="C00000"/>
                  </a:solidFill>
                  <a:latin typeface="Bradley Hand ITC" pitchFamily="66" charset="0"/>
                  <a:ea typeface="+mn-ea"/>
                  <a:cs typeface="+mn-cs"/>
                </a:rPr>
                <a:t>Port</a:t>
              </a:r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0DED8BEF-E8D3-1324-B78F-6B85E4C5F564}"/>
                </a:ext>
              </a:extLst>
            </p:cNvPr>
            <p:cNvSpPr txBox="1"/>
            <p:nvPr/>
          </p:nvSpPr>
          <p:spPr>
            <a:xfrm>
              <a:off x="6781800" y="6073973"/>
              <a:ext cx="762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en-US" b="1" kern="1200" dirty="0">
                  <a:solidFill>
                    <a:srgbClr val="C00000"/>
                  </a:solidFill>
                  <a:latin typeface="Bradley Hand ITC" pitchFamily="66" charset="0"/>
                  <a:ea typeface="+mn-ea"/>
                  <a:cs typeface="+mn-cs"/>
                </a:rPr>
                <a:t>Port</a:t>
              </a:r>
            </a:p>
          </p:txBody>
        </p:sp>
        <p:sp>
          <p:nvSpPr>
            <p:cNvPr id="401" name="TextBox 400">
              <a:extLst>
                <a:ext uri="{FF2B5EF4-FFF2-40B4-BE49-F238E27FC236}">
                  <a16:creationId xmlns:a16="http://schemas.microsoft.com/office/drawing/2014/main" id="{C09D8362-C441-B094-F973-5CB4A38F61DD}"/>
                </a:ext>
              </a:extLst>
            </p:cNvPr>
            <p:cNvSpPr txBox="1"/>
            <p:nvPr/>
          </p:nvSpPr>
          <p:spPr>
            <a:xfrm>
              <a:off x="3429000" y="5964524"/>
              <a:ext cx="2286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en-US" b="1" kern="1200" dirty="0">
                  <a:solidFill>
                    <a:srgbClr val="C00000"/>
                  </a:solidFill>
                  <a:latin typeface="Bradley Hand ITC" pitchFamily="66" charset="0"/>
                  <a:ea typeface="+mn-ea"/>
                  <a:cs typeface="+mn-cs"/>
                </a:rPr>
                <a:t>Delegate connector</a:t>
              </a:r>
            </a:p>
          </p:txBody>
        </p:sp>
        <p:sp>
          <p:nvSpPr>
            <p:cNvPr id="402" name="Freeform 10">
              <a:extLst>
                <a:ext uri="{FF2B5EF4-FFF2-40B4-BE49-F238E27FC236}">
                  <a16:creationId xmlns:a16="http://schemas.microsoft.com/office/drawing/2014/main" id="{0FF5A53D-36F4-0572-7C64-1645F2B58B70}"/>
                </a:ext>
              </a:extLst>
            </p:cNvPr>
            <p:cNvSpPr/>
            <p:nvPr/>
          </p:nvSpPr>
          <p:spPr>
            <a:xfrm rot="21131646">
              <a:off x="6494605" y="5946125"/>
              <a:ext cx="381000" cy="285248"/>
            </a:xfrm>
            <a:custGeom>
              <a:avLst/>
              <a:gdLst>
                <a:gd name="connsiteX0" fmla="*/ 619125 w 619125"/>
                <a:gd name="connsiteY0" fmla="*/ 400050 h 400050"/>
                <a:gd name="connsiteX1" fmla="*/ 257175 w 619125"/>
                <a:gd name="connsiteY1" fmla="*/ 361950 h 400050"/>
                <a:gd name="connsiteX2" fmla="*/ 47625 w 619125"/>
                <a:gd name="connsiteY2" fmla="*/ 247650 h 400050"/>
                <a:gd name="connsiteX3" fmla="*/ 0 w 619125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125" h="400050">
                  <a:moveTo>
                    <a:pt x="619125" y="400050"/>
                  </a:moveTo>
                  <a:cubicBezTo>
                    <a:pt x="485775" y="393700"/>
                    <a:pt x="352425" y="387350"/>
                    <a:pt x="257175" y="361950"/>
                  </a:cubicBezTo>
                  <a:cubicBezTo>
                    <a:pt x="161925" y="336550"/>
                    <a:pt x="90487" y="307975"/>
                    <a:pt x="47625" y="247650"/>
                  </a:cubicBezTo>
                  <a:cubicBezTo>
                    <a:pt x="4763" y="187325"/>
                    <a:pt x="2381" y="93662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3" name="Freeform 11">
              <a:extLst>
                <a:ext uri="{FF2B5EF4-FFF2-40B4-BE49-F238E27FC236}">
                  <a16:creationId xmlns:a16="http://schemas.microsoft.com/office/drawing/2014/main" id="{FA3D45EE-66B2-E8BC-0310-A2599AEB39ED}"/>
                </a:ext>
              </a:extLst>
            </p:cNvPr>
            <p:cNvSpPr/>
            <p:nvPr/>
          </p:nvSpPr>
          <p:spPr>
            <a:xfrm rot="5617287">
              <a:off x="2267735" y="5994795"/>
              <a:ext cx="333375" cy="238125"/>
            </a:xfrm>
            <a:custGeom>
              <a:avLst/>
              <a:gdLst>
                <a:gd name="connsiteX0" fmla="*/ 485775 w 485775"/>
                <a:gd name="connsiteY0" fmla="*/ 314325 h 314325"/>
                <a:gd name="connsiteX1" fmla="*/ 438150 w 485775"/>
                <a:gd name="connsiteY1" fmla="*/ 114300 h 314325"/>
                <a:gd name="connsiteX2" fmla="*/ 333375 w 485775"/>
                <a:gd name="connsiteY2" fmla="*/ 19050 h 314325"/>
                <a:gd name="connsiteX3" fmla="*/ 0 w 485775"/>
                <a:gd name="connsiteY3" fmla="*/ 0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775" h="314325">
                  <a:moveTo>
                    <a:pt x="485775" y="314325"/>
                  </a:moveTo>
                  <a:cubicBezTo>
                    <a:pt x="474662" y="238918"/>
                    <a:pt x="463550" y="163512"/>
                    <a:pt x="438150" y="114300"/>
                  </a:cubicBezTo>
                  <a:cubicBezTo>
                    <a:pt x="412750" y="65088"/>
                    <a:pt x="406400" y="38100"/>
                    <a:pt x="333375" y="19050"/>
                  </a:cubicBezTo>
                  <a:cubicBezTo>
                    <a:pt x="260350" y="0"/>
                    <a:pt x="130175" y="0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4" name="Freeform 12">
              <a:extLst>
                <a:ext uri="{FF2B5EF4-FFF2-40B4-BE49-F238E27FC236}">
                  <a16:creationId xmlns:a16="http://schemas.microsoft.com/office/drawing/2014/main" id="{62BA2F04-772F-433A-E4F9-E05FBB552D31}"/>
                </a:ext>
              </a:extLst>
            </p:cNvPr>
            <p:cNvSpPr/>
            <p:nvPr/>
          </p:nvSpPr>
          <p:spPr>
            <a:xfrm rot="5617287">
              <a:off x="5296666" y="5843036"/>
              <a:ext cx="333375" cy="238125"/>
            </a:xfrm>
            <a:custGeom>
              <a:avLst/>
              <a:gdLst>
                <a:gd name="connsiteX0" fmla="*/ 485775 w 485775"/>
                <a:gd name="connsiteY0" fmla="*/ 314325 h 314325"/>
                <a:gd name="connsiteX1" fmla="*/ 438150 w 485775"/>
                <a:gd name="connsiteY1" fmla="*/ 114300 h 314325"/>
                <a:gd name="connsiteX2" fmla="*/ 333375 w 485775"/>
                <a:gd name="connsiteY2" fmla="*/ 19050 h 314325"/>
                <a:gd name="connsiteX3" fmla="*/ 0 w 485775"/>
                <a:gd name="connsiteY3" fmla="*/ 0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775" h="314325">
                  <a:moveTo>
                    <a:pt x="485775" y="314325"/>
                  </a:moveTo>
                  <a:cubicBezTo>
                    <a:pt x="474662" y="238918"/>
                    <a:pt x="463550" y="163512"/>
                    <a:pt x="438150" y="114300"/>
                  </a:cubicBezTo>
                  <a:cubicBezTo>
                    <a:pt x="412750" y="65088"/>
                    <a:pt x="406400" y="38100"/>
                    <a:pt x="333375" y="19050"/>
                  </a:cubicBezTo>
                  <a:cubicBezTo>
                    <a:pt x="260350" y="0"/>
                    <a:pt x="130175" y="0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5" name="Freeform 13">
              <a:extLst>
                <a:ext uri="{FF2B5EF4-FFF2-40B4-BE49-F238E27FC236}">
                  <a16:creationId xmlns:a16="http://schemas.microsoft.com/office/drawing/2014/main" id="{5E06F237-F3C1-F428-9A7A-9CA1B99830F7}"/>
                </a:ext>
              </a:extLst>
            </p:cNvPr>
            <p:cNvSpPr/>
            <p:nvPr/>
          </p:nvSpPr>
          <p:spPr>
            <a:xfrm>
              <a:off x="3411394" y="5846201"/>
              <a:ext cx="381000" cy="285248"/>
            </a:xfrm>
            <a:custGeom>
              <a:avLst/>
              <a:gdLst>
                <a:gd name="connsiteX0" fmla="*/ 619125 w 619125"/>
                <a:gd name="connsiteY0" fmla="*/ 400050 h 400050"/>
                <a:gd name="connsiteX1" fmla="*/ 257175 w 619125"/>
                <a:gd name="connsiteY1" fmla="*/ 361950 h 400050"/>
                <a:gd name="connsiteX2" fmla="*/ 47625 w 619125"/>
                <a:gd name="connsiteY2" fmla="*/ 247650 h 400050"/>
                <a:gd name="connsiteX3" fmla="*/ 0 w 619125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125" h="400050">
                  <a:moveTo>
                    <a:pt x="619125" y="400050"/>
                  </a:moveTo>
                  <a:cubicBezTo>
                    <a:pt x="485775" y="393700"/>
                    <a:pt x="352425" y="387350"/>
                    <a:pt x="257175" y="361950"/>
                  </a:cubicBezTo>
                  <a:cubicBezTo>
                    <a:pt x="161925" y="336550"/>
                    <a:pt x="90487" y="307975"/>
                    <a:pt x="47625" y="247650"/>
                  </a:cubicBezTo>
                  <a:cubicBezTo>
                    <a:pt x="4763" y="187325"/>
                    <a:pt x="2381" y="93662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6" name="TextBox 405">
              <a:extLst>
                <a:ext uri="{FF2B5EF4-FFF2-40B4-BE49-F238E27FC236}">
                  <a16:creationId xmlns:a16="http://schemas.microsoft.com/office/drawing/2014/main" id="{3F8E75C0-FB56-E962-9AD9-7AB7A1287743}"/>
                </a:ext>
              </a:extLst>
            </p:cNvPr>
            <p:cNvSpPr txBox="1"/>
            <p:nvPr/>
          </p:nvSpPr>
          <p:spPr>
            <a:xfrm>
              <a:off x="7239000" y="4267200"/>
              <a:ext cx="19050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b="1" kern="1200" dirty="0">
                  <a:solidFill>
                    <a:srgbClr val="C00000"/>
                  </a:solidFill>
                  <a:latin typeface="Bradley Hand ITC" pitchFamily="66" charset="0"/>
                  <a:ea typeface="+mn-ea"/>
                  <a:cs typeface="+mn-cs"/>
                </a:rPr>
                <a:t>White-box view of ComponentA shows how the external behavior is realized internally </a:t>
              </a:r>
            </a:p>
            <a:p>
              <a:pPr algn="ctr">
                <a:buClrTx/>
                <a:buFontTx/>
                <a:buNone/>
              </a:pPr>
              <a:endParaRPr lang="en-US" b="1" kern="1200" dirty="0">
                <a:solidFill>
                  <a:srgbClr val="C00000"/>
                </a:solidFill>
                <a:latin typeface="Bradley Hand ITC" pitchFamily="66" charset="0"/>
                <a:ea typeface="+mn-ea"/>
                <a:cs typeface="+mn-cs"/>
              </a:endParaRPr>
            </a:p>
          </p:txBody>
        </p:sp>
        <p:sp>
          <p:nvSpPr>
            <p:cNvPr id="407" name="Freeform 17">
              <a:extLst>
                <a:ext uri="{FF2B5EF4-FFF2-40B4-BE49-F238E27FC236}">
                  <a16:creationId xmlns:a16="http://schemas.microsoft.com/office/drawing/2014/main" id="{223BF477-18CD-2638-1D29-B6F1B4084C33}"/>
                </a:ext>
              </a:extLst>
            </p:cNvPr>
            <p:cNvSpPr/>
            <p:nvPr/>
          </p:nvSpPr>
          <p:spPr>
            <a:xfrm rot="16200000">
              <a:off x="6595975" y="4550834"/>
              <a:ext cx="381000" cy="880533"/>
            </a:xfrm>
            <a:custGeom>
              <a:avLst/>
              <a:gdLst>
                <a:gd name="connsiteX0" fmla="*/ 619125 w 619125"/>
                <a:gd name="connsiteY0" fmla="*/ 400050 h 400050"/>
                <a:gd name="connsiteX1" fmla="*/ 257175 w 619125"/>
                <a:gd name="connsiteY1" fmla="*/ 361950 h 400050"/>
                <a:gd name="connsiteX2" fmla="*/ 47625 w 619125"/>
                <a:gd name="connsiteY2" fmla="*/ 247650 h 400050"/>
                <a:gd name="connsiteX3" fmla="*/ 0 w 619125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125" h="400050">
                  <a:moveTo>
                    <a:pt x="619125" y="400050"/>
                  </a:moveTo>
                  <a:cubicBezTo>
                    <a:pt x="485775" y="393700"/>
                    <a:pt x="352425" y="387350"/>
                    <a:pt x="257175" y="361950"/>
                  </a:cubicBezTo>
                  <a:cubicBezTo>
                    <a:pt x="161925" y="336550"/>
                    <a:pt x="90487" y="307975"/>
                    <a:pt x="47625" y="247650"/>
                  </a:cubicBezTo>
                  <a:cubicBezTo>
                    <a:pt x="4763" y="187325"/>
                    <a:pt x="2381" y="93662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2034E0AD-E339-F9CE-FFE1-508B063DECF0}"/>
                </a:ext>
              </a:extLst>
            </p:cNvPr>
            <p:cNvSpPr txBox="1"/>
            <p:nvPr/>
          </p:nvSpPr>
          <p:spPr>
            <a:xfrm>
              <a:off x="457200" y="4953000"/>
              <a:ext cx="14478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en-US" b="1" kern="1200" dirty="0">
                  <a:solidFill>
                    <a:srgbClr val="C00000"/>
                  </a:solidFill>
                  <a:latin typeface="Bradley Hand ITC" pitchFamily="66" charset="0"/>
                  <a:ea typeface="+mn-ea"/>
                  <a:cs typeface="+mn-cs"/>
                </a:rPr>
                <a:t>Black-box view of ComponentB</a:t>
              </a:r>
            </a:p>
          </p:txBody>
        </p:sp>
        <p:sp>
          <p:nvSpPr>
            <p:cNvPr id="409" name="Freeform 19">
              <a:extLst>
                <a:ext uri="{FF2B5EF4-FFF2-40B4-BE49-F238E27FC236}">
                  <a16:creationId xmlns:a16="http://schemas.microsoft.com/office/drawing/2014/main" id="{D9BF2DC6-22FC-8574-CB13-C827B3FCAFA2}"/>
                </a:ext>
              </a:extLst>
            </p:cNvPr>
            <p:cNvSpPr/>
            <p:nvPr/>
          </p:nvSpPr>
          <p:spPr>
            <a:xfrm>
              <a:off x="1885950" y="4897438"/>
              <a:ext cx="2085975" cy="522287"/>
            </a:xfrm>
            <a:custGeom>
              <a:avLst/>
              <a:gdLst>
                <a:gd name="connsiteX0" fmla="*/ 0 w 2085975"/>
                <a:gd name="connsiteY0" fmla="*/ 293687 h 522287"/>
                <a:gd name="connsiteX1" fmla="*/ 838200 w 2085975"/>
                <a:gd name="connsiteY1" fmla="*/ 74612 h 522287"/>
                <a:gd name="connsiteX2" fmla="*/ 1476375 w 2085975"/>
                <a:gd name="connsiteY2" fmla="*/ 74612 h 522287"/>
                <a:gd name="connsiteX3" fmla="*/ 2085975 w 2085975"/>
                <a:gd name="connsiteY3" fmla="*/ 522287 h 52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5975" h="522287">
                  <a:moveTo>
                    <a:pt x="0" y="293687"/>
                  </a:moveTo>
                  <a:cubicBezTo>
                    <a:pt x="296069" y="202405"/>
                    <a:pt x="592138" y="111124"/>
                    <a:pt x="838200" y="74612"/>
                  </a:cubicBezTo>
                  <a:cubicBezTo>
                    <a:pt x="1084262" y="38100"/>
                    <a:pt x="1268413" y="0"/>
                    <a:pt x="1476375" y="74612"/>
                  </a:cubicBezTo>
                  <a:cubicBezTo>
                    <a:pt x="1684338" y="149225"/>
                    <a:pt x="1885156" y="335756"/>
                    <a:pt x="2085975" y="522287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6566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14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23CB46-BBED-AEA2-3246-6AE9A2985E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5383" y="1184013"/>
            <a:ext cx="9250066" cy="5249008"/>
          </a:xfrm>
          <a:prstGeom prst="rect">
            <a:avLst/>
          </a:prstGeom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09696" y="551150"/>
            <a:ext cx="7675351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STRUCTURE MODEL (COMPONENT DIAGRAM)</a:t>
            </a:r>
            <a:endParaRPr sz="2500" dirty="0"/>
          </a:p>
        </p:txBody>
      </p:sp>
    </p:spTree>
    <p:extLst>
      <p:ext uri="{BB962C8B-B14F-4D97-AF65-F5344CB8AC3E}">
        <p14:creationId xmlns:p14="http://schemas.microsoft.com/office/powerpoint/2010/main" val="3120517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15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09696" y="551150"/>
            <a:ext cx="7675351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STRUCTURE MODEL (CLASS DIAGRAM)</a:t>
            </a:r>
            <a:endParaRPr sz="25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71F30E-B489-9122-B054-FB8E081B4A1D}"/>
              </a:ext>
            </a:extLst>
          </p:cNvPr>
          <p:cNvGrpSpPr/>
          <p:nvPr/>
        </p:nvGrpSpPr>
        <p:grpSpPr>
          <a:xfrm>
            <a:off x="1981200" y="1371601"/>
            <a:ext cx="8229600" cy="5029199"/>
            <a:chOff x="457200" y="1371601"/>
            <a:chExt cx="8229600" cy="5029199"/>
          </a:xfrm>
        </p:grpSpPr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716B33EC-B054-3438-6E67-57C2EC50A55B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1371601"/>
              <a:ext cx="8229600" cy="358139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Wingdings" pitchFamily="2" charset="2"/>
                <a:buChar char="Ø"/>
                <a:defRPr sz="20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Wingdings" pitchFamily="2" charset="2"/>
                <a:buChar char="ü"/>
                <a:defRPr sz="18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2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Times New Roman" pitchFamily="18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Ø"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Class diagrams exist at a lower level of abstraction than component diagrams.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ü"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Models consisting of classes and relationships between them necessary to achieve a system’s functionality.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ü"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Weather a class diagram is created or not, the code of an object-oriented systems will always reflect some class design.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ü"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Therefore, there is two-way relationship between class diagrams and object-oriented code.</a:t>
              </a:r>
            </a:p>
            <a:p>
              <a:pPr marL="1143000" marR="0" lvl="2" indent="-2286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Class diagrams can be transformed to code (i.e., forward engineering)</a:t>
              </a:r>
            </a:p>
            <a:p>
              <a:pPr marL="1143000" marR="0" lvl="2" indent="-2286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Code can be transformed into class diagrams (i.e., reverse engineering)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ü"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This makes class diagrams the most powerful tool for designers to model the characteristics of object-oriented software before the construction phase.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Ø"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Ø"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To become an effective designer, it is essential to understand the direct mapping between class diagrams and code.  Let’s take a closer look at the fundamental unit of the UML class diagram: the class.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07B7F0EC-4D18-C6E1-BB00-FB9E1D9B2A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657600" y="4800600"/>
              <a:ext cx="2352675" cy="1524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C32253C-730A-BF9C-F8DD-ADC43EC05F28}"/>
                </a:ext>
              </a:extLst>
            </p:cNvPr>
            <p:cNvSpPr txBox="1"/>
            <p:nvPr/>
          </p:nvSpPr>
          <p:spPr>
            <a:xfrm>
              <a:off x="2438400" y="4953000"/>
              <a:ext cx="13716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en-US" b="1" kern="1200" dirty="0">
                  <a:solidFill>
                    <a:srgbClr val="C00000"/>
                  </a:solidFill>
                  <a:latin typeface="Bradley Hand ITC" pitchFamily="66" charset="0"/>
                  <a:ea typeface="+mn-ea"/>
                  <a:cs typeface="+mn-cs"/>
                </a:rPr>
                <a:t>Name compartment</a:t>
              </a:r>
            </a:p>
            <a:p>
              <a:pPr algn="ctr">
                <a:buClrTx/>
                <a:buFontTx/>
                <a:buNone/>
              </a:pPr>
              <a:endParaRPr lang="en-US" b="1" kern="1200" dirty="0">
                <a:solidFill>
                  <a:srgbClr val="C00000"/>
                </a:solidFill>
                <a:latin typeface="Bradley Hand ITC" pitchFamily="66" charset="0"/>
                <a:ea typeface="+mn-ea"/>
                <a:cs typeface="+mn-cs"/>
              </a:endParaRPr>
            </a:p>
          </p:txBody>
        </p:sp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8B8C4479-AD03-FABE-9FAC-EDF10CD21F23}"/>
                </a:ext>
              </a:extLst>
            </p:cNvPr>
            <p:cNvSpPr/>
            <p:nvPr/>
          </p:nvSpPr>
          <p:spPr>
            <a:xfrm rot="8589367">
              <a:off x="3533925" y="5039207"/>
              <a:ext cx="381000" cy="285248"/>
            </a:xfrm>
            <a:custGeom>
              <a:avLst/>
              <a:gdLst>
                <a:gd name="connsiteX0" fmla="*/ 619125 w 619125"/>
                <a:gd name="connsiteY0" fmla="*/ 400050 h 400050"/>
                <a:gd name="connsiteX1" fmla="*/ 257175 w 619125"/>
                <a:gd name="connsiteY1" fmla="*/ 361950 h 400050"/>
                <a:gd name="connsiteX2" fmla="*/ 47625 w 619125"/>
                <a:gd name="connsiteY2" fmla="*/ 247650 h 400050"/>
                <a:gd name="connsiteX3" fmla="*/ 0 w 619125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125" h="400050">
                  <a:moveTo>
                    <a:pt x="619125" y="400050"/>
                  </a:moveTo>
                  <a:cubicBezTo>
                    <a:pt x="485775" y="393700"/>
                    <a:pt x="352425" y="387350"/>
                    <a:pt x="257175" y="361950"/>
                  </a:cubicBezTo>
                  <a:cubicBezTo>
                    <a:pt x="161925" y="336550"/>
                    <a:pt x="90487" y="307975"/>
                    <a:pt x="47625" y="247650"/>
                  </a:cubicBezTo>
                  <a:cubicBezTo>
                    <a:pt x="4763" y="187325"/>
                    <a:pt x="2381" y="93662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3C3EFF-F0C0-FECE-F662-036AFD1DAE5D}"/>
                </a:ext>
              </a:extLst>
            </p:cNvPr>
            <p:cNvSpPr txBox="1"/>
            <p:nvPr/>
          </p:nvSpPr>
          <p:spPr>
            <a:xfrm>
              <a:off x="5791200" y="5410200"/>
              <a:ext cx="13716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en-US" b="1" kern="1200" dirty="0">
                  <a:solidFill>
                    <a:srgbClr val="C00000"/>
                  </a:solidFill>
                  <a:latin typeface="Bradley Hand ITC" pitchFamily="66" charset="0"/>
                  <a:ea typeface="+mn-ea"/>
                  <a:cs typeface="+mn-cs"/>
                </a:rPr>
                <a:t>Attribute compartment</a:t>
              </a:r>
            </a:p>
            <a:p>
              <a:pPr algn="ctr">
                <a:buClrTx/>
                <a:buFontTx/>
                <a:buNone/>
              </a:pPr>
              <a:endParaRPr lang="en-US" b="1" kern="1200" dirty="0">
                <a:solidFill>
                  <a:srgbClr val="C00000"/>
                </a:solidFill>
                <a:latin typeface="Bradley Hand ITC" pitchFamily="66" charset="0"/>
                <a:ea typeface="+mn-ea"/>
                <a:cs typeface="+mn-cs"/>
              </a:endParaRPr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DF19E76D-B21A-B347-D52F-ADEEC1101589}"/>
                </a:ext>
              </a:extLst>
            </p:cNvPr>
            <p:cNvSpPr/>
            <p:nvPr/>
          </p:nvSpPr>
          <p:spPr>
            <a:xfrm rot="19899402">
              <a:off x="5683535" y="5377850"/>
              <a:ext cx="337003" cy="273550"/>
            </a:xfrm>
            <a:custGeom>
              <a:avLst/>
              <a:gdLst>
                <a:gd name="connsiteX0" fmla="*/ 485775 w 485775"/>
                <a:gd name="connsiteY0" fmla="*/ 314325 h 314325"/>
                <a:gd name="connsiteX1" fmla="*/ 438150 w 485775"/>
                <a:gd name="connsiteY1" fmla="*/ 114300 h 314325"/>
                <a:gd name="connsiteX2" fmla="*/ 333375 w 485775"/>
                <a:gd name="connsiteY2" fmla="*/ 19050 h 314325"/>
                <a:gd name="connsiteX3" fmla="*/ 0 w 485775"/>
                <a:gd name="connsiteY3" fmla="*/ 0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775" h="314325">
                  <a:moveTo>
                    <a:pt x="485775" y="314325"/>
                  </a:moveTo>
                  <a:cubicBezTo>
                    <a:pt x="474662" y="238918"/>
                    <a:pt x="463550" y="163512"/>
                    <a:pt x="438150" y="114300"/>
                  </a:cubicBezTo>
                  <a:cubicBezTo>
                    <a:pt x="412750" y="65088"/>
                    <a:pt x="406400" y="38100"/>
                    <a:pt x="333375" y="19050"/>
                  </a:cubicBezTo>
                  <a:cubicBezTo>
                    <a:pt x="260350" y="0"/>
                    <a:pt x="130175" y="0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3AF0A7-CCF9-1CDD-CA31-1E4941E17B6A}"/>
                </a:ext>
              </a:extLst>
            </p:cNvPr>
            <p:cNvSpPr txBox="1"/>
            <p:nvPr/>
          </p:nvSpPr>
          <p:spPr>
            <a:xfrm>
              <a:off x="2286000" y="5662136"/>
              <a:ext cx="13716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en-US" b="1" kern="1200" dirty="0">
                  <a:solidFill>
                    <a:srgbClr val="C00000"/>
                  </a:solidFill>
                  <a:latin typeface="Bradley Hand ITC" pitchFamily="66" charset="0"/>
                  <a:ea typeface="+mn-ea"/>
                  <a:cs typeface="+mn-cs"/>
                </a:rPr>
                <a:t>Operation compartment</a:t>
              </a:r>
            </a:p>
            <a:p>
              <a:pPr algn="ctr">
                <a:buClrTx/>
                <a:buFontTx/>
                <a:buNone/>
              </a:pPr>
              <a:endParaRPr lang="en-US" b="1" kern="1200" dirty="0">
                <a:solidFill>
                  <a:srgbClr val="C00000"/>
                </a:solidFill>
                <a:latin typeface="Bradley Hand ITC" pitchFamily="66" charset="0"/>
                <a:ea typeface="+mn-ea"/>
                <a:cs typeface="+mn-cs"/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3F5C2994-353F-8F73-B866-EBB2C9D260F7}"/>
                </a:ext>
              </a:extLst>
            </p:cNvPr>
            <p:cNvSpPr/>
            <p:nvPr/>
          </p:nvSpPr>
          <p:spPr>
            <a:xfrm rot="8589367">
              <a:off x="3457725" y="5748343"/>
              <a:ext cx="381000" cy="285248"/>
            </a:xfrm>
            <a:custGeom>
              <a:avLst/>
              <a:gdLst>
                <a:gd name="connsiteX0" fmla="*/ 619125 w 619125"/>
                <a:gd name="connsiteY0" fmla="*/ 400050 h 400050"/>
                <a:gd name="connsiteX1" fmla="*/ 257175 w 619125"/>
                <a:gd name="connsiteY1" fmla="*/ 361950 h 400050"/>
                <a:gd name="connsiteX2" fmla="*/ 47625 w 619125"/>
                <a:gd name="connsiteY2" fmla="*/ 247650 h 400050"/>
                <a:gd name="connsiteX3" fmla="*/ 0 w 619125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125" h="400050">
                  <a:moveTo>
                    <a:pt x="619125" y="400050"/>
                  </a:moveTo>
                  <a:cubicBezTo>
                    <a:pt x="485775" y="393700"/>
                    <a:pt x="352425" y="387350"/>
                    <a:pt x="257175" y="361950"/>
                  </a:cubicBezTo>
                  <a:cubicBezTo>
                    <a:pt x="161925" y="336550"/>
                    <a:pt x="90487" y="307975"/>
                    <a:pt x="47625" y="247650"/>
                  </a:cubicBezTo>
                  <a:cubicBezTo>
                    <a:pt x="4763" y="187325"/>
                    <a:pt x="2381" y="93662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9450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16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709696" y="551150"/>
            <a:ext cx="7675351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STRUCTURE MODEL (CLASS DIAGRAM)</a:t>
            </a:r>
            <a:endParaRPr sz="2500" dirty="0"/>
          </a:p>
        </p:txBody>
      </p: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35EE494A-8BCA-7877-0618-2AB40943390D}"/>
              </a:ext>
            </a:extLst>
          </p:cNvPr>
          <p:cNvGrpSpPr/>
          <p:nvPr/>
        </p:nvGrpSpPr>
        <p:grpSpPr>
          <a:xfrm>
            <a:off x="1905000" y="1371601"/>
            <a:ext cx="8382000" cy="4929663"/>
            <a:chOff x="457200" y="1371601"/>
            <a:chExt cx="8382000" cy="4929663"/>
          </a:xfrm>
        </p:grpSpPr>
        <p:sp>
          <p:nvSpPr>
            <p:cNvPr id="34" name="Content Placeholder 2">
              <a:extLst>
                <a:ext uri="{FF2B5EF4-FFF2-40B4-BE49-F238E27FC236}">
                  <a16:creationId xmlns:a16="http://schemas.microsoft.com/office/drawing/2014/main" id="{6D16004D-5267-7B69-9EFF-32BA2F64C579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1371601"/>
              <a:ext cx="8229600" cy="4800599"/>
            </a:xfrm>
            <a:prstGeom prst="rect">
              <a:avLst/>
            </a:prstGeom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/>
                <a:t>Example of the </a:t>
              </a:r>
              <a:r>
                <a:rPr lang="en-US" i="1"/>
                <a:t>forward engineering </a:t>
              </a:r>
              <a:r>
                <a:rPr lang="en-US"/>
                <a:t>of a UML class to C++ and Java.</a:t>
              </a:r>
              <a:endParaRPr lang="en-US" dirty="0"/>
            </a:p>
          </p:txBody>
        </p:sp>
        <p:pic>
          <p:nvPicPr>
            <p:cNvPr id="35" name="Picture 4">
              <a:extLst>
                <a:ext uri="{FF2B5EF4-FFF2-40B4-BE49-F238E27FC236}">
                  <a16:creationId xmlns:a16="http://schemas.microsoft.com/office/drawing/2014/main" id="{83E45135-2617-E041-3FC0-500B0B21F8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57200" y="2057400"/>
              <a:ext cx="2695575" cy="3505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" name="Picture 5">
              <a:extLst>
                <a:ext uri="{FF2B5EF4-FFF2-40B4-BE49-F238E27FC236}">
                  <a16:creationId xmlns:a16="http://schemas.microsoft.com/office/drawing/2014/main" id="{1D42C81D-C7DE-53D3-614A-0FFEBE7938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581400" y="3200400"/>
              <a:ext cx="1647825" cy="1152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7" name="Picture 6">
              <a:extLst>
                <a:ext uri="{FF2B5EF4-FFF2-40B4-BE49-F238E27FC236}">
                  <a16:creationId xmlns:a16="http://schemas.microsoft.com/office/drawing/2014/main" id="{10528A53-11A4-EA81-FD93-54DE81D740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743575" y="2057400"/>
              <a:ext cx="3095625" cy="3238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86ACBAF-935E-018C-DF63-75CEE0CAB9E1}"/>
                </a:ext>
              </a:extLst>
            </p:cNvPr>
            <p:cNvSpPr txBox="1"/>
            <p:nvPr/>
          </p:nvSpPr>
          <p:spPr>
            <a:xfrm>
              <a:off x="3305175" y="2438400"/>
              <a:ext cx="2209800" cy="52322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C00000"/>
                  </a:solidFill>
                  <a:latin typeface="Bradley Hand ITC" pitchFamily="66" charset="0"/>
                </a:rPr>
                <a:t>Code generated by free open source Star UML tool.</a:t>
              </a:r>
            </a:p>
          </p:txBody>
        </p:sp>
        <p:sp>
          <p:nvSpPr>
            <p:cNvPr id="39" name="Freeform 19">
              <a:extLst>
                <a:ext uri="{FF2B5EF4-FFF2-40B4-BE49-F238E27FC236}">
                  <a16:creationId xmlns:a16="http://schemas.microsoft.com/office/drawing/2014/main" id="{AB378AF8-2999-00D0-DC73-6EC370410CA0}"/>
                </a:ext>
              </a:extLst>
            </p:cNvPr>
            <p:cNvSpPr/>
            <p:nvPr/>
          </p:nvSpPr>
          <p:spPr>
            <a:xfrm rot="21276757">
              <a:off x="1491771" y="3573618"/>
              <a:ext cx="2478802" cy="457914"/>
            </a:xfrm>
            <a:custGeom>
              <a:avLst/>
              <a:gdLst>
                <a:gd name="connsiteX0" fmla="*/ 2333625 w 2333625"/>
                <a:gd name="connsiteY0" fmla="*/ 74612 h 731837"/>
                <a:gd name="connsiteX1" fmla="*/ 1733550 w 2333625"/>
                <a:gd name="connsiteY1" fmla="*/ 74612 h 731837"/>
                <a:gd name="connsiteX2" fmla="*/ 857250 w 2333625"/>
                <a:gd name="connsiteY2" fmla="*/ 522287 h 731837"/>
                <a:gd name="connsiteX3" fmla="*/ 0 w 2333625"/>
                <a:gd name="connsiteY3" fmla="*/ 731837 h 73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3625" h="731837">
                  <a:moveTo>
                    <a:pt x="2333625" y="74612"/>
                  </a:moveTo>
                  <a:cubicBezTo>
                    <a:pt x="2156618" y="37306"/>
                    <a:pt x="1979612" y="0"/>
                    <a:pt x="1733550" y="74612"/>
                  </a:cubicBezTo>
                  <a:cubicBezTo>
                    <a:pt x="1487488" y="149224"/>
                    <a:pt x="1146175" y="412749"/>
                    <a:pt x="857250" y="522287"/>
                  </a:cubicBezTo>
                  <a:cubicBezTo>
                    <a:pt x="568325" y="631825"/>
                    <a:pt x="284162" y="681831"/>
                    <a:pt x="0" y="731837"/>
                  </a:cubicBezTo>
                </a:path>
              </a:pathLst>
            </a:custGeom>
            <a:ln>
              <a:solidFill>
                <a:srgbClr val="C00000"/>
              </a:solidFill>
              <a:headEnd type="diamond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7192F39-5513-CC14-C19F-CD5C963C7E8B}"/>
                </a:ext>
              </a:extLst>
            </p:cNvPr>
            <p:cNvSpPr txBox="1"/>
            <p:nvPr/>
          </p:nvSpPr>
          <p:spPr>
            <a:xfrm rot="20426882">
              <a:off x="1827575" y="3547981"/>
              <a:ext cx="1828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C00000"/>
                  </a:solidFill>
                  <a:latin typeface="Bradley Hand ITC" pitchFamily="66" charset="0"/>
                </a:rPr>
                <a:t>Class name</a:t>
              </a:r>
            </a:p>
          </p:txBody>
        </p:sp>
        <p:sp>
          <p:nvSpPr>
            <p:cNvPr id="41" name="Left Brace 40">
              <a:extLst>
                <a:ext uri="{FF2B5EF4-FFF2-40B4-BE49-F238E27FC236}">
                  <a16:creationId xmlns:a16="http://schemas.microsoft.com/office/drawing/2014/main" id="{6A6E465F-25F7-C474-6BF6-32A2D5CE8C2D}"/>
                </a:ext>
              </a:extLst>
            </p:cNvPr>
            <p:cNvSpPr/>
            <p:nvPr/>
          </p:nvSpPr>
          <p:spPr>
            <a:xfrm>
              <a:off x="3581400" y="3581400"/>
              <a:ext cx="152400" cy="533400"/>
            </a:xfrm>
            <a:prstGeom prst="leftBrac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22">
              <a:extLst>
                <a:ext uri="{FF2B5EF4-FFF2-40B4-BE49-F238E27FC236}">
                  <a16:creationId xmlns:a16="http://schemas.microsoft.com/office/drawing/2014/main" id="{BE4A13FA-D01B-4CFF-7D72-3DCF3B05077F}"/>
                </a:ext>
              </a:extLst>
            </p:cNvPr>
            <p:cNvSpPr/>
            <p:nvPr/>
          </p:nvSpPr>
          <p:spPr>
            <a:xfrm rot="21072132">
              <a:off x="1961948" y="3885037"/>
              <a:ext cx="1681867" cy="843369"/>
            </a:xfrm>
            <a:custGeom>
              <a:avLst/>
              <a:gdLst>
                <a:gd name="connsiteX0" fmla="*/ 2333625 w 2333625"/>
                <a:gd name="connsiteY0" fmla="*/ 74612 h 731837"/>
                <a:gd name="connsiteX1" fmla="*/ 1733550 w 2333625"/>
                <a:gd name="connsiteY1" fmla="*/ 74612 h 731837"/>
                <a:gd name="connsiteX2" fmla="*/ 857250 w 2333625"/>
                <a:gd name="connsiteY2" fmla="*/ 522287 h 731837"/>
                <a:gd name="connsiteX3" fmla="*/ 0 w 2333625"/>
                <a:gd name="connsiteY3" fmla="*/ 731837 h 73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3625" h="731837">
                  <a:moveTo>
                    <a:pt x="2333625" y="74612"/>
                  </a:moveTo>
                  <a:cubicBezTo>
                    <a:pt x="2156618" y="37306"/>
                    <a:pt x="1979612" y="0"/>
                    <a:pt x="1733550" y="74612"/>
                  </a:cubicBezTo>
                  <a:cubicBezTo>
                    <a:pt x="1487488" y="149224"/>
                    <a:pt x="1146175" y="412749"/>
                    <a:pt x="857250" y="522287"/>
                  </a:cubicBezTo>
                  <a:cubicBezTo>
                    <a:pt x="568325" y="631825"/>
                    <a:pt x="284162" y="681831"/>
                    <a:pt x="0" y="731837"/>
                  </a:cubicBezTo>
                </a:path>
              </a:pathLst>
            </a:custGeom>
            <a:ln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E9AD4AE-29FF-03C8-83BC-5F0BAA3AD5DE}"/>
                </a:ext>
              </a:extLst>
            </p:cNvPr>
            <p:cNvSpPr txBox="1"/>
            <p:nvPr/>
          </p:nvSpPr>
          <p:spPr>
            <a:xfrm rot="20426882">
              <a:off x="2204476" y="4463017"/>
              <a:ext cx="18288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C00000"/>
                  </a:solidFill>
                  <a:latin typeface="Bradley Hand ITC" pitchFamily="66" charset="0"/>
                </a:rPr>
                <a:t>Private and public attributes and operations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D44EA31-7FFD-0973-3839-4EB66D36DD6B}"/>
                </a:ext>
              </a:extLst>
            </p:cNvPr>
            <p:cNvSpPr txBox="1"/>
            <p:nvPr/>
          </p:nvSpPr>
          <p:spPr>
            <a:xfrm>
              <a:off x="2743200" y="5562600"/>
              <a:ext cx="3505200" cy="738664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b="1" u="sng" dirty="0">
                  <a:solidFill>
                    <a:srgbClr val="C00000"/>
                  </a:solidFill>
                  <a:latin typeface="Bradley Hand ITC" pitchFamily="66" charset="0"/>
                </a:rPr>
                <a:t>Important</a:t>
              </a:r>
              <a:r>
                <a:rPr lang="en-US" sz="1400" b="1" dirty="0">
                  <a:solidFill>
                    <a:srgbClr val="C00000"/>
                  </a:solidFill>
                  <a:latin typeface="Bradley Hand ITC" pitchFamily="66" charset="0"/>
                </a:rPr>
                <a:t>:</a:t>
              </a:r>
            </a:p>
            <a:p>
              <a:r>
                <a:rPr lang="en-US" sz="1400" b="1" dirty="0">
                  <a:solidFill>
                    <a:srgbClr val="C00000"/>
                  </a:solidFill>
                  <a:latin typeface="Bradley Hand ITC" pitchFamily="66" charset="0"/>
                </a:rPr>
                <a:t>Notice how the modeled visibility {-, +} next to attribute and operations translate to code!  </a:t>
              </a:r>
            </a:p>
          </p:txBody>
        </p:sp>
        <p:sp>
          <p:nvSpPr>
            <p:cNvPr id="45" name="Freeform 25">
              <a:extLst>
                <a:ext uri="{FF2B5EF4-FFF2-40B4-BE49-F238E27FC236}">
                  <a16:creationId xmlns:a16="http://schemas.microsoft.com/office/drawing/2014/main" id="{F1991CD2-B2BD-2C2B-BE85-54596605E5E1}"/>
                </a:ext>
              </a:extLst>
            </p:cNvPr>
            <p:cNvSpPr/>
            <p:nvPr/>
          </p:nvSpPr>
          <p:spPr>
            <a:xfrm>
              <a:off x="4914900" y="3663950"/>
              <a:ext cx="1076325" cy="184150"/>
            </a:xfrm>
            <a:custGeom>
              <a:avLst/>
              <a:gdLst>
                <a:gd name="connsiteX0" fmla="*/ 0 w 1076325"/>
                <a:gd name="connsiteY0" fmla="*/ 22225 h 184150"/>
                <a:gd name="connsiteX1" fmla="*/ 323850 w 1076325"/>
                <a:gd name="connsiteY1" fmla="*/ 22225 h 184150"/>
                <a:gd name="connsiteX2" fmla="*/ 647700 w 1076325"/>
                <a:gd name="connsiteY2" fmla="*/ 155575 h 184150"/>
                <a:gd name="connsiteX3" fmla="*/ 1076325 w 1076325"/>
                <a:gd name="connsiteY3" fmla="*/ 184150 h 18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6325" h="184150">
                  <a:moveTo>
                    <a:pt x="0" y="22225"/>
                  </a:moveTo>
                  <a:cubicBezTo>
                    <a:pt x="107950" y="11112"/>
                    <a:pt x="215900" y="0"/>
                    <a:pt x="323850" y="22225"/>
                  </a:cubicBezTo>
                  <a:cubicBezTo>
                    <a:pt x="431800" y="44450"/>
                    <a:pt x="522288" y="128588"/>
                    <a:pt x="647700" y="155575"/>
                  </a:cubicBezTo>
                  <a:cubicBezTo>
                    <a:pt x="773113" y="182563"/>
                    <a:pt x="924719" y="183356"/>
                    <a:pt x="1076325" y="184150"/>
                  </a:cubicBezTo>
                </a:path>
              </a:pathLst>
            </a:custGeom>
            <a:ln>
              <a:solidFill>
                <a:srgbClr val="C00000"/>
              </a:solidFill>
              <a:headEnd type="diamond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88E2082B-5A3F-9867-86B7-5DBDBF233EC4}"/>
                </a:ext>
              </a:extLst>
            </p:cNvPr>
            <p:cNvSpPr txBox="1"/>
            <p:nvPr/>
          </p:nvSpPr>
          <p:spPr>
            <a:xfrm rot="889377">
              <a:off x="4416822" y="4264450"/>
              <a:ext cx="126598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C00000"/>
                  </a:solidFill>
                  <a:latin typeface="Bradley Hand ITC" pitchFamily="66" charset="0"/>
                </a:rPr>
                <a:t>Attribute name, type, and visibility</a:t>
              </a:r>
            </a:p>
          </p:txBody>
        </p:sp>
        <p:sp>
          <p:nvSpPr>
            <p:cNvPr id="396" name="Freeform 27">
              <a:extLst>
                <a:ext uri="{FF2B5EF4-FFF2-40B4-BE49-F238E27FC236}">
                  <a16:creationId xmlns:a16="http://schemas.microsoft.com/office/drawing/2014/main" id="{833D362E-341F-31F0-1D88-4C902EB14F48}"/>
                </a:ext>
              </a:extLst>
            </p:cNvPr>
            <p:cNvSpPr/>
            <p:nvPr/>
          </p:nvSpPr>
          <p:spPr>
            <a:xfrm>
              <a:off x="5114925" y="3771900"/>
              <a:ext cx="304800" cy="514350"/>
            </a:xfrm>
            <a:custGeom>
              <a:avLst/>
              <a:gdLst>
                <a:gd name="connsiteX0" fmla="*/ 304800 w 304800"/>
                <a:gd name="connsiteY0" fmla="*/ 0 h 514350"/>
                <a:gd name="connsiteX1" fmla="*/ 171450 w 304800"/>
                <a:gd name="connsiteY1" fmla="*/ 114300 h 514350"/>
                <a:gd name="connsiteX2" fmla="*/ 0 w 304800"/>
                <a:gd name="connsiteY2" fmla="*/ 514350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4800" h="514350">
                  <a:moveTo>
                    <a:pt x="304800" y="0"/>
                  </a:moveTo>
                  <a:cubicBezTo>
                    <a:pt x="263525" y="14287"/>
                    <a:pt x="222250" y="28575"/>
                    <a:pt x="171450" y="114300"/>
                  </a:cubicBezTo>
                  <a:cubicBezTo>
                    <a:pt x="120650" y="200025"/>
                    <a:pt x="60325" y="357187"/>
                    <a:pt x="0" y="514350"/>
                  </a:cubicBezTo>
                </a:path>
              </a:pathLst>
            </a:custGeom>
            <a:ln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2636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17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343;p24">
            <a:extLst>
              <a:ext uri="{FF2B5EF4-FFF2-40B4-BE49-F238E27FC236}">
                <a16:creationId xmlns:a16="http://schemas.microsoft.com/office/drawing/2014/main" id="{E695E45E-85EB-1A33-B039-B9236A2D2BB0}"/>
              </a:ext>
            </a:extLst>
          </p:cNvPr>
          <p:cNvSpPr txBox="1"/>
          <p:nvPr/>
        </p:nvSpPr>
        <p:spPr>
          <a:xfrm>
            <a:off x="601449" y="500329"/>
            <a:ext cx="4209776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cs typeface="Poppins Medium"/>
                <a:sym typeface="Poppins Medium"/>
              </a:rPr>
              <a:t>STRUCTURE MODEL (CLASS DIAGRAM)</a:t>
            </a:r>
            <a:endParaRPr sz="2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E1EB58-A76A-3F64-EAE7-DD2F5024E51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102" b="99114" l="986" r="99781">
                        <a14:foregroundMark x1="8762" y1="84047" x2="46331" y2="13885"/>
                        <a14:foregroundMark x1="79492" y1="44890" x2="88828" y2="53619"/>
                        <a14:foregroundMark x1="46331" y1="13885" x2="76189" y2="41802"/>
                        <a14:foregroundMark x1="88828" y1="53619" x2="87185" y2="70753"/>
                        <a14:foregroundMark x1="87185" y1="70753" x2="80723" y2="81684"/>
                        <a14:foregroundMark x1="80723" y1="81684" x2="55093" y2="94387"/>
                        <a14:foregroundMark x1="55093" y1="94387" x2="23549" y2="74151"/>
                        <a14:foregroundMark x1="18034" y1="40628" x2="16429" y2="30871"/>
                        <a14:foregroundMark x1="23549" y1="74151" x2="18294" y2="42203"/>
                        <a14:foregroundMark x1="16429" y1="30871" x2="21030" y2="17282"/>
                        <a14:foregroundMark x1="21030" y1="17282" x2="42059" y2="10340"/>
                        <a14:foregroundMark x1="42059" y1="10340" x2="83023" y2="20384"/>
                        <a14:foregroundMark x1="83023" y1="20384" x2="99781" y2="83161"/>
                        <a14:foregroundMark x1="99781" y1="83161" x2="99781" y2="83161"/>
                        <a14:foregroundMark x1="9748" y1="31019" x2="14786" y2="41507"/>
                        <a14:foregroundMark x1="14292" y1="45948" x2="12158" y2="65140"/>
                        <a14:foregroundMark x1="14786" y1="41507" x2="14648" y2="42752"/>
                        <a14:foregroundMark x1="8434" y1="18168" x2="5586" y2="86854"/>
                        <a14:foregroundMark x1="5586" y1="86854" x2="6024" y2="88626"/>
                        <a14:foregroundMark x1="2957" y1="96750" x2="25192" y2="95569"/>
                        <a14:foregroundMark x1="25192" y1="95569" x2="58817" y2="98080"/>
                        <a14:foregroundMark x1="58817" y1="98080" x2="69770" y2="97784"/>
                        <a14:foregroundMark x1="2629" y1="96750" x2="23439" y2="97932"/>
                        <a14:foregroundMark x1="1095" y1="97194" x2="24096" y2="99114"/>
                        <a14:foregroundMark x1="31544" y1="3102" x2="66265" y2="4874"/>
                        <a14:backgroundMark x1="14348" y1="43427" x2="17634" y2="42984"/>
                        <a14:backgroundMark x1="14348" y1="42984" x2="18072" y2="42688"/>
                        <a14:backgroundMark x1="14567" y1="43870" x2="17525" y2="43575"/>
                        <a14:backgroundMark x1="17744" y1="43427" x2="15663" y2="42836"/>
                        <a14:backgroundMark x1="48083" y1="21861" x2="47317" y2="21566"/>
                        <a14:backgroundMark x1="51698" y1="21418" x2="48850" y2="21566"/>
                        <a14:backgroundMark x1="50383" y1="22452" x2="49288" y2="22452"/>
                        <a14:backgroundMark x1="50602" y1="22452" x2="47974" y2="22452"/>
                        <a14:backgroundMark x1="76670" y1="43427" x2="80394" y2="42836"/>
                        <a14:backgroundMark x1="77218" y1="43279" x2="80394" y2="42984"/>
                        <a14:backgroundMark x1="75794" y1="42688" x2="79299" y2="42245"/>
                      </a14:backgroundRemoval>
                    </a14:imgEffect>
                  </a14:imgLayer>
                </a14:imgProps>
              </a:ext>
            </a:extLst>
          </a:blip>
          <a:srcRect l="1289" t="1907" r="1602" b="1321"/>
          <a:stretch/>
        </p:blipFill>
        <p:spPr>
          <a:xfrm>
            <a:off x="601449" y="1776527"/>
            <a:ext cx="6199632" cy="4581144"/>
          </a:xfrm>
          <a:prstGeom prst="rect">
            <a:avLst/>
          </a:prstGeom>
          <a:ln>
            <a:solidFill>
              <a:schemeClr val="accent3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B83DC8-2066-7A23-8512-13DD3286928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703" b="98280" l="1223" r="97178">
                        <a14:foregroundMark x1="5174" y1="74693" x2="28975" y2="80098"/>
                        <a14:foregroundMark x1="28975" y1="80098" x2="77234" y2="69042"/>
                        <a14:foregroundMark x1="77234" y1="69042" x2="46660" y2="30221"/>
                        <a14:foregroundMark x1="46660" y1="30221" x2="12982" y2="19165"/>
                        <a14:foregroundMark x1="54666" y1="15272" x2="94544" y2="11548"/>
                        <a14:foregroundMark x1="12982" y1="19165" x2="49181" y2="15785"/>
                        <a14:foregroundMark x1="94544" y1="11548" x2="95579" y2="14496"/>
                        <a14:foregroundMark x1="1317" y1="14742" x2="6867" y2="94349"/>
                        <a14:foregroundMark x1="6867" y1="94349" x2="2916" y2="75184"/>
                        <a14:foregroundMark x1="1505" y1="79607" x2="7056" y2="80835"/>
                        <a14:foregroundMark x1="57291" y1="80344" x2="73848" y2="81818"/>
                        <a14:foregroundMark x1="73848" y1="81818" x2="85042" y2="81081"/>
                        <a14:foregroundMark x1="84196" y1="19165" x2="97178" y2="29238"/>
                        <a14:foregroundMark x1="25964" y1="3194" x2="41769" y2="5651"/>
                        <a14:foregroundMark x1="63029" y1="20885" x2="71778" y2="21867"/>
                        <a14:foregroundMark x1="71778" y1="21867" x2="79116" y2="21376"/>
                        <a14:foregroundMark x1="40546" y1="95086" x2="51834" y2="97297"/>
                        <a14:foregroundMark x1="51834" y1="97297" x2="55597" y2="93612"/>
                        <a14:foregroundMark x1="16275" y1="92383" x2="28410" y2="98280"/>
                        <a14:backgroundMark x1="29821" y1="54545" x2="34525" y2="53808"/>
                        <a14:backgroundMark x1="29821" y1="53071" x2="34243" y2="52088"/>
                        <a14:backgroundMark x1="42239" y1="44472" x2="47131" y2="45700"/>
                        <a14:backgroundMark x1="50517" y1="16953" x2="54563" y2="15725"/>
                        <a14:backgroundMark x1="49953" y1="13268" x2="53622" y2="16462"/>
                        <a14:backgroundMark x1="42709" y1="43735" x2="46096" y2="46929"/>
                        <a14:backgroundMark x1="42897" y1="45700" x2="45814" y2="45455"/>
                      </a14:backgroundRemoval>
                    </a14:imgEffect>
                  </a14:imgLayer>
                </a14:imgProps>
              </a:ext>
            </a:extLst>
          </a:blip>
          <a:srcRect l="1393" t="4017" r="1169" b="3204"/>
          <a:stretch/>
        </p:blipFill>
        <p:spPr>
          <a:xfrm>
            <a:off x="5829831" y="1362063"/>
            <a:ext cx="5760720" cy="2112265"/>
          </a:xfrm>
          <a:prstGeom prst="rect">
            <a:avLst/>
          </a:prstGeom>
          <a:ln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1742472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0" name="Google Shape;1190;p51"/>
          <p:cNvGrpSpPr/>
          <p:nvPr/>
        </p:nvGrpSpPr>
        <p:grpSpPr>
          <a:xfrm>
            <a:off x="9734963" y="5647537"/>
            <a:ext cx="166688" cy="149219"/>
            <a:chOff x="11258550" y="6548438"/>
            <a:chExt cx="222250" cy="200025"/>
          </a:xfrm>
        </p:grpSpPr>
        <p:sp>
          <p:nvSpPr>
            <p:cNvPr id="1191" name="Google Shape;1191;p51"/>
            <p:cNvSpPr/>
            <p:nvPr/>
          </p:nvSpPr>
          <p:spPr>
            <a:xfrm>
              <a:off x="11258550" y="6548438"/>
              <a:ext cx="222250" cy="200025"/>
            </a:xfrm>
            <a:custGeom>
              <a:avLst/>
              <a:gdLst/>
              <a:ahLst/>
              <a:cxnLst/>
              <a:rect l="l" t="t" r="r" b="b"/>
              <a:pathLst>
                <a:path w="248" h="220" extrusionOk="0">
                  <a:moveTo>
                    <a:pt x="0" y="212"/>
                  </a:moveTo>
                  <a:cubicBezTo>
                    <a:pt x="0" y="216"/>
                    <a:pt x="4" y="220"/>
                    <a:pt x="8" y="220"/>
                  </a:cubicBezTo>
                  <a:cubicBezTo>
                    <a:pt x="240" y="220"/>
                    <a:pt x="240" y="220"/>
                    <a:pt x="240" y="220"/>
                  </a:cubicBezTo>
                  <a:cubicBezTo>
                    <a:pt x="244" y="220"/>
                    <a:pt x="248" y="216"/>
                    <a:pt x="248" y="212"/>
                  </a:cubicBezTo>
                  <a:cubicBezTo>
                    <a:pt x="248" y="76"/>
                    <a:pt x="248" y="76"/>
                    <a:pt x="248" y="76"/>
                  </a:cubicBezTo>
                  <a:cubicBezTo>
                    <a:pt x="248" y="71"/>
                    <a:pt x="244" y="68"/>
                    <a:pt x="240" y="68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4" y="68"/>
                    <a:pt x="0" y="71"/>
                    <a:pt x="0" y="76"/>
                  </a:cubicBezTo>
                  <a:lnTo>
                    <a:pt x="0" y="212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92" name="Google Shape;1192;p51"/>
            <p:cNvSpPr/>
            <p:nvPr/>
          </p:nvSpPr>
          <p:spPr>
            <a:xfrm>
              <a:off x="11258550" y="6614403"/>
              <a:ext cx="222250" cy="134060"/>
            </a:xfrm>
            <a:custGeom>
              <a:avLst/>
              <a:gdLst/>
              <a:ahLst/>
              <a:cxnLst/>
              <a:rect l="l" t="t" r="r" b="b"/>
              <a:pathLst>
                <a:path w="248" h="149" extrusionOk="0">
                  <a:moveTo>
                    <a:pt x="124" y="93"/>
                  </a:moveTo>
                  <a:cubicBezTo>
                    <a:pt x="90" y="68"/>
                    <a:pt x="0" y="1"/>
                    <a:pt x="0" y="5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45"/>
                    <a:pt x="4" y="149"/>
                    <a:pt x="8" y="149"/>
                  </a:cubicBezTo>
                  <a:cubicBezTo>
                    <a:pt x="240" y="149"/>
                    <a:pt x="240" y="149"/>
                    <a:pt x="240" y="149"/>
                  </a:cubicBezTo>
                  <a:cubicBezTo>
                    <a:pt x="244" y="149"/>
                    <a:pt x="248" y="145"/>
                    <a:pt x="248" y="141"/>
                  </a:cubicBezTo>
                  <a:cubicBezTo>
                    <a:pt x="248" y="5"/>
                    <a:pt x="248" y="5"/>
                    <a:pt x="248" y="5"/>
                  </a:cubicBezTo>
                  <a:cubicBezTo>
                    <a:pt x="248" y="0"/>
                    <a:pt x="124" y="93"/>
                    <a:pt x="124" y="93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193" name="Google Shape;1193;p51"/>
            <p:cNvCxnSpPr/>
            <p:nvPr/>
          </p:nvCxnSpPr>
          <p:spPr>
            <a:xfrm rot="10800000">
              <a:off x="11389867" y="6682408"/>
              <a:ext cx="86700" cy="61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4" name="Google Shape;1194;p51"/>
            <p:cNvCxnSpPr/>
            <p:nvPr/>
          </p:nvCxnSpPr>
          <p:spPr>
            <a:xfrm rot="10800000" flipH="1">
              <a:off x="11262783" y="6682408"/>
              <a:ext cx="84600" cy="61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95" name="Google Shape;1195;p51"/>
          <p:cNvGrpSpPr/>
          <p:nvPr/>
        </p:nvGrpSpPr>
        <p:grpSpPr>
          <a:xfrm>
            <a:off x="9702042" y="5267708"/>
            <a:ext cx="228595" cy="160348"/>
            <a:chOff x="8075613" y="3859213"/>
            <a:chExt cx="306387" cy="214312"/>
          </a:xfrm>
        </p:grpSpPr>
        <p:sp>
          <p:nvSpPr>
            <p:cNvPr id="1196" name="Google Shape;1196;p51"/>
            <p:cNvSpPr/>
            <p:nvPr/>
          </p:nvSpPr>
          <p:spPr>
            <a:xfrm>
              <a:off x="8109656" y="4020477"/>
              <a:ext cx="110640" cy="53048"/>
            </a:xfrm>
            <a:custGeom>
              <a:avLst/>
              <a:gdLst/>
              <a:ahLst/>
              <a:cxnLst/>
              <a:rect l="l" t="t" r="r" b="b"/>
              <a:pathLst>
                <a:path w="89" h="42" extrusionOk="0">
                  <a:moveTo>
                    <a:pt x="89" y="9"/>
                  </a:moveTo>
                  <a:cubicBezTo>
                    <a:pt x="84" y="10"/>
                    <a:pt x="79" y="10"/>
                    <a:pt x="75" y="10"/>
                  </a:cubicBezTo>
                  <a:cubicBezTo>
                    <a:pt x="72" y="10"/>
                    <a:pt x="69" y="10"/>
                    <a:pt x="66" y="10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97" name="Google Shape;1197;p51"/>
            <p:cNvSpPr/>
            <p:nvPr/>
          </p:nvSpPr>
          <p:spPr>
            <a:xfrm>
              <a:off x="8075613" y="3859213"/>
              <a:ext cx="221279" cy="167630"/>
            </a:xfrm>
            <a:custGeom>
              <a:avLst/>
              <a:gdLst/>
              <a:ahLst/>
              <a:cxnLst/>
              <a:rect l="l" t="t" r="r" b="b"/>
              <a:pathLst>
                <a:path w="180" h="135" extrusionOk="0">
                  <a:moveTo>
                    <a:pt x="62" y="135"/>
                  </a:moveTo>
                  <a:cubicBezTo>
                    <a:pt x="58" y="134"/>
                    <a:pt x="53" y="132"/>
                    <a:pt x="49" y="130"/>
                  </a:cubicBezTo>
                  <a:cubicBezTo>
                    <a:pt x="20" y="118"/>
                    <a:pt x="1" y="97"/>
                    <a:pt x="1" y="72"/>
                  </a:cubicBezTo>
                  <a:cubicBezTo>
                    <a:pt x="0" y="33"/>
                    <a:pt x="45" y="1"/>
                    <a:pt x="102" y="0"/>
                  </a:cubicBezTo>
                  <a:cubicBezTo>
                    <a:pt x="133" y="0"/>
                    <a:pt x="161" y="9"/>
                    <a:pt x="180" y="2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98" name="Google Shape;1198;p51"/>
            <p:cNvSpPr/>
            <p:nvPr/>
          </p:nvSpPr>
          <p:spPr>
            <a:xfrm>
              <a:off x="8175615" y="3893163"/>
              <a:ext cx="206385" cy="178239"/>
            </a:xfrm>
            <a:custGeom>
              <a:avLst/>
              <a:gdLst/>
              <a:ahLst/>
              <a:cxnLst/>
              <a:rect l="l" t="t" r="r" b="b"/>
              <a:pathLst>
                <a:path w="169" h="143" extrusionOk="0">
                  <a:moveTo>
                    <a:pt x="119" y="111"/>
                  </a:moveTo>
                  <a:cubicBezTo>
                    <a:pt x="123" y="110"/>
                    <a:pt x="127" y="108"/>
                    <a:pt x="130" y="107"/>
                  </a:cubicBezTo>
                  <a:cubicBezTo>
                    <a:pt x="153" y="96"/>
                    <a:pt x="169" y="78"/>
                    <a:pt x="168" y="57"/>
                  </a:cubicBezTo>
                  <a:cubicBezTo>
                    <a:pt x="168" y="25"/>
                    <a:pt x="130" y="0"/>
                    <a:pt x="83" y="0"/>
                  </a:cubicBezTo>
                  <a:cubicBezTo>
                    <a:pt x="37" y="1"/>
                    <a:pt x="0" y="27"/>
                    <a:pt x="0" y="60"/>
                  </a:cubicBezTo>
                  <a:cubicBezTo>
                    <a:pt x="0" y="92"/>
                    <a:pt x="39" y="117"/>
                    <a:pt x="85" y="116"/>
                  </a:cubicBezTo>
                  <a:cubicBezTo>
                    <a:pt x="87" y="116"/>
                    <a:pt x="90" y="116"/>
                    <a:pt x="92" y="116"/>
                  </a:cubicBezTo>
                  <a:cubicBezTo>
                    <a:pt x="92" y="116"/>
                    <a:pt x="92" y="116"/>
                    <a:pt x="92" y="116"/>
                  </a:cubicBezTo>
                  <a:cubicBezTo>
                    <a:pt x="149" y="143"/>
                    <a:pt x="149" y="143"/>
                    <a:pt x="149" y="143"/>
                  </a:cubicBezTo>
                  <a:cubicBezTo>
                    <a:pt x="130" y="107"/>
                    <a:pt x="130" y="107"/>
                    <a:pt x="130" y="107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199" name="Google Shape;1199;p51"/>
          <p:cNvSpPr txBox="1"/>
          <p:nvPr/>
        </p:nvSpPr>
        <p:spPr>
          <a:xfrm>
            <a:off x="10062924" y="5187055"/>
            <a:ext cx="1593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+013 509 9215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0" name="Google Shape;1200;p51"/>
          <p:cNvSpPr txBox="1"/>
          <p:nvPr/>
        </p:nvSpPr>
        <p:spPr>
          <a:xfrm>
            <a:off x="10062934" y="5620700"/>
            <a:ext cx="19035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khatibsyarbini@utm.my</a:t>
            </a:r>
            <a:endParaRPr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1" name="Google Shape;1201;p5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202" name="Google Shape;1202;p51"/>
          <p:cNvSpPr/>
          <p:nvPr/>
        </p:nvSpPr>
        <p:spPr>
          <a:xfrm>
            <a:off x="6096000" y="5130877"/>
            <a:ext cx="3336300" cy="10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 for your participation. I am very grateful to have the opportunity into this sharing session. If there any enquiries, feels free to contact me.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03" name="Google Shape;120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600" y="511237"/>
            <a:ext cx="4622800" cy="37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9" name="Google Shape;1209;p5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0548" y="4882841"/>
            <a:ext cx="1783499" cy="603213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52"/>
          <p:cNvSpPr txBox="1"/>
          <p:nvPr/>
        </p:nvSpPr>
        <p:spPr>
          <a:xfrm>
            <a:off x="3753095" y="2380689"/>
            <a:ext cx="4707000" cy="8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0" b="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 YOU</a:t>
            </a:r>
            <a:endParaRPr/>
          </a:p>
        </p:txBody>
      </p:sp>
      <p:sp>
        <p:nvSpPr>
          <p:cNvPr id="1211" name="Google Shape;1211;p52"/>
          <p:cNvSpPr txBox="1"/>
          <p:nvPr/>
        </p:nvSpPr>
        <p:spPr>
          <a:xfrm>
            <a:off x="5428912" y="6322009"/>
            <a:ext cx="3802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univteknologimalaysia</a:t>
            </a:r>
            <a:endParaRPr/>
          </a:p>
        </p:txBody>
      </p:sp>
      <p:grpSp>
        <p:nvGrpSpPr>
          <p:cNvPr id="1212" name="Google Shape;1212;p52"/>
          <p:cNvGrpSpPr/>
          <p:nvPr/>
        </p:nvGrpSpPr>
        <p:grpSpPr>
          <a:xfrm>
            <a:off x="5024474" y="6321479"/>
            <a:ext cx="280218" cy="281948"/>
            <a:chOff x="2163763" y="-1266825"/>
            <a:chExt cx="1028700" cy="1035050"/>
          </a:xfrm>
        </p:grpSpPr>
        <p:sp>
          <p:nvSpPr>
            <p:cNvPr id="1213" name="Google Shape;1213;p52"/>
            <p:cNvSpPr/>
            <p:nvPr/>
          </p:nvSpPr>
          <p:spPr>
            <a:xfrm>
              <a:off x="2163763" y="-1266825"/>
              <a:ext cx="1028700" cy="1035050"/>
            </a:xfrm>
            <a:custGeom>
              <a:avLst/>
              <a:gdLst/>
              <a:ahLst/>
              <a:cxnLst/>
              <a:rect l="l" t="t" r="r" b="b"/>
              <a:pathLst>
                <a:path w="396" h="396" extrusionOk="0">
                  <a:moveTo>
                    <a:pt x="198" y="0"/>
                  </a:moveTo>
                  <a:cubicBezTo>
                    <a:pt x="252" y="0"/>
                    <a:pt x="302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2" y="374"/>
                    <a:pt x="252" y="396"/>
                    <a:pt x="198" y="396"/>
                  </a:cubicBezTo>
                  <a:cubicBezTo>
                    <a:pt x="143" y="396"/>
                    <a:pt x="93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3" y="22"/>
                    <a:pt x="143" y="0"/>
                    <a:pt x="198" y="0"/>
                  </a:cubicBezTo>
                  <a:close/>
                  <a:moveTo>
                    <a:pt x="327" y="69"/>
                  </a:moveTo>
                  <a:cubicBezTo>
                    <a:pt x="294" y="36"/>
                    <a:pt x="248" y="15"/>
                    <a:pt x="198" y="15"/>
                  </a:cubicBezTo>
                  <a:cubicBezTo>
                    <a:pt x="147" y="15"/>
                    <a:pt x="102" y="36"/>
                    <a:pt x="69" y="69"/>
                  </a:cubicBezTo>
                  <a:cubicBezTo>
                    <a:pt x="36" y="102"/>
                    <a:pt x="15" y="147"/>
                    <a:pt x="15" y="198"/>
                  </a:cubicBezTo>
                  <a:cubicBezTo>
                    <a:pt x="15" y="248"/>
                    <a:pt x="36" y="294"/>
                    <a:pt x="69" y="327"/>
                  </a:cubicBezTo>
                  <a:cubicBezTo>
                    <a:pt x="102" y="360"/>
                    <a:pt x="147" y="380"/>
                    <a:pt x="198" y="380"/>
                  </a:cubicBezTo>
                  <a:cubicBezTo>
                    <a:pt x="248" y="380"/>
                    <a:pt x="294" y="360"/>
                    <a:pt x="327" y="327"/>
                  </a:cubicBezTo>
                  <a:cubicBezTo>
                    <a:pt x="360" y="294"/>
                    <a:pt x="380" y="248"/>
                    <a:pt x="380" y="198"/>
                  </a:cubicBezTo>
                  <a:cubicBezTo>
                    <a:pt x="380" y="147"/>
                    <a:pt x="360" y="102"/>
                    <a:pt x="327" y="69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14" name="Google Shape;1214;p52"/>
            <p:cNvSpPr/>
            <p:nvPr/>
          </p:nvSpPr>
          <p:spPr>
            <a:xfrm>
              <a:off x="2554288" y="-1014413"/>
              <a:ext cx="246063" cy="528638"/>
            </a:xfrm>
            <a:custGeom>
              <a:avLst/>
              <a:gdLst/>
              <a:ahLst/>
              <a:cxnLst/>
              <a:rect l="l" t="t" r="r" b="b"/>
              <a:pathLst>
                <a:path w="95" h="202" extrusionOk="0">
                  <a:moveTo>
                    <a:pt x="63" y="60"/>
                  </a:moveTo>
                  <a:cubicBezTo>
                    <a:pt x="63" y="44"/>
                    <a:pt x="63" y="44"/>
                    <a:pt x="63" y="44"/>
                  </a:cubicBezTo>
                  <a:cubicBezTo>
                    <a:pt x="63" y="36"/>
                    <a:pt x="68" y="34"/>
                    <a:pt x="72" y="34"/>
                  </a:cubicBezTo>
                  <a:cubicBezTo>
                    <a:pt x="75" y="34"/>
                    <a:pt x="94" y="34"/>
                    <a:pt x="94" y="3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21" y="25"/>
                    <a:pt x="21" y="42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21" y="147"/>
                    <a:pt x="21" y="202"/>
                    <a:pt x="21" y="202"/>
                  </a:cubicBezTo>
                  <a:cubicBezTo>
                    <a:pt x="61" y="202"/>
                    <a:pt x="61" y="202"/>
                    <a:pt x="61" y="202"/>
                  </a:cubicBezTo>
                  <a:cubicBezTo>
                    <a:pt x="61" y="202"/>
                    <a:pt x="61" y="146"/>
                    <a:pt x="61" y="101"/>
                  </a:cubicBezTo>
                  <a:cubicBezTo>
                    <a:pt x="91" y="101"/>
                    <a:pt x="91" y="101"/>
                    <a:pt x="91" y="101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95" y="60"/>
                    <a:pt x="95" y="60"/>
                    <a:pt x="95" y="60"/>
                  </a:cubicBezTo>
                  <a:lnTo>
                    <a:pt x="63" y="6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215" name="Google Shape;1215;p52"/>
          <p:cNvGrpSpPr/>
          <p:nvPr/>
        </p:nvGrpSpPr>
        <p:grpSpPr>
          <a:xfrm>
            <a:off x="7579548" y="6317292"/>
            <a:ext cx="279786" cy="281948"/>
            <a:chOff x="3470276" y="-1266825"/>
            <a:chExt cx="1027113" cy="1035050"/>
          </a:xfrm>
        </p:grpSpPr>
        <p:sp>
          <p:nvSpPr>
            <p:cNvPr id="1216" name="Google Shape;1216;p52"/>
            <p:cNvSpPr/>
            <p:nvPr/>
          </p:nvSpPr>
          <p:spPr>
            <a:xfrm>
              <a:off x="3470276" y="-1266825"/>
              <a:ext cx="1027113" cy="1035050"/>
            </a:xfrm>
            <a:custGeom>
              <a:avLst/>
              <a:gdLst/>
              <a:ahLst/>
              <a:cxnLst/>
              <a:rect l="l" t="t" r="r" b="b"/>
              <a:pathLst>
                <a:path w="396" h="396" extrusionOk="0">
                  <a:moveTo>
                    <a:pt x="198" y="0"/>
                  </a:moveTo>
                  <a:cubicBezTo>
                    <a:pt x="253" y="0"/>
                    <a:pt x="303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3" y="374"/>
                    <a:pt x="253" y="396"/>
                    <a:pt x="198" y="396"/>
                  </a:cubicBezTo>
                  <a:cubicBezTo>
                    <a:pt x="144" y="396"/>
                    <a:pt x="94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4" y="22"/>
                    <a:pt x="144" y="0"/>
                    <a:pt x="198" y="0"/>
                  </a:cubicBezTo>
                  <a:close/>
                  <a:moveTo>
                    <a:pt x="328" y="69"/>
                  </a:moveTo>
                  <a:cubicBezTo>
                    <a:pt x="294" y="36"/>
                    <a:pt x="249" y="15"/>
                    <a:pt x="198" y="15"/>
                  </a:cubicBezTo>
                  <a:cubicBezTo>
                    <a:pt x="148" y="15"/>
                    <a:pt x="102" y="36"/>
                    <a:pt x="69" y="69"/>
                  </a:cubicBezTo>
                  <a:cubicBezTo>
                    <a:pt x="36" y="102"/>
                    <a:pt x="16" y="147"/>
                    <a:pt x="16" y="198"/>
                  </a:cubicBezTo>
                  <a:cubicBezTo>
                    <a:pt x="16" y="248"/>
                    <a:pt x="36" y="294"/>
                    <a:pt x="69" y="327"/>
                  </a:cubicBezTo>
                  <a:cubicBezTo>
                    <a:pt x="102" y="360"/>
                    <a:pt x="148" y="380"/>
                    <a:pt x="198" y="380"/>
                  </a:cubicBezTo>
                  <a:cubicBezTo>
                    <a:pt x="249" y="380"/>
                    <a:pt x="294" y="360"/>
                    <a:pt x="328" y="327"/>
                  </a:cubicBezTo>
                  <a:cubicBezTo>
                    <a:pt x="361" y="294"/>
                    <a:pt x="381" y="248"/>
                    <a:pt x="381" y="198"/>
                  </a:cubicBezTo>
                  <a:cubicBezTo>
                    <a:pt x="381" y="147"/>
                    <a:pt x="361" y="102"/>
                    <a:pt x="328" y="69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17" name="Google Shape;1217;p52"/>
            <p:cNvSpPr/>
            <p:nvPr/>
          </p:nvSpPr>
          <p:spPr>
            <a:xfrm>
              <a:off x="3727451" y="-1011238"/>
              <a:ext cx="515938" cy="520700"/>
            </a:xfrm>
            <a:custGeom>
              <a:avLst/>
              <a:gdLst/>
              <a:ahLst/>
              <a:cxnLst/>
              <a:rect l="l" t="t" r="r" b="b"/>
              <a:pathLst>
                <a:path w="199" h="199" extrusionOk="0">
                  <a:moveTo>
                    <a:pt x="49" y="100"/>
                  </a:moveTo>
                  <a:cubicBezTo>
                    <a:pt x="49" y="72"/>
                    <a:pt x="71" y="49"/>
                    <a:pt x="99" y="49"/>
                  </a:cubicBezTo>
                  <a:cubicBezTo>
                    <a:pt x="127" y="49"/>
                    <a:pt x="150" y="72"/>
                    <a:pt x="150" y="100"/>
                  </a:cubicBezTo>
                  <a:cubicBezTo>
                    <a:pt x="150" y="128"/>
                    <a:pt x="127" y="150"/>
                    <a:pt x="99" y="150"/>
                  </a:cubicBezTo>
                  <a:cubicBezTo>
                    <a:pt x="71" y="150"/>
                    <a:pt x="49" y="128"/>
                    <a:pt x="49" y="100"/>
                  </a:cubicBezTo>
                  <a:close/>
                  <a:moveTo>
                    <a:pt x="152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78"/>
                    <a:pt x="21" y="199"/>
                    <a:pt x="47" y="199"/>
                  </a:cubicBezTo>
                  <a:cubicBezTo>
                    <a:pt x="152" y="199"/>
                    <a:pt x="152" y="199"/>
                    <a:pt x="152" y="199"/>
                  </a:cubicBezTo>
                  <a:cubicBezTo>
                    <a:pt x="178" y="199"/>
                    <a:pt x="199" y="178"/>
                    <a:pt x="199" y="152"/>
                  </a:cubicBezTo>
                  <a:cubicBezTo>
                    <a:pt x="199" y="47"/>
                    <a:pt x="199" y="47"/>
                    <a:pt x="199" y="47"/>
                  </a:cubicBezTo>
                  <a:cubicBezTo>
                    <a:pt x="199" y="21"/>
                    <a:pt x="178" y="0"/>
                    <a:pt x="152" y="0"/>
                  </a:cubicBezTo>
                  <a:close/>
                  <a:moveTo>
                    <a:pt x="47" y="12"/>
                  </a:moveTo>
                  <a:cubicBezTo>
                    <a:pt x="152" y="12"/>
                    <a:pt x="152" y="12"/>
                    <a:pt x="152" y="12"/>
                  </a:cubicBezTo>
                  <a:cubicBezTo>
                    <a:pt x="171" y="12"/>
                    <a:pt x="187" y="28"/>
                    <a:pt x="187" y="47"/>
                  </a:cubicBezTo>
                  <a:cubicBezTo>
                    <a:pt x="187" y="152"/>
                    <a:pt x="187" y="152"/>
                    <a:pt x="187" y="152"/>
                  </a:cubicBezTo>
                  <a:cubicBezTo>
                    <a:pt x="187" y="171"/>
                    <a:pt x="171" y="187"/>
                    <a:pt x="152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28" y="187"/>
                    <a:pt x="12" y="171"/>
                    <a:pt x="12" y="152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28"/>
                    <a:pt x="28" y="12"/>
                    <a:pt x="47" y="12"/>
                  </a:cubicBezTo>
                  <a:close/>
                  <a:moveTo>
                    <a:pt x="162" y="27"/>
                  </a:moveTo>
                  <a:cubicBezTo>
                    <a:pt x="156" y="27"/>
                    <a:pt x="152" y="32"/>
                    <a:pt x="152" y="37"/>
                  </a:cubicBezTo>
                  <a:cubicBezTo>
                    <a:pt x="152" y="43"/>
                    <a:pt x="156" y="48"/>
                    <a:pt x="162" y="48"/>
                  </a:cubicBezTo>
                  <a:cubicBezTo>
                    <a:pt x="168" y="48"/>
                    <a:pt x="173" y="43"/>
                    <a:pt x="173" y="37"/>
                  </a:cubicBezTo>
                  <a:cubicBezTo>
                    <a:pt x="173" y="32"/>
                    <a:pt x="168" y="27"/>
                    <a:pt x="162" y="27"/>
                  </a:cubicBezTo>
                  <a:close/>
                  <a:moveTo>
                    <a:pt x="163" y="100"/>
                  </a:moveTo>
                  <a:cubicBezTo>
                    <a:pt x="163" y="64"/>
                    <a:pt x="135" y="36"/>
                    <a:pt x="99" y="36"/>
                  </a:cubicBezTo>
                  <a:cubicBezTo>
                    <a:pt x="64" y="36"/>
                    <a:pt x="35" y="64"/>
                    <a:pt x="35" y="100"/>
                  </a:cubicBezTo>
                  <a:cubicBezTo>
                    <a:pt x="35" y="135"/>
                    <a:pt x="64" y="164"/>
                    <a:pt x="99" y="164"/>
                  </a:cubicBezTo>
                  <a:cubicBezTo>
                    <a:pt x="135" y="164"/>
                    <a:pt x="163" y="135"/>
                    <a:pt x="163" y="10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218" name="Google Shape;1218;p52"/>
          <p:cNvSpPr/>
          <p:nvPr/>
        </p:nvSpPr>
        <p:spPr>
          <a:xfrm>
            <a:off x="3588919" y="6338057"/>
            <a:ext cx="281962" cy="281956"/>
          </a:xfrm>
          <a:custGeom>
            <a:avLst/>
            <a:gdLst/>
            <a:ahLst/>
            <a:cxnLst/>
            <a:rect l="l" t="t" r="r" b="b"/>
            <a:pathLst>
              <a:path w="2328" h="2328" extrusionOk="0">
                <a:moveTo>
                  <a:pt x="1164" y="0"/>
                </a:moveTo>
                <a:cubicBezTo>
                  <a:pt x="853" y="0"/>
                  <a:pt x="561" y="121"/>
                  <a:pt x="341" y="341"/>
                </a:cubicBezTo>
                <a:cubicBezTo>
                  <a:pt x="121" y="560"/>
                  <a:pt x="0" y="853"/>
                  <a:pt x="0" y="1164"/>
                </a:cubicBezTo>
                <a:cubicBezTo>
                  <a:pt x="0" y="1475"/>
                  <a:pt x="121" y="1767"/>
                  <a:pt x="341" y="1987"/>
                </a:cubicBezTo>
                <a:cubicBezTo>
                  <a:pt x="561" y="2207"/>
                  <a:pt x="853" y="2328"/>
                  <a:pt x="1164" y="2328"/>
                </a:cubicBezTo>
                <a:cubicBezTo>
                  <a:pt x="1475" y="2328"/>
                  <a:pt x="1767" y="2207"/>
                  <a:pt x="1987" y="1987"/>
                </a:cubicBezTo>
                <a:cubicBezTo>
                  <a:pt x="2207" y="1767"/>
                  <a:pt x="2328" y="1475"/>
                  <a:pt x="2328" y="1164"/>
                </a:cubicBezTo>
                <a:cubicBezTo>
                  <a:pt x="2328" y="853"/>
                  <a:pt x="2207" y="560"/>
                  <a:pt x="1987" y="341"/>
                </a:cubicBezTo>
                <a:cubicBezTo>
                  <a:pt x="1767" y="121"/>
                  <a:pt x="1475" y="0"/>
                  <a:pt x="1164" y="0"/>
                </a:cubicBezTo>
                <a:close/>
                <a:moveTo>
                  <a:pt x="2040" y="637"/>
                </a:moveTo>
                <a:cubicBezTo>
                  <a:pt x="1966" y="617"/>
                  <a:pt x="1890" y="598"/>
                  <a:pt x="1815" y="583"/>
                </a:cubicBezTo>
                <a:cubicBezTo>
                  <a:pt x="1807" y="493"/>
                  <a:pt x="1732" y="423"/>
                  <a:pt x="1640" y="423"/>
                </a:cubicBezTo>
                <a:cubicBezTo>
                  <a:pt x="1619" y="423"/>
                  <a:pt x="1598" y="427"/>
                  <a:pt x="1579" y="434"/>
                </a:cubicBezTo>
                <a:cubicBezTo>
                  <a:pt x="1512" y="335"/>
                  <a:pt x="1433" y="243"/>
                  <a:pt x="1341" y="157"/>
                </a:cubicBezTo>
                <a:cubicBezTo>
                  <a:pt x="1547" y="193"/>
                  <a:pt x="1736" y="291"/>
                  <a:pt x="1886" y="441"/>
                </a:cubicBezTo>
                <a:cubicBezTo>
                  <a:pt x="1946" y="501"/>
                  <a:pt x="1998" y="567"/>
                  <a:pt x="2040" y="637"/>
                </a:cubicBezTo>
                <a:close/>
                <a:moveTo>
                  <a:pt x="2099" y="1577"/>
                </a:moveTo>
                <a:cubicBezTo>
                  <a:pt x="1968" y="1617"/>
                  <a:pt x="1835" y="1649"/>
                  <a:pt x="1700" y="1672"/>
                </a:cubicBezTo>
                <a:cubicBezTo>
                  <a:pt x="1767" y="1520"/>
                  <a:pt x="1802" y="1362"/>
                  <a:pt x="1807" y="1199"/>
                </a:cubicBezTo>
                <a:cubicBezTo>
                  <a:pt x="2185" y="1199"/>
                  <a:pt x="2185" y="1199"/>
                  <a:pt x="2185" y="1199"/>
                </a:cubicBezTo>
                <a:cubicBezTo>
                  <a:pt x="2181" y="1331"/>
                  <a:pt x="2151" y="1459"/>
                  <a:pt x="2099" y="1577"/>
                </a:cubicBezTo>
                <a:close/>
                <a:moveTo>
                  <a:pt x="1204" y="2185"/>
                </a:moveTo>
                <a:cubicBezTo>
                  <a:pt x="1202" y="2185"/>
                  <a:pt x="1201" y="2185"/>
                  <a:pt x="1200" y="2185"/>
                </a:cubicBezTo>
                <a:cubicBezTo>
                  <a:pt x="1200" y="1935"/>
                  <a:pt x="1200" y="1935"/>
                  <a:pt x="1200" y="1935"/>
                </a:cubicBezTo>
                <a:cubicBezTo>
                  <a:pt x="1265" y="1921"/>
                  <a:pt x="1318" y="1870"/>
                  <a:pt x="1334" y="1805"/>
                </a:cubicBezTo>
                <a:cubicBezTo>
                  <a:pt x="1407" y="1802"/>
                  <a:pt x="1480" y="1795"/>
                  <a:pt x="1552" y="1787"/>
                </a:cubicBezTo>
                <a:cubicBezTo>
                  <a:pt x="1465" y="1934"/>
                  <a:pt x="1348" y="2067"/>
                  <a:pt x="1204" y="2185"/>
                </a:cubicBezTo>
                <a:close/>
                <a:moveTo>
                  <a:pt x="775" y="1787"/>
                </a:moveTo>
                <a:cubicBezTo>
                  <a:pt x="848" y="1795"/>
                  <a:pt x="921" y="1802"/>
                  <a:pt x="994" y="1805"/>
                </a:cubicBezTo>
                <a:cubicBezTo>
                  <a:pt x="1010" y="1870"/>
                  <a:pt x="1062" y="1921"/>
                  <a:pt x="1128" y="1935"/>
                </a:cubicBezTo>
                <a:cubicBezTo>
                  <a:pt x="1128" y="2185"/>
                  <a:pt x="1128" y="2185"/>
                  <a:pt x="1128" y="2185"/>
                </a:cubicBezTo>
                <a:cubicBezTo>
                  <a:pt x="1127" y="2185"/>
                  <a:pt x="1125" y="2185"/>
                  <a:pt x="1124" y="2185"/>
                </a:cubicBezTo>
                <a:cubicBezTo>
                  <a:pt x="980" y="2067"/>
                  <a:pt x="863" y="1934"/>
                  <a:pt x="775" y="1787"/>
                </a:cubicBezTo>
                <a:close/>
                <a:moveTo>
                  <a:pt x="229" y="751"/>
                </a:moveTo>
                <a:cubicBezTo>
                  <a:pt x="360" y="710"/>
                  <a:pt x="493" y="678"/>
                  <a:pt x="627" y="655"/>
                </a:cubicBezTo>
                <a:cubicBezTo>
                  <a:pt x="580" y="764"/>
                  <a:pt x="548" y="876"/>
                  <a:pt x="532" y="991"/>
                </a:cubicBezTo>
                <a:cubicBezTo>
                  <a:pt x="460" y="1002"/>
                  <a:pt x="403" y="1058"/>
                  <a:pt x="388" y="1129"/>
                </a:cubicBezTo>
                <a:cubicBezTo>
                  <a:pt x="143" y="1129"/>
                  <a:pt x="143" y="1129"/>
                  <a:pt x="143" y="1129"/>
                </a:cubicBezTo>
                <a:cubicBezTo>
                  <a:pt x="147" y="996"/>
                  <a:pt x="177" y="869"/>
                  <a:pt x="229" y="751"/>
                </a:cubicBezTo>
                <a:close/>
                <a:moveTo>
                  <a:pt x="1124" y="143"/>
                </a:moveTo>
                <a:cubicBezTo>
                  <a:pt x="1125" y="143"/>
                  <a:pt x="1127" y="143"/>
                  <a:pt x="1128" y="143"/>
                </a:cubicBezTo>
                <a:cubicBezTo>
                  <a:pt x="1128" y="518"/>
                  <a:pt x="1128" y="518"/>
                  <a:pt x="1128" y="518"/>
                </a:cubicBezTo>
                <a:cubicBezTo>
                  <a:pt x="1010" y="519"/>
                  <a:pt x="892" y="527"/>
                  <a:pt x="775" y="541"/>
                </a:cubicBezTo>
                <a:cubicBezTo>
                  <a:pt x="863" y="394"/>
                  <a:pt x="980" y="260"/>
                  <a:pt x="1124" y="143"/>
                </a:cubicBezTo>
                <a:close/>
                <a:moveTo>
                  <a:pt x="1513" y="478"/>
                </a:moveTo>
                <a:cubicBezTo>
                  <a:pt x="1498" y="494"/>
                  <a:pt x="1486" y="512"/>
                  <a:pt x="1478" y="533"/>
                </a:cubicBezTo>
                <a:cubicBezTo>
                  <a:pt x="1386" y="524"/>
                  <a:pt x="1293" y="519"/>
                  <a:pt x="1200" y="518"/>
                </a:cubicBezTo>
                <a:cubicBezTo>
                  <a:pt x="1200" y="143"/>
                  <a:pt x="1200" y="143"/>
                  <a:pt x="1200" y="143"/>
                </a:cubicBezTo>
                <a:cubicBezTo>
                  <a:pt x="1201" y="143"/>
                  <a:pt x="1202" y="143"/>
                  <a:pt x="1204" y="143"/>
                </a:cubicBezTo>
                <a:cubicBezTo>
                  <a:pt x="1327" y="243"/>
                  <a:pt x="1431" y="356"/>
                  <a:pt x="1513" y="478"/>
                </a:cubicBezTo>
                <a:close/>
                <a:moveTo>
                  <a:pt x="1200" y="610"/>
                </a:moveTo>
                <a:cubicBezTo>
                  <a:pt x="1289" y="611"/>
                  <a:pt x="1379" y="616"/>
                  <a:pt x="1467" y="624"/>
                </a:cubicBezTo>
                <a:cubicBezTo>
                  <a:pt x="1480" y="708"/>
                  <a:pt x="1553" y="773"/>
                  <a:pt x="1640" y="773"/>
                </a:cubicBezTo>
                <a:cubicBezTo>
                  <a:pt x="1647" y="773"/>
                  <a:pt x="1654" y="772"/>
                  <a:pt x="1661" y="772"/>
                </a:cubicBezTo>
                <a:cubicBezTo>
                  <a:pt x="1702" y="887"/>
                  <a:pt x="1724" y="1007"/>
                  <a:pt x="1728" y="1129"/>
                </a:cubicBezTo>
                <a:cubicBezTo>
                  <a:pt x="1200" y="1129"/>
                  <a:pt x="1200" y="1129"/>
                  <a:pt x="1200" y="1129"/>
                </a:cubicBezTo>
                <a:lnTo>
                  <a:pt x="1200" y="610"/>
                </a:lnTo>
                <a:close/>
                <a:moveTo>
                  <a:pt x="1720" y="598"/>
                </a:moveTo>
                <a:cubicBezTo>
                  <a:pt x="1720" y="642"/>
                  <a:pt x="1684" y="678"/>
                  <a:pt x="1640" y="678"/>
                </a:cubicBezTo>
                <a:cubicBezTo>
                  <a:pt x="1596" y="678"/>
                  <a:pt x="1560" y="642"/>
                  <a:pt x="1560" y="598"/>
                </a:cubicBezTo>
                <a:cubicBezTo>
                  <a:pt x="1560" y="554"/>
                  <a:pt x="1596" y="518"/>
                  <a:pt x="1640" y="518"/>
                </a:cubicBezTo>
                <a:cubicBezTo>
                  <a:pt x="1684" y="518"/>
                  <a:pt x="1720" y="554"/>
                  <a:pt x="1720" y="598"/>
                </a:cubicBezTo>
                <a:close/>
                <a:moveTo>
                  <a:pt x="1128" y="610"/>
                </a:moveTo>
                <a:cubicBezTo>
                  <a:pt x="1128" y="1129"/>
                  <a:pt x="1128" y="1129"/>
                  <a:pt x="1128" y="1129"/>
                </a:cubicBezTo>
                <a:cubicBezTo>
                  <a:pt x="731" y="1129"/>
                  <a:pt x="731" y="1129"/>
                  <a:pt x="731" y="1129"/>
                </a:cubicBezTo>
                <a:cubicBezTo>
                  <a:pt x="719" y="1066"/>
                  <a:pt x="672" y="1015"/>
                  <a:pt x="611" y="997"/>
                </a:cubicBezTo>
                <a:cubicBezTo>
                  <a:pt x="629" y="874"/>
                  <a:pt x="666" y="755"/>
                  <a:pt x="722" y="641"/>
                </a:cubicBezTo>
                <a:cubicBezTo>
                  <a:pt x="856" y="622"/>
                  <a:pt x="992" y="612"/>
                  <a:pt x="1128" y="610"/>
                </a:cubicBezTo>
                <a:close/>
                <a:moveTo>
                  <a:pt x="640" y="1164"/>
                </a:moveTo>
                <a:cubicBezTo>
                  <a:pt x="640" y="1208"/>
                  <a:pt x="604" y="1244"/>
                  <a:pt x="560" y="1244"/>
                </a:cubicBezTo>
                <a:cubicBezTo>
                  <a:pt x="516" y="1244"/>
                  <a:pt x="480" y="1208"/>
                  <a:pt x="480" y="1164"/>
                </a:cubicBezTo>
                <a:cubicBezTo>
                  <a:pt x="480" y="1120"/>
                  <a:pt x="516" y="1084"/>
                  <a:pt x="560" y="1084"/>
                </a:cubicBezTo>
                <a:cubicBezTo>
                  <a:pt x="604" y="1084"/>
                  <a:pt x="640" y="1120"/>
                  <a:pt x="640" y="1164"/>
                </a:cubicBezTo>
                <a:close/>
                <a:moveTo>
                  <a:pt x="143" y="1199"/>
                </a:moveTo>
                <a:cubicBezTo>
                  <a:pt x="388" y="1199"/>
                  <a:pt x="388" y="1199"/>
                  <a:pt x="388" y="1199"/>
                </a:cubicBezTo>
                <a:cubicBezTo>
                  <a:pt x="403" y="1270"/>
                  <a:pt x="460" y="1325"/>
                  <a:pt x="532" y="1337"/>
                </a:cubicBezTo>
                <a:cubicBezTo>
                  <a:pt x="548" y="1451"/>
                  <a:pt x="580" y="1563"/>
                  <a:pt x="627" y="1672"/>
                </a:cubicBezTo>
                <a:cubicBezTo>
                  <a:pt x="493" y="1649"/>
                  <a:pt x="360" y="1617"/>
                  <a:pt x="229" y="1577"/>
                </a:cubicBezTo>
                <a:cubicBezTo>
                  <a:pt x="177" y="1459"/>
                  <a:pt x="147" y="1331"/>
                  <a:pt x="143" y="1199"/>
                </a:cubicBezTo>
                <a:close/>
                <a:moveTo>
                  <a:pt x="611" y="1331"/>
                </a:moveTo>
                <a:cubicBezTo>
                  <a:pt x="672" y="1312"/>
                  <a:pt x="719" y="1262"/>
                  <a:pt x="731" y="1199"/>
                </a:cubicBezTo>
                <a:cubicBezTo>
                  <a:pt x="1128" y="1199"/>
                  <a:pt x="1128" y="1199"/>
                  <a:pt x="1128" y="1199"/>
                </a:cubicBezTo>
                <a:cubicBezTo>
                  <a:pt x="1128" y="1592"/>
                  <a:pt x="1128" y="1592"/>
                  <a:pt x="1128" y="1592"/>
                </a:cubicBezTo>
                <a:cubicBezTo>
                  <a:pt x="1065" y="1605"/>
                  <a:pt x="1015" y="1652"/>
                  <a:pt x="996" y="1713"/>
                </a:cubicBezTo>
                <a:cubicBezTo>
                  <a:pt x="904" y="1708"/>
                  <a:pt x="813" y="1700"/>
                  <a:pt x="722" y="1687"/>
                </a:cubicBezTo>
                <a:cubicBezTo>
                  <a:pt x="666" y="1572"/>
                  <a:pt x="629" y="1453"/>
                  <a:pt x="611" y="1331"/>
                </a:cubicBezTo>
                <a:close/>
                <a:moveTo>
                  <a:pt x="1244" y="1764"/>
                </a:moveTo>
                <a:cubicBezTo>
                  <a:pt x="1244" y="1808"/>
                  <a:pt x="1208" y="1844"/>
                  <a:pt x="1164" y="1844"/>
                </a:cubicBezTo>
                <a:cubicBezTo>
                  <a:pt x="1120" y="1844"/>
                  <a:pt x="1084" y="1808"/>
                  <a:pt x="1084" y="1764"/>
                </a:cubicBezTo>
                <a:cubicBezTo>
                  <a:pt x="1084" y="1720"/>
                  <a:pt x="1120" y="1684"/>
                  <a:pt x="1164" y="1684"/>
                </a:cubicBezTo>
                <a:cubicBezTo>
                  <a:pt x="1208" y="1684"/>
                  <a:pt x="1244" y="1720"/>
                  <a:pt x="1244" y="1764"/>
                </a:cubicBezTo>
                <a:close/>
                <a:moveTo>
                  <a:pt x="1331" y="1713"/>
                </a:moveTo>
                <a:cubicBezTo>
                  <a:pt x="1313" y="1652"/>
                  <a:pt x="1262" y="1605"/>
                  <a:pt x="1200" y="1592"/>
                </a:cubicBezTo>
                <a:cubicBezTo>
                  <a:pt x="1200" y="1199"/>
                  <a:pt x="1200" y="1199"/>
                  <a:pt x="1200" y="1199"/>
                </a:cubicBezTo>
                <a:cubicBezTo>
                  <a:pt x="1728" y="1199"/>
                  <a:pt x="1728" y="1199"/>
                  <a:pt x="1728" y="1199"/>
                </a:cubicBezTo>
                <a:cubicBezTo>
                  <a:pt x="1723" y="1367"/>
                  <a:pt x="1682" y="1531"/>
                  <a:pt x="1606" y="1687"/>
                </a:cubicBezTo>
                <a:cubicBezTo>
                  <a:pt x="1515" y="1700"/>
                  <a:pt x="1424" y="1708"/>
                  <a:pt x="1331" y="1713"/>
                </a:cubicBezTo>
                <a:close/>
                <a:moveTo>
                  <a:pt x="1807" y="1129"/>
                </a:moveTo>
                <a:cubicBezTo>
                  <a:pt x="1803" y="997"/>
                  <a:pt x="1779" y="869"/>
                  <a:pt x="1736" y="745"/>
                </a:cubicBezTo>
                <a:cubicBezTo>
                  <a:pt x="1762" y="727"/>
                  <a:pt x="1784" y="703"/>
                  <a:pt x="1798" y="674"/>
                </a:cubicBezTo>
                <a:cubicBezTo>
                  <a:pt x="1900" y="694"/>
                  <a:pt x="2000" y="720"/>
                  <a:pt x="2099" y="751"/>
                </a:cubicBezTo>
                <a:cubicBezTo>
                  <a:pt x="2151" y="869"/>
                  <a:pt x="2181" y="996"/>
                  <a:pt x="2185" y="1129"/>
                </a:cubicBezTo>
                <a:lnTo>
                  <a:pt x="1807" y="1129"/>
                </a:lnTo>
                <a:close/>
                <a:moveTo>
                  <a:pt x="441" y="441"/>
                </a:moveTo>
                <a:cubicBezTo>
                  <a:pt x="592" y="291"/>
                  <a:pt x="781" y="193"/>
                  <a:pt x="987" y="157"/>
                </a:cubicBezTo>
                <a:cubicBezTo>
                  <a:pt x="865" y="271"/>
                  <a:pt x="765" y="397"/>
                  <a:pt x="688" y="534"/>
                </a:cubicBezTo>
                <a:cubicBezTo>
                  <a:pt x="684" y="541"/>
                  <a:pt x="680" y="547"/>
                  <a:pt x="677" y="554"/>
                </a:cubicBezTo>
                <a:cubicBezTo>
                  <a:pt x="546" y="574"/>
                  <a:pt x="416" y="602"/>
                  <a:pt x="288" y="637"/>
                </a:cubicBezTo>
                <a:cubicBezTo>
                  <a:pt x="330" y="567"/>
                  <a:pt x="382" y="501"/>
                  <a:pt x="441" y="441"/>
                </a:cubicBezTo>
                <a:close/>
                <a:moveTo>
                  <a:pt x="288" y="1690"/>
                </a:moveTo>
                <a:cubicBezTo>
                  <a:pt x="416" y="1726"/>
                  <a:pt x="546" y="1754"/>
                  <a:pt x="677" y="1773"/>
                </a:cubicBezTo>
                <a:cubicBezTo>
                  <a:pt x="680" y="1780"/>
                  <a:pt x="684" y="1787"/>
                  <a:pt x="688" y="1794"/>
                </a:cubicBezTo>
                <a:cubicBezTo>
                  <a:pt x="765" y="1931"/>
                  <a:pt x="865" y="2057"/>
                  <a:pt x="987" y="2170"/>
                </a:cubicBezTo>
                <a:cubicBezTo>
                  <a:pt x="781" y="2134"/>
                  <a:pt x="592" y="2037"/>
                  <a:pt x="441" y="1886"/>
                </a:cubicBezTo>
                <a:cubicBezTo>
                  <a:pt x="382" y="1827"/>
                  <a:pt x="330" y="1761"/>
                  <a:pt x="288" y="1690"/>
                </a:cubicBezTo>
                <a:close/>
                <a:moveTo>
                  <a:pt x="1886" y="1886"/>
                </a:moveTo>
                <a:cubicBezTo>
                  <a:pt x="1736" y="2037"/>
                  <a:pt x="1547" y="2135"/>
                  <a:pt x="1341" y="2170"/>
                </a:cubicBezTo>
                <a:cubicBezTo>
                  <a:pt x="1463" y="2057"/>
                  <a:pt x="1563" y="1931"/>
                  <a:pt x="1640" y="1794"/>
                </a:cubicBezTo>
                <a:cubicBezTo>
                  <a:pt x="1644" y="1787"/>
                  <a:pt x="1647" y="1780"/>
                  <a:pt x="1651" y="1773"/>
                </a:cubicBezTo>
                <a:cubicBezTo>
                  <a:pt x="1782" y="1754"/>
                  <a:pt x="1912" y="1726"/>
                  <a:pt x="2040" y="1690"/>
                </a:cubicBezTo>
                <a:cubicBezTo>
                  <a:pt x="1998" y="1761"/>
                  <a:pt x="1946" y="1827"/>
                  <a:pt x="1886" y="1886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9" name="Google Shape;1219;p52"/>
          <p:cNvSpPr txBox="1"/>
          <p:nvPr/>
        </p:nvSpPr>
        <p:spPr>
          <a:xfrm>
            <a:off x="7984002" y="6338058"/>
            <a:ext cx="2628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utmofficial</a:t>
            </a:r>
            <a:endParaRPr/>
          </a:p>
        </p:txBody>
      </p:sp>
      <p:sp>
        <p:nvSpPr>
          <p:cNvPr id="1220" name="Google Shape;1220;p52"/>
          <p:cNvSpPr txBox="1"/>
          <p:nvPr/>
        </p:nvSpPr>
        <p:spPr>
          <a:xfrm>
            <a:off x="3994395" y="6329744"/>
            <a:ext cx="3030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utm.my</a:t>
            </a:r>
            <a:endParaRPr/>
          </a:p>
        </p:txBody>
      </p:sp>
      <p:sp>
        <p:nvSpPr>
          <p:cNvPr id="1221" name="Google Shape;1221;p52"/>
          <p:cNvSpPr txBox="1"/>
          <p:nvPr/>
        </p:nvSpPr>
        <p:spPr>
          <a:xfrm>
            <a:off x="3730697" y="5702528"/>
            <a:ext cx="47307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 the Name of God for Mankind</a:t>
            </a:r>
            <a:endParaRPr sz="1400" b="0" i="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PT custom">
      <a:dk1>
        <a:srgbClr val="000000"/>
      </a:dk1>
      <a:lt1>
        <a:srgbClr val="FFFFFF"/>
      </a:lt1>
      <a:dk2>
        <a:srgbClr val="323232"/>
      </a:dk2>
      <a:lt2>
        <a:srgbClr val="E7D7C1"/>
      </a:lt2>
      <a:accent1>
        <a:srgbClr val="74121D"/>
      </a:accent1>
      <a:accent2>
        <a:srgbClr val="A7333F"/>
      </a:accent2>
      <a:accent3>
        <a:srgbClr val="C52233"/>
      </a:accent3>
      <a:accent4>
        <a:srgbClr val="B19C7D"/>
      </a:accent4>
      <a:accent5>
        <a:srgbClr val="7F5F52"/>
      </a:accent5>
      <a:accent6>
        <a:srgbClr val="B27D49"/>
      </a:accent6>
      <a:hlink>
        <a:srgbClr val="FFC000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1144</Words>
  <Application>Microsoft Office PowerPoint</Application>
  <PresentationFormat>Widescreen</PresentationFormat>
  <Paragraphs>164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Wingdings</vt:lpstr>
      <vt:lpstr>Times New Roman</vt:lpstr>
      <vt:lpstr>Poppins Medium</vt:lpstr>
      <vt:lpstr>Bradley Hand ITC</vt:lpstr>
      <vt:lpstr>Calibri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MUHAMMAD KHATIBSYARBINI 16880</cp:lastModifiedBy>
  <cp:revision>33</cp:revision>
  <dcterms:modified xsi:type="dcterms:W3CDTF">2024-10-13T04:31:12Z</dcterms:modified>
</cp:coreProperties>
</file>